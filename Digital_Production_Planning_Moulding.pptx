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640080"/>
            <a:ext cx="2194560" cy="2194560"/>
          </a:xfrm>
          <a:prstGeom prst="ellipse">
            <a:avLst/>
          </a:prstGeom>
          <a:solidFill>
            <a:srgbClr val="1E3A5F">
              <a:alpha val="90000"/>
            </a:srgbClr>
          </a:solidFill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005840"/>
            <a:ext cx="1463040" cy="1463040"/>
          </a:xfrm>
          <a:prstGeom prst="ellipse">
            <a:avLst/>
          </a:prstGeom>
          <a:solidFill>
            <a:srgbClr val="1A2C4E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65392" y="15544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6720840" y="6583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7562088" y="59436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8394192" y="6583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8549640" y="15544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8394192" y="245059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7562088" y="251460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0840" y="245059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005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Production Planning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1874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Section — Uno Minda Rika Pvt. Ltd.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146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computer decide what to make, on which machine, and how much?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Tushar  |  Guided by: Mr. Amrit Lal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System Actually Do?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65960" cy="3291840"/>
          </a:xfrm>
          <a:prstGeom prst="rect">
            <a:avLst/>
          </a:prstGeom>
          <a:solidFill>
            <a:srgbClr val="DBEAFE"/>
          </a:solidFill>
          <a:ln w="254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196596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869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199339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stock in hand, monthly targets, cycle times, and machine list every morning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3774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868680"/>
            <a:ext cx="1965960" cy="329184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868680"/>
            <a:ext cx="196596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8869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1325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87752" y="199339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Make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48716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parts that are running low first. Runner parts ALWAYS get the first chance on machines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774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1965960" cy="3291840"/>
          </a:xfrm>
          <a:prstGeom prst="rect">
            <a:avLst/>
          </a:prstGeom>
          <a:solidFill>
            <a:srgbClr val="DCFCE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68680"/>
            <a:ext cx="196596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8869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1325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36592" y="199339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Machines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248716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each part on the best machine — one that is free and has made that part before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5146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3774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868680"/>
            <a:ext cx="1965960" cy="329184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868680"/>
            <a:ext cx="196596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8869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1325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85432" y="199339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Plan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248716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full day plan: which machine makes what, for how long, and expected quantity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7083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it as a smart supervisor who reads all the numbers and writes the daily shift plan — automatically, every morning.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Happening Before vs. What Happens Now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420624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192024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As-Is  (Old Way)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The Gap  (Problem)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To-Be  (New System)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Deciding what to make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decided based on experience or gut 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parts ran out without anyone noticing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checks every part's stock and makes the list automatically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 parts (daily-demand parts)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Runners competed with other parts for machines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Runners sometimes missed a shift, causing stock-out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Runners ALWAYS go first — no Stranger/Repeater can take their 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stock (buffer)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fixed rule — sometimes 1 day, sometimes 10 days stock sat idle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parts ran out or warehouse was overfull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3-day safety floor + 5-day target ceiling — always in a healthy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parts (inserts/clips)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started, then worker discovered the clip was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Wasted moulding time, no usable parts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checks clip/insert stock BEFORE scheduling — zero stock = do not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time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Machines sometimes sat idle in the middle of the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production hours that cannot be recovered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Enforcer fills every hour of every machine — 22 hours / day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machines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part could land on any machine — sometimes wrong tooling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damage, quality issues, re-setup time wasted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machines locked to their parts unless stock is full (5 days)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Keep the Right Amount of Stock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291840" cy="4160520"/>
          </a:xfrm>
          <a:prstGeom prst="rect">
            <a:avLst/>
          </a:prstGeom>
          <a:solidFill>
            <a:srgbClr val="DBEAFE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Meter 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108960" cy="749808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DANGER (0 days)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must run NOW. No stock left. Line will stop.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3108960" cy="74980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BELOW SAFETY (0–3 days)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low. Plan it today — do not wait.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3108960" cy="749808"/>
          </a:xfrm>
          <a:prstGeom prst="rect">
            <a:avLst/>
          </a:prstGeom>
          <a:solidFill>
            <a:srgbClr val="DCFCE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BUILDING (3–5 days)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18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zone. System is slowly filling the buffer.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30752"/>
            <a:ext cx="3108960" cy="749808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AT TARGET (5 days)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is full! Skip this part today. Don't overfill.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777240"/>
            <a:ext cx="5120640" cy="420624"/>
          </a:xfrm>
          <a:prstGeom prst="rect">
            <a:avLst/>
          </a:prstGeom>
          <a:solidFill>
            <a:srgbClr val="1A2C4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77724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decides how much to make today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1298448"/>
            <a:ext cx="4709160" cy="4572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31920" y="12984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today's stock for a part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81928" y="1755648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9385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31920" y="1993392"/>
            <a:ext cx="4709160" cy="50292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31920" y="19933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Is stock already at 5 days?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31920" y="2240280"/>
            <a:ext cx="-320040" cy="0"/>
          </a:xfrm>
          <a:prstGeom prst="line">
            <a:avLst/>
          </a:prstGeom>
          <a:noFill/>
          <a:ln w="19050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176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YES 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0" y="2606040"/>
            <a:ext cx="2103120" cy="5029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today 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full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37960" y="2496312"/>
            <a:ext cx="0" cy="109728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4963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NO 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49240" y="2606040"/>
            <a:ext cx="3291840" cy="50292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it today — make enough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safety zone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95160" y="3108960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31920" y="3429000"/>
            <a:ext cx="4709160" cy="566928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977640" y="3456432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many hours to run based on how low the stock 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(Critically low = more hours | Almost at target = fewer hours)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81928" y="3995928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41330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31920" y="4251960"/>
            <a:ext cx="4709160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931920" y="4251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today's plan 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Runner Parts ALWAYS Go First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474720" cy="1965960"/>
          </a:xfrm>
          <a:prstGeom prst="rect">
            <a:avLst/>
          </a:prstGeom>
          <a:solidFill>
            <a:srgbClr val="DBEAFE"/>
          </a:solidFill>
          <a:ln w="1905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What is a Runner?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A part that is ordered every single day. The customer cannot wait for this part. If stock runs out, the assembly line STOPS.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2834640" cy="1965960"/>
          </a:xfrm>
          <a:prstGeom prst="rect">
            <a:avLst/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80360"/>
            <a:ext cx="283464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898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33101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🏃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160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Daily-demand part. Line stops without it. ALWAYS planned first.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880360"/>
            <a:ext cx="2834640" cy="196596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880360"/>
            <a:ext cx="283464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898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33101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3756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4160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regularly, but not every day. Planned after all Runners.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880360"/>
            <a:ext cx="2834640" cy="1965960"/>
          </a:xfrm>
          <a:prstGeom prst="rect">
            <a:avLst/>
          </a:prstGeom>
          <a:solidFill>
            <a:srgbClr val="E2E8F0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880360"/>
            <a:ext cx="283464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898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33101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0936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160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rarely — only when stock is very low. Gets whatever machine is left.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024128"/>
            <a:ext cx="85953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0" y="822960"/>
            <a:ext cx="4892040" cy="1984248"/>
          </a:xfrm>
          <a:prstGeom prst="rect">
            <a:avLst/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23360" y="868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Old Problem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23360" y="120700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 part with zero stock could get a higher score than a Runner part with 1-day stock — and take the last machine slot.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 then missed its shift. Next day → stock-out.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697480"/>
            <a:ext cx="8595360" cy="109728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Continued — How the System Makes Room for Runners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66160" y="804672"/>
            <a:ext cx="2377440" cy="475488"/>
          </a:xfrm>
          <a:prstGeom prst="rect">
            <a:avLst/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39312" y="80467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part found with &lt; 1 day stock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572768"/>
            <a:ext cx="2377440" cy="475488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9312" y="157276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free machine?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2560320" cy="566928"/>
          </a:xfrm>
          <a:prstGeom prst="rect">
            <a:avLst/>
          </a:prstGeom>
          <a:solidFill>
            <a:srgbClr val="DCFCE7"/>
          </a:solidFill>
          <a:ln w="254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239572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Place Runner on free machine 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395728"/>
            <a:ext cx="2468880" cy="566928"/>
          </a:xfrm>
          <a:prstGeom prst="rect">
            <a:avLst/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82512" y="239572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Look at all busy machines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246120"/>
            <a:ext cx="2468880" cy="566928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324612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machine has a Stranger or Repeater running?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4069080"/>
            <a:ext cx="2377440" cy="548640"/>
          </a:xfrm>
          <a:prstGeom prst="rect">
            <a:avLst/>
          </a:prstGeom>
          <a:solidFill>
            <a:srgbClr val="DCFCE7"/>
          </a:solidFill>
          <a:ln w="254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39312" y="406908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that part's hours. Give freed hours to the Runner 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4069080"/>
            <a:ext cx="2194560" cy="548640"/>
          </a:xfrm>
          <a:prstGeom prst="rect">
            <a:avLst/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56832" y="406908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 can help → Log as unresolvable 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5361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1810512"/>
            <a:ext cx="-1024128" cy="0"/>
          </a:xfrm>
          <a:prstGeom prst="line">
            <a:avLst/>
          </a:prstGeom>
          <a:noFill/>
          <a:ln w="1905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17373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1810512"/>
            <a:ext cx="502920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1737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0" y="2395728"/>
            <a:ext cx="0" cy="-109728"/>
          </a:xfrm>
          <a:prstGeom prst="line">
            <a:avLst/>
          </a:prstGeom>
          <a:noFill/>
          <a:ln w="12700">
            <a:solidFill>
              <a:srgbClr val="1665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2395728"/>
            <a:ext cx="0" cy="-109728"/>
          </a:xfrm>
          <a:prstGeom prst="line">
            <a:avLst/>
          </a:prstGeom>
          <a:noFill/>
          <a:ln w="12700">
            <a:solidFill>
              <a:srgbClr val="B91C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2962656"/>
            <a:ext cx="0" cy="28346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20040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43800" y="3813048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4069080"/>
            <a:ext cx="0" cy="-256032"/>
          </a:xfrm>
          <a:prstGeom prst="line">
            <a:avLst/>
          </a:prstGeom>
          <a:noFill/>
          <a:ln w="19050">
            <a:solidFill>
              <a:srgbClr val="1665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813048"/>
            <a:ext cx="2788920" cy="0"/>
          </a:xfrm>
          <a:prstGeom prst="line">
            <a:avLst/>
          </a:prstGeom>
          <a:noFill/>
          <a:ln w="1905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displace 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3867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displace 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7457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GOLDEN RULE: No Stranger or Repeater can hold machine capacity when a Runner is waiting.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— Always Check Inserts / Clips Before Running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31920" cy="187452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41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  What is a Terminal?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moulded parts need a small metal clip, insert, or connector to be placed inside the mould BEFORE the plastic is injected.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small part is called a TERMINAL.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terminal is used per piece produced.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297680" cy="187452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Used to Happen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started moulding.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After 30 minutes → Worker finds the terminal box is empty.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pieces made = SCRAP (no insert inside).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time wasted. Reset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16352"/>
            <a:ext cx="8595360" cy="347472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8346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How the System Prevents This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73552"/>
            <a:ext cx="1993392" cy="1664208"/>
          </a:xfrm>
          <a:prstGeom prst="rect">
            <a:avLst/>
          </a:prstGeom>
          <a:solidFill>
            <a:srgbClr val="DBEAFE"/>
          </a:solidFill>
          <a:ln w="254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3375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385876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41605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making the plan, system reads the terminal stock 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59152" y="3977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42032" y="3273552"/>
            <a:ext cx="1993392" cy="1664208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82112" y="33375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87752" y="385876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needs terminal?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15184" y="41605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mapping: does this part need a clip / insert?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35424" y="3977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18304" y="3273552"/>
            <a:ext cx="1993392" cy="1664208"/>
          </a:xfrm>
          <a:prstGeom prst="rect">
            <a:avLst/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58384" y="33375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64024" y="385876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= 0 stock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91456" y="41605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is BLOCKED. Not planned today. Alert raised for store team.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11696" y="3977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94576" y="3273552"/>
            <a:ext cx="1993392" cy="1664208"/>
          </a:xfrm>
          <a:prstGeom prst="rect">
            <a:avLst/>
          </a:prstGeom>
          <a:solidFill>
            <a:srgbClr val="DCFCE7"/>
          </a:solidFill>
          <a:ln w="254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34656" y="33375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40296" y="385876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&gt; 0 stock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67728" y="41605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is cleared. Added to plan. Stock reduces as pieces are made.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 — Some Machines Are Reserved for Specific Parts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Real-Life Example:  Think of a reserved parking spot near the factory gate. That spot belongs to the factory ambulance. Even if the ambulance is not there right now, you cannot park your car in it — unless the ambulance is officially 'off duty'.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4206240" cy="3218688"/>
          </a:xfrm>
          <a:prstGeom prst="rect">
            <a:avLst/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27632"/>
            <a:ext cx="420624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45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Machine LOCKED (stock &lt; 5 days)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dedicated part is running low (below 5 days stock)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5054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This machine belongs to ONLY that part today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9535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 Stranger part can use this machine — even if the machine has free hours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4015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 Repeater part can use this machine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8496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Only another Runner (if compatible) may use leftover hours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2976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system will show: [FIXED RESERVE] in the plan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627632"/>
            <a:ext cx="4206240" cy="3218688"/>
          </a:xfrm>
          <a:prstGeom prst="rect">
            <a:avLst/>
          </a:prstGeom>
          <a:solidFill>
            <a:srgbClr val="DCFCE7"/>
          </a:solidFill>
          <a:ln w="254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627632"/>
            <a:ext cx="4206240" cy="3840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645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Machine OPEN (stock ≥ 5 days)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057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dedicated part has reached its 5-day ceiling — no need to make more today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5054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Machine is free to use for other compatible parts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95351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Other Runners get preference first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40156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Repeaters can use it if Runners don't need 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384962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Strangers may use remaining time last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429768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System shows: [OPEN — 5d+ stock] in the plan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 — Use Every Minute of the Machine Wisely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224028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Colour Changeover Penalty — 10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last part was BLACK and the next part is WHITE: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Machine must be purged (flushed) with new material for 10 minutes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good parts are made during this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System adds this 10-min penalty to the changeover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System prefers to run same-colour parts on the same machine to avoid purging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297680" cy="2240280"/>
          </a:xfrm>
          <a:prstGeom prst="rect">
            <a:avLst/>
          </a:prstGeom>
          <a:solidFill>
            <a:srgbClr val="DBEAFE"/>
          </a:solidFill>
          <a:ln w="1905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22 Hours / Day — Every Hour Counts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23444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shifts × 12 hours = 24 hours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 1 hour break per shift = 22 production hours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fills all 22 hours of every machine: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Extend current parts first (within allowed stock limit)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Add unplanned parts that are running 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Re-run Runner parts with a second 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Use skipped parts as last resort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machine = lost production that cannot be recovered.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154680"/>
            <a:ext cx="8595360" cy="17830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 Changeover Queue — One at a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84448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changeover (tool swap) needs the Tool Changer team.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Two machines cannot both need a tool change at the same time.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The system lines up all changeovers in a queue — like a token system at a government office.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machine waits for its turn. While waiting, the machine continues running the previous part.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Flow — How the Plan Is Built Step by 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97680" y="804672"/>
            <a:ext cx="54864" cy="41330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49808"/>
            <a:ext cx="3977640" cy="5486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" y="7680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READ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10241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targets, machine list, terminal stock loaded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33672" y="950976"/>
            <a:ext cx="164592" cy="16459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362456"/>
            <a:ext cx="3977640" cy="5486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82312" y="13807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AUDIT EVERY PART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82312" y="163677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1: Missing cycle time? Gate 2: Not in matrix? Gate 3: No indent? Gate 4: Terminal zero? Gate 5: Stock already full?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33672" y="1563624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" y="1975104"/>
            <a:ext cx="3977640" cy="54864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" y="1993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SORT: RUNNERS FIRST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" y="224942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sorted — Runners at the top, then Repeaters, then Strangers. Within each group, lowest stock goes first.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33672" y="2176272"/>
            <a:ext cx="164592" cy="16459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2587752"/>
            <a:ext cx="3977640" cy="548640"/>
          </a:xfrm>
          <a:prstGeom prst="rect">
            <a:avLst/>
          </a:prstGeom>
          <a:solidFill>
            <a:srgbClr val="DCFCE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82312" y="2606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ASSIGN MACHINES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82312" y="286207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gets its best machine. Fixed machines go to their reserved parts. Same-colour preference applied.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33672" y="278892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3200400"/>
            <a:ext cx="3977640" cy="5486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01752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RUNNER SAFETY CHECK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" y="34747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Runner still not planned? System displaces Strangers/Repeaters to make room for them.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33672" y="340156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4709160" y="3813048"/>
            <a:ext cx="397764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82312" y="38313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FILL ALL 22 HOURS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82312" y="40873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Enforcer checks every machine. Any spare time → extend existing parts or add new parts.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33672" y="4014216"/>
            <a:ext cx="164592" cy="16459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" y="4425696"/>
            <a:ext cx="3977640" cy="5486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01752" y="44439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WRITE THE PLAN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" y="470001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Excel file written with per-machine plan, CO queue, stock projections, and alerts.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33672" y="4626864"/>
            <a:ext cx="164592" cy="164592"/>
          </a:xfrm>
          <a:prstGeom prst="ellipse">
            <a:avLst/>
          </a:prstGeom>
          <a:solidFill>
            <a:srgbClr val="16653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Out — The Daily Production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1901952"/>
          </a:xfrm>
          <a:prstGeom prst="rect">
            <a:avLst/>
          </a:prstGeom>
          <a:solidFill>
            <a:srgbClr val="EFF6FF"/>
          </a:solidFill>
          <a:ln w="2540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8046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Machine-wise Plan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machine: which part, how many hours, how many pieces expected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804672"/>
            <a:ext cx="2743200" cy="1901952"/>
          </a:xfrm>
          <a:prstGeom prst="rect">
            <a:avLst/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804672"/>
            <a:ext cx="274320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300984" y="8046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Changeover Queue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243584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system: which machine does tool change first, at what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804672"/>
            <a:ext cx="2743200" cy="1901952"/>
          </a:xfrm>
          <a:prstGeom prst="rect">
            <a:avLst/>
          </a:prstGeom>
          <a:solidFill>
            <a:srgbClr val="DCFCE7"/>
          </a:solidFill>
          <a:ln w="254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804672"/>
            <a:ext cx="2743200" cy="3840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8046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Stock Projection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27064" y="1243584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stock level before and after today's production for each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62072"/>
            <a:ext cx="2743200" cy="1901952"/>
          </a:xfrm>
          <a:prstGeom prst="rect">
            <a:avLst/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62072"/>
            <a:ext cx="274320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" y="28620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Manual Alert List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300984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that have terminal (insert) problems — needs store team action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27832" y="2862072"/>
            <a:ext cx="2743200" cy="1901952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2862072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300984" y="28620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Runner Priority Log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3300984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Runners were placed by displacing other parts — full audit trail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35624" y="2862072"/>
            <a:ext cx="2743200" cy="1901952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2862072"/>
            <a:ext cx="274320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208776" y="28620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Not Planned Log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27064" y="3300984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that couldn't be planned today — reason listed (terminal, capacity, etc.)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Golden Rules — Quick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66928" cy="713232"/>
          </a:xfrm>
          <a:prstGeom prst="rect">
            <a:avLst/>
          </a:prstGeom>
          <a:solidFill>
            <a:srgbClr val="1E5F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777240"/>
            <a:ext cx="7909560" cy="713232"/>
          </a:xfrm>
          <a:prstGeom prst="rect">
            <a:avLst/>
          </a:prstGeom>
          <a:solidFill>
            <a:srgbClr val="DBEAFE">
              <a:alpha val="85000"/>
            </a:srgbClr>
          </a:solidFill>
          <a:ln w="1905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8229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Keep the Right Amount of Stock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1247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safety floor → 5-day target ceiling. Make more when low. Stop when full.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566928" cy="713232"/>
          </a:xfrm>
          <a:prstGeom prst="rect">
            <a:avLst/>
          </a:prstGeom>
          <a:solidFill>
            <a:srgbClr val="B91C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60020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1600200"/>
            <a:ext cx="7909560" cy="713232"/>
          </a:xfrm>
          <a:prstGeom prst="rect">
            <a:avLst/>
          </a:prstGeom>
          <a:solidFill>
            <a:srgbClr val="FEE2E2">
              <a:alpha val="85000"/>
            </a:srgbClr>
          </a:solidFill>
          <a:ln w="1905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78992" y="16459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Runners Always Go First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19476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parts are sorted to the TOP of the list. No Stranger or Repeater can take their machine.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566928" cy="713232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42316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0120" y="2423160"/>
            <a:ext cx="7909560" cy="713232"/>
          </a:xfrm>
          <a:prstGeom prst="rect">
            <a:avLst/>
          </a:prstGeom>
          <a:solidFill>
            <a:srgbClr val="FEF3C7">
              <a:alpha val="85000"/>
            </a:srgbClr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78992" y="2468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  Check Inserts Before Starting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7706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required terminal/insert has zero stock → part is BLOCKED. Machine doesn't start wasted production.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566928" cy="71323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24612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60120" y="3246120"/>
            <a:ext cx="7909560" cy="713232"/>
          </a:xfrm>
          <a:prstGeom prst="rect">
            <a:avLst/>
          </a:prstGeom>
          <a:solidFill>
            <a:srgbClr val="EDE9FE">
              <a:alpha val="85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32918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Respect Reserved Machines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5935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machines belong to their parts when stock is below 5 days. Open only when stock is full.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566928" cy="713232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406908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60120" y="4069080"/>
            <a:ext cx="7909560" cy="713232"/>
          </a:xfrm>
          <a:prstGeom prst="rect">
            <a:avLst/>
          </a:prstGeom>
          <a:solidFill>
            <a:srgbClr val="DCFCE7">
              <a:alpha val="85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78992" y="41148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Fill Every Machine Hour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4165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hours/day is the target. Spare time is filled intelligently — same colour preferred to avoid purge.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Production Planning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Moulding Section — Uno Minda Rika Pvt. Ltd.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938528"/>
            <a:ext cx="5486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848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542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more stock-outs for Runner parts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9809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wasted machine time from missing inserts/clips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4198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Fixed machines protected from wrong-part scheduling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858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22 hours fully utilised every day, every machine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audit trail — every decision is recorded in the plan 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36592"/>
            <a:ext cx="9144000" cy="34747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7548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Tushar  |  Guided by: Mr. Amrit Lal  |  April 2026  |  For internal use — Moulding Section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Production Planning — Moulding Section</dc:title>
  <dc:subject>PptxGenJS Presentation</dc:subject>
  <dc:creator>PptxGenJS</dc:creator>
  <cp:lastModifiedBy>PptxGenJS</cp:lastModifiedBy>
  <cp:revision>1</cp:revision>
  <dcterms:created xsi:type="dcterms:W3CDTF">2026-04-10T00:55:48Z</dcterms:created>
  <dcterms:modified xsi:type="dcterms:W3CDTF">2026-04-10T00:55:48Z</dcterms:modified>
</cp:coreProperties>
</file>