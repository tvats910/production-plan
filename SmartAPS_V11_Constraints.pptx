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914400"/>
            <a:ext cx="2560320" cy="256032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1280160"/>
            <a:ext cx="1828800" cy="1828800"/>
          </a:xfrm>
          <a:prstGeom prst="ellipse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APS V11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Architecture &amp; Solution Design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Production Scheduling System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175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11 Constraints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21408" y="301752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21408" y="30175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Multi-Machine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85616" y="301752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85616" y="30175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Color-Aware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49824" y="301752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9824" y="30175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Terminal-Aware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14032" y="301752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14032" y="301752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Real-Time State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41605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Date: April 2026  |  Version: V11-FIXED  |  Deterministic Output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SYSTEM OVERVIEW — Constraint Landscape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1965960" cy="1005840"/>
          </a:xfrm>
          <a:prstGeom prst="rect">
            <a:avLst/>
          </a:prstGeom>
          <a:solidFill>
            <a:srgbClr val="DBEAFE"/>
          </a:solidFill>
          <a:ln w="254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384048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22960"/>
            <a:ext cx="384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" y="896112"/>
            <a:ext cx="14630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Minimum Run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Hours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68880" y="822960"/>
            <a:ext cx="1965960" cy="1005840"/>
          </a:xfrm>
          <a:prstGeom prst="rect">
            <a:avLst/>
          </a:prstGeom>
          <a:solidFill>
            <a:srgbClr val="DBEAFE"/>
          </a:solidFill>
          <a:ln w="254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822960"/>
            <a:ext cx="384048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822960"/>
            <a:ext cx="384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07792" y="896112"/>
            <a:ext cx="14630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Daily Indent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Skip Rule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1965960" cy="100584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22960"/>
            <a:ext cx="38404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822960"/>
            <a:ext cx="384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48072" y="896112"/>
            <a:ext cx="14630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Inventory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Ceiling (OPD)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49440" y="822960"/>
            <a:ext cx="1965960" cy="1005840"/>
          </a:xfrm>
          <a:prstGeom prst="rect">
            <a:avLst/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0" y="822960"/>
            <a:ext cx="384048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822960"/>
            <a:ext cx="384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88352" y="896112"/>
            <a:ext cx="14630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Terminal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Inventory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344168" y="2103120"/>
            <a:ext cx="1965960" cy="1005840"/>
          </a:xfrm>
          <a:prstGeom prst="rect">
            <a:avLst/>
          </a:prstGeom>
          <a:solidFill>
            <a:srgbClr val="EDE9FE"/>
          </a:solidFill>
          <a:ln w="2540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44168" y="2103120"/>
            <a:ext cx="384048" cy="10058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44168" y="2103120"/>
            <a:ext cx="384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83080" y="2176272"/>
            <a:ext cx="14630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</a:rPr>
              <a:t>Fixed Machine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</a:rPr>
              <a:t>Constraint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84448" y="2103120"/>
            <a:ext cx="1965960" cy="1005840"/>
          </a:xfrm>
          <a:prstGeom prst="rect">
            <a:avLst/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84448" y="2103120"/>
            <a:ext cx="384048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84448" y="2103120"/>
            <a:ext cx="384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23360" y="2176272"/>
            <a:ext cx="14630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Color Purge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Changeover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24728" y="2103120"/>
            <a:ext cx="1965960" cy="1005840"/>
          </a:xfrm>
          <a:prstGeom prst="rect">
            <a:avLst/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824728" y="2103120"/>
            <a:ext cx="384048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24728" y="2103120"/>
            <a:ext cx="384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2176272"/>
            <a:ext cx="14630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Max Daily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Changeovers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28600" y="3383280"/>
            <a:ext cx="1965960" cy="100584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3383280"/>
            <a:ext cx="38404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383280"/>
            <a:ext cx="384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7512" y="3456432"/>
            <a:ext cx="14630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Tool Availability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Limit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468880" y="3383280"/>
            <a:ext cx="1965960" cy="100584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468880" y="3383280"/>
            <a:ext cx="384048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68880" y="3383280"/>
            <a:ext cx="384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907792" y="3456432"/>
            <a:ext cx="14630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Runner Priority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Lock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09160" y="3383280"/>
            <a:ext cx="1965960" cy="1005840"/>
          </a:xfrm>
          <a:prstGeom prst="rect">
            <a:avLst/>
          </a:prstGeom>
          <a:solidFill>
            <a:srgbClr val="DBEAFE"/>
          </a:solidFill>
          <a:ln w="254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383280"/>
            <a:ext cx="384048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383280"/>
            <a:ext cx="384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C10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48072" y="3456432"/>
            <a:ext cx="14630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22H Utilization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Target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949440" y="3383280"/>
            <a:ext cx="1965960" cy="1005840"/>
          </a:xfrm>
          <a:prstGeom prst="rect">
            <a:avLst/>
          </a:prstGeom>
          <a:solidFill>
            <a:srgbClr val="EDE9FE"/>
          </a:solidFill>
          <a:ln w="2540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949440" y="3383280"/>
            <a:ext cx="384048" cy="10058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0" y="3383280"/>
            <a:ext cx="384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C11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88352" y="3456432"/>
            <a:ext cx="14630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</a:rPr>
              <a:t>Tool-Changer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</a:rPr>
              <a:t>Queue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11 Active Constraints govern every scheduling decision in Smart APS V11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MASTER SCHEDULING PIPELINE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155448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86868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Load Inputs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(Inventory, Indent,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Matrix, State)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737360" y="1417320"/>
            <a:ext cx="36576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868680"/>
            <a:ext cx="155448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20240" y="86868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Classify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Scenario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(0-3)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0" y="1417320"/>
            <a:ext cx="36576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868680"/>
            <a:ext cx="1554480" cy="10972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86868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Fixed Machine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(Phase A/B)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12080" y="1417320"/>
            <a:ext cx="36576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0" y="868680"/>
            <a:ext cx="155448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0" y="86868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Priority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Scoring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&amp; Sorting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49440" y="1417320"/>
            <a:ext cx="36576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868680"/>
            <a:ext cx="155448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0" y="86868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Primary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Assignment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Pass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09560" y="1965960"/>
            <a:ext cx="0" cy="32004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2286000"/>
            <a:ext cx="1554480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32320" y="228600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Runner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Priority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Enforcement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66560" y="2834640"/>
            <a:ext cx="36576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2286000"/>
            <a:ext cx="1554480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0" y="228600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22H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Utilization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Enforcer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0" y="2834640"/>
            <a:ext cx="36576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2286000"/>
            <a:ext cx="1554480" cy="10972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0" y="228600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Strategic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Buffer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Filler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91840" y="2834640"/>
            <a:ext cx="36576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20240" y="2286000"/>
            <a:ext cx="155448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920240" y="228600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Resequence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(CO minimize)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554480" y="2834640"/>
            <a:ext cx="36576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2286000"/>
            <a:ext cx="155448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82880" y="228600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 Stagger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(Tool Changer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Queue)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60120" y="3383280"/>
            <a:ext cx="0" cy="36576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3749040"/>
            <a:ext cx="1554480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82880" y="37490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Validate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&amp; Flag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Violations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737360" y="4297680"/>
            <a:ext cx="36576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20240" y="3749040"/>
            <a:ext cx="1554480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920240" y="37490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Forward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Look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(7-day Alert)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74720" y="4297680"/>
            <a:ext cx="36576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0" y="3749040"/>
            <a:ext cx="1554480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657600" y="37490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Save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Machine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State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212080" y="4297680"/>
            <a:ext cx="36576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94960" y="3749040"/>
            <a:ext cx="155448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394960" y="37490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Excel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Output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(19 sheets)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C1 &amp; C2 — Skip Rules: Minimum Run Hours &amp; Daily Indent Thresholds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393192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77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C1 — Minimum Run Hours (MIN_RUN_HOURS = 4h)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51560" y="1234440"/>
            <a:ext cx="21945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2344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Part candidate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for scheduling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48840" y="1737360"/>
            <a:ext cx="0" cy="2286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65960"/>
            <a:ext cx="2194560" cy="5943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51560" y="19659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Free hrs − CO hrs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≥ MIN_RUN_HOURS (4h)?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45920" y="2560320"/>
            <a:ext cx="0" cy="27432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58775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YES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46120" y="2267712"/>
            <a:ext cx="45720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762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NO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51560" y="2834640"/>
            <a:ext cx="2194560" cy="50292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51560" y="2834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Schedule &amp; run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part on machine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91840" y="2606040"/>
            <a:ext cx="640080" cy="777240"/>
          </a:xfrm>
          <a:prstGeom prst="rect">
            <a:avLst/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260604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Skip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this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machine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3520440"/>
            <a:ext cx="3749040" cy="1371600"/>
          </a:xfrm>
          <a:prstGeom prst="rect">
            <a:avLst/>
          </a:prstGeom>
          <a:solidFill>
            <a:srgbClr val="DBEAF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5661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Why 4 hours? 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Running a mold for less than 4h is economically inefficient — setup overhead consumes too much of the available production window. CO time is subtracted from available hours before this check applies.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777240"/>
            <a:ext cx="4023360" cy="3657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777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C2 — Daily Indent &amp; Monthly Indent Skip Rules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1280160"/>
            <a:ext cx="2011680" cy="548640"/>
          </a:xfrm>
          <a:prstGeom prst="rect">
            <a:avLst/>
          </a:prstGeom>
          <a:solidFill>
            <a:srgbClr val="DBEAFE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280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Daily indent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≤ 150 pcs?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49440" y="1554480"/>
            <a:ext cx="45720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1325880"/>
            <a:ext cx="1371600" cy="45720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1325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SKIP — too low demand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43600" y="1828800"/>
            <a:ext cx="0" cy="20116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187452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NO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937760" y="2103120"/>
            <a:ext cx="2011680" cy="548640"/>
          </a:xfrm>
          <a:prstGeom prst="rect">
            <a:avLst/>
          </a:prstGeom>
          <a:solidFill>
            <a:srgbClr val="DBEAFE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103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Monthly indent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÷ rate ≤ 4 hrs?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49440" y="2377440"/>
            <a:ext cx="45720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06640" y="2148840"/>
            <a:ext cx="1371600" cy="45720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SKIP — full monthly = micro run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943600" y="2651760"/>
            <a:ext cx="0" cy="20116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0" y="2697480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NO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937760" y="2926080"/>
            <a:ext cx="2011680" cy="548640"/>
          </a:xfrm>
          <a:prstGeom prst="rect">
            <a:avLst/>
          </a:prstGeom>
          <a:solidFill>
            <a:srgbClr val="DBEAFE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Inventory ≥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5-day target?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949440" y="3200400"/>
            <a:ext cx="45720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06640" y="2971800"/>
            <a:ext cx="1371600" cy="45720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06640" y="2971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SKIP — at ceiling, rest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937760" y="3749040"/>
            <a:ext cx="2011680" cy="54864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3749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All checks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PASS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C3 — Inventory OPD Ceiling (Scenario-Based Production Cap)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2048256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822960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2048256" cy="1371600"/>
          </a:xfrm>
          <a:prstGeom prst="rect">
            <a:avLst/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23444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ALL parts critical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(inventory &lt; 1 day)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2240280"/>
            <a:ext cx="1645920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240280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OPD Cap: 3.0 days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14016" y="822960"/>
            <a:ext cx="2048256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14016" y="822960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14016" y="1188720"/>
            <a:ext cx="2048256" cy="1371600"/>
          </a:xfrm>
          <a:prstGeom prst="rect">
            <a:avLst/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05456" y="123444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Some parts critical,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others have buffer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15184" y="2240280"/>
            <a:ext cx="1645920" cy="2468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5184" y="2240280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OPD Cap: 3.0 days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45152" y="822960"/>
            <a:ext cx="2048256" cy="3657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822960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45152" y="1188720"/>
            <a:ext cx="2048256" cy="1371600"/>
          </a:xfrm>
          <a:prstGeom prst="rect">
            <a:avLst/>
          </a:prstGeom>
          <a:solidFill>
            <a:srgbClr val="FFFDE7"/>
          </a:solidFill>
          <a:ln w="25400">
            <a:solidFill>
              <a:srgbClr val="EAB30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36592" y="123444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AB308"/>
                </a:solidFill>
              </a:rPr>
              <a:t>Parts below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AB308"/>
                </a:solidFill>
              </a:rPr>
              <a:t>3-day safety floor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240280"/>
            <a:ext cx="1645920" cy="24688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240280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OPD Cap: 4.0 days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76288" y="822960"/>
            <a:ext cx="2048256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76288" y="822960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76288" y="1188720"/>
            <a:ext cx="2048256" cy="137160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67728" y="123444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All parts healthy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(≥ 3-day floor)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77456" y="2240280"/>
            <a:ext cx="1645920" cy="2468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77456" y="2240280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OPD Cap: 5.0 days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2880" y="2743200"/>
            <a:ext cx="877824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274320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HOW THE CAP IS APPLIED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2880" y="3154680"/>
            <a:ext cx="155448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82880" y="31546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Compute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cap_qty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= OPD × daily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737360" y="3566160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65960" y="3154680"/>
            <a:ext cx="155448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965960" y="31546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Headroom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= cap_qty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− inventory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520440" y="3566160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49040" y="3154680"/>
            <a:ext cx="155448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749040" y="31546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Run hours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= min(free,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headroom/rate)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303520" y="3566160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32120" y="3154680"/>
            <a:ext cx="155448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532120" y="31546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Machine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hours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updated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086600" y="3566160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15200" y="3154680"/>
            <a:ext cx="155448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315200" y="31546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Inventory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simulation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updated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82880" y="4114800"/>
            <a:ext cx="8778240" cy="7772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Key principle: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The OPD (Outstanding Production Days) cap prevents over-stocking by capping production at N×daily_indent per part. Scenario determines N (3–5 days). Machines are filled up to the OPD ceiling, never beyond — preserving machine time for other critical parts. Safety_Days=3, Target=5 days.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C4 — Terminal Inventory Constraint (Hard Block)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114800" cy="2286000"/>
          </a:xfrm>
          <a:prstGeom prst="rect">
            <a:avLst/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22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What is a Terminal?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Terminals are downstream raw-material components required to produce a part. Each part may require one or more specific terminals.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If a terminal's inventory falls below the threshold,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the part is HARD-BLOCKED from scheduling.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777240"/>
            <a:ext cx="420624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777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Threshold by Part Category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1389888" cy="384048"/>
          </a:xfrm>
          <a:prstGeom prst="rect">
            <a:avLst/>
          </a:prstGeom>
          <a:solidFill>
            <a:srgbClr val="FFE4E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Category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53328" y="1143000"/>
            <a:ext cx="1389888" cy="384048"/>
          </a:xfrm>
          <a:prstGeom prst="rect">
            <a:avLst/>
          </a:prstGeom>
          <a:solidFill>
            <a:srgbClr val="FFE4E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53328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Multiplier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443216" y="1143000"/>
            <a:ext cx="1389888" cy="384048"/>
          </a:xfrm>
          <a:prstGeom prst="rect">
            <a:avLst/>
          </a:prstGeom>
          <a:solidFill>
            <a:srgbClr val="FFE4E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43216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Min Terminal Stock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527048"/>
            <a:ext cx="13898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52704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Runner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53328" y="1527048"/>
            <a:ext cx="13898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53328" y="152704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1.0×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43216" y="1527048"/>
            <a:ext cx="13898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43216" y="152704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= 1.0 × daily indent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911096"/>
            <a:ext cx="13898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911096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Repeater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53328" y="1911096"/>
            <a:ext cx="13898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53328" y="1911096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0.5×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43216" y="1911096"/>
            <a:ext cx="13898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43216" y="1911096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= 0.5 × daily indent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295144"/>
            <a:ext cx="13898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29514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Stranger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53328" y="2295144"/>
            <a:ext cx="13898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53328" y="229514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0.25×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443216" y="2295144"/>
            <a:ext cx="13898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43216" y="229514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= 0.25 × daily indent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82880" y="3200400"/>
            <a:ext cx="877824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320040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TERMINAL CHECK FLOWCHART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2880" y="3611880"/>
            <a:ext cx="1920240" cy="777240"/>
          </a:xfrm>
          <a:prstGeom prst="rect">
            <a:avLst/>
          </a:prstGeom>
          <a:solidFill>
            <a:srgbClr val="DBEAFE"/>
          </a:solidFill>
          <a:ln w="254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82880" y="36118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Part has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required terminals?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103120" y="4005072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31720" y="3611880"/>
            <a:ext cx="1920240" cy="777240"/>
          </a:xfrm>
          <a:prstGeom prst="rect">
            <a:avLst/>
          </a:prstGeom>
          <a:solidFill>
            <a:srgbClr val="DBEAFE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331720" y="36118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Look up terminal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inventory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251960" y="4005072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80560" y="3611880"/>
            <a:ext cx="1920240" cy="77724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480560" y="36118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inv ≥ threshold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for all terminals?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00800" y="4005072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29400" y="3611880"/>
            <a:ext cx="1920240" cy="77724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629400" y="36118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PASS — include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in scheduler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63640" y="4041648"/>
            <a:ext cx="0" cy="45720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77840" y="4498848"/>
            <a:ext cx="1463040" cy="502920"/>
          </a:xfrm>
          <a:prstGeom prst="rect">
            <a:avLst/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7840" y="44988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HARD BLOCK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(not planned)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91072" y="406908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FAIL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635240" y="40050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PASS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C5 — Fixed Machine Constraint (Phase A / Phase B Logic)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114800" cy="4160520"/>
          </a:xfrm>
          <a:prstGeom prst="rect">
            <a:avLst/>
          </a:prstGeom>
          <a:solidFill>
            <a:srgbClr val="EDE9FE"/>
          </a:solidFill>
          <a:ln w="2540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4114800" cy="3657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A — Buffer Building (CRITICAL)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201168" cy="20116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6187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Triggered when ANY fixed part on machine has inventory &lt; 3-day safety floor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201168" cy="20116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1051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Machine runs the single MOST URGENT fixed part for the entire shift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377440"/>
            <a:ext cx="201168" cy="20116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5915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Run hours = full AVAILABLE_HOURS (up to 23h if indent is very high)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926080"/>
            <a:ext cx="201168" cy="20116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0779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No other parts compete — machine is exclusively locked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474720"/>
            <a:ext cx="201168" cy="20116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45643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Part with lowest days_coverage is chosen (tie-broken by higher hours needed)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777240"/>
            <a:ext cx="4114800" cy="4160520"/>
          </a:xfrm>
          <a:prstGeom prst="rect">
            <a:avLst/>
          </a:prstGeom>
          <a:solidFill>
            <a:srgbClr val="F3E8FF"/>
          </a:solidFill>
          <a:ln w="2540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777240"/>
            <a:ext cx="4114800" cy="36576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B — OPD Build (NORMAL)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74920" y="1280160"/>
            <a:ext cx="201168" cy="201168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126187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Triggered when ALL fixed parts on machine are above safety floor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74920" y="1828800"/>
            <a:ext cx="201168" cy="201168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181051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EACH fixed part runs for its specific daily indent hours (min 4h)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74920" y="2377440"/>
            <a:ext cx="201168" cy="201168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235915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OPD ceiling applies — headroom = cap_qty − current_inventory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74920" y="2926080"/>
            <a:ext cx="201168" cy="201168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290779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Multiple fixed parts can run on the same machine in Phase 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74920" y="3474720"/>
            <a:ext cx="201168" cy="201168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345643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Remaining machine hours released for general scheduler pool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82880" y="4663440"/>
            <a:ext cx="8778240" cy="2743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" y="466344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determined at run time by checking live inventory of all parts assigned to that machine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C6 &amp; C7 — Color Purge Changeover &amp; Max Daily Changeovers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114800" cy="4160520"/>
          </a:xfrm>
          <a:prstGeom prst="rect">
            <a:avLst/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4114800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C6 — Color Purge Changeover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7315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801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51560" y="1536192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1280160"/>
            <a:ext cx="7315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12801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48840" y="1536192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31720" y="1261872"/>
            <a:ext cx="1783080" cy="530352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1261872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Base CO only (no purge)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194560"/>
            <a:ext cx="7315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1945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51560" y="2450592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17320" y="2194560"/>
            <a:ext cx="7315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21945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BLUE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48840" y="2450592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31720" y="2176272"/>
            <a:ext cx="1783080" cy="530352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2176272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Base CO + 10min purge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108960"/>
            <a:ext cx="731520" cy="5029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1089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UNKNOWN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51560" y="3364992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17320" y="3108960"/>
            <a:ext cx="731520" cy="5029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7320" y="31089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48840" y="3364992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31720" y="3090672"/>
            <a:ext cx="1783080" cy="530352"/>
          </a:xfrm>
          <a:prstGeom prst="rect">
            <a:avLst/>
          </a:prstGeom>
          <a:solidFill>
            <a:srgbClr val="FFFFFF"/>
          </a:solidFill>
          <a:ln w="25400">
            <a:solidFill>
              <a:srgbClr val="EAB30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0" y="3090672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B308"/>
                </a:solidFill>
              </a:rPr>
              <a:t>Base CO only (unknown = no purge)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4114800"/>
            <a:ext cx="3794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16052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COLOR_PURGE_HRS = 10 min (0.167h)
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Purge is added ONLY when both from/to colors are known and differ. Machine state tracks last run part for each machine.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777240"/>
            <a:ext cx="4114800" cy="4160520"/>
          </a:xfrm>
          <a:prstGeom prst="rect">
            <a:avLst/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777240"/>
            <a:ext cx="41148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C7 — Max Daily Changeovers (MAX_DAILY_CO = 25)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83480" y="123444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The Tool Changer is a SERIAL RESOURCE — only one CO can physically occur at a time. Limiting to 25/day prevents: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Excessive tool-changer queue buildup
• CO collisions causing idle machine time
• Operator overload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Enforcement: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Before adding any new CO-requiring assignment, the scheduler checks _current_co_count(plan) ≥ 25. If at cap, only no-CO additions are permitted.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83480" y="3611880"/>
            <a:ext cx="374904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611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TOOL CHANGER QUEUE (serial)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83480" y="3977640"/>
            <a:ext cx="685800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3977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CO#1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+40min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669280" y="4315968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33288" y="3977640"/>
            <a:ext cx="685800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33288" y="3977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CO#2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+40min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419088" y="4315968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83096" y="3977640"/>
            <a:ext cx="685800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83096" y="3977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CO#3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+40min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168896" y="4315968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32904" y="3977640"/>
            <a:ext cx="685800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32904" y="3977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...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7918704" y="4315968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82712" y="3977640"/>
            <a:ext cx="68580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82712" y="3977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CO#25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max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C8 &amp; C9 — Tool Availability Limit &amp; Runner Priority Lock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114800" cy="416052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411480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C8 — Tool (Mould) Availability Limit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Each part has a fixed number of tools (moulds) available.
A part can run on at most TOOLS_AVAILABLE machines simultaneously:
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240280"/>
            <a:ext cx="173736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2402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Runner (Critical)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57400" y="2487168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2221992"/>
            <a:ext cx="173736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222199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Up to min(2, tools) machines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862072"/>
            <a:ext cx="173736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8620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Repeater / Stranger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57400" y="310896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843784"/>
            <a:ext cx="173736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2843784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Max 1 machine always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483864"/>
            <a:ext cx="173736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48386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Any (ZERO inventory)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057400" y="3730752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3465576"/>
            <a:ext cx="173736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31720" y="3465576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Force up to tools limit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4114800"/>
            <a:ext cx="3794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16052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Tool expansion tracks used_machines set per part. Once tool cap is reached, no more machines are added for that part that day.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777240"/>
            <a:ext cx="4114800" cy="416052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777240"/>
            <a:ext cx="4114800" cy="3657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C9 — Runner Priority Lock &amp; Displacement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83480" y="1234440"/>
            <a:ext cx="132588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83480" y="123444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Runner part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unplanned today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400800" y="1234440"/>
            <a:ext cx="132588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0" y="123444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Inventory &lt;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2× daily indent?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983480" y="2103120"/>
            <a:ext cx="132588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83480" y="21031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Find machine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with free capacity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983480" y="2926080"/>
            <a:ext cx="132588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83480" y="29260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PLAN Runner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on free machine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400800" y="2103120"/>
            <a:ext cx="132588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00800" y="21031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No free capacity?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Displace low-priority part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00800" y="2926080"/>
            <a:ext cx="132588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00800" y="29260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Runner placed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via displacement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309360" y="1554480"/>
            <a:ext cx="914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41848" y="1874520"/>
            <a:ext cx="0" cy="22860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41848" y="2697480"/>
            <a:ext cx="0" cy="22860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59168" y="1874520"/>
            <a:ext cx="0" cy="22860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59168" y="2697480"/>
            <a:ext cx="0" cy="22860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0" y="190195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FREE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114032" y="1901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97316"/>
                </a:solidFill>
              </a:rPr>
              <a:t>NO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F97316"/>
                </a:solidFill>
              </a:rPr>
              <a:t>FREE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983480" y="3703320"/>
            <a:ext cx="3749040" cy="6858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74920" y="37490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Displacement carves hours from Stranger/Repeater parts with higher coverage than the Runner. Victims yield time proportionally, never below MIN_RUN_HOURS.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C10 — 22H Utilization Enforcer (5-Stage Pipeline)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1389888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7724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097280"/>
            <a:ext cx="1389888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109728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Extend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90% Floor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72768" y="1463040"/>
            <a:ext cx="914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920240"/>
            <a:ext cx="1389888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" y="196596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Extend existing parts on this machine until utilization ≥ 90% of 22h.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64208" y="777240"/>
            <a:ext cx="1389888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64208" y="77724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664208" y="1097280"/>
            <a:ext cx="1389888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64208" y="109728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Add New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Parts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54096" y="1463040"/>
            <a:ext cx="914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64208" y="1920240"/>
            <a:ext cx="1389888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19072" y="196596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Add unplanned compatible parts with CO awareness. Prefer same color, no CO.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45536" y="777240"/>
            <a:ext cx="1389888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45536" y="77724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145536" y="1097280"/>
            <a:ext cx="1389888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45536" y="109728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Progressive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Ceiling Ext.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35424" y="1463040"/>
            <a:ext cx="914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45536" y="1920240"/>
            <a:ext cx="1389888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196596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Extend existing parts through OPD → 7-day → 15-day ceilings sequentially.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26864" y="777240"/>
            <a:ext cx="1389888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26864" y="77724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26864" y="1097280"/>
            <a:ext cx="1389888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26864" y="109728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Runner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Spare Tool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16752" y="1463040"/>
            <a:ext cx="914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26864" y="1920240"/>
            <a:ext cx="1389888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196596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Assign spare tool for a Runner that still has indent unmet and capacity.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08192" y="777240"/>
            <a:ext cx="1389888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08192" y="77724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08192" y="1097280"/>
            <a:ext cx="1389888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08192" y="109728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Any Compatible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Part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498080" y="1463040"/>
            <a:ext cx="914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08192" y="1920240"/>
            <a:ext cx="1389888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63056" y="196596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Fill with any compatible part up to absolute max (15-day cap).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589520" y="777240"/>
            <a:ext cx="1389888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0" y="77724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S5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589520" y="1097280"/>
            <a:ext cx="1389888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589520" y="109728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Final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Tail Fill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589520" y="1920240"/>
            <a:ext cx="1389888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44384" y="196596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Last-pass extension to fill remaining micro-idle to 15-day ceiling.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82880" y="3520440"/>
            <a:ext cx="877824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2880" y="352044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MACHINE UTILIZATION BAR — BEFORE vs AFTER ENFORCER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2860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Before: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005840" y="3931920"/>
            <a:ext cx="77724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05840" y="3931920"/>
            <a:ext cx="46634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51560" y="3950208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Planned ~60%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760720" y="395020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IDLE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28600" y="4343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After: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005840" y="4343400"/>
            <a:ext cx="77724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05840" y="4343400"/>
            <a:ext cx="749808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51560" y="43616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Fully utilized ≥ 95%  (S0→S5 applied)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503920" y="4343400"/>
            <a:ext cx="27432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522208" y="436168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min idle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C11 — Tool-Changer Serial Queue &amp; CO Stagger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8778240" cy="777240"/>
          </a:xfrm>
          <a:prstGeom prst="rect">
            <a:avLst/>
          </a:prstGeom>
          <a:solidFill>
            <a:srgbClr val="EDE9FE"/>
          </a:solidFill>
          <a:ln w="25400">
            <a:solidFill>
              <a:srgbClr val="6D28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Problem: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The tool-changer robot is a SINGLE serial resource. Multiple machines cannot perform changeovers simultaneously. Without staggering, parallel COs on different machines would collide, causing machine idle time equal to waiting for the tool changer.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1691640"/>
            <a:ext cx="8778240" cy="3200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69164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TOOL CHANGER TIMELINE (Serialized CO Queue)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2103120"/>
            <a:ext cx="100584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21031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Machine 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2880360"/>
            <a:ext cx="100584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28803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Machine B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3657600"/>
            <a:ext cx="100584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36576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Machine 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234440" y="2148840"/>
            <a:ext cx="2743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Part X running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977640" y="2148840"/>
            <a:ext cx="64008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21488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40min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617720" y="2148840"/>
            <a:ext cx="32004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148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Part Y running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234440" y="2880360"/>
            <a:ext cx="22860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2880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Part A running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520440" y="2880360"/>
            <a:ext cx="548640" cy="457200"/>
          </a:xfrm>
          <a:prstGeom prst="rect">
            <a:avLst/>
          </a:prstGeom>
          <a:solidFill>
            <a:srgbClr val="EDE9FE"/>
          </a:solidFill>
          <a:ln w="25400">
            <a:solidFill>
              <a:srgbClr val="6D2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2880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D28D9"/>
                </a:solidFill>
              </a:rPr>
              <a:t>WAIT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6D28D9"/>
                </a:solidFill>
              </a:rPr>
              <a:t>+ext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069080" y="2880360"/>
            <a:ext cx="64008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9080" y="2880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40min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709160" y="2880360"/>
            <a:ext cx="31089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880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Part B running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34440" y="3657600"/>
            <a:ext cx="18288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440" y="3657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Part P running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063240" y="3657600"/>
            <a:ext cx="1005840" cy="457200"/>
          </a:xfrm>
          <a:prstGeom prst="rect">
            <a:avLst/>
          </a:prstGeom>
          <a:solidFill>
            <a:srgbClr val="EDE9FE"/>
          </a:solidFill>
          <a:ln w="2540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63240" y="3657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D28D9"/>
                </a:solidFill>
              </a:rPr>
              <a:t>WAIT (extended)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709160" y="3657600"/>
            <a:ext cx="64008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657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40min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989320" y="3657600"/>
            <a:ext cx="24231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36576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Part Q running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234440" y="4297680"/>
            <a:ext cx="3657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64208" y="4297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Production run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520440" y="4297680"/>
            <a:ext cx="36576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50208" y="4297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CO (tool changer)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06440" y="4297680"/>
            <a:ext cx="365760" cy="2743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36208" y="4297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Wait/extension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While waiting, the machine extends its BEFORE-CO part production — zero idle time. CO stagger resolves conflicts so tool changer is never double-booked.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PRIORITY SCORING ENGINE — How Parts Are Ranked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8778240" cy="822960"/>
          </a:xfrm>
          <a:prstGeom prst="rect">
            <a:avLst/>
          </a:prstGeom>
          <a:solidFill>
            <a:srgbClr val="DBEAFE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Final Score  =  0.55 × Urgency Score  +  0.25 × Category Score  +  0.20 × Indent Score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1691640"/>
            <a:ext cx="2807208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691640"/>
            <a:ext cx="2807208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691640"/>
            <a:ext cx="2807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URGENCY SCORE (55%)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76272"/>
            <a:ext cx="2624328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176272"/>
            <a:ext cx="262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0.60 × gap_pct + 0.40 × velocity_pct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2679192"/>
            <a:ext cx="146304" cy="14630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6517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gap_pct: how far inventory is from the 5-day target ceiling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" y="3273552"/>
            <a:ext cx="146304" cy="14630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2461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velocity_pct: daily indent / max inventory ratio across all parts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7472" y="3867912"/>
            <a:ext cx="146304" cy="14630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840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Parts with zero or very low inventory score near 100%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72968" y="1691640"/>
            <a:ext cx="2807208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72968" y="1691640"/>
            <a:ext cx="280720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72968" y="1691640"/>
            <a:ext cx="2807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CATEGORY SCORE (25%)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64408" y="2176272"/>
            <a:ext cx="2624328" cy="36576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2176272"/>
            <a:ext cx="262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Runner=100 | Repeater=60 | Stranger=20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37560" y="2679192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57016" y="26517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Runner: highest priority — supply chain must never run dry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37560" y="3273552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57016" y="32461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Repeater: medium priority — planned but flexible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37560" y="3867912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57016" y="3840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Stranger: lowest — scheduled only when capacity is available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63056" y="1691640"/>
            <a:ext cx="2807208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63056" y="1691640"/>
            <a:ext cx="2807208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3056" y="1691640"/>
            <a:ext cx="2807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INDENT SCORE (20%)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54496" y="2176272"/>
            <a:ext cx="2624328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2176272"/>
            <a:ext cx="262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(daily_indent / max_daily) × 100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327648" y="2679192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47104" y="26517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Parts with high daily indent get proportionally higher scores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327648" y="3273552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47104" y="32461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Rewards high-volume, high-commitment production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327648" y="3867912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47104" y="3840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Normalized to 0–100 scale across all active parts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82880" y="5029200"/>
            <a:ext cx="877824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502920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Parts are sorted by Final_Score (descending) before assignment — deterministic tie-breaking by part name ensures reproducible plans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MACHINE SELECTION &amp; RANKING — How a Machine is Chosen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8778240" cy="594360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9552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Ranking Cost = count_score + CO_penalty + utilization_penalty + same_part_bonus + color_bonus  →  Lowest cost wins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463040"/>
            <a:ext cx="1591056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463040"/>
            <a:ext cx="1591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Count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Score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2011680"/>
            <a:ext cx="1591056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2029968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part_count / max_part_count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82880" y="2487168"/>
            <a:ext cx="1591056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" y="2542032"/>
            <a:ext cx="148132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Prefer machines that can run fewer part types (more specialized)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56816" y="1463040"/>
            <a:ext cx="1591056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56816" y="1463040"/>
            <a:ext cx="1591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 Penalty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56816" y="2011680"/>
            <a:ext cx="1591056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02536" y="2029968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7316"/>
                </a:solidFill>
              </a:rPr>
              <a:t>(co_hrs / 22) × 0.3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956816" y="2487168"/>
            <a:ext cx="1591056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2542032"/>
            <a:ext cx="148132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Higher changeover time = higher penalty. Same-color avoids purge adder.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730752" y="1463040"/>
            <a:ext cx="1591056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1463040"/>
            <a:ext cx="1591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Utilization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Penalty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30752" y="2011680"/>
            <a:ext cx="1591056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76472" y="2029968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(used_hrs / 22) × 0.2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730752" y="2487168"/>
            <a:ext cx="1591056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85616" y="2542032"/>
            <a:ext cx="148132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Prefer less-used machines to distribute load evenly across the shop floor.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504688" y="1463040"/>
            <a:ext cx="1591056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04688" y="1463040"/>
            <a:ext cx="1591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Same-Part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Bonus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04688" y="2011680"/>
            <a:ext cx="1591056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50408" y="2029968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−0.15 if last part = this part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504688" y="2487168"/>
            <a:ext cx="1591056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59552" y="2542032"/>
            <a:ext cx="148132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Bonus for staying on the same part — avoids unnecessary changeover cost.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278624" y="1463040"/>
            <a:ext cx="1591056" cy="5486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78624" y="1463040"/>
            <a:ext cx="1591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Color Bonus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78624" y="2011680"/>
            <a:ext cx="1591056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AB30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24344" y="2029968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B308"/>
                </a:solidFill>
              </a:rPr>
              <a:t>−0.08 if same color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278624" y="2487168"/>
            <a:ext cx="1591056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33488" y="2542032"/>
            <a:ext cx="148132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Small bonus for same-color follow-on to reduce purge probability.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82880" y="3931920"/>
            <a:ext cx="877824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" y="393192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ELIGIBILITY FILTERS (applied before ranking)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2880" y="4315968"/>
            <a:ext cx="8778240" cy="164592"/>
          </a:xfrm>
          <a:prstGeom prst="rect">
            <a:avLst/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3159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Compatibility matrix must show machine = 1 for this part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82880" y="4480560"/>
            <a:ext cx="8778240" cy="164592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48056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Effective free hours (after CO subtraction) ≥ MIN_RUN_HOURS (4h)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2880" y="4645152"/>
            <a:ext cx="8778240" cy="164592"/>
          </a:xfrm>
          <a:prstGeom prst="rect">
            <a:avLst/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64515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Runner-Lock: if inv &lt; 2× daily, machine MUST have already run this part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82880" y="4809744"/>
            <a:ext cx="8778240" cy="164592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80974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Fixed-machine exclusion: non-fixed parts cannot use fixed-machine slots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82880" y="4974336"/>
            <a:ext cx="8778240" cy="164592"/>
          </a:xfrm>
          <a:prstGeom prst="rect">
            <a:avLst/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Part fixed-machine: if fixed, primary candidate is always the designated machine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CONSTRAINT SUMMARY &amp; DECISION MATRIX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502920" cy="374904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49808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749808"/>
            <a:ext cx="2286000" cy="374904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749808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Constraint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71800" y="749808"/>
            <a:ext cx="914400" cy="374904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749808"/>
            <a:ext cx="822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Type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86200" y="749808"/>
            <a:ext cx="1097280" cy="374904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749808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Impact Level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83480" y="749808"/>
            <a:ext cx="1783080" cy="374904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749808"/>
            <a:ext cx="16916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2880" y="1124712"/>
            <a:ext cx="50292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124712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" y="1124712"/>
            <a:ext cx="228600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1124712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Min Run Hours (4h)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71800" y="1124712"/>
            <a:ext cx="91440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1124712"/>
            <a:ext cx="822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Hard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86200" y="1124712"/>
            <a:ext cx="109728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1124712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HIGH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83480" y="1124712"/>
            <a:ext cx="178308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124712"/>
            <a:ext cx="16916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Assignment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" y="1499616"/>
            <a:ext cx="502920" cy="3749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1499616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" y="1499616"/>
            <a:ext cx="2286000" cy="3749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1499616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Daily / Indent Thresholds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971800" y="1499616"/>
            <a:ext cx="914400" cy="3749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1499616"/>
            <a:ext cx="822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Hard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86200" y="1499616"/>
            <a:ext cx="1097280" cy="3749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1499616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HIGH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83480" y="1499616"/>
            <a:ext cx="1783080" cy="3749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1499616"/>
            <a:ext cx="16916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Pre-filter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2880" y="1874520"/>
            <a:ext cx="50292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1874520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C3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5800" y="1874520"/>
            <a:ext cx="228600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1874520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OPD Ceiling (3–5 days)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971800" y="1874520"/>
            <a:ext cx="91440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17520" y="1874520"/>
            <a:ext cx="822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Soft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86200" y="1874520"/>
            <a:ext cx="109728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0" y="1874520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B308"/>
                </a:solidFill>
              </a:rPr>
              <a:t>MEDIUM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83480" y="1874520"/>
            <a:ext cx="178308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1874520"/>
            <a:ext cx="16916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Assignment + Fill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82880" y="2249424"/>
            <a:ext cx="502920" cy="3749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2249424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5800" y="2249424"/>
            <a:ext cx="2286000" cy="3749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" y="2249424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Terminal Inventory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971800" y="2249424"/>
            <a:ext cx="914400" cy="3749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2249424"/>
            <a:ext cx="822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Hard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886200" y="2249424"/>
            <a:ext cx="1097280" cy="3749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31920" y="2249424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CRITICAL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83480" y="2249424"/>
            <a:ext cx="1783080" cy="3749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2249424"/>
            <a:ext cx="16916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Pre-filter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82880" y="2624328"/>
            <a:ext cx="50292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8600" y="2624328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C5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85800" y="2624328"/>
            <a:ext cx="228600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" y="2624328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Fixed Machine (A/B Phase)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971800" y="2624328"/>
            <a:ext cx="91440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17520" y="2624328"/>
            <a:ext cx="822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Hard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886200" y="2624328"/>
            <a:ext cx="109728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931920" y="2624328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HIGH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983480" y="2624328"/>
            <a:ext cx="178308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0" y="2624328"/>
            <a:ext cx="16916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Dedicated pass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82880" y="2999232"/>
            <a:ext cx="502920" cy="3749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8600" y="2999232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C6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85800" y="2999232"/>
            <a:ext cx="2286000" cy="3749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1520" y="2999232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Color Purge CO (+10min)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971800" y="2999232"/>
            <a:ext cx="914400" cy="3749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017520" y="2999232"/>
            <a:ext cx="822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Soft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886200" y="2999232"/>
            <a:ext cx="1097280" cy="3749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931920" y="2999232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B308"/>
                </a:solidFill>
              </a:rPr>
              <a:t>MEDIUM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983480" y="2999232"/>
            <a:ext cx="1783080" cy="3749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29200" y="2999232"/>
            <a:ext cx="16916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 calculation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82880" y="3374136"/>
            <a:ext cx="50292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28600" y="3374136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C7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85800" y="3374136"/>
            <a:ext cx="228600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31520" y="3374136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Max Daily CO (25)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971800" y="3374136"/>
            <a:ext cx="91440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017520" y="3374136"/>
            <a:ext cx="822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Hard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886200" y="3374136"/>
            <a:ext cx="109728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931920" y="3374136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HIGH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983480" y="3374136"/>
            <a:ext cx="178308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029200" y="3374136"/>
            <a:ext cx="16916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All phases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82880" y="3749040"/>
            <a:ext cx="502920" cy="3749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28600" y="3749040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C8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85800" y="3749040"/>
            <a:ext cx="2286000" cy="3749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31520" y="3749040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Tool Availability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971800" y="3749040"/>
            <a:ext cx="914400" cy="3749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017520" y="3749040"/>
            <a:ext cx="822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Hard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3886200" y="3749040"/>
            <a:ext cx="1097280" cy="3749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931920" y="3749040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HIGH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983480" y="3749040"/>
            <a:ext cx="1783080" cy="3749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029200" y="3749040"/>
            <a:ext cx="16916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Assignment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182880" y="4123944"/>
            <a:ext cx="50292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28600" y="4123944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C9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85800" y="4123944"/>
            <a:ext cx="228600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31520" y="4123944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Runner Priority Lock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2971800" y="4123944"/>
            <a:ext cx="91440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017520" y="4123944"/>
            <a:ext cx="822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Hard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3886200" y="4123944"/>
            <a:ext cx="109728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931920" y="4123944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CRITICAL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4983480" y="4123944"/>
            <a:ext cx="178308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029200" y="4123944"/>
            <a:ext cx="16916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Enforcement pass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182880" y="4498848"/>
            <a:ext cx="502920" cy="3749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28600" y="4498848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C10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85800" y="4498848"/>
            <a:ext cx="2286000" cy="3749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31520" y="4498848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22H Utilization Target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2971800" y="4498848"/>
            <a:ext cx="914400" cy="3749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017520" y="4498848"/>
            <a:ext cx="822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Soft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3886200" y="4498848"/>
            <a:ext cx="1097280" cy="3749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931920" y="4498848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HIGH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4983480" y="4498848"/>
            <a:ext cx="1783080" cy="3749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029200" y="4498848"/>
            <a:ext cx="16916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Enforcer + Buffer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182880" y="4873752"/>
            <a:ext cx="50292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28600" y="4873752"/>
            <a:ext cx="411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C11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85800" y="4873752"/>
            <a:ext cx="228600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31520" y="4873752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Tool-Changer Queue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2971800" y="4873752"/>
            <a:ext cx="91440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017520" y="4873752"/>
            <a:ext cx="822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Hard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3886200" y="4873752"/>
            <a:ext cx="109728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931920" y="4873752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B308"/>
                </a:solidFill>
              </a:rPr>
              <a:t>MEDIUM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4983480" y="4873752"/>
            <a:ext cx="178308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029200" y="4873752"/>
            <a:ext cx="16916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Post-resequence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6766560" y="749808"/>
            <a:ext cx="2194560" cy="374904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766560" y="749808"/>
            <a:ext cx="21945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Key Parameter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6766560" y="1124712"/>
            <a:ext cx="2194560" cy="37490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812280" y="1124712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</a:rPr>
              <a:t>MIN_RUN_HOURS = 4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6766560" y="1499616"/>
            <a:ext cx="2194560" cy="37490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812280" y="1499616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</a:rPr>
              <a:t>MIN_DAILY = 150 | TARGET = 5d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6766560" y="1874520"/>
            <a:ext cx="2194560" cy="37490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812280" y="1874520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</a:rPr>
              <a:t>OPD: 3–5 days by scenario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6766560" y="2249424"/>
            <a:ext cx="2194560" cy="37490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812280" y="2249424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</a:rPr>
              <a:t>TERMINAL_THRESHOLD dict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6766560" y="2624328"/>
            <a:ext cx="2194560" cy="37490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812280" y="2624328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</a:rPr>
              <a:t>SAFETY_DAYS = 3 | TARGET = 5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6766560" y="2999232"/>
            <a:ext cx="2194560" cy="37490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812280" y="2999232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</a:rPr>
              <a:t>COLOR_PURGE_HRS = 10min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6766560" y="3374136"/>
            <a:ext cx="2194560" cy="37490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812280" y="3374136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</a:rPr>
              <a:t>MAX_DAILY_CO = 25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6766560" y="3749040"/>
            <a:ext cx="2194560" cy="37490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812280" y="3749040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</a:rPr>
              <a:t>TOOL from sheet (1–N)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6766560" y="4123944"/>
            <a:ext cx="2194560" cy="37490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812280" y="4123944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</a:rPr>
              <a:t>RUNNER_PRIORITY_DAYS = 2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6766560" y="4498848"/>
            <a:ext cx="2194560" cy="37490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812280" y="4498848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</a:rPr>
              <a:t>UTIL_TARGET_PCT = 90%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6766560" y="4873752"/>
            <a:ext cx="2194560" cy="37490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812280" y="4873752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</a:rPr>
              <a:t>MIN_CO_GAP_HRS = 20min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6D28D9">
              <a:alpha val="8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APS V11-FIXED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B8A6"/>
                </a:solidFill>
              </a:rPr>
              <a:t>11 constraints. One deterministic plan. Zero idle release.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1691640" cy="1188720"/>
          </a:xfrm>
          <a:prstGeom prst="rect">
            <a:avLst/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2402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22H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Target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Utilization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0" y="2194560"/>
            <a:ext cx="1691640" cy="1188720"/>
          </a:xfrm>
          <a:prstGeom prst="rect">
            <a:avLst/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0" y="22402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11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0" y="28346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Production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Constraints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2194560"/>
            <a:ext cx="1691640" cy="1188720"/>
          </a:xfrm>
          <a:prstGeom prst="rect">
            <a:avLst/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22402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≤25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28346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Max Daily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Changeovers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0" y="2194560"/>
            <a:ext cx="1691640" cy="1188720"/>
          </a:xfrm>
          <a:prstGeom prst="rect">
            <a:avLst/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22402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100%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583680" y="28346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Deterministic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Output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5661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BD5E1"/>
                </a:solidFill>
              </a:rPr>
              <a:t>Every constraint in the system exists to maximize parts output while respecting physical, inventory, and operational limits.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CBD5E1"/>
                </a:solidFill>
              </a:rPr>
              <a:t>The scheduler guarantees the same plan for the same inputs — every time.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Smart APS V11-FIXED  |  Advanced Production Scheduling  |  VT Line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APS V11 — Constraint Architecture</dc:title>
  <dc:subject>PptxGenJS Presentation</dc:subject>
  <dc:creator>PptxGenJS</dc:creator>
  <cp:lastModifiedBy>PptxGenJS</cp:lastModifiedBy>
  <cp:revision>1</cp:revision>
  <dcterms:created xsi:type="dcterms:W3CDTF">2026-04-22T03:46:00Z</dcterms:created>
  <dcterms:modified xsi:type="dcterms:W3CDTF">2026-04-22T03:46:00Z</dcterms:modified>
</cp:coreProperties>
</file>