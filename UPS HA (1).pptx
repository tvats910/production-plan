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20"/>
  </p:notesMasterIdLst>
  <p:sldIdLst>
    <p:sldId id="256" r:id="rId3"/>
    <p:sldId id="262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6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4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795EB-7C34-4B91-999C-67F984F6157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DB72E-A708-430E-8A02-1983AF285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86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DB72E-A708-430E-8A02-1983AF285D0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4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69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8" y="594740"/>
            <a:ext cx="7325207" cy="441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hannel/UCu088mcVOmv4KyIkuapRL-Q" TargetMode="Externa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jpg"/><Relationship Id="rId12" Type="http://schemas.openxmlformats.org/officeDocument/2006/relationships/hyperlink" Target="https://twitter.com/Unomindacom?ref_src=twsrc%5egoogle%7Ctwcamp%5eserp%7Ctwgr%5eauthor" TargetMode="External"/><Relationship Id="rId2" Type="http://schemas.openxmlformats.org/officeDocument/2006/relationships/hyperlink" Target="https://www.facebook.com/UnoMindaGrou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stagram.com/unominda?utm_medium=copy_link" TargetMode="Externa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hyperlink" Target="http://www.unominda.com/" TargetMode="External"/><Relationship Id="rId4" Type="http://schemas.openxmlformats.org/officeDocument/2006/relationships/hyperlink" Target="https://www.linkedin.com/company/unominda/mycompany/" TargetMode="External"/><Relationship Id="rId9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0592" y="334861"/>
            <a:ext cx="9321165" cy="6370955"/>
            <a:chOff x="2450592" y="334861"/>
            <a:chExt cx="9321165" cy="6370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592" y="334861"/>
              <a:ext cx="9320784" cy="63707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39399" y="2513075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5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95787" y="2572512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31063" y="0"/>
                  </a:moveTo>
                  <a:lnTo>
                    <a:pt x="80045" y="10298"/>
                  </a:lnTo>
                  <a:lnTo>
                    <a:pt x="38385" y="38385"/>
                  </a:lnTo>
                  <a:lnTo>
                    <a:pt x="10298" y="80045"/>
                  </a:lnTo>
                  <a:lnTo>
                    <a:pt x="0" y="131063"/>
                  </a:lnTo>
                  <a:lnTo>
                    <a:pt x="10298" y="182082"/>
                  </a:lnTo>
                  <a:lnTo>
                    <a:pt x="38385" y="223742"/>
                  </a:lnTo>
                  <a:lnTo>
                    <a:pt x="80045" y="251829"/>
                  </a:lnTo>
                  <a:lnTo>
                    <a:pt x="131063" y="262127"/>
                  </a:lnTo>
                  <a:lnTo>
                    <a:pt x="182082" y="251829"/>
                  </a:lnTo>
                  <a:lnTo>
                    <a:pt x="223742" y="223742"/>
                  </a:lnTo>
                  <a:lnTo>
                    <a:pt x="251829" y="182082"/>
                  </a:lnTo>
                  <a:lnTo>
                    <a:pt x="262127" y="131063"/>
                  </a:lnTo>
                  <a:lnTo>
                    <a:pt x="251829" y="80045"/>
                  </a:lnTo>
                  <a:lnTo>
                    <a:pt x="223742" y="38385"/>
                  </a:lnTo>
                  <a:lnTo>
                    <a:pt x="182082" y="10298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51922" y="2634741"/>
              <a:ext cx="142239" cy="1422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95944" y="2939796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0"/>
                  </a:moveTo>
                  <a:lnTo>
                    <a:pt x="241302" y="3768"/>
                  </a:lnTo>
                  <a:lnTo>
                    <a:pt x="196973" y="14679"/>
                  </a:lnTo>
                  <a:lnTo>
                    <a:pt x="155643" y="32140"/>
                  </a:lnTo>
                  <a:lnTo>
                    <a:pt x="117902" y="55558"/>
                  </a:lnTo>
                  <a:lnTo>
                    <a:pt x="84343" y="84343"/>
                  </a:lnTo>
                  <a:lnTo>
                    <a:pt x="55558" y="117902"/>
                  </a:lnTo>
                  <a:lnTo>
                    <a:pt x="32140" y="155643"/>
                  </a:lnTo>
                  <a:lnTo>
                    <a:pt x="14679" y="196973"/>
                  </a:lnTo>
                  <a:lnTo>
                    <a:pt x="3768" y="241302"/>
                  </a:lnTo>
                  <a:lnTo>
                    <a:pt x="0" y="288036"/>
                  </a:lnTo>
                  <a:lnTo>
                    <a:pt x="3768" y="334769"/>
                  </a:lnTo>
                  <a:lnTo>
                    <a:pt x="14679" y="379098"/>
                  </a:lnTo>
                  <a:lnTo>
                    <a:pt x="32140" y="420428"/>
                  </a:lnTo>
                  <a:lnTo>
                    <a:pt x="55558" y="458169"/>
                  </a:lnTo>
                  <a:lnTo>
                    <a:pt x="84343" y="491728"/>
                  </a:lnTo>
                  <a:lnTo>
                    <a:pt x="117902" y="520513"/>
                  </a:lnTo>
                  <a:lnTo>
                    <a:pt x="155643" y="543931"/>
                  </a:lnTo>
                  <a:lnTo>
                    <a:pt x="196973" y="561392"/>
                  </a:lnTo>
                  <a:lnTo>
                    <a:pt x="241302" y="572303"/>
                  </a:lnTo>
                  <a:lnTo>
                    <a:pt x="288035" y="576071"/>
                  </a:lnTo>
                  <a:lnTo>
                    <a:pt x="334769" y="572303"/>
                  </a:lnTo>
                  <a:lnTo>
                    <a:pt x="379098" y="561392"/>
                  </a:lnTo>
                  <a:lnTo>
                    <a:pt x="420428" y="543931"/>
                  </a:lnTo>
                  <a:lnTo>
                    <a:pt x="458169" y="520513"/>
                  </a:lnTo>
                  <a:lnTo>
                    <a:pt x="491728" y="491728"/>
                  </a:lnTo>
                  <a:lnTo>
                    <a:pt x="520513" y="458169"/>
                  </a:lnTo>
                  <a:lnTo>
                    <a:pt x="543931" y="420428"/>
                  </a:lnTo>
                  <a:lnTo>
                    <a:pt x="561392" y="379098"/>
                  </a:lnTo>
                  <a:lnTo>
                    <a:pt x="572303" y="334769"/>
                  </a:lnTo>
                  <a:lnTo>
                    <a:pt x="576072" y="288036"/>
                  </a:lnTo>
                  <a:lnTo>
                    <a:pt x="572303" y="241302"/>
                  </a:lnTo>
                  <a:lnTo>
                    <a:pt x="561392" y="196973"/>
                  </a:lnTo>
                  <a:lnTo>
                    <a:pt x="543931" y="155643"/>
                  </a:lnTo>
                  <a:lnTo>
                    <a:pt x="520513" y="117902"/>
                  </a:lnTo>
                  <a:lnTo>
                    <a:pt x="491728" y="84343"/>
                  </a:lnTo>
                  <a:lnTo>
                    <a:pt x="458169" y="55558"/>
                  </a:lnTo>
                  <a:lnTo>
                    <a:pt x="420428" y="32140"/>
                  </a:lnTo>
                  <a:lnTo>
                    <a:pt x="379098" y="14679"/>
                  </a:lnTo>
                  <a:lnTo>
                    <a:pt x="334769" y="3768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1288" y="3029712"/>
              <a:ext cx="402590" cy="403860"/>
            </a:xfrm>
            <a:custGeom>
              <a:avLst/>
              <a:gdLst/>
              <a:ahLst/>
              <a:cxnLst/>
              <a:rect l="l" t="t" r="r" b="b"/>
              <a:pathLst>
                <a:path w="402590" h="403860">
                  <a:moveTo>
                    <a:pt x="201167" y="0"/>
                  </a:moveTo>
                  <a:lnTo>
                    <a:pt x="155034" y="5333"/>
                  </a:lnTo>
                  <a:lnTo>
                    <a:pt x="112689" y="20527"/>
                  </a:lnTo>
                  <a:lnTo>
                    <a:pt x="75338" y="44367"/>
                  </a:lnTo>
                  <a:lnTo>
                    <a:pt x="44187" y="75640"/>
                  </a:lnTo>
                  <a:lnTo>
                    <a:pt x="20442" y="113133"/>
                  </a:lnTo>
                  <a:lnTo>
                    <a:pt x="5311" y="155634"/>
                  </a:lnTo>
                  <a:lnTo>
                    <a:pt x="0" y="201929"/>
                  </a:lnTo>
                  <a:lnTo>
                    <a:pt x="5311" y="248225"/>
                  </a:lnTo>
                  <a:lnTo>
                    <a:pt x="20442" y="290726"/>
                  </a:lnTo>
                  <a:lnTo>
                    <a:pt x="44187" y="328219"/>
                  </a:lnTo>
                  <a:lnTo>
                    <a:pt x="75338" y="359492"/>
                  </a:lnTo>
                  <a:lnTo>
                    <a:pt x="112689" y="383332"/>
                  </a:lnTo>
                  <a:lnTo>
                    <a:pt x="155034" y="398525"/>
                  </a:lnTo>
                  <a:lnTo>
                    <a:pt x="201167" y="403860"/>
                  </a:lnTo>
                  <a:lnTo>
                    <a:pt x="247301" y="398525"/>
                  </a:lnTo>
                  <a:lnTo>
                    <a:pt x="289646" y="383332"/>
                  </a:lnTo>
                  <a:lnTo>
                    <a:pt x="326997" y="359492"/>
                  </a:lnTo>
                  <a:lnTo>
                    <a:pt x="358148" y="328219"/>
                  </a:lnTo>
                  <a:lnTo>
                    <a:pt x="381893" y="290726"/>
                  </a:lnTo>
                  <a:lnTo>
                    <a:pt x="397024" y="248225"/>
                  </a:lnTo>
                  <a:lnTo>
                    <a:pt x="402335" y="201929"/>
                  </a:lnTo>
                  <a:lnTo>
                    <a:pt x="397024" y="155634"/>
                  </a:lnTo>
                  <a:lnTo>
                    <a:pt x="381893" y="113133"/>
                  </a:lnTo>
                  <a:lnTo>
                    <a:pt x="358148" y="75640"/>
                  </a:lnTo>
                  <a:lnTo>
                    <a:pt x="326997" y="44367"/>
                  </a:lnTo>
                  <a:lnTo>
                    <a:pt x="289646" y="20527"/>
                  </a:lnTo>
                  <a:lnTo>
                    <a:pt x="247301" y="5334"/>
                  </a:lnTo>
                  <a:lnTo>
                    <a:pt x="201167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0950" y="3130041"/>
              <a:ext cx="210820" cy="2108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517380" y="3421379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4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8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4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73768" y="3480815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4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4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4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1425" y="3544569"/>
              <a:ext cx="140716" cy="1407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38416" y="286207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131063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3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7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8039" y="2904744"/>
              <a:ext cx="182879" cy="1828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0968" y="2831591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31063" y="0"/>
                  </a:moveTo>
                  <a:lnTo>
                    <a:pt x="80045" y="10298"/>
                  </a:lnTo>
                  <a:lnTo>
                    <a:pt x="38385" y="38385"/>
                  </a:lnTo>
                  <a:lnTo>
                    <a:pt x="10298" y="80045"/>
                  </a:lnTo>
                  <a:lnTo>
                    <a:pt x="0" y="131063"/>
                  </a:lnTo>
                  <a:lnTo>
                    <a:pt x="10298" y="182082"/>
                  </a:lnTo>
                  <a:lnTo>
                    <a:pt x="38385" y="223742"/>
                  </a:lnTo>
                  <a:lnTo>
                    <a:pt x="80045" y="251829"/>
                  </a:lnTo>
                  <a:lnTo>
                    <a:pt x="131063" y="262128"/>
                  </a:lnTo>
                  <a:lnTo>
                    <a:pt x="182082" y="251829"/>
                  </a:lnTo>
                  <a:lnTo>
                    <a:pt x="223742" y="223742"/>
                  </a:lnTo>
                  <a:lnTo>
                    <a:pt x="251829" y="182082"/>
                  </a:lnTo>
                  <a:lnTo>
                    <a:pt x="262127" y="131063"/>
                  </a:lnTo>
                  <a:lnTo>
                    <a:pt x="251829" y="80045"/>
                  </a:lnTo>
                  <a:lnTo>
                    <a:pt x="223742" y="38385"/>
                  </a:lnTo>
                  <a:lnTo>
                    <a:pt x="182082" y="10298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0592" y="2872740"/>
              <a:ext cx="182879" cy="1844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24116" y="2200656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5">
                  <a:moveTo>
                    <a:pt x="188213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4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3" y="376428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4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0504" y="2260091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5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3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3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8162" y="2322322"/>
              <a:ext cx="140716" cy="1422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37604" y="2618231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4" h="376555">
                  <a:moveTo>
                    <a:pt x="187451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3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1" y="376427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3" y="188213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2468" y="2677668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5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4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4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0126" y="2739897"/>
              <a:ext cx="140716" cy="1422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88992" y="4101083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187452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4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2" y="376428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4" y="188214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2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43856" y="4160520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60" h="262254">
                  <a:moveTo>
                    <a:pt x="131826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3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6" y="262127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2" y="131063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6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514" y="4224274"/>
              <a:ext cx="140715" cy="1407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53256" y="29367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8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09644" y="2996184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131063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3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7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5778" y="3059937"/>
              <a:ext cx="142239" cy="14071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40893" y="5598972"/>
            <a:ext cx="575246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54"/>
              </a:lnSpc>
              <a:spcBef>
                <a:spcPts val="100"/>
              </a:spcBef>
            </a:pPr>
            <a:r>
              <a:rPr sz="3200" dirty="0">
                <a:latin typeface="Arial Black"/>
                <a:cs typeface="Arial Black"/>
              </a:rPr>
              <a:t>UPS</a:t>
            </a:r>
            <a:r>
              <a:rPr sz="3200" spc="-85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HA</a:t>
            </a:r>
            <a:r>
              <a:rPr sz="3200" spc="-70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CREAT</a:t>
            </a:r>
            <a:r>
              <a:rPr sz="3200" spc="-105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GGN</a:t>
            </a:r>
            <a:r>
              <a:rPr sz="3200" spc="-75" dirty="0">
                <a:latin typeface="Arial Black"/>
                <a:cs typeface="Arial Black"/>
              </a:rPr>
              <a:t> </a:t>
            </a:r>
            <a:r>
              <a:rPr sz="3200" spc="-20" dirty="0">
                <a:latin typeface="Arial Black"/>
                <a:cs typeface="Arial Black"/>
              </a:rPr>
              <a:t>1054</a:t>
            </a:r>
            <a:endParaRPr sz="3200" dirty="0">
              <a:latin typeface="Arial Black"/>
              <a:cs typeface="Arial Black"/>
            </a:endParaRPr>
          </a:p>
          <a:p>
            <a:pPr marL="12700">
              <a:lnSpc>
                <a:spcPts val="2315"/>
              </a:lnSpc>
            </a:pPr>
            <a:r>
              <a:rPr sz="2000" dirty="0">
                <a:latin typeface="Arial Black"/>
                <a:cs typeface="Arial Black"/>
              </a:rPr>
              <a:t>Dec</a:t>
            </a:r>
            <a:r>
              <a:rPr sz="2000" spc="-30" dirty="0">
                <a:latin typeface="Arial Black"/>
                <a:cs typeface="Arial Black"/>
              </a:rPr>
              <a:t> </a:t>
            </a:r>
            <a:r>
              <a:rPr sz="2000" spc="-20" dirty="0">
                <a:latin typeface="Arial Black"/>
                <a:cs typeface="Arial Black"/>
              </a:rPr>
              <a:t>2025</a:t>
            </a:r>
            <a:endParaRPr sz="2000" dirty="0">
              <a:latin typeface="Arial Black"/>
              <a:cs typeface="Arial Black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915" y="3180588"/>
            <a:ext cx="3919728" cy="2054352"/>
          </a:xfrm>
          <a:prstGeom prst="rect">
            <a:avLst/>
          </a:prstGeom>
        </p:spPr>
      </p:pic>
      <p:sp>
        <p:nvSpPr>
          <p:cNvPr id="31" name="GTBClassificationF1325332256">
            <a:extLst>
              <a:ext uri="{FF2B5EF4-FFF2-40B4-BE49-F238E27FC236}">
                <a16:creationId xmlns:a16="http://schemas.microsoft.com/office/drawing/2014/main" id="{2655ADA9-225C-455A-A736-485195AD657D}"/>
              </a:ext>
            </a:extLst>
          </p:cNvPr>
          <p:cNvSpPr txBox="1"/>
          <p:nvPr/>
        </p:nvSpPr>
        <p:spPr>
          <a:xfrm>
            <a:off x="0" y="6592253"/>
            <a:ext cx="121920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</a:rPr>
              <a:t>SMART APS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A017"/>
                </a:solidFill>
              </a:rPr>
              <a:t>V9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F0F0"/>
                </a:solidFill>
              </a:rPr>
              <a:t>Advanced Planning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0F0F0"/>
                </a:solidFill>
              </a:rPr>
              <a:t>Scheduling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56032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017"/>
                </a:solidFill>
              </a:rPr>
              <a:t>Constraints &amp; Solutions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4A017"/>
                </a:solidFill>
              </a:rPr>
              <a:t>INJECTION MOULDING DIVISION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0C4D8"/>
                </a:solidFill>
              </a:rPr>
              <a:t>UNO MINDA RIKA PRIVATE LIMITED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64208"/>
            <a:ext cx="7132320" cy="27432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74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C1  Inventory Health — 5-Day Target System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0" y="23042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C2  Priority Scoring — Urgency-First Planning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0" y="27340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C3  22-Hour Daily Production Rule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0" y="31638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C4  Specialised Machine Protection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0" y="3593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C5  Same-Part Continuation &amp; Changeover Minimisation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C6  Minimum Tools Principle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0" y="44531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C7  Serial Tool-Changer Queue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0" y="488289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C8  Minimum 4-Hour Run Block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0" y="53126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C9  No Machine Sits Idle — 90% Floor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0" y="57424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C10 Colour Grouping &amp; Purge Management</a:t>
            </a:r>
          </a:p>
        </p:txBody>
      </p:sp>
      <p:sp>
        <p:nvSpPr>
          <p:cNvPr id="22" name="Text 20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9AB0"/>
                </a:solidFill>
              </a:rPr>
              <a:t>Prepared by: Tushar (Intern)  |  Guided by: Mr. Amrit Lal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WHAT THIS PRESENTATION COVERS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C4D8"/>
                </a:solidFill>
              </a:rPr>
              <a:t>10 constraints — each explained with the problem it solves, the mechanism, and the flowchart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64008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46304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9848" y="14996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Inventory Health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1764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5-Day target with safety floor &amp; ceiling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640080" cy="566928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871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48716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69848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Priority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Urgency-first assignment, displacement pass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640080" cy="56692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112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51129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6984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22-Hour Rule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Two-shift planning with hard ceiling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535424"/>
            <a:ext cx="6400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535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45354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9848" y="4572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Specialised Machines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" y="4837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Part-count based machine ranking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5559552"/>
            <a:ext cx="640080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5595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555955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6984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Same-Part Continuation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" y="5861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Changeover minimisation &amp; queue stagger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463040"/>
            <a:ext cx="64008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463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146304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13448" y="14996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Minimum Tools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13448" y="1764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1→2→3 tool escalation logic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2487168"/>
            <a:ext cx="640080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4871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248716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13448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Serial Tool-Changer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13448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Structural no-overlap guarantee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3511296"/>
            <a:ext cx="64008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5112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351129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1344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Minimum Run Block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1344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4-hour effective production floor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4535424"/>
            <a:ext cx="640080" cy="5669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535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03720" y="45354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13448" y="4572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No Machine Idle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13448" y="4837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90% utilisation enforcer — uncapped extension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63640" y="5559552"/>
            <a:ext cx="640080" cy="56692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55595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03720" y="555955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01344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Colour Grouping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13448" y="5861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10-min purge penalty &amp; colour-aware ranking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Inventory Health — 5-Day Target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Two constants: SAFETY_DAYS = 3  |  TARGET_DAYS =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Without scenario awareness, a day when all parts have 4-day stock is treated identically to a day when parts are at zero. This causes over-production during healthy periods and under-reaction during crises.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572768"/>
            <a:ext cx="1572768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1984248"/>
            <a:ext cx="1572768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</a:rPr>
              <a:t>ALL critical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</a:rPr>
              <a:t>&lt; 1 day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Build to 5-day target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urgent parts first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3493008"/>
            <a:ext cx="1572768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1.5× daily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572768"/>
            <a:ext cx="1572768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95160" y="1984248"/>
            <a:ext cx="1572768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SOME critical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others have stock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9516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Critical → 5-day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Others maintain buffer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3493008"/>
            <a:ext cx="1572768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3× daily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1572768"/>
            <a:ext cx="1572768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0" y="1984248"/>
            <a:ext cx="1572768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369A1"/>
                </a:solidFill>
              </a:rPr>
              <a:t>ALL exist but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369A1"/>
                </a:solidFill>
              </a:rPr>
              <a:t>&lt; 5-day target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Fill to 5-day target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systematically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0" y="3493008"/>
            <a:ext cx="1572768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4× daily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378440" y="1572768"/>
            <a:ext cx="1572768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7844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378440" y="1984248"/>
            <a:ext cx="1572768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7844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ALL healthy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≥ 3-day safety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37844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844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Produce 1×daily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Skip parts at ≥5 days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378440" y="3493008"/>
            <a:ext cx="1572768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7844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5× daily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6304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5-DAY TARGET = 3 days buffer + 2 days safety cushion (covers days when a part cannot be planned)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463040" y="3611880"/>
            <a:ext cx="356616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5389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1965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1d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Critical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61488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04872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3d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Safety Floor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904488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47872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5d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Target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4573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6d+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463040" y="3593592"/>
            <a:ext cx="36576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0" y="3593592"/>
            <a:ext cx="941832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0632" y="3593592"/>
            <a:ext cx="1143000" cy="91440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13632" y="3593592"/>
            <a:ext cx="841248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If fails → VT_Not_Planned | New: VT_Inventory_Target sheet shows every part vs 5-day ceiling with estimated days to reach target</a:t>
            </a:r>
            <a:endParaRPr lang="en-US" sz="95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766B537-9D0B-4E45-961E-412736621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36576"/>
            <a:ext cx="111400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Priority Scoring — Urgency-First Assignment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Score 0–100 per part  |  Highest score gets a machine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29184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URGENCY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Gap below 3-day safety floor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(SAFETY_DAYS = 3)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Zero below floor = 55 pts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554480"/>
            <a:ext cx="32918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521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Runner = 25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Repeater = 15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Stranger = 5 pts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95360" y="1554480"/>
            <a:ext cx="329184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INDENT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Highest-demand part = 20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Others scaled proportionally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" y="338328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Compute priority scores for ALL active parts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385876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" y="402336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Sort parts: highest score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449884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7200" y="466344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" y="466344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Assign machines in score order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513892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57200" y="5257800"/>
            <a:ext cx="292608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" y="525780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Machine available for this part?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5733288"/>
            <a:ext cx="0" cy="11887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57200" y="5852160"/>
            <a:ext cx="2926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Planned  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66160" y="525780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525780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✗  VT_Not_Planned (score visible)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83280" y="5495544"/>
            <a:ext cx="18288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3657600" y="3310128"/>
            <a:ext cx="8229600" cy="3063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0" y="3310128"/>
            <a:ext cx="822960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310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V9 NEW  —  DISPLACEMENT PASS  (zero-inventory Runner / Repeater guarantee)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767328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803904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① Primary scheduling runs.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Zero-inv Runner / Repeater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still unscheduled?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96712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5797296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833872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② Find compatible 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carrying part with MOST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days of stock ( ≥ 3 days 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26680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7827264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863840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③ Reduce that part's run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MIN_RUN_HOURS.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Freed slot created.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56648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9857232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893808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④ Assign zero-inv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to freed slot.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Guaranteed placement.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49040" y="484632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7A4A"/>
                </a:solidFill>
              </a:rPr>
              <a:t>Safety rule: will NOT displace a part below its own 3-day safety floor. Cannot rob one crisis to fund another.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The 22-Hour Daily Production Rule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2 shifts × 12h  |  1h break each  =  11h per shift  =  22h per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572768"/>
            <a:ext cx="47548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572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1  (12 hours)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075688"/>
            <a:ext cx="4361688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07568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  —  11 hours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24728" y="2075688"/>
            <a:ext cx="393192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075688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583680" y="1572768"/>
            <a:ext cx="47548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572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2  (12 hours)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075688"/>
            <a:ext cx="4361688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07568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  —  11 hours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45368" y="2075688"/>
            <a:ext cx="393192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5368" y="2075688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17920" y="1801368"/>
            <a:ext cx="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697480"/>
            <a:ext cx="2880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16736" y="2697480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Machine starts the day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22 hours available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026664"/>
            <a:ext cx="73152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238988" y="2697480"/>
            <a:ext cx="2328672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39700" y="2688336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Each part assigned: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Deducts  Run Time + CO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4568" y="3026664"/>
            <a:ext cx="1130808" cy="91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708662" y="2702052"/>
            <a:ext cx="262989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73276" y="2697480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Hours remaining checked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before every new assignment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3611880"/>
            <a:ext cx="11064240" cy="7955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16736" y="3611880"/>
            <a:ext cx="10991088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Does the part fit within remaining hours?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3355848"/>
            <a:ext cx="0" cy="25603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280160" y="4572000"/>
            <a:ext cx="45720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Added to plan  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4572000"/>
            <a:ext cx="4572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✗  → VT_Not_Planned with exact free-hours map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03075" y="5255595"/>
            <a:ext cx="105156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1732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</a:rPr>
              <a:t>Key formulas:  </a:t>
            </a:r>
            <a:r>
              <a:rPr lang="en-US" sz="1050" dirty="0">
                <a:solidFill>
                  <a:srgbClr val="1E293B"/>
                </a:solidFill>
              </a:rPr>
              <a:t>Rate = 3600 ÷ cycle_time (pcs/hr)   |   Daily Indent = Monthly Indent ÷ Working Days   |   Working Days = Calendar Days − Sundays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Specialised Machine Protection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Part-Count ranking — most constrained machine gets its parts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105156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Compatible Parts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Ranking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9669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Assigned First?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1965960"/>
            <a:ext cx="1051560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1965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1965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1965960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A, Part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9659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0.13 (lower = better)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✅ YES — FIRST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1965960"/>
            <a:ext cx="73152" cy="6217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235719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B91C1C"/>
                </a:solidFill>
              </a:rPr>
              <a:t>SPECIALISED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2624328"/>
            <a:ext cx="10515600" cy="621792"/>
          </a:xfrm>
          <a:prstGeom prst="rect">
            <a:avLst/>
          </a:prstGeom>
          <a:solidFill>
            <a:srgbClr val="FEF9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26243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26243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2624328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A, B, C, D, E, F, G, 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2624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0.53 (lower = better)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966960" y="2624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2nd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3282696"/>
            <a:ext cx="105156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2826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32826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282696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A–O (15 parts compatible)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3816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1.00 (lower = better)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6696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3rd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005" y="585935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count_score = part_count ÷ max_part_count  |  Lower count = stronger preference  |  M3 protected before M1 can take any work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35024" y="3941064"/>
            <a:ext cx="2093976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325880" y="3931920"/>
            <a:ext cx="203606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Part needs a machine → list compatible machines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V="1">
            <a:off x="3438145" y="4206240"/>
            <a:ext cx="192024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3631324" y="3933969"/>
            <a:ext cx="2388476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87169" y="3931920"/>
            <a:ext cx="29443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Sort by Part_Count ascending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(fewest-parts machine = rank 1)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24109" y="4181015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217920" y="3931920"/>
            <a:ext cx="2291098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08805" y="3924983"/>
            <a:ext cx="29443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Assign to rank-1 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(most constrained first)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9018" y="4178650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8707138" y="3950208"/>
            <a:ext cx="2485381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48151" y="3924983"/>
            <a:ext cx="321868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Remaining machines stay free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for their dedicated parts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280160" y="466344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280160" y="466344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975104" y="471830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If Machine is Full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417320" y="5166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If even the specialised machine is full and its dedicated part cannot be planned, the part appears at the top of VT_Not_Planned. The planner can free hours by reducing a lower-priority part.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75120" y="4663440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675120" y="466344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370064" y="47183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VT_Machine_Part_Count Sheet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12280" y="5166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Source data: column 'Machine' and 'Part_Count'. Loaded at startup. max_part_count drives the normalisation. Missing data defaults to equal ranking for all machines.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Same-Part Continuation &amp; Changeover Minimisation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machine_state.json  |  Serial queue  |  Quantity stagger — 20-min post-finish buffer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3832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🟢  CASE 1  —  Same Part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338328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Already loaded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3063240"/>
            <a:ext cx="338328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Based on full 22h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554480"/>
            <a:ext cx="33832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🔵  CASE 2  —  Diff Part, Same Colour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1965960"/>
            <a:ext cx="33832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Change needed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 purge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Short (queue position 1–3)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063240"/>
            <a:ext cx="33832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22h minus wait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95360" y="1554480"/>
            <a:ext cx="33832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🟡  CASE 3  —  Diff Part, Diff Colour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0" y="1965960"/>
            <a:ext cx="33832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012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Change + 10-min purge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953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012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Longer (queue position 4+)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95360" y="3063240"/>
            <a:ext cx="33832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6012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22h minus longer wait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80160" y="3657600"/>
            <a:ext cx="105156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36576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CHANGEOVER QUEUE — HOW IT WORKS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2801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3167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End of day: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Save last part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machine → JSON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443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31089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1455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Next day: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Prefer same-machine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for each part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9377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743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Unavoidable COs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joined to serial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tool-changer queue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6019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67665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8031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Queue sorted by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natural_start 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ascending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4307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85953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6319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Each CO: actual_start =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max(natural, free_at)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free_at advances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2595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104241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4607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Machine waits?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Extend previous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part's run to fill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280160" y="5029200"/>
            <a:ext cx="1051560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17320" y="5029200"/>
            <a:ext cx="10241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5309"/>
                </a:solidFill>
              </a:rPr>
              <a:t>Quantity stagger rule: </a:t>
            </a:r>
            <a:r>
              <a:rPr lang="en-US" sz="950" dirty="0">
                <a:solidFill>
                  <a:srgbClr val="1E293B"/>
                </a:solidFill>
              </a:rPr>
              <a:t>required_gap = CO_duration + 20 min.  If two COs would finish within that gap, PUSH: add qty to later machine (free production). If push exceeds OPD cap, PULL: reduce earlier machine's qty (never below daily indent).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Minimum Tools Principle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Tool 1 always first  |  Tool 2 only for shortfall  |  Tool 3+ only at zero inventory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2918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  —  Primary Machine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801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Run Tool 1 up to capacity.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Target: cover full daily indent.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95728"/>
            <a:ext cx="36576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937760" y="1554480"/>
            <a:ext cx="32918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  —  Tool Expansion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Shortfall remains?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Add Tool 2 for shortfall only.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(Normal: max 2 tools)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395728"/>
            <a:ext cx="36576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595360" y="1554480"/>
            <a:ext cx="329184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3  —  Inventory Build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Indent covered?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Extend same machines to 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inventory toward 5-day target.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3337560"/>
            <a:ext cx="50292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16736" y="3337560"/>
            <a:ext cx="495604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Tool 1 alone covers full daily indent?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80160" y="4142232"/>
            <a:ext cx="50292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142232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YES  →  Stop. 1 tool used. Phase 3 builds buffer.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3639312"/>
            <a:ext cx="3657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675120" y="3337560"/>
            <a:ext cx="50292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11696" y="3337560"/>
            <a:ext cx="495604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Shortfall covered after Tool 2?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4142232"/>
            <a:ext cx="50292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142232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YES  →  Stop. 2 tools used. Gap reported in VT_Production_vs_Indent.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80160" y="4617720"/>
            <a:ext cx="10515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Tool 3+ — CRISIS ONLY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4617720"/>
            <a:ext cx="2743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A third (or more) tool is only permitted when: (a) inventory = ZERO  AND  (b) Tools 1 + 2 together still cannot cover the shortfall. Any use of 3+ tools is flagged in the console with tag [CRISIS — 3rd+ tool]. Under normal operations this tag should never appear.</a:t>
            </a:r>
            <a:endParaRPr lang="en-US" sz="950" dirty="0"/>
          </a:p>
        </p:txBody>
      </p:sp>
      <p:pic>
        <p:nvPicPr>
          <p:cNvPr id="1026" name="Picture 2" descr="Minimum Tools Principle Diagram">
            <a:extLst>
              <a:ext uri="{FF2B5EF4-FFF2-40B4-BE49-F238E27FC236}">
                <a16:creationId xmlns:a16="http://schemas.microsoft.com/office/drawing/2014/main" id="{C3CB6A28-4415-4ED8-91BF-DF92C01F7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914400"/>
            <a:ext cx="110322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Serial Tool-Changer Queue — No-Overlap Guarantee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Structural guarantee — not an optimisation — overlap is physically impossible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One tool-change team for 30 machines. If 5 machines need COs at the same time, 4 machines sit idle waiting. Previous CSP solver hung the system with 20+ events.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48640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SERIAL QUEUE MECHANISM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938528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385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938528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Collect all CO events from the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322576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2257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8272" y="2322576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22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Sort by natural_start time ascending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706624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0662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2706624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Walk through one by one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090672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906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3090672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90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actual_start = max(natural_start, free_at)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474720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474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48272" y="3474720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free_at = actual_start + CO_duration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858768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85876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3858768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858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Machine waits? Extend previous part's run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A"/>
                </a:solidFill>
              </a:rPr>
              <a:t>EXAMPLE TIMELINE — 4 machines, 4 COs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80160" y="32004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91640" y="3236976"/>
            <a:ext cx="506437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3236976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198077" y="3236976"/>
            <a:ext cx="2532185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8077" y="3236976"/>
            <a:ext cx="25321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280160" y="368503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91640" y="3721608"/>
            <a:ext cx="506437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1640" y="3721608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198077" y="3721608"/>
            <a:ext cx="443132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8077" y="3721608"/>
            <a:ext cx="443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641209" y="3721608"/>
            <a:ext cx="202574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41209" y="3721608"/>
            <a:ext cx="2025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80160" y="416966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91640" y="4206240"/>
            <a:ext cx="949569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91640" y="4206240"/>
            <a:ext cx="949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641209" y="4206240"/>
            <a:ext cx="506437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41209" y="4206240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47646" y="4206240"/>
            <a:ext cx="2278966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47646" y="4206240"/>
            <a:ext cx="2278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280160" y="465429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91640" y="4690872"/>
            <a:ext cx="1456006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91640" y="4690872"/>
            <a:ext cx="1456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147646" y="4690872"/>
            <a:ext cx="443132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47646" y="4690872"/>
            <a:ext cx="443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90778" y="4690872"/>
            <a:ext cx="1772529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90778" y="4690872"/>
            <a:ext cx="1772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8016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Time →  |  No two CO bars overlap.  |  Waiting time filled with extended production.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280160" y="5596128"/>
            <a:ext cx="10515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63040" y="5596128"/>
            <a:ext cx="10241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</a:rPr>
              <a:t>GUARANTEE:  </a:t>
            </a:r>
            <a:r>
              <a:rPr lang="en-US" sz="1000" dirty="0">
                <a:solidFill>
                  <a:srgbClr val="1E293B"/>
                </a:solidFill>
              </a:rPr>
              <a:t>Because free_at only ever moves FORWARD, actual_start ≥ free_at always. Two changeovers cannot overlap — this is enforced by the data structure, not by a solver or time limit. Performance: O(n log n). No system hangs regardless of CO count.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Minimum 4-Hour Run Block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Changeover overhead must be justified by sufficient run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</a:rPr>
              <a:t>WITHOUT  4-HOUR RULE  — wasteful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1938528"/>
            <a:ext cx="114300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385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 40m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1938528"/>
            <a:ext cx="685800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938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1.5h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938528"/>
            <a:ext cx="3291840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38528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WASTED — machine idle  (40 min CO for 1.5h production is 36% overhead)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WITH  4-HOUR RULE  — 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80160" y="2971800"/>
            <a:ext cx="114300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971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 40m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971800"/>
            <a:ext cx="393192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RUN  ≥ 4 hours  (CO overhead = 14% — acceptable)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572768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37376" y="1572768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Machine has remaining free hours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0" y="2139696"/>
            <a:ext cx="0" cy="18288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400800" y="2322576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37376" y="2322576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Subtract CO time from remaining hours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78440" y="2889504"/>
            <a:ext cx="0" cy="18288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400800" y="3072384"/>
            <a:ext cx="53035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3072384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Effective free time ≥ 4 hours?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378440" y="3639312"/>
            <a:ext cx="0" cy="13716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400800" y="3776472"/>
            <a:ext cx="530352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776472"/>
            <a:ext cx="5303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Assign part. Run begins after CO. 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1704320" y="3355848"/>
            <a:ext cx="32004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12051792" y="30723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91C1C"/>
                </a:solidFill>
              </a:rPr>
              <a:t>NO →  Skip this machine.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solidFill>
                  <a:srgbClr val="B91C1C"/>
                </a:solidFill>
              </a:rPr>
              <a:t>Try next compatible machine.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280160" y="374904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463040" y="3749040"/>
            <a:ext cx="1014984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</a:rPr>
              <a:t>effective_free = remaining − CO_hours
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Rule: effective_free ≥ MIN_RUN_HOURS (4.0h)   |   Applied at every assignment — primary, enforcer, filler, skipped parts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80160" y="4773168"/>
            <a:ext cx="10515600" cy="93268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</a:rPr>
              <a:t>Exception — 90% Floor Extension (Constraint 9):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When a machine is below the 90% utilisation floor and remaining time is less than 4 hours, the system extends the already-running part without requiring the 4-hour minimum. This is the only permitted exception. It is tagged +Floor90 in the output.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No Machine Sits Idle — 90% Utilisation Floor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5-step enforcer  |  Step 0 fires below 90% floor  |  Uncapped extension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72768"/>
            <a:ext cx="10515600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72768"/>
            <a:ext cx="10515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</a:rPr>
              <a:t>22 HOURS AVAILABLE PER MACHINE PER 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828800"/>
            <a:ext cx="1014984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97896" y="1828800"/>
            <a:ext cx="1014984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828800"/>
            <a:ext cx="9134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PLANNED PRODUCTION  (90% floor = 19.8h)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97896" y="182880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9AB0"/>
                </a:solidFill>
              </a:rPr>
              <a:t>2.2h max idle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597896" y="1755648"/>
            <a:ext cx="0" cy="585216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3401" y="1572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A017"/>
                </a:solidFill>
              </a:rPr>
              <a:t>90% floor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80160" y="2578608"/>
            <a:ext cx="20116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</a:rPr>
              <a:t>★  V9 NEW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0" y="2834640"/>
            <a:ext cx="201168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90% FLOOR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016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3502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Below 90%?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Extend existing 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 inventory cap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 4h minimum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0116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NORMAL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2958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OPD-capped extension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of existing 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Highest priority first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669280" y="28346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ADD NEW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PART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2414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Unplanned compatible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part with demand.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Colour-aware sort.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863840" y="2834640"/>
            <a:ext cx="20116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6384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5820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RE-RUN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SPARE TOOL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1870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Already-planned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with spare tool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available.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87552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0058400" y="2834640"/>
            <a:ext cx="201168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05840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SKIPPED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PART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05840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11326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Last resort.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Previously skipped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(low indent/trivial).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280160" y="4663440"/>
            <a:ext cx="1051560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663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Step 5 — LOG MICRO-IDLE: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0" y="466344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If all 5 steps exhausted and machine still has ≥ 0.25h idle time below 90% floor → logged in VT_Micro_Idle sheet with exact reason. Management has full visibility of why the machine could not be filled.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r>
              <a:rPr lang="en-IN" dirty="0"/>
              <a:t>v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C10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Colour Grouping &amp; Purge Management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Loaded from Color column in VT sheet  |  10-minute purge penalty for colour change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80160" y="1554480"/>
            <a:ext cx="338328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🟢  Same Part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2148840"/>
            <a:ext cx="31089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CO Time: 0 minutes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Mould loaded. Start immediately.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554480"/>
            <a:ext cx="33832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🔵  Diff Part — Same Colour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2148840"/>
            <a:ext cx="31089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CO Time: Normal CO 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Mould changes, colour same. No barrel purge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554480"/>
            <a:ext cx="3383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🟡  Diff Part — Diff Colour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2148840"/>
            <a:ext cx="31089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CO Time: Normal CO + 10 min purge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Residual colour must be purged before new run.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0160" y="3273552"/>
            <a:ext cx="105156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32735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 RANKING COST  —  HOW COLOUR FITS 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3621024"/>
            <a:ext cx="10515600" cy="48463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62102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-0.15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362102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Same part as last run (zero CO)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62102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Strongest preference. Mould loaded, start immediately.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80160" y="4123944"/>
            <a:ext cx="10515600" cy="4846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412394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-0.08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86000" y="412394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Different part, same colour (no purge)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412394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 preference. CO needed but colour purge avoided.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80160" y="4626864"/>
            <a:ext cx="10515600" cy="4846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462686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 0.00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462686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Different part, different colour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62686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Standard. CO + 10-min purge added to changeover time.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280160" y="5212080"/>
            <a:ext cx="105156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5230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377"/>
                </a:solidFill>
              </a:rPr>
              <a:t>COLOUR IN ALL OUTPUT SHEETS — added columns: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38074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1848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 (part colour)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0118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Color_Purge (Yes/No)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2162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936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Color_Before / Color_After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8074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1848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Color_Change (YES—PURGE)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0118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Colors_Today (machine util)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42162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936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Color_Purges (count per machine)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8AC9ED7-78F7-4046-A58B-50FF0AD03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76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D949B404-0479-99F0-4D13-1BB0F6D6D995}"/>
              </a:ext>
            </a:extLst>
          </p:cNvPr>
          <p:cNvSpPr/>
          <p:nvPr/>
        </p:nvSpPr>
        <p:spPr>
          <a:xfrm>
            <a:off x="82296" y="-9787"/>
            <a:ext cx="1097280" cy="847987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C11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0CCE0F7-1B6F-6C6D-850E-6F7C9C0B2AF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F5686F2C-D508-BAD3-1460-4D16AFED93E9}"/>
              </a:ext>
            </a:extLst>
          </p:cNvPr>
          <p:cNvSpPr/>
          <p:nvPr/>
        </p:nvSpPr>
        <p:spPr>
          <a:xfrm>
            <a:off x="-9088" y="6729984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</a:rPr>
              <a:t>Smart APS V9  |  Uno Minda Rika Private Limited  |  Injection </a:t>
            </a:r>
            <a:r>
              <a:rPr lang="en-US" sz="900" dirty="0" err="1">
                <a:solidFill>
                  <a:srgbClr val="F0F4F8"/>
                </a:solidFill>
              </a:rPr>
              <a:t>Moulding</a:t>
            </a:r>
            <a:r>
              <a:rPr lang="en-US" sz="900" dirty="0">
                <a:solidFill>
                  <a:srgbClr val="F0F4F8"/>
                </a:solidFill>
              </a:rPr>
              <a:t> Division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8473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ALL 10 CONSTRAINTS — QUICK REFERENCE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</a:rPr>
              <a:t>Problem  •  Solution  •  Fallback — one line per constraint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658368" cy="5394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15568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115568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1556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Inventory Health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20700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115568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5-day target (SAFETY=3, TARGET=5). Scenario S0–S3 sets production qty.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0" y="120700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115568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 |  VT_Inventory_Target sheet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1682496"/>
            <a:ext cx="658368" cy="539496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682496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682496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682496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Priority Scoring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177393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682496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Score 0–100 per part. Urgency vs 3-day floor. Highest assigned first. Displacement for zero-inv R/R.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0" y="177393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1682496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(score visible at top)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4592" y="2249424"/>
            <a:ext cx="658368" cy="5394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2249424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2249424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24942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22-Hour Rule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34086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249424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Hard ceiling. CO time + run time ≤ remaining hours. Applied before every assignment.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234086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2249424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with free-hours map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2816352"/>
            <a:ext cx="658368" cy="5394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" y="2816352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2816352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281635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Specialised Machines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290779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816352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Part_Count ranking: fewest-parts machine first. Guarantees constrained machines are served first.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0" y="290779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2816352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if specialised machine full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658368" cy="5394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3383280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3383280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383280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Same-Part Continuation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34640" y="347472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383280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Save state daily. Prefer same machine. Queue stagger: req_gap = CO_dur + 20 min. Push/Pull qty.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86800" y="347472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3383280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CO charged + sequenced by tool-changer queue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3950208"/>
            <a:ext cx="658368" cy="539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" y="3950208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" y="3950208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95020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Minimum Tools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34640" y="404164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950208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Tool 1 first. Tool 2 only for shortfall. Tool 3+ only at zero inventory. Tagged [CRISIS] in console.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686800" y="404164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0" y="3950208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VT_Production_vs_Indent shows gap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" y="4517136"/>
            <a:ext cx="658368" cy="539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4517136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2960" y="4517136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517136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Serial Tool-Changer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34640" y="460857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0" y="4517136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Structural no-overlap: free_at moves forward only. 20-min post-finish buffer. Extend run for wait.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86800" y="460857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78240" y="4517136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No fallback — overlap structurally impossible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" y="5084064"/>
            <a:ext cx="658368" cy="5394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4592" y="5084064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22960" y="5084064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508406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Minimum Run Block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834640" y="517550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0" y="5084064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effective_free ≥ 4h after CO. Exception: Step 0 Floor90 extension below 90% (no minimum needed).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686800" y="517550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78240" y="5084064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— next machine tried first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64592" y="5650992"/>
            <a:ext cx="658368" cy="53949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" y="5650992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C9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22960" y="5650992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0" y="56509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No Machine Idle 90%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834640" y="574243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0" y="5650992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Step 0 uncapped extension below 90% floor. Steps 1–4 fill remaining time.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86800" y="574243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78240" y="5650992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VT_Micro_Idle with reason if all steps exhausted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4592" y="6217920"/>
            <a:ext cx="658368" cy="539496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4592" y="6217920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22960" y="6217920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4400" y="6217920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Colour Grouping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834640" y="630936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26080" y="6217920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Colour-aware ranking (−0.08 same colour). 10-min purge in CO time. Colour in all output sheets.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686800" y="630936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78240" y="6217920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Purge time added; included in 22h budget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SMART APS V9  —  WHAT IT DELIVERS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0F0F0"/>
                </a:solidFill>
              </a:rPr>
              <a:t>Prepared by Tushar (Intern)  |  Guided by Mr. Amrit Lal  |  Uno Minda Rika Private Limited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&lt; 60s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Plan generated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every 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87168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Constraints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enforced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17136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≥ 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17136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Machine utilisation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floor guaranteed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47104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47104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47104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 overlaps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possible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77072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77072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5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77072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Inventory 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(3 buffer + 2 safety)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607040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07040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NIL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607040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Software licence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299923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98448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14 Output Sheets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8448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VT_Plan_By_Machine, VT_CO_Queue, VT_Inventory_Target, VT_Priority_Scores, VT_Micro_Idle and more — every decision is auditable.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292608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9088" y="299923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50608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Colour Constraint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Colour-aware ranking, 10-min purge in CO time, colour tracked in every output sheet. Minimises purge time automatically.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" y="41879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98448" y="4187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Zero-Overlap Guarantee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98448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Serial queue — free_at cursor only moves forward. Overlap is structurally impossible, not just improbable.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19088" y="41879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50608" y="4187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Displacement Pass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50608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Zero-inventory Runners and Repeaters always get a machine slot, even if it means reducing the least-urgent planned part.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Smart APS V9  •  Constraints &amp; Solutions  •  Uno Minda Rika Private Limited  •  March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83223" y="1612391"/>
            <a:ext cx="0" cy="3900170"/>
          </a:xfrm>
          <a:custGeom>
            <a:avLst/>
            <a:gdLst/>
            <a:ahLst/>
            <a:cxnLst/>
            <a:rect l="l" t="t" r="r" b="b"/>
            <a:pathLst>
              <a:path h="3900170">
                <a:moveTo>
                  <a:pt x="0" y="0"/>
                </a:moveTo>
                <a:lnTo>
                  <a:pt x="0" y="3899916"/>
                </a:lnTo>
              </a:path>
            </a:pathLst>
          </a:custGeom>
          <a:ln w="45720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4020" y="4795520"/>
            <a:ext cx="571906" cy="429260"/>
          </a:xfrm>
          <a:prstGeom prst="rect">
            <a:avLst/>
          </a:prstGeom>
        </p:spPr>
      </p:pic>
      <p:pic>
        <p:nvPicPr>
          <p:cNvPr id="4" name="object 4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2400" y="4780788"/>
            <a:ext cx="609600" cy="4587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303645" y="1670430"/>
            <a:ext cx="2976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585858"/>
                </a:solidFill>
                <a:latin typeface="Arial"/>
                <a:cs typeface="Arial"/>
              </a:rPr>
              <a:t>Thank</a:t>
            </a:r>
            <a:r>
              <a:rPr sz="4800" b="0" spc="-1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4800" b="0" spc="-25" dirty="0">
                <a:solidFill>
                  <a:srgbClr val="585858"/>
                </a:solidFill>
                <a:latin typeface="Arial"/>
                <a:cs typeface="Arial"/>
              </a:rPr>
              <a:t>You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34400" y="4507991"/>
            <a:ext cx="1790700" cy="1004569"/>
            <a:chOff x="8534400" y="4507991"/>
            <a:chExt cx="1790700" cy="1004569"/>
          </a:xfrm>
        </p:grpSpPr>
        <p:pic>
          <p:nvPicPr>
            <p:cNvPr id="7" name="object 7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0223" y="4507991"/>
              <a:ext cx="1674876" cy="1004316"/>
            </a:xfrm>
            <a:prstGeom prst="rect">
              <a:avLst/>
            </a:prstGeom>
          </p:spPr>
        </p:pic>
        <p:pic>
          <p:nvPicPr>
            <p:cNvPr id="8" name="object 8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34400" y="4780787"/>
              <a:ext cx="542544" cy="4587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325361" y="2641219"/>
            <a:ext cx="3594735" cy="1916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Corporate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Office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Address</a:t>
            </a:r>
            <a:r>
              <a:rPr sz="1400" b="1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r>
              <a:rPr sz="14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Village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Nawada</a:t>
            </a:r>
            <a:r>
              <a:rPr sz="1400" spc="3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Fatehpur,</a:t>
            </a:r>
            <a:endParaRPr sz="1400" dirty="0">
              <a:latin typeface="Arial"/>
              <a:cs typeface="Arial"/>
            </a:endParaRPr>
          </a:p>
          <a:p>
            <a:pPr marL="29845" marR="738505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P.O.</a:t>
            </a:r>
            <a:r>
              <a:rPr sz="14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Sikanderpur</a:t>
            </a:r>
            <a:r>
              <a:rPr sz="14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Badda,</a:t>
            </a:r>
            <a:r>
              <a:rPr sz="14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Manesar,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Gurgaon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–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122004,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India.</a:t>
            </a: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Website: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9EDB"/>
                </a:solidFill>
                <a:latin typeface="Arial"/>
                <a:cs typeface="Arial"/>
                <a:hlinkClick r:id="rId10"/>
              </a:rPr>
              <a:t>www.unominda.com</a:t>
            </a: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Email</a:t>
            </a:r>
            <a:r>
              <a:rPr sz="1400" b="1" spc="-25" dirty="0">
                <a:latin typeface="Arial"/>
                <a:cs typeface="Arial"/>
              </a:rPr>
              <a:t> ID</a:t>
            </a:r>
            <a:r>
              <a:rPr sz="1400" spc="-25" dirty="0">
                <a:latin typeface="Arial"/>
                <a:cs typeface="Arial"/>
              </a:rPr>
              <a:t>: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Calibri"/>
                <a:cs typeface="Calibri"/>
              </a:rPr>
              <a:t>Follow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below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3892" y="2609097"/>
            <a:ext cx="3993545" cy="2030365"/>
          </a:xfrm>
          <a:prstGeom prst="rect">
            <a:avLst/>
          </a:prstGeom>
        </p:spPr>
      </p:pic>
      <p:pic>
        <p:nvPicPr>
          <p:cNvPr id="11" name="object 11">
            <a:hlinkClick r:id="rId12"/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62800" y="4800600"/>
            <a:ext cx="481583" cy="425195"/>
          </a:xfrm>
          <a:prstGeom prst="rect">
            <a:avLst/>
          </a:prstGeom>
        </p:spPr>
      </p:pic>
      <p:sp>
        <p:nvSpPr>
          <p:cNvPr id="12" name="GTBClassificationF1917276428">
            <a:extLst>
              <a:ext uri="{FF2B5EF4-FFF2-40B4-BE49-F238E27FC236}">
                <a16:creationId xmlns:a16="http://schemas.microsoft.com/office/drawing/2014/main" id="{B2867E52-2E8E-4192-B1CA-31061E3861CA}"/>
              </a:ext>
            </a:extLst>
          </p:cNvPr>
          <p:cNvSpPr txBox="1"/>
          <p:nvPr/>
        </p:nvSpPr>
        <p:spPr>
          <a:xfrm>
            <a:off x="0" y="6592253"/>
            <a:ext cx="121920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D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3/26/2026 5:28:32 PM</timestamp>
  <userName>UNOMINDA\C0271</userName>
  <computerName>1401-LT-0198.UNOMINDA.COM</computerName>
  <guid>{e30833c3-c3a8-42f8-9929-94e8d6fa5e0b}</guid>
  <ftr>
    <r>
      <fontName>arial</fontName>
      <fontColor>000000</fontColor>
      <fontSize>9</fontSize>
      <b/>
      <text xml:space="preserve">Classification:</text>
    </r>
    <r>
      <fontName>arial</fontName>
      <fontColor>000000</fontColor>
      <fontSize>9</fontSize>
      <text xml:space="preserve"> </text>
    </r>
    <r>
      <fontName>arial</fontName>
      <fontColor>0062B1</fontColor>
      <fontSize>9</fontSize>
      <b/>
      <text xml:space="preserve">Internal</text>
    </r>
  </ftr>
</GTBClassification>
</file>

<file path=customXml/itemProps1.xml><?xml version="1.0" encoding="utf-8"?>
<ds:datastoreItem xmlns:ds="http://schemas.openxmlformats.org/officeDocument/2006/customXml" ds:itemID="{02937853-45AA-4051-9B7A-938C6582DC7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2925</Words>
  <Application>Microsoft Office PowerPoint</Application>
  <PresentationFormat>Widescreen</PresentationFormat>
  <Paragraphs>493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</vt:lpstr>
      <vt:lpstr>Arial Black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Sanny Sharma (Ext)/CREAT/IT/GGN</dc:creator>
  <cp:keywords>ClassificationData:&lt;Classification:Internal&gt; ClassificationData:&lt;Classification:Internal&gt;</cp:keywords>
  <cp:lastModifiedBy>TUSHAR_VATS</cp:lastModifiedBy>
  <cp:revision>7</cp:revision>
  <dcterms:created xsi:type="dcterms:W3CDTF">2026-01-06T04:15:05Z</dcterms:created>
  <dcterms:modified xsi:type="dcterms:W3CDTF">2026-04-07T05:29:42Z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2026-01-06T00:00:00Z</vt:filetime>
  </property>
  <property fmtid="{D5CDD505-2E9C-101B-9397-08002B2CF9AE}" pid="5" name="Producer">
    <vt:lpwstr>Microsoft® PowerPoint® LTSC</vt:lpwstr>
  </property>
  <property fmtid="{D5CDD505-2E9C-101B-9397-08002B2CF9AE}" pid="6" name="Classification">
    <vt:lpwstr>Internal</vt:lpwstr>
  </property>
  <property fmtid="{D5CDD505-2E9C-101B-9397-08002B2CF9AE}" pid="7" name="ClassifiedBy">
    <vt:lpwstr>UNOMINDA\C0271</vt:lpwstr>
  </property>
  <property fmtid="{D5CDD505-2E9C-101B-9397-08002B2CF9AE}" pid="8" name="ClassificationHost">
    <vt:lpwstr>1401-LT-0198.UNOMINDA.COM</vt:lpwstr>
  </property>
  <property fmtid="{D5CDD505-2E9C-101B-9397-08002B2CF9AE}" pid="9" name="ClassificationDate">
    <vt:lpwstr>3/26/2026 5:28:32 PM</vt:lpwstr>
  </property>
  <property fmtid="{D5CDD505-2E9C-101B-9397-08002B2CF9AE}" pid="10" name="ClassificationGUID">
    <vt:lpwstr>{e30833c3-c3a8-42f8-9929-94e8d6fa5e0b}</vt:lpwstr>
  </property>
</Properties>
</file>