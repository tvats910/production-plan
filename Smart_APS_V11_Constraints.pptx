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457200"/>
            <a:ext cx="3474720" cy="347472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2743200"/>
            <a:ext cx="2194560" cy="2194560"/>
          </a:xfrm>
          <a:prstGeom prst="ellipse">
            <a:avLst/>
          </a:prstGeom>
          <a:solidFill>
            <a:srgbClr val="3B82F6">
              <a:alpha val="10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7315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APS V11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 Architecture &amp; Logic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40080" y="2331720"/>
            <a:ext cx="32004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788920"/>
            <a:ext cx="1920240" cy="566928"/>
          </a:xfrm>
          <a:prstGeom prst="roundRect">
            <a:avLst>
              <a:gd name="adj" fmla="val 16129"/>
            </a:avLst>
          </a:prstGeom>
          <a:solidFill>
            <a:srgbClr val="0D9488">
              <a:alpha val="18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78892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Time &amp; Capacity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0" y="2788920"/>
            <a:ext cx="1920240" cy="566928"/>
          </a:xfrm>
          <a:prstGeom prst="roundRect">
            <a:avLst>
              <a:gd name="adj" fmla="val 16129"/>
            </a:avLst>
          </a:prstGeom>
          <a:solidFill>
            <a:srgbClr val="3B82F6">
              <a:alpha val="18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88920" y="278892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Fixed Machine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46320" y="2788920"/>
            <a:ext cx="1920240" cy="566928"/>
          </a:xfrm>
          <a:prstGeom prst="roundRect">
            <a:avLst>
              <a:gd name="adj" fmla="val 16129"/>
            </a:avLst>
          </a:prstGeom>
          <a:solidFill>
            <a:srgbClr val="8B5CF6">
              <a:alpha val="18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278892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🧩  Compatibility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949440" y="2788920"/>
            <a:ext cx="1920240" cy="566928"/>
          </a:xfrm>
          <a:prstGeom prst="roundRect">
            <a:avLst>
              <a:gd name="adj" fmla="val 16129"/>
            </a:avLst>
          </a:prstGeom>
          <a:solidFill>
            <a:srgbClr val="F97316">
              <a:alpha val="18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95160" y="278892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🌈  Colour Changeover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3520440"/>
            <a:ext cx="1920240" cy="566928"/>
          </a:xfrm>
          <a:prstGeom prst="roundRect">
            <a:avLst>
              <a:gd name="adj" fmla="val 16129"/>
            </a:avLst>
          </a:prstGeom>
          <a:solidFill>
            <a:srgbClr val="EF4444">
              <a:alpha val="18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52044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Terminal / Raw Mat.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0" y="3520440"/>
            <a:ext cx="1920240" cy="566928"/>
          </a:xfrm>
          <a:prstGeom prst="roundRect">
            <a:avLst>
              <a:gd name="adj" fmla="val 16129"/>
            </a:avLst>
          </a:prstGeom>
          <a:solidFill>
            <a:srgbClr val="F59E0B">
              <a:alpha val="18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88920" y="352044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Inventory &amp; OPD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46320" y="3520440"/>
            <a:ext cx="1920240" cy="566928"/>
          </a:xfrm>
          <a:prstGeom prst="roundRect">
            <a:avLst>
              <a:gd name="adj" fmla="val 16129"/>
            </a:avLst>
          </a:prstGeom>
          <a:solidFill>
            <a:srgbClr val="22C55E">
              <a:alpha val="18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352044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Runner Priority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949440" y="3520440"/>
            <a:ext cx="1920240" cy="566928"/>
          </a:xfrm>
          <a:prstGeom prst="roundRect">
            <a:avLst>
              <a:gd name="adj" fmla="val 16129"/>
            </a:avLst>
          </a:prstGeom>
          <a:solidFill>
            <a:srgbClr val="14B8A6">
              <a:alpha val="18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95160" y="352044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🔀  Changeover Queue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Constraint Domains  •  End-to-End Scheduling Logic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Scheduling Flow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all constraints chain together — top to bottom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969264"/>
            <a:ext cx="841248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143000"/>
            <a:ext cx="1463040" cy="566928"/>
          </a:xfrm>
          <a:prstGeom prst="roundRect">
            <a:avLst>
              <a:gd name="adj" fmla="val 16129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16128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Data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Dicts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74320" y="147218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Parts, Matrix, CO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011680" y="1143000"/>
            <a:ext cx="1463040" cy="566928"/>
          </a:xfrm>
          <a:prstGeom prst="roundRect">
            <a:avLst>
              <a:gd name="adj" fmla="val 1612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011680" y="116128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Machine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011680" y="147218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A / Phase B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749040" y="1143000"/>
            <a:ext cx="1463040" cy="566928"/>
          </a:xfrm>
          <a:prstGeom prst="roundRect">
            <a:avLst>
              <a:gd name="adj" fmla="val 16129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749040" y="116128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749040" y="147218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Critical → 3 Healthy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486400" y="1143000"/>
            <a:ext cx="1463040" cy="566928"/>
          </a:xfrm>
          <a:prstGeom prst="roundRect">
            <a:avLst>
              <a:gd name="adj" fmla="val 16129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86400" y="116128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0" y="147218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Urgency·Category·Indent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7223760" y="1143000"/>
            <a:ext cx="1463040" cy="566928"/>
          </a:xfrm>
          <a:prstGeom prst="roundRect">
            <a:avLst>
              <a:gd name="adj" fmla="val 16129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223760" y="116128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Pass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223760" y="147218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Tool-aware assignment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737360" y="1426464"/>
            <a:ext cx="274320" cy="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3474720" y="1426464"/>
            <a:ext cx="274320" cy="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212080" y="1426464"/>
            <a:ext cx="274320" cy="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949440" y="1426464"/>
            <a:ext cx="274320" cy="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223760" y="1993392"/>
            <a:ext cx="1463040" cy="566928"/>
          </a:xfrm>
          <a:prstGeom prst="roundRect">
            <a:avLst>
              <a:gd name="adj" fmla="val 16129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223760" y="20116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Zero-Inv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Displacement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223760" y="232257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aside lower-pri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486400" y="1993392"/>
            <a:ext cx="1463040" cy="566928"/>
          </a:xfrm>
          <a:prstGeom prst="roundRect">
            <a:avLst>
              <a:gd name="adj" fmla="val 16129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0" y="20116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Runner Priority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486400" y="232257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2-day threshold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749040" y="1993392"/>
            <a:ext cx="1463040" cy="566928"/>
          </a:xfrm>
          <a:prstGeom prst="roundRect">
            <a:avLst>
              <a:gd name="adj" fmla="val 1612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3749040" y="20116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Enforcer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749040" y="232257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h target fill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2011680" y="1993392"/>
            <a:ext cx="1463040" cy="566928"/>
          </a:xfrm>
          <a:prstGeom prst="roundRect">
            <a:avLst>
              <a:gd name="adj" fmla="val 16129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2011680" y="20116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 Filler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011680" y="232257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7-day ahead build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274320" y="1993392"/>
            <a:ext cx="1463040" cy="566928"/>
          </a:xfrm>
          <a:prstGeom prst="roundRect">
            <a:avLst>
              <a:gd name="adj" fmla="val 16129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274320" y="20116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Resequence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Rows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74320" y="232257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CO order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7223760" y="2276856"/>
            <a:ext cx="-274320" cy="0"/>
          </a:xfrm>
          <a:prstGeom prst="line">
            <a:avLst/>
          </a:prstGeom>
          <a:noFill/>
          <a:ln w="12700">
            <a:solidFill>
              <a:srgbClr val="F97316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5486400" y="2276856"/>
            <a:ext cx="-274320" cy="0"/>
          </a:xfrm>
          <a:prstGeom prst="line">
            <a:avLst/>
          </a:prstGeom>
          <a:noFill/>
          <a:ln w="12700">
            <a:solidFill>
              <a:srgbClr val="F97316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3749040" y="2276856"/>
            <a:ext cx="-274320" cy="0"/>
          </a:xfrm>
          <a:prstGeom prst="line">
            <a:avLst/>
          </a:prstGeom>
          <a:noFill/>
          <a:ln w="12700">
            <a:solidFill>
              <a:srgbClr val="F97316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2011680" y="2276856"/>
            <a:ext cx="-274320" cy="0"/>
          </a:xfrm>
          <a:prstGeom prst="line">
            <a:avLst/>
          </a:prstGeom>
          <a:noFill/>
          <a:ln w="12700">
            <a:solidFill>
              <a:srgbClr val="F97316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7955280" y="1709928"/>
            <a:ext cx="0" cy="283464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274320" y="2843784"/>
            <a:ext cx="1463040" cy="566928"/>
          </a:xfrm>
          <a:prstGeom prst="roundRect">
            <a:avLst>
              <a:gd name="adj" fmla="val 16129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274320" y="286207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Stagger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274320" y="317296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EF9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 tool-changer queue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2011680" y="2843784"/>
            <a:ext cx="1463040" cy="566928"/>
          </a:xfrm>
          <a:prstGeom prst="roundRect">
            <a:avLst>
              <a:gd name="adj" fmla="val 1612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2011680" y="286207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Stagger by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2011680" y="317296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EF9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Push/pull to create gap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3749040" y="2843784"/>
            <a:ext cx="1463040" cy="566928"/>
          </a:xfrm>
          <a:prstGeom prst="roundRect">
            <a:avLst>
              <a:gd name="adj" fmla="val 16129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3749040" y="286207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3749040" y="317296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EF9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run-hrs violations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5486400" y="2843784"/>
            <a:ext cx="1463040" cy="566928"/>
          </a:xfrm>
          <a:prstGeom prst="roundRect">
            <a:avLst>
              <a:gd name="adj" fmla="val 16129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5486400" y="286207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Look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7-day Alert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5486400" y="317296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EF9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Stock-out risk horizon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7223760" y="2843784"/>
            <a:ext cx="1463040" cy="566928"/>
          </a:xfrm>
          <a:prstGeom prst="roundRect">
            <a:avLst>
              <a:gd name="adj" fmla="val 16129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7223760" y="286207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Machine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7223760" y="317296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EF9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 last part ran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1737360" y="3127248"/>
            <a:ext cx="274320" cy="0"/>
          </a:xfrm>
          <a:prstGeom prst="line">
            <a:avLst/>
          </a:prstGeom>
          <a:noFill/>
          <a:ln w="12700">
            <a:solidFill>
              <a:srgbClr val="EF4444"/>
            </a:solidFill>
            <a:prstDash val="solid"/>
            <a:tailEnd type="triangle"/>
          </a:ln>
        </p:spPr>
      </p:sp>
      <p:sp>
        <p:nvSpPr>
          <p:cNvPr id="60" name="Shape 58"/>
          <p:cNvSpPr/>
          <p:nvPr/>
        </p:nvSpPr>
        <p:spPr>
          <a:xfrm>
            <a:off x="3474720" y="3127248"/>
            <a:ext cx="274320" cy="0"/>
          </a:xfrm>
          <a:prstGeom prst="line">
            <a:avLst/>
          </a:prstGeom>
          <a:noFill/>
          <a:ln w="12700">
            <a:solidFill>
              <a:srgbClr val="EF4444"/>
            </a:solidFill>
            <a:prstDash val="solid"/>
            <a:tailEnd type="triangle"/>
          </a:ln>
        </p:spPr>
      </p:sp>
      <p:sp>
        <p:nvSpPr>
          <p:cNvPr id="61" name="Shape 59"/>
          <p:cNvSpPr/>
          <p:nvPr/>
        </p:nvSpPr>
        <p:spPr>
          <a:xfrm>
            <a:off x="5212080" y="3127248"/>
            <a:ext cx="274320" cy="0"/>
          </a:xfrm>
          <a:prstGeom prst="line">
            <a:avLst/>
          </a:prstGeom>
          <a:noFill/>
          <a:ln w="12700">
            <a:solidFill>
              <a:srgbClr val="EF4444"/>
            </a:solidFill>
            <a:prstDash val="solid"/>
            <a:tailEnd type="triangle"/>
          </a:ln>
        </p:spPr>
      </p:sp>
      <p:sp>
        <p:nvSpPr>
          <p:cNvPr id="62" name="Shape 60"/>
          <p:cNvSpPr/>
          <p:nvPr/>
        </p:nvSpPr>
        <p:spPr>
          <a:xfrm>
            <a:off x="6949440" y="3127248"/>
            <a:ext cx="274320" cy="0"/>
          </a:xfrm>
          <a:prstGeom prst="line">
            <a:avLst/>
          </a:prstGeom>
          <a:noFill/>
          <a:ln w="12700">
            <a:solidFill>
              <a:srgbClr val="EF4444"/>
            </a:solidFill>
            <a:prstDash val="solid"/>
            <a:tailEnd type="triangle"/>
          </a:ln>
        </p:spPr>
      </p:sp>
      <p:sp>
        <p:nvSpPr>
          <p:cNvPr id="63" name="Shape 61"/>
          <p:cNvSpPr/>
          <p:nvPr/>
        </p:nvSpPr>
        <p:spPr>
          <a:xfrm>
            <a:off x="1005840" y="2560320"/>
            <a:ext cx="0" cy="283464"/>
          </a:xfrm>
          <a:prstGeom prst="line">
            <a:avLst/>
          </a:prstGeom>
          <a:noFill/>
          <a:ln w="12700">
            <a:solidFill>
              <a:srgbClr val="3B82F6"/>
            </a:solidFill>
            <a:prstDash val="solid"/>
            <a:tailEnd type="triangle"/>
          </a:ln>
        </p:spPr>
      </p:sp>
      <p:sp>
        <p:nvSpPr>
          <p:cNvPr id="64" name="Shape 62"/>
          <p:cNvSpPr/>
          <p:nvPr/>
        </p:nvSpPr>
        <p:spPr>
          <a:xfrm>
            <a:off x="274320" y="3749040"/>
            <a:ext cx="164592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75488" y="373075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/ Init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2029968" y="3749040"/>
            <a:ext cx="164592" cy="1645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231136" y="373075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3785616" y="3749040"/>
            <a:ext cx="164592" cy="16459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986784" y="373075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Output/Save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5541264" y="3749040"/>
            <a:ext cx="164592" cy="16459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742432" y="373075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7296912" y="3749040"/>
            <a:ext cx="164592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498080" y="373075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Time &amp; Capacity Constraint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hours are the core production budget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969264"/>
            <a:ext cx="841248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70432"/>
            <a:ext cx="841248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70432"/>
            <a:ext cx="77724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70432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0.67h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143000" y="1170432"/>
            <a:ext cx="466344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1170432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HOURS  (indent-driven)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806440" y="1170432"/>
            <a:ext cx="1737360" cy="502920"/>
          </a:xfrm>
          <a:prstGeom prst="rect">
            <a:avLst/>
          </a:prstGeom>
          <a:solidFill>
            <a:srgbClr val="3B82F6">
              <a:alpha val="7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06440" y="117043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InvBuild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(OPD cap)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543800" y="1170432"/>
            <a:ext cx="1234440" cy="502920"/>
          </a:xfrm>
          <a:prstGeom prst="rect">
            <a:avLst/>
          </a:prstGeom>
          <a:solidFill>
            <a:srgbClr val="EF4444">
              <a:alpha val="6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43800" y="117043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filled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" y="1700784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Hours per Machine per Day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0040" y="2029968"/>
            <a:ext cx="2834640" cy="2468880"/>
          </a:xfrm>
          <a:prstGeom prst="roundRect">
            <a:avLst>
              <a:gd name="adj" fmla="val 4444"/>
            </a:avLst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029968"/>
            <a:ext cx="2834640" cy="40233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029968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Hours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4632" y="2542032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" y="249631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: 22 h / day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84632" y="2999232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" y="295351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: 23 h (Phase A fixed)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84632" y="3456432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" y="341071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run block : 4 h minimum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84632" y="3913632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9224" y="386791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Machines never released idle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246120" y="2029968"/>
            <a:ext cx="2834640" cy="2468880"/>
          </a:xfrm>
          <a:prstGeom prst="roundRect">
            <a:avLst>
              <a:gd name="adj" fmla="val 4444"/>
            </a:avLst>
          </a:prstGeom>
          <a:solidFill>
            <a:srgbClr val="1E293B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46120" y="2029968"/>
            <a:ext cx="2834640" cy="40233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37560" y="2029968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Run-Hour Calculation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410712" y="2542032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75304" y="249631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Shortfall qty = daily – inventory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410712" y="2999232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575304" y="295351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Hrs needed = shortfall ÷ rate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410712" y="3456432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575304" y="341071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Capped by OPD ceiling days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410712" y="3913632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575304" y="386791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if headroom exists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172200" y="2029968"/>
            <a:ext cx="2834640" cy="2468880"/>
          </a:xfrm>
          <a:prstGeom prst="roundRect">
            <a:avLst>
              <a:gd name="adj" fmla="val 4444"/>
            </a:avLst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172200" y="2029968"/>
            <a:ext cx="2834640" cy="40233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63640" y="2029968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Utilisation Enforcer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336792" y="2542032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01384" y="249631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≥ 90 % utilisation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336792" y="2999232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01384" y="295351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S0: Extend existing parts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336792" y="3456432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501384" y="341071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S2: Add new compatible parts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6336792" y="3913632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501384" y="386791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S3/S4: Runner rerun / any-compat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320040" y="4572000"/>
            <a:ext cx="8503920" cy="402336"/>
          </a:xfrm>
          <a:prstGeom prst="roundRect">
            <a:avLst>
              <a:gd name="adj" fmla="val 18182"/>
            </a:avLst>
          </a:prstGeom>
          <a:solidFill>
            <a:srgbClr val="0D9488">
              <a:alpha val="18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11480" y="4572000"/>
            <a:ext cx="8321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Run = min( Available − CO,  Headroom ÷ Rate )  |  Qty = Run × Rate  |  Util % = Used ÷ 22 × 100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🚦  Skip / Scheduling Filter Constraint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parts enter the scheduler — and which are excluded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969264"/>
            <a:ext cx="841248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43000"/>
            <a:ext cx="8229600" cy="47548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43000"/>
            <a:ext cx="5760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PARTS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0" y="1618488"/>
            <a:ext cx="0" cy="219456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1188720" y="1737360"/>
            <a:ext cx="6766560" cy="47548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280160" y="1737360"/>
            <a:ext cx="47365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valid cycle time (rate &gt; 0)?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010144" y="1810512"/>
            <a:ext cx="841248" cy="329184"/>
          </a:xfrm>
          <a:prstGeom prst="roundRect">
            <a:avLst>
              <a:gd name="adj" fmla="val 22222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10144" y="1810512"/>
            <a:ext cx="84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✗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0" y="2212848"/>
            <a:ext cx="0" cy="219456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1920240" y="2331720"/>
            <a:ext cx="5303520" cy="47548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011680" y="2331720"/>
            <a:ext cx="37124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indent &gt; 150 pcs?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278624" y="2404872"/>
            <a:ext cx="841248" cy="329184"/>
          </a:xfrm>
          <a:prstGeom prst="roundRect">
            <a:avLst>
              <a:gd name="adj" fmla="val 22222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78624" y="2404872"/>
            <a:ext cx="84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✗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0" y="2807208"/>
            <a:ext cx="0" cy="219456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2560320" y="2926080"/>
            <a:ext cx="4023360" cy="47548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651760" y="2926080"/>
            <a:ext cx="2816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indent hours &gt; 4 h?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638544" y="2999232"/>
            <a:ext cx="841248" cy="329184"/>
          </a:xfrm>
          <a:prstGeom prst="roundRect">
            <a:avLst>
              <a:gd name="adj" fmla="val 22222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38544" y="2999232"/>
            <a:ext cx="84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✗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0" y="3401568"/>
            <a:ext cx="0" cy="219456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3200400" y="3520440"/>
            <a:ext cx="274320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291840" y="352044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&lt; 5-day TARGET ceiling?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998464" y="3593592"/>
            <a:ext cx="841248" cy="329184"/>
          </a:xfrm>
          <a:prstGeom prst="roundRect">
            <a:avLst>
              <a:gd name="adj" fmla="val 22222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98464" y="3593592"/>
            <a:ext cx="84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✗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0" y="3995928"/>
            <a:ext cx="0" cy="219456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3657600" y="4114800"/>
            <a:ext cx="1828800" cy="47548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749040" y="4114800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constraint OK?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541264" y="4187952"/>
            <a:ext cx="841248" cy="329184"/>
          </a:xfrm>
          <a:prstGeom prst="roundRect">
            <a:avLst>
              <a:gd name="adj" fmla="val 22222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41264" y="4187952"/>
            <a:ext cx="84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✗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474720" y="4608576"/>
            <a:ext cx="2194560" cy="384048"/>
          </a:xfrm>
          <a:prstGeom prst="roundRect">
            <a:avLst>
              <a:gd name="adj" fmla="val 23810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74720" y="4608576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ENTERS SCHEDULER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Fixed Machine Constraint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Certain parts are locked to dedicated machines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969264"/>
            <a:ext cx="841248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97280"/>
            <a:ext cx="4206240" cy="3749040"/>
          </a:xfrm>
          <a:prstGeom prst="roundRect">
            <a:avLst>
              <a:gd name="adj" fmla="val 3415"/>
            </a:avLst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97280"/>
            <a:ext cx="4206240" cy="4389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97280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PHASE A  — Buffer Building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1627632"/>
            <a:ext cx="3840480" cy="566928"/>
          </a:xfrm>
          <a:prstGeom prst="roundRect">
            <a:avLst>
              <a:gd name="adj" fmla="val 12903"/>
            </a:avLst>
          </a:prstGeom>
          <a:solidFill>
            <a:srgbClr val="EF4444">
              <a:alpha val="3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627632"/>
            <a:ext cx="384048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ANY fixed part inventory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SAFETY (3-day floor)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21208" y="2377440"/>
            <a:ext cx="219456" cy="21945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1208" y="237744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13816" y="234086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part with LOWEST days-coverage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21208" y="2816352"/>
            <a:ext cx="219456" cy="21945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1208" y="281635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13816" y="277977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FULL available hours (22h / 23h extended)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21208" y="3255264"/>
            <a:ext cx="219456" cy="21945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1208" y="325526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13816" y="321868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is locked — marked Phase A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21208" y="3694176"/>
            <a:ext cx="219456" cy="21945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1208" y="369417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13816" y="36576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ceiling: OPD cap applied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21208" y="4133088"/>
            <a:ext cx="219456" cy="21945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1208" y="413308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13816" y="409651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other parts share this machine today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1097280"/>
            <a:ext cx="4206240" cy="3749040"/>
          </a:xfrm>
          <a:prstGeom prst="roundRect">
            <a:avLst>
              <a:gd name="adj" fmla="val 3415"/>
            </a:avLst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3440" y="1097280"/>
            <a:ext cx="4206240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1097280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PHASE B  — OPD Steady-State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846320" y="1627632"/>
            <a:ext cx="3840480" cy="566928"/>
          </a:xfrm>
          <a:prstGeom prst="roundRect">
            <a:avLst>
              <a:gd name="adj" fmla="val 12903"/>
            </a:avLst>
          </a:prstGeom>
          <a:solidFill>
            <a:srgbClr val="22C55E">
              <a:alpha val="3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1627632"/>
            <a:ext cx="384048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All fixed parts have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3-day safety buffer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864608" y="2377440"/>
            <a:ext cx="219456" cy="21945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64608" y="237744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157216" y="234086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each fixed part in turn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64608" y="2816352"/>
            <a:ext cx="219456" cy="21945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64608" y="281635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157216" y="277977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hours = indent hours needed (min 4h)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864608" y="3255264"/>
            <a:ext cx="219456" cy="21945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64608" y="325526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157216" y="321868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 headroom extends production if spare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864608" y="3694176"/>
            <a:ext cx="219456" cy="21945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64608" y="369417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157216" y="36576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hours given to normal scheduler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864608" y="4133088"/>
            <a:ext cx="219456" cy="21945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64608" y="413308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157216" y="409651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Fallback: non-fixed machine if fixed full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383280" y="1444752"/>
            <a:ext cx="2377440" cy="530352"/>
          </a:xfrm>
          <a:prstGeom prst="rect">
            <a:avLst/>
          </a:prstGeom>
          <a:solidFill>
            <a:srgbClr val="0F172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383280" y="1444752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 &lt; 3d × daily?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3383280" y="202996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→ Phase A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937760" y="202996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→ Phase B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🧩  Compatibility Matrix Constraint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Parts can only run on machines they are mapped to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969264"/>
            <a:ext cx="841248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00200" y="1143000"/>
            <a:ext cx="813816" cy="3657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00200" y="1143000"/>
            <a:ext cx="813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M-01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68880" y="1143000"/>
            <a:ext cx="813816" cy="3657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68880" y="1143000"/>
            <a:ext cx="813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M-02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37560" y="1143000"/>
            <a:ext cx="813816" cy="3657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1143000"/>
            <a:ext cx="813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M-03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206240" y="1143000"/>
            <a:ext cx="813816" cy="3657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06240" y="1143000"/>
            <a:ext cx="813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M-04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74920" y="1143000"/>
            <a:ext cx="813816" cy="3657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74920" y="1143000"/>
            <a:ext cx="813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M-05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1480" y="1563624"/>
            <a:ext cx="1143000" cy="38404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1563624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Part-A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600200" y="1563624"/>
            <a:ext cx="813816" cy="384048"/>
          </a:xfrm>
          <a:prstGeom prst="rect">
            <a:avLst/>
          </a:prstGeom>
          <a:solidFill>
            <a:srgbClr val="22C55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00200" y="1563624"/>
            <a:ext cx="813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468880" y="1563624"/>
            <a:ext cx="813816" cy="384048"/>
          </a:xfrm>
          <a:prstGeom prst="rect">
            <a:avLst/>
          </a:prstGeom>
          <a:solidFill>
            <a:srgbClr val="22C55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468880" y="1563624"/>
            <a:ext cx="813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337560" y="1563624"/>
            <a:ext cx="813816" cy="384048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37560" y="1563624"/>
            <a:ext cx="813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206240" y="1563624"/>
            <a:ext cx="813816" cy="384048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06240" y="1563624"/>
            <a:ext cx="813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074920" y="1563624"/>
            <a:ext cx="813816" cy="384048"/>
          </a:xfrm>
          <a:prstGeom prst="rect">
            <a:avLst/>
          </a:prstGeom>
          <a:solidFill>
            <a:srgbClr val="22C55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74920" y="1563624"/>
            <a:ext cx="813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11480" y="1984248"/>
            <a:ext cx="1143000" cy="38404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19842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Part-B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600200" y="1984248"/>
            <a:ext cx="813816" cy="384048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600200" y="1984248"/>
            <a:ext cx="813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2468880" y="1984248"/>
            <a:ext cx="813816" cy="384048"/>
          </a:xfrm>
          <a:prstGeom prst="rect">
            <a:avLst/>
          </a:prstGeom>
          <a:solidFill>
            <a:srgbClr val="22C55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468880" y="1984248"/>
            <a:ext cx="813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337560" y="1984248"/>
            <a:ext cx="813816" cy="384048"/>
          </a:xfrm>
          <a:prstGeom prst="rect">
            <a:avLst/>
          </a:prstGeom>
          <a:solidFill>
            <a:srgbClr val="22C55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37560" y="1984248"/>
            <a:ext cx="813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4206240" y="1984248"/>
            <a:ext cx="813816" cy="384048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206240" y="1984248"/>
            <a:ext cx="813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5074920" y="1984248"/>
            <a:ext cx="813816" cy="384048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74920" y="1984248"/>
            <a:ext cx="813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411480" y="2404872"/>
            <a:ext cx="1143000" cy="38404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11480" y="2404872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Part-C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1600200" y="2404872"/>
            <a:ext cx="813816" cy="384048"/>
          </a:xfrm>
          <a:prstGeom prst="rect">
            <a:avLst/>
          </a:prstGeom>
          <a:solidFill>
            <a:srgbClr val="22C55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600200" y="2404872"/>
            <a:ext cx="813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2468880" y="2404872"/>
            <a:ext cx="813816" cy="384048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468880" y="2404872"/>
            <a:ext cx="813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3337560" y="2404872"/>
            <a:ext cx="813816" cy="384048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337560" y="2404872"/>
            <a:ext cx="813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4206240" y="2404872"/>
            <a:ext cx="813816" cy="384048"/>
          </a:xfrm>
          <a:prstGeom prst="rect">
            <a:avLst/>
          </a:prstGeom>
          <a:solidFill>
            <a:srgbClr val="22C55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206240" y="2404872"/>
            <a:ext cx="813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5074920" y="2404872"/>
            <a:ext cx="813816" cy="384048"/>
          </a:xfrm>
          <a:prstGeom prst="rect">
            <a:avLst/>
          </a:prstGeom>
          <a:solidFill>
            <a:srgbClr val="22C55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074920" y="2404872"/>
            <a:ext cx="813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411480" y="2825496"/>
            <a:ext cx="1143000" cy="38404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11480" y="2825496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Part-D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1600200" y="2825496"/>
            <a:ext cx="813816" cy="384048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600200" y="2825496"/>
            <a:ext cx="813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2468880" y="2825496"/>
            <a:ext cx="813816" cy="384048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468880" y="2825496"/>
            <a:ext cx="813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57" name="Shape 55"/>
          <p:cNvSpPr/>
          <p:nvPr/>
        </p:nvSpPr>
        <p:spPr>
          <a:xfrm>
            <a:off x="3337560" y="2825496"/>
            <a:ext cx="813816" cy="384048"/>
          </a:xfrm>
          <a:prstGeom prst="rect">
            <a:avLst/>
          </a:prstGeom>
          <a:solidFill>
            <a:srgbClr val="22C55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337560" y="2825496"/>
            <a:ext cx="813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59" name="Shape 57"/>
          <p:cNvSpPr/>
          <p:nvPr/>
        </p:nvSpPr>
        <p:spPr>
          <a:xfrm>
            <a:off x="4206240" y="2825496"/>
            <a:ext cx="813816" cy="384048"/>
          </a:xfrm>
          <a:prstGeom prst="rect">
            <a:avLst/>
          </a:prstGeom>
          <a:solidFill>
            <a:srgbClr val="22C55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206240" y="2825496"/>
            <a:ext cx="813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61" name="Shape 59"/>
          <p:cNvSpPr/>
          <p:nvPr/>
        </p:nvSpPr>
        <p:spPr>
          <a:xfrm>
            <a:off x="5074920" y="2825496"/>
            <a:ext cx="813816" cy="384048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074920" y="2825496"/>
            <a:ext cx="813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63" name="Shape 61"/>
          <p:cNvSpPr/>
          <p:nvPr/>
        </p:nvSpPr>
        <p:spPr>
          <a:xfrm>
            <a:off x="411480" y="3246120"/>
            <a:ext cx="1143000" cy="38404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11480" y="324612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Part-E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1600200" y="3246120"/>
            <a:ext cx="813816" cy="384048"/>
          </a:xfrm>
          <a:prstGeom prst="rect">
            <a:avLst/>
          </a:prstGeom>
          <a:solidFill>
            <a:srgbClr val="22C55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600200" y="3246120"/>
            <a:ext cx="813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67" name="Shape 65"/>
          <p:cNvSpPr/>
          <p:nvPr/>
        </p:nvSpPr>
        <p:spPr>
          <a:xfrm>
            <a:off x="2468880" y="3246120"/>
            <a:ext cx="813816" cy="384048"/>
          </a:xfrm>
          <a:prstGeom prst="rect">
            <a:avLst/>
          </a:prstGeom>
          <a:solidFill>
            <a:srgbClr val="22C55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468880" y="3246120"/>
            <a:ext cx="813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69" name="Shape 67"/>
          <p:cNvSpPr/>
          <p:nvPr/>
        </p:nvSpPr>
        <p:spPr>
          <a:xfrm>
            <a:off x="3337560" y="3246120"/>
            <a:ext cx="813816" cy="384048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337560" y="3246120"/>
            <a:ext cx="813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71" name="Shape 69"/>
          <p:cNvSpPr/>
          <p:nvPr/>
        </p:nvSpPr>
        <p:spPr>
          <a:xfrm>
            <a:off x="4206240" y="3246120"/>
            <a:ext cx="813816" cy="384048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206240" y="3246120"/>
            <a:ext cx="813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73" name="Shape 71"/>
          <p:cNvSpPr/>
          <p:nvPr/>
        </p:nvSpPr>
        <p:spPr>
          <a:xfrm>
            <a:off x="5074920" y="3246120"/>
            <a:ext cx="813816" cy="384048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074920" y="3246120"/>
            <a:ext cx="813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75" name="Shape 73"/>
          <p:cNvSpPr/>
          <p:nvPr/>
        </p:nvSpPr>
        <p:spPr>
          <a:xfrm>
            <a:off x="411480" y="3666744"/>
            <a:ext cx="1143000" cy="38404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11480" y="3666744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Part-F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1600200" y="3666744"/>
            <a:ext cx="813816" cy="384048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1600200" y="3666744"/>
            <a:ext cx="813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79" name="Shape 77"/>
          <p:cNvSpPr/>
          <p:nvPr/>
        </p:nvSpPr>
        <p:spPr>
          <a:xfrm>
            <a:off x="2468880" y="3666744"/>
            <a:ext cx="813816" cy="384048"/>
          </a:xfrm>
          <a:prstGeom prst="rect">
            <a:avLst/>
          </a:prstGeom>
          <a:solidFill>
            <a:srgbClr val="22C55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2468880" y="3666744"/>
            <a:ext cx="813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81" name="Shape 79"/>
          <p:cNvSpPr/>
          <p:nvPr/>
        </p:nvSpPr>
        <p:spPr>
          <a:xfrm>
            <a:off x="3337560" y="3666744"/>
            <a:ext cx="813816" cy="384048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3337560" y="3666744"/>
            <a:ext cx="813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83" name="Shape 81"/>
          <p:cNvSpPr/>
          <p:nvPr/>
        </p:nvSpPr>
        <p:spPr>
          <a:xfrm>
            <a:off x="4206240" y="3666744"/>
            <a:ext cx="813816" cy="384048"/>
          </a:xfrm>
          <a:prstGeom prst="rect">
            <a:avLst/>
          </a:prstGeom>
          <a:solidFill>
            <a:srgbClr val="22C55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4206240" y="3666744"/>
            <a:ext cx="813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85" name="Shape 83"/>
          <p:cNvSpPr/>
          <p:nvPr/>
        </p:nvSpPr>
        <p:spPr>
          <a:xfrm>
            <a:off x="5074920" y="3666744"/>
            <a:ext cx="813816" cy="384048"/>
          </a:xfrm>
          <a:prstGeom prst="rect">
            <a:avLst/>
          </a:prstGeom>
          <a:solidFill>
            <a:srgbClr val="22C55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5074920" y="3666744"/>
            <a:ext cx="813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87" name="Shape 85"/>
          <p:cNvSpPr/>
          <p:nvPr/>
        </p:nvSpPr>
        <p:spPr>
          <a:xfrm>
            <a:off x="5806440" y="1115568"/>
            <a:ext cx="2971800" cy="3840480"/>
          </a:xfrm>
          <a:prstGeom prst="roundRect">
            <a:avLst>
              <a:gd name="adj" fmla="val 3692"/>
            </a:avLst>
          </a:prstGeom>
          <a:solidFill>
            <a:srgbClr val="1E293B"/>
          </a:solidFill>
          <a:ln w="12700">
            <a:solidFill>
              <a:srgbClr val="0A162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8" name="Shape 86"/>
          <p:cNvSpPr/>
          <p:nvPr/>
        </p:nvSpPr>
        <p:spPr>
          <a:xfrm>
            <a:off x="5806440" y="1115568"/>
            <a:ext cx="2971800" cy="402336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5897880" y="1115568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Ranking Logic</a:t>
            </a:r>
            <a:endParaRPr lang="en-US" sz="1100" dirty="0"/>
          </a:p>
        </p:txBody>
      </p:sp>
      <p:sp>
        <p:nvSpPr>
          <p:cNvPr id="90" name="Shape 88"/>
          <p:cNvSpPr/>
          <p:nvPr/>
        </p:nvSpPr>
        <p:spPr>
          <a:xfrm>
            <a:off x="5943600" y="1609344"/>
            <a:ext cx="54864" cy="2926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062472" y="1609344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machine first</a:t>
            </a:r>
            <a:endParaRPr lang="en-US" sz="1000" dirty="0"/>
          </a:p>
        </p:txBody>
      </p:sp>
      <p:sp>
        <p:nvSpPr>
          <p:cNvPr id="92" name="Text 90"/>
          <p:cNvSpPr/>
          <p:nvPr/>
        </p:nvSpPr>
        <p:spPr>
          <a:xfrm>
            <a:off x="6062472" y="1792224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part has dedicated machine</a:t>
            </a:r>
            <a:endParaRPr lang="en-US" sz="850" dirty="0"/>
          </a:p>
        </p:txBody>
      </p:sp>
      <p:sp>
        <p:nvSpPr>
          <p:cNvPr id="93" name="Shape 91"/>
          <p:cNvSpPr/>
          <p:nvPr/>
        </p:nvSpPr>
        <p:spPr>
          <a:xfrm>
            <a:off x="5943600" y="2121408"/>
            <a:ext cx="54864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6062472" y="212140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penalty</a:t>
            </a:r>
            <a:endParaRPr lang="en-US" sz="1000" dirty="0"/>
          </a:p>
        </p:txBody>
      </p:sp>
      <p:sp>
        <p:nvSpPr>
          <p:cNvPr id="95" name="Text 93"/>
          <p:cNvSpPr/>
          <p:nvPr/>
        </p:nvSpPr>
        <p:spPr>
          <a:xfrm>
            <a:off x="6062472" y="2304288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CO + colour purge hrs</a:t>
            </a:r>
            <a:endParaRPr lang="en-US" sz="850" dirty="0"/>
          </a:p>
        </p:txBody>
      </p:sp>
      <p:sp>
        <p:nvSpPr>
          <p:cNvPr id="96" name="Shape 94"/>
          <p:cNvSpPr/>
          <p:nvPr/>
        </p:nvSpPr>
        <p:spPr>
          <a:xfrm>
            <a:off x="5943600" y="2633472"/>
            <a:ext cx="54864" cy="2926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6062472" y="263347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Utilisation penalty</a:t>
            </a:r>
            <a:endParaRPr lang="en-US" sz="1000" dirty="0"/>
          </a:p>
        </p:txBody>
      </p:sp>
      <p:sp>
        <p:nvSpPr>
          <p:cNvPr id="98" name="Text 96"/>
          <p:cNvSpPr/>
          <p:nvPr/>
        </p:nvSpPr>
        <p:spPr>
          <a:xfrm>
            <a:off x="6062472" y="281635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less-used machines</a:t>
            </a:r>
            <a:endParaRPr lang="en-US" sz="850" dirty="0"/>
          </a:p>
        </p:txBody>
      </p:sp>
      <p:sp>
        <p:nvSpPr>
          <p:cNvPr id="99" name="Shape 97"/>
          <p:cNvSpPr/>
          <p:nvPr/>
        </p:nvSpPr>
        <p:spPr>
          <a:xfrm>
            <a:off x="5943600" y="3145536"/>
            <a:ext cx="54864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6062472" y="314553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Part-count score</a:t>
            </a:r>
            <a:endParaRPr lang="en-US" sz="1000" dirty="0"/>
          </a:p>
        </p:txBody>
      </p:sp>
      <p:sp>
        <p:nvSpPr>
          <p:cNvPr id="101" name="Text 99"/>
          <p:cNvSpPr/>
          <p:nvPr/>
        </p:nvSpPr>
        <p:spPr>
          <a:xfrm>
            <a:off x="6062472" y="3328416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machines with more parts preferred</a:t>
            </a:r>
            <a:endParaRPr lang="en-US" sz="850" dirty="0"/>
          </a:p>
        </p:txBody>
      </p:sp>
      <p:sp>
        <p:nvSpPr>
          <p:cNvPr id="102" name="Shape 100"/>
          <p:cNvSpPr/>
          <p:nvPr/>
        </p:nvSpPr>
        <p:spPr>
          <a:xfrm>
            <a:off x="5943600" y="3657600"/>
            <a:ext cx="54864" cy="2926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6062472" y="365760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Same-part bonus</a:t>
            </a:r>
            <a:endParaRPr lang="en-US" sz="1000" dirty="0"/>
          </a:p>
        </p:txBody>
      </p:sp>
      <p:sp>
        <p:nvSpPr>
          <p:cNvPr id="104" name="Text 102"/>
          <p:cNvSpPr/>
          <p:nvPr/>
        </p:nvSpPr>
        <p:spPr>
          <a:xfrm>
            <a:off x="6062472" y="384048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−0.15 if same part ran last</a:t>
            </a:r>
            <a:endParaRPr lang="en-US" sz="850" dirty="0"/>
          </a:p>
        </p:txBody>
      </p:sp>
      <p:sp>
        <p:nvSpPr>
          <p:cNvPr id="105" name="Shape 103"/>
          <p:cNvSpPr/>
          <p:nvPr/>
        </p:nvSpPr>
        <p:spPr>
          <a:xfrm>
            <a:off x="5943600" y="4169664"/>
            <a:ext cx="54864" cy="2926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6062472" y="4169664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Runner lock</a:t>
            </a:r>
            <a:endParaRPr lang="en-US" sz="1000" dirty="0"/>
          </a:p>
        </p:txBody>
      </p:sp>
      <p:sp>
        <p:nvSpPr>
          <p:cNvPr id="107" name="Text 105"/>
          <p:cNvSpPr/>
          <p:nvPr/>
        </p:nvSpPr>
        <p:spPr>
          <a:xfrm>
            <a:off x="6062472" y="4352544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inv &lt; 2d, only machines already running that part</a:t>
            </a:r>
            <a:endParaRPr lang="en-US" sz="850" dirty="0"/>
          </a:p>
        </p:txBody>
      </p:sp>
      <p:sp>
        <p:nvSpPr>
          <p:cNvPr id="108" name="Shape 106"/>
          <p:cNvSpPr/>
          <p:nvPr/>
        </p:nvSpPr>
        <p:spPr>
          <a:xfrm>
            <a:off x="5943600" y="4590288"/>
            <a:ext cx="2697480" cy="310896"/>
          </a:xfrm>
          <a:prstGeom prst="roundRect">
            <a:avLst>
              <a:gd name="adj" fmla="val 23529"/>
            </a:avLst>
          </a:prstGeom>
          <a:solidFill>
            <a:srgbClr val="0D9488">
              <a:alpha val="2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5989320" y="459028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by cost score, then machine name (deterministic)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🌈  Colour Changeover Constraint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 purge time is added when colour switches on a machine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969264"/>
            <a:ext cx="841248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8720"/>
            <a:ext cx="1481328" cy="685800"/>
          </a:xfrm>
          <a:prstGeom prst="rect">
            <a:avLst/>
          </a:prstGeom>
          <a:solidFill>
            <a:srgbClr val="3B82F6">
              <a:alpha val="8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88720"/>
            <a:ext cx="1481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Part-A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920240" y="1188720"/>
            <a:ext cx="1481328" cy="685800"/>
          </a:xfrm>
          <a:prstGeom prst="rect">
            <a:avLst/>
          </a:prstGeom>
          <a:solidFill>
            <a:srgbClr val="3B82F6">
              <a:alpha val="8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20240" y="1188720"/>
            <a:ext cx="1481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Part-B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93008" y="1188720"/>
            <a:ext cx="347472" cy="685800"/>
          </a:xfrm>
          <a:prstGeom prst="rect">
            <a:avLst/>
          </a:prstGeom>
          <a:solidFill>
            <a:srgbClr val="EF4444">
              <a:alpha val="7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93008" y="1188720"/>
            <a:ext cx="3474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PURGE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840480" y="1188720"/>
            <a:ext cx="1143000" cy="685800"/>
          </a:xfrm>
          <a:prstGeom prst="rect">
            <a:avLst/>
          </a:prstGeom>
          <a:solidFill>
            <a:srgbClr val="F97316">
              <a:alpha val="80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0" y="1188720"/>
            <a:ext cx="1143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Part-C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047488" y="1188720"/>
            <a:ext cx="347472" cy="685800"/>
          </a:xfrm>
          <a:prstGeom prst="rect">
            <a:avLst/>
          </a:prstGeom>
          <a:solidFill>
            <a:srgbClr val="EF4444">
              <a:alpha val="7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47488" y="1188720"/>
            <a:ext cx="3474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PURGE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5394960" y="1188720"/>
            <a:ext cx="1143000" cy="685800"/>
          </a:xfrm>
          <a:prstGeom prst="rect">
            <a:avLst/>
          </a:prstGeom>
          <a:solidFill>
            <a:srgbClr val="22C55E">
              <a:alpha val="8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94960" y="1188720"/>
            <a:ext cx="1143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Part-D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583680" y="1188720"/>
            <a:ext cx="1481328" cy="685800"/>
          </a:xfrm>
          <a:prstGeom prst="rect">
            <a:avLst/>
          </a:prstGeom>
          <a:solidFill>
            <a:srgbClr val="22C55E">
              <a:alpha val="8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0" y="1188720"/>
            <a:ext cx="1481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Part-E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1920240"/>
            <a:ext cx="7863840" cy="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19659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timeline  ▶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2084832"/>
            <a:ext cx="2011680" cy="658368"/>
          </a:xfrm>
          <a:prstGeom prst="roundRect">
            <a:avLst>
              <a:gd name="adj" fmla="val 13889"/>
            </a:avLst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11480" y="2084832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part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colour?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377440" y="2414016"/>
            <a:ext cx="365760" cy="0"/>
          </a:xfrm>
          <a:prstGeom prst="line">
            <a:avLst/>
          </a:prstGeom>
          <a:noFill/>
          <a:ln w="1270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2743200" y="2084832"/>
            <a:ext cx="2011680" cy="658368"/>
          </a:xfrm>
          <a:prstGeom prst="roundRect">
            <a:avLst>
              <a:gd name="adj" fmla="val 13889"/>
            </a:avLst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2788920" y="2084832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colour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new?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54880" y="2414016"/>
            <a:ext cx="365760" cy="0"/>
          </a:xfrm>
          <a:prstGeom prst="line">
            <a:avLst/>
          </a:prstGeom>
          <a:noFill/>
          <a:ln w="1270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5120640" y="2084832"/>
            <a:ext cx="2011680" cy="658368"/>
          </a:xfrm>
          <a:prstGeom prst="roundRect">
            <a:avLst>
              <a:gd name="adj" fmla="val 13889"/>
            </a:avLst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166360" y="2084832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Either UNKNOWN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NEEDS_PURGE?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132320" y="2414016"/>
            <a:ext cx="365760" cy="0"/>
          </a:xfrm>
          <a:prstGeom prst="line">
            <a:avLst/>
          </a:prstGeom>
          <a:noFill/>
          <a:ln w="1270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498080" y="2084832"/>
            <a:ext cx="2011680" cy="658368"/>
          </a:xfrm>
          <a:prstGeom prst="roundRect">
            <a:avLst>
              <a:gd name="adj" fmla="val 13889"/>
            </a:avLst>
          </a:prstGeom>
          <a:solidFill>
            <a:srgbClr val="EF4444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543800" y="2084832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= base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+ 10 min purge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2057400" y="248716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434840" y="248716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743200" y="2880360"/>
            <a:ext cx="2011680" cy="475488"/>
          </a:xfrm>
          <a:prstGeom prst="roundRect">
            <a:avLst>
              <a:gd name="adj" fmla="val 19231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0" y="288036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= base only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 purge)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749040" y="2734056"/>
            <a:ext cx="0" cy="146304"/>
          </a:xfrm>
          <a:prstGeom prst="line">
            <a:avLst/>
          </a:prstGeom>
          <a:noFill/>
          <a:ln w="12700">
            <a:solidFill>
              <a:srgbClr val="22C55E"/>
            </a:solidFill>
            <a:prstDash val="solid"/>
            <a:tailEnd type="triangle"/>
          </a:ln>
        </p:spPr>
      </p:sp>
      <p:sp>
        <p:nvSpPr>
          <p:cNvPr id="37" name="Text 35"/>
          <p:cNvSpPr/>
          <p:nvPr/>
        </p:nvSpPr>
        <p:spPr>
          <a:xfrm>
            <a:off x="3520440" y="277977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120640" y="2880360"/>
            <a:ext cx="2011680" cy="475488"/>
          </a:xfrm>
          <a:prstGeom prst="roundRect">
            <a:avLst>
              <a:gd name="adj" fmla="val 19231"/>
            </a:avLst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20640" y="288036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= base only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(unknown skip)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126480" y="2734056"/>
            <a:ext cx="0" cy="146304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41" name="Text 39"/>
          <p:cNvSpPr/>
          <p:nvPr/>
        </p:nvSpPr>
        <p:spPr>
          <a:xfrm>
            <a:off x="5897880" y="277977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365760" y="3657600"/>
            <a:ext cx="8412480" cy="749808"/>
          </a:xfrm>
          <a:prstGeom prst="roundRect">
            <a:avLst>
              <a:gd name="adj" fmla="val 12195"/>
            </a:avLst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2920" y="36850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Changeover Time Formula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02920" y="39684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hrs  =  base_CO  +  purge_hrs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4663440" y="3694176"/>
            <a:ext cx="384048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base_CO = machine lookup (default 40 min)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purge_hrs = 10 min if colour differs, else 0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365760" y="4498848"/>
            <a:ext cx="8412480" cy="420624"/>
          </a:xfrm>
          <a:prstGeom prst="roundRect">
            <a:avLst>
              <a:gd name="adj" fmla="val 17391"/>
            </a:avLst>
          </a:prstGeom>
          <a:solidFill>
            <a:srgbClr val="EF4444">
              <a:alpha val="2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449884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Parts not in today's sheet are marked NEEDS_PURGE → always adds purge time regardless of colour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Terminal &amp; Raw Material Constraint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Parts blocked when required terminals have insufficient stock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969264"/>
            <a:ext cx="841248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70432"/>
            <a:ext cx="1828800" cy="658368"/>
          </a:xfrm>
          <a:prstGeom prst="roundRect">
            <a:avLst>
              <a:gd name="adj" fmla="val 16667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170432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194560" y="1499616"/>
            <a:ext cx="274320" cy="0"/>
          </a:xfrm>
          <a:prstGeom prst="line">
            <a:avLst/>
          </a:prstGeom>
          <a:noFill/>
          <a:ln w="1270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468880" y="1170432"/>
            <a:ext cx="2286000" cy="658368"/>
          </a:xfrm>
          <a:prstGeom prst="roundRect">
            <a:avLst>
              <a:gd name="adj" fmla="val 16667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14600" y="1170432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part need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terminal?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54880" y="1499616"/>
            <a:ext cx="274320" cy="0"/>
          </a:xfrm>
          <a:prstGeom prst="line">
            <a:avLst/>
          </a:prstGeom>
          <a:noFill/>
          <a:ln w="1270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029200" y="1170432"/>
            <a:ext cx="2286000" cy="658368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74920" y="1170432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inv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threshold?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315200" y="1499616"/>
            <a:ext cx="274320" cy="0"/>
          </a:xfrm>
          <a:prstGeom prst="line">
            <a:avLst/>
          </a:prstGeom>
          <a:noFill/>
          <a:ln w="1270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589520" y="1170432"/>
            <a:ext cx="1188720" cy="658368"/>
          </a:xfrm>
          <a:prstGeom prst="roundRect">
            <a:avLst>
              <a:gd name="adj" fmla="val 16667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635240" y="1170432"/>
            <a:ext cx="1097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OK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468880" y="1965960"/>
            <a:ext cx="2286000" cy="475488"/>
          </a:xfrm>
          <a:prstGeom prst="roundRect">
            <a:avLst>
              <a:gd name="adj" fmla="val 19231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68880" y="196596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terminal needed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proceed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11880" y="1819656"/>
            <a:ext cx="0" cy="146304"/>
          </a:xfrm>
          <a:prstGeom prst="line">
            <a:avLst/>
          </a:prstGeom>
          <a:noFill/>
          <a:ln w="12700">
            <a:solidFill>
              <a:srgbClr val="22C55E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3401568" y="184708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029200" y="1965960"/>
            <a:ext cx="2286000" cy="475488"/>
          </a:xfrm>
          <a:prstGeom prst="roundRect">
            <a:avLst>
              <a:gd name="adj" fmla="val 19231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0" y="196596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⛔ BLOCKED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scheduled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172200" y="1819656"/>
            <a:ext cx="0" cy="146304"/>
          </a:xfrm>
          <a:prstGeom prst="line">
            <a:avLst/>
          </a:prstGeom>
          <a:noFill/>
          <a:ln w="12700">
            <a:solidFill>
              <a:srgbClr val="EF4444"/>
            </a:solidFill>
            <a:prstDash val="solid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5961888" y="184708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65760" y="2633472"/>
            <a:ext cx="4754880" cy="2304288"/>
          </a:xfrm>
          <a:prstGeom prst="roundRect">
            <a:avLst>
              <a:gd name="adj" fmla="val 4762"/>
            </a:avLst>
          </a:prstGeom>
          <a:solidFill>
            <a:srgbClr val="1E293B"/>
          </a:solidFill>
          <a:ln w="12700">
            <a:solidFill>
              <a:srgbClr val="0A162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2633472"/>
            <a:ext cx="4754880" cy="402336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2633472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Category-Based Threshold Multiplier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3108960"/>
            <a:ext cx="1920240" cy="4572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1089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Runner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468880" y="318211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= 1.0 × daily indent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57200" y="3694176"/>
            <a:ext cx="1920240" cy="4572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3694176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Repeater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468880" y="376732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= 0.5 × daily indent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57200" y="4279392"/>
            <a:ext cx="1920240" cy="45720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27939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Stranger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468880" y="4352544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= 0.25 × daily indent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394960" y="2633472"/>
            <a:ext cx="3383280" cy="2304288"/>
          </a:xfrm>
          <a:prstGeom prst="roundRect">
            <a:avLst>
              <a:gd name="adj" fmla="val 4762"/>
            </a:avLst>
          </a:prstGeom>
          <a:solidFill>
            <a:srgbClr val="1E293B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5394960" y="2633472"/>
            <a:ext cx="3383280" cy="40233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0" y="2633472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Blocking Behaviour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532120" y="3127248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724144" y="309067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receives 'BLOCKED — TERMINAL' reason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532120" y="3547872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724144" y="3511296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Listed in VT_Not_Planned with detail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532120" y="3968496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724144" y="393192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zero-inv parts cannot override block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5532120" y="4389120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724144" y="4352544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Shown in VT_Terminal_Status sheet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5532120" y="4809744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724144" y="477316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terminals for a part must pass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365760" y="4626864"/>
            <a:ext cx="8412480" cy="347472"/>
          </a:xfrm>
          <a:prstGeom prst="roundRect">
            <a:avLst>
              <a:gd name="adj" fmla="val 21053"/>
            </a:avLst>
          </a:prstGeom>
          <a:solidFill>
            <a:srgbClr val="EF4444">
              <a:alpha val="2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7200" y="4626864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Formula:  threshold = TERMINAL_THRESHOLD[category] × daily_indent  |  If terminal_inv &lt; threshold → BLOCKED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Inventory &amp; OPD Cap Constraint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is bounded by safety floor and target ceiling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969264"/>
            <a:ext cx="841248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70432"/>
            <a:ext cx="8046720" cy="14173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70432"/>
            <a:ext cx="8046720" cy="311810"/>
          </a:xfrm>
          <a:prstGeom prst="rect">
            <a:avLst/>
          </a:prstGeom>
          <a:solidFill>
            <a:srgbClr val="EF4444">
              <a:alpha val="9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170432"/>
            <a:ext cx="7680960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 (0 days)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" y="1482242"/>
            <a:ext cx="8046720" cy="368503"/>
          </a:xfrm>
          <a:prstGeom prst="rect">
            <a:avLst/>
          </a:prstGeom>
          <a:solidFill>
            <a:srgbClr val="B45309">
              <a:alpha val="70000"/>
            </a:srgbClr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482242"/>
            <a:ext cx="7680960" cy="3685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SAFETY  (&lt; 3 days)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1850746"/>
            <a:ext cx="8046720" cy="453542"/>
          </a:xfrm>
          <a:prstGeom prst="rect">
            <a:avLst/>
          </a:prstGeom>
          <a:solidFill>
            <a:srgbClr val="0D9488">
              <a:alpha val="7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850746"/>
            <a:ext cx="7680960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 (3 – 5 days)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2304288"/>
            <a:ext cx="8046720" cy="283464"/>
          </a:xfrm>
          <a:prstGeom prst="rect">
            <a:avLst/>
          </a:prstGeom>
          <a:solidFill>
            <a:srgbClr val="22C55E">
              <a:alpha val="7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304288"/>
            <a:ext cx="76809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TARGET  (≥ 5 days)  — SKIP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474720" y="1243584"/>
            <a:ext cx="0" cy="1280160"/>
          </a:xfrm>
          <a:prstGeom prst="line">
            <a:avLst/>
          </a:prstGeom>
          <a:noFill/>
          <a:ln w="12700">
            <a:solidFill>
              <a:srgbClr val="F59E0B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3493008" y="1536192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Current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inv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65760" y="2743200"/>
            <a:ext cx="8412480" cy="2212848"/>
          </a:xfrm>
          <a:prstGeom prst="roundRect">
            <a:avLst>
              <a:gd name="adj" fmla="val 4959"/>
            </a:avLst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743200"/>
            <a:ext cx="8412480" cy="40233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743200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Classifier &amp; OPD Cap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2920" y="3236976"/>
            <a:ext cx="1874520" cy="1463040"/>
          </a:xfrm>
          <a:prstGeom prst="roundRect">
            <a:avLst>
              <a:gd name="adj" fmla="val 6250"/>
            </a:avLst>
          </a:prstGeom>
          <a:solidFill>
            <a:srgbClr val="EF4444">
              <a:alpha val="3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16152" y="3273552"/>
            <a:ext cx="457200" cy="45720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16152" y="3273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57784" y="3767328"/>
            <a:ext cx="1764792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parts critical (inv &lt; 1 day)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7240" y="4279392"/>
            <a:ext cx="1325880" cy="320040"/>
          </a:xfrm>
          <a:prstGeom prst="roundRect">
            <a:avLst>
              <a:gd name="adj" fmla="val 22857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4279392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 = 3.0 days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578608" y="3236976"/>
            <a:ext cx="1874520" cy="1463040"/>
          </a:xfrm>
          <a:prstGeom prst="roundRect">
            <a:avLst>
              <a:gd name="adj" fmla="val 6250"/>
            </a:avLst>
          </a:prstGeom>
          <a:solidFill>
            <a:srgbClr val="F97316">
              <a:alpha val="30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91840" y="3273552"/>
            <a:ext cx="457200" cy="45720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91840" y="3273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2633472" y="3767328"/>
            <a:ext cx="1764792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parts critical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852928" y="4279392"/>
            <a:ext cx="1325880" cy="320040"/>
          </a:xfrm>
          <a:prstGeom prst="roundRect">
            <a:avLst>
              <a:gd name="adj" fmla="val 22857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852928" y="4279392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 = 3.0 days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654296" y="3236976"/>
            <a:ext cx="1874520" cy="1463040"/>
          </a:xfrm>
          <a:prstGeom prst="roundRect">
            <a:avLst>
              <a:gd name="adj" fmla="val 6250"/>
            </a:avLst>
          </a:prstGeom>
          <a:solidFill>
            <a:srgbClr val="F59E0B">
              <a:alpha val="3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367528" y="3273552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67528" y="3273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709160" y="3767328"/>
            <a:ext cx="1764792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parts below 3-day safety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928616" y="4279392"/>
            <a:ext cx="1325880" cy="320040"/>
          </a:xfrm>
          <a:prstGeom prst="roundRect">
            <a:avLst>
              <a:gd name="adj" fmla="val 2285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28616" y="4279392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 = 4.0 days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729984" y="3236976"/>
            <a:ext cx="1874520" cy="1463040"/>
          </a:xfrm>
          <a:prstGeom prst="roundRect">
            <a:avLst>
              <a:gd name="adj" fmla="val 6250"/>
            </a:avLst>
          </a:prstGeom>
          <a:solidFill>
            <a:srgbClr val="22C55E">
              <a:alpha val="3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443216" y="3273552"/>
            <a:ext cx="457200" cy="45720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443216" y="3273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784848" y="3767328"/>
            <a:ext cx="1764792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parts healthy (≥ 3 days)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7004304" y="4279392"/>
            <a:ext cx="1325880" cy="320040"/>
          </a:xfrm>
          <a:prstGeom prst="roundRect">
            <a:avLst>
              <a:gd name="adj" fmla="val 22857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004304" y="4279392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 = 5.0 days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Runner Priority Constraint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Runners pre-empt lower-priority parts for machine time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969264"/>
            <a:ext cx="841248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70432"/>
            <a:ext cx="1737360" cy="566928"/>
          </a:xfrm>
          <a:prstGeom prst="roundRect">
            <a:avLst>
              <a:gd name="adj" fmla="val 16129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20624" y="1170432"/>
            <a:ext cx="1627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Unplanned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Runners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103120" y="1453896"/>
            <a:ext cx="274320" cy="0"/>
          </a:xfrm>
          <a:prstGeom prst="line">
            <a:avLst/>
          </a:prstGeom>
          <a:noFill/>
          <a:ln w="1270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377440" y="1170432"/>
            <a:ext cx="2103120" cy="566928"/>
          </a:xfrm>
          <a:prstGeom prst="roundRect">
            <a:avLst>
              <a:gd name="adj" fmla="val 16129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32304" y="1170432"/>
            <a:ext cx="1993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 &lt; 2 × daily?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(&lt; 2-day threshold)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480560" y="1453896"/>
            <a:ext cx="274320" cy="0"/>
          </a:xfrm>
          <a:prstGeom prst="line">
            <a:avLst/>
          </a:prstGeom>
          <a:noFill/>
          <a:ln w="1270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754880" y="1170432"/>
            <a:ext cx="1920240" cy="566928"/>
          </a:xfrm>
          <a:prstGeom prst="roundRect">
            <a:avLst>
              <a:gd name="adj" fmla="val 16129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09744" y="1170432"/>
            <a:ext cx="1810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capacity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any machine?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675120" y="1453896"/>
            <a:ext cx="274320" cy="0"/>
          </a:xfrm>
          <a:prstGeom prst="line">
            <a:avLst/>
          </a:prstGeom>
          <a:noFill/>
          <a:ln w="1270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949440" y="1170432"/>
            <a:ext cx="1828800" cy="566928"/>
          </a:xfrm>
          <a:prstGeom prst="roundRect">
            <a:avLst>
              <a:gd name="adj" fmla="val 16129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004304" y="1170432"/>
            <a:ext cx="1719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Place directly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(free capacity)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377440" y="1901952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77440" y="1901952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— not critical runner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429000" y="1737360"/>
            <a:ext cx="0" cy="164592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3218688" y="175564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754880" y="1901952"/>
            <a:ext cx="1920240" cy="420624"/>
          </a:xfrm>
          <a:prstGeom prst="roundRect">
            <a:avLst>
              <a:gd name="adj" fmla="val 17391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1901952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Stranger/Repeater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yield hours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715000" y="1737360"/>
            <a:ext cx="0" cy="164592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5504688" y="175564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65760" y="2487168"/>
            <a:ext cx="2011680" cy="548640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11480" y="248716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victim rows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377440" y="2761488"/>
            <a:ext cx="256032" cy="0"/>
          </a:xfrm>
          <a:prstGeom prst="line">
            <a:avLst/>
          </a:prstGeom>
          <a:noFill/>
          <a:ln w="1270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2633472" y="2487168"/>
            <a:ext cx="2011680" cy="548640"/>
          </a:xfrm>
          <a:prstGeom prst="roundRect">
            <a:avLst>
              <a:gd name="adj" fmla="val 16667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2679192" y="248716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Carve/remove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from victim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645152" y="2761488"/>
            <a:ext cx="256032" cy="0"/>
          </a:xfrm>
          <a:prstGeom prst="line">
            <a:avLst/>
          </a:prstGeom>
          <a:noFill/>
          <a:ln w="1270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4901184" y="2487168"/>
            <a:ext cx="2011680" cy="548640"/>
          </a:xfrm>
          <a:prstGeom prst="roundRect">
            <a:avLst>
              <a:gd name="adj" fmla="val 16667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946904" y="248716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Reclaim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912864" y="2761488"/>
            <a:ext cx="256032" cy="0"/>
          </a:xfrm>
          <a:prstGeom prst="line">
            <a:avLst/>
          </a:prstGeom>
          <a:noFill/>
          <a:ln w="1270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7168896" y="2487168"/>
            <a:ext cx="1609344" cy="548640"/>
          </a:xfrm>
          <a:prstGeom prst="roundRect">
            <a:avLst>
              <a:gd name="adj" fmla="val 16667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7214616" y="2487168"/>
            <a:ext cx="1517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Runner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715000" y="2322576"/>
            <a:ext cx="0" cy="164592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365760" y="3200400"/>
            <a:ext cx="8412480" cy="1792224"/>
          </a:xfrm>
          <a:prstGeom prst="roundRect">
            <a:avLst>
              <a:gd name="adj" fmla="val 6122"/>
            </a:avLst>
          </a:prstGeom>
          <a:solidFill>
            <a:srgbClr val="1E293B"/>
          </a:solidFill>
          <a:ln w="12700">
            <a:solidFill>
              <a:srgbClr val="0A162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65760" y="3200400"/>
            <a:ext cx="8412480" cy="3657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Displacement Rules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02920" y="3749040"/>
            <a:ext cx="128016" cy="12801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04088" y="369417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Stranger / Repeater can be victims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04088" y="3877056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Runners never displaced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502920" y="4169664"/>
            <a:ext cx="128016" cy="12801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04088" y="411480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Victim must have more days-coverage than Runner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04088" y="429768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Protects equally critical parts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502920" y="4590288"/>
            <a:ext cx="128016" cy="12801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04088" y="453542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Victim inv must still be ≥ SAFETY floor after carve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704088" y="4718304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stock-out created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4709160" y="3749040"/>
            <a:ext cx="128016" cy="12801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910328" y="369417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4 h must remain on victim row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4910328" y="3877056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Victim keeps MIN_RUN_HOURS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4709160" y="4169664"/>
            <a:ext cx="128016" cy="12801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910328" y="411480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disruptive machine chosen first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4910328" y="429768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total hours reclaimed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🔀  Changeover Serial Queue Constraint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tool-changer services all machines — COs must be sequenced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969264"/>
            <a:ext cx="841248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847088"/>
            <a:ext cx="822960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70432"/>
            <a:ext cx="731520" cy="22860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170432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M-01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143000" y="1170432"/>
            <a:ext cx="918972" cy="402336"/>
          </a:xfrm>
          <a:prstGeom prst="rect">
            <a:avLst/>
          </a:prstGeom>
          <a:solidFill>
            <a:srgbClr val="0D9488">
              <a:alpha val="8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1170432"/>
            <a:ext cx="9189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84048" y="1627632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M-02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514600" y="1627632"/>
            <a:ext cx="452628" cy="402336"/>
          </a:xfrm>
          <a:prstGeom prst="rect">
            <a:avLst/>
          </a:prstGeom>
          <a:solidFill>
            <a:srgbClr val="374151">
              <a:alpha val="70000"/>
            </a:srgbClr>
          </a:solidFill>
          <a:ln w="12700">
            <a:solidFill>
              <a:srgbClr val="94A3B8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2514600" y="1627632"/>
            <a:ext cx="4526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2967228" y="1627632"/>
            <a:ext cx="918972" cy="402336"/>
          </a:xfrm>
          <a:prstGeom prst="rect">
            <a:avLst/>
          </a:prstGeom>
          <a:solidFill>
            <a:srgbClr val="3B82F6">
              <a:alpha val="8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67228" y="1627632"/>
            <a:ext cx="9189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84048" y="2084832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M-03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0" y="2084832"/>
            <a:ext cx="1138428" cy="402336"/>
          </a:xfrm>
          <a:prstGeom prst="rect">
            <a:avLst/>
          </a:prstGeom>
          <a:solidFill>
            <a:srgbClr val="8B5CF6">
              <a:alpha val="8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0" y="2084832"/>
            <a:ext cx="11384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84048" y="2542032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M-04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943600" y="2542032"/>
            <a:ext cx="233172" cy="402336"/>
          </a:xfrm>
          <a:prstGeom prst="rect">
            <a:avLst/>
          </a:prstGeom>
          <a:solidFill>
            <a:srgbClr val="374151">
              <a:alpha val="70000"/>
            </a:srgbClr>
          </a:solidFill>
          <a:ln w="12700">
            <a:solidFill>
              <a:srgbClr val="94A3B8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5943600" y="2542032"/>
            <a:ext cx="2331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6176772" y="2542032"/>
            <a:ext cx="918972" cy="402336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76772" y="2542032"/>
            <a:ext cx="9189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84048" y="2999232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M-05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8001000" y="2999232"/>
            <a:ext cx="685800" cy="402336"/>
          </a:xfrm>
          <a:prstGeom prst="rect">
            <a:avLst/>
          </a:prstGeom>
          <a:solidFill>
            <a:srgbClr val="374151">
              <a:alpha val="70000"/>
            </a:srgbClr>
          </a:solidFill>
          <a:ln w="12700">
            <a:solidFill>
              <a:srgbClr val="94A3B8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8001000" y="2999232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8686800" y="2999232"/>
            <a:ext cx="918972" cy="402336"/>
          </a:xfrm>
          <a:prstGeom prst="rect">
            <a:avLst/>
          </a:prstGeom>
          <a:solidFill>
            <a:srgbClr val="22C55E">
              <a:alpha val="8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86800" y="2999232"/>
            <a:ext cx="9189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65760" y="352958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Time (hours) →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65760" y="3401568"/>
            <a:ext cx="2651760" cy="1536192"/>
          </a:xfrm>
          <a:prstGeom prst="roundRect">
            <a:avLst>
              <a:gd name="adj" fmla="val 5952"/>
            </a:avLst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65760" y="3401568"/>
            <a:ext cx="265176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8912" y="3401568"/>
            <a:ext cx="2505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Stagger Logic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75488" y="3822192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1792" y="378561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CO events by natural start time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75488" y="4096512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1792" y="405993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20-min min gap between COs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75488" y="4370832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1792" y="433425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gap too small → push late-start CO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75488" y="4645152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1792" y="460857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push impossible → pull early-start CO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154680" y="3401568"/>
            <a:ext cx="2651760" cy="1536192"/>
          </a:xfrm>
          <a:prstGeom prst="roundRect">
            <a:avLst>
              <a:gd name="adj" fmla="val 5952"/>
            </a:avLst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3154680" y="3401568"/>
            <a:ext cx="265176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27832" y="3401568"/>
            <a:ext cx="2505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Wait-Fill Strategy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3264408" y="3822192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410712" y="378561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Tool-changer arrives early → machine waits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264408" y="4096512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410712" y="405993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production fills the idle window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264408" y="4370832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410712" y="433425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qty limited by OPD headroom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264408" y="4645152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410712" y="460857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pieces logged as stagger adjustment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5943600" y="3401568"/>
            <a:ext cx="2651760" cy="1536192"/>
          </a:xfrm>
          <a:prstGeom prst="roundRect">
            <a:avLst>
              <a:gd name="adj" fmla="val 5952"/>
            </a:avLst>
          </a:prstGeom>
          <a:solidFill>
            <a:srgbClr val="1E293B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5943600" y="3401568"/>
            <a:ext cx="2651760" cy="34747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016752" y="3401568"/>
            <a:ext cx="2505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Limits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6053328" y="3822192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199632" y="378561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25 COs per day total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053328" y="4096512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199632" y="405993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20-min gap between any two COs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053328" y="4370832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199632" y="433425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Phase-A machines excluded from stagger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6053328" y="4645152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199632" y="460857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count checked before every new addition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Priority Scoring Constraint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schedulable part gets a composite score that drives sort order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969264"/>
            <a:ext cx="841248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170432"/>
            <a:ext cx="2560320" cy="822960"/>
          </a:xfrm>
          <a:prstGeom prst="roundRect">
            <a:avLst>
              <a:gd name="adj" fmla="val 15556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1887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591056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0.60 × gap%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+ 0.40 × velocity%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368296" y="1060704"/>
            <a:ext cx="475488" cy="475488"/>
          </a:xfrm>
          <a:prstGeom prst="ellipse">
            <a:avLst/>
          </a:prstGeom>
          <a:solidFill>
            <a:srgbClr val="0A162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68296" y="106070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55%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926080" y="1426464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154680" y="1170432"/>
            <a:ext cx="2560320" cy="822960"/>
          </a:xfrm>
          <a:prstGeom prst="roundRect">
            <a:avLst>
              <a:gd name="adj" fmla="val 15556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46120" y="11887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46120" y="1591056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Runner=100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Repeater=60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Stranger=20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202936" y="1060704"/>
            <a:ext cx="475488" cy="475488"/>
          </a:xfrm>
          <a:prstGeom prst="ellipse">
            <a:avLst/>
          </a:prstGeom>
          <a:solidFill>
            <a:srgbClr val="0A162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02936" y="106070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760720" y="1426464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5989320" y="1170432"/>
            <a:ext cx="2560320" cy="822960"/>
          </a:xfrm>
          <a:prstGeom prst="roundRect">
            <a:avLst>
              <a:gd name="adj" fmla="val 15556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080760" y="11887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080760" y="1591056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(daily ÷ max_daily)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100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8037576" y="1060704"/>
            <a:ext cx="475488" cy="475488"/>
          </a:xfrm>
          <a:prstGeom prst="ellipse">
            <a:avLst/>
          </a:prstGeom>
          <a:solidFill>
            <a:srgbClr val="0A162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37576" y="106070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154680" y="2176272"/>
            <a:ext cx="2834640" cy="530352"/>
          </a:xfrm>
          <a:prstGeom prst="roundRect">
            <a:avLst>
              <a:gd name="adj" fmla="val 17241"/>
            </a:avLst>
          </a:prstGeom>
          <a:solidFill>
            <a:srgbClr val="0A1628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54680" y="2176272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FINAL PRIORITY SCORE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0" y="1993392"/>
            <a:ext cx="0" cy="18288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320040" y="2852928"/>
            <a:ext cx="8503920" cy="2121408"/>
          </a:xfrm>
          <a:prstGeom prst="roundRect">
            <a:avLst>
              <a:gd name="adj" fmla="val 5172"/>
            </a:avLst>
          </a:prstGeom>
          <a:solidFill>
            <a:srgbClr val="1E293B"/>
          </a:solidFill>
          <a:ln w="12700">
            <a:solidFill>
              <a:srgbClr val="0A162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2852928"/>
            <a:ext cx="8503920" cy="3657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2852928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Sub-Score Formulas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38912" y="3310128"/>
            <a:ext cx="54864" cy="2743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331012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Score: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103120" y="3310128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gap_score = (TARGET_DAYS – days_coverage) ÷ TARGET_DAYS  [clamped 0→1]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38912" y="3712464"/>
            <a:ext cx="54864" cy="2743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371246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Velocity: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103120" y="3712464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 = daily_indent ÷ max(inventory, 1)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38912" y="4114800"/>
            <a:ext cx="54864" cy="2743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41148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 Score: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103120" y="411480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 = 0.60 × gap_pct + 0.40 × velocity_pct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38912" y="4517136"/>
            <a:ext cx="54864" cy="2743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" y="451713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Score: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103120" y="4517136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= 0.55 × urgency + 0.25 × category_score + 0.20 × indent_score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20040" y="4663440"/>
            <a:ext cx="8503920" cy="329184"/>
          </a:xfrm>
          <a:prstGeom prst="roundRect">
            <a:avLst>
              <a:gd name="adj" fmla="val 22222"/>
            </a:avLst>
          </a:prstGeom>
          <a:solidFill>
            <a:srgbClr val="0A1628">
              <a:alpha val="50000"/>
            </a:srgbClr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11480" y="4663440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Parts sorted descending by Final Score — ties broken by part name (alphabetical) for determinism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Tool Availability Constraint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Parts with multiple tools can run on parallel machines simultaneously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969264"/>
            <a:ext cx="841248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70432"/>
            <a:ext cx="1920240" cy="1188720"/>
          </a:xfrm>
          <a:prstGeom prst="roundRect">
            <a:avLst>
              <a:gd name="adj" fmla="val 923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17043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M-01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48132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Tool Active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Part-XYZ running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487168" y="1170432"/>
            <a:ext cx="1920240" cy="1188720"/>
          </a:xfrm>
          <a:prstGeom prst="roundRect">
            <a:avLst>
              <a:gd name="adj" fmla="val 923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32888" y="117043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M-02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532888" y="148132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Tool Active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Part-XYZ running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61488" y="2212848"/>
            <a:ext cx="1371600" cy="310896"/>
          </a:xfrm>
          <a:prstGeom prst="roundRect">
            <a:avLst>
              <a:gd name="adj" fmla="val 23529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61488" y="221284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tools = 2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08576" y="1170432"/>
            <a:ext cx="1920240" cy="1188720"/>
          </a:xfrm>
          <a:prstGeom prst="roundRect">
            <a:avLst>
              <a:gd name="adj" fmla="val 9231"/>
            </a:avLst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54296" y="117043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M-03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54296" y="148132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 / other part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729984" y="1170432"/>
            <a:ext cx="1920240" cy="1188720"/>
          </a:xfrm>
          <a:prstGeom prst="roundRect">
            <a:avLst>
              <a:gd name="adj" fmla="val 9231"/>
            </a:avLst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775704" y="117043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M-04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775704" y="148132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 / other part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65760" y="246888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Part-XYZ  |  Tools Available: 2  →  Running on M-01 &amp; M-02 simultaneously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2871216"/>
            <a:ext cx="2286000" cy="566928"/>
          </a:xfrm>
          <a:prstGeom prst="roundRect">
            <a:avLst>
              <a:gd name="adj" fmla="val 16129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11480" y="2871216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needs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qty?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651760" y="3154680"/>
            <a:ext cx="256032" cy="0"/>
          </a:xfrm>
          <a:prstGeom prst="line">
            <a:avLst/>
          </a:prstGeom>
          <a:noFill/>
          <a:ln w="1270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2907792" y="2871216"/>
            <a:ext cx="2286000" cy="566928"/>
          </a:xfrm>
          <a:prstGeom prst="roundRect">
            <a:avLst>
              <a:gd name="adj" fmla="val 16129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953512" y="2871216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Category: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Runner/Repeater/Stranger?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193792" y="3154680"/>
            <a:ext cx="292608" cy="0"/>
          </a:xfrm>
          <a:prstGeom prst="line">
            <a:avLst/>
          </a:prstGeom>
          <a:noFill/>
          <a:ln w="1270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5486400" y="2871216"/>
            <a:ext cx="2286000" cy="566928"/>
          </a:xfrm>
          <a:prstGeom prst="roundRect">
            <a:avLst>
              <a:gd name="adj" fmla="val 16129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532120" y="2871216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critical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(zero inv)?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772400" y="3154680"/>
            <a:ext cx="182880" cy="0"/>
          </a:xfrm>
          <a:prstGeom prst="line">
            <a:avLst/>
          </a:prstGeom>
          <a:noFill/>
          <a:ln w="1270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7955280" y="2871216"/>
            <a:ext cx="914400" cy="566928"/>
          </a:xfrm>
          <a:prstGeom prst="roundRect">
            <a:avLst>
              <a:gd name="adj" fmla="val 16129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8001000" y="2871216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65760" y="3611880"/>
            <a:ext cx="2286000" cy="384048"/>
          </a:xfrm>
          <a:prstGeom prst="roundRect">
            <a:avLst>
              <a:gd name="adj" fmla="val 23810"/>
            </a:avLst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361188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expansion needed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508760" y="3438144"/>
            <a:ext cx="0" cy="173736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2907792" y="3547872"/>
            <a:ext cx="4956048" cy="329184"/>
          </a:xfrm>
          <a:prstGeom prst="roundRect">
            <a:avLst>
              <a:gd name="adj" fmla="val 22222"/>
            </a:avLst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999232" y="3547872"/>
            <a:ext cx="4773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Stranger / Repeater  →  Hard cap = 1 tool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907792" y="3931920"/>
            <a:ext cx="4956048" cy="329184"/>
          </a:xfrm>
          <a:prstGeom prst="roundRect">
            <a:avLst>
              <a:gd name="adj" fmla="val 22222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999232" y="3931920"/>
            <a:ext cx="4773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Runner (non-critical)  →  Cap = min(2, tools available)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2907792" y="4315968"/>
            <a:ext cx="4956048" cy="329184"/>
          </a:xfrm>
          <a:prstGeom prst="roundRect">
            <a:avLst>
              <a:gd name="adj" fmla="val 22222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999232" y="4315968"/>
            <a:ext cx="4773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Runner (critical, zero-inv)  →  Cap = tools available (all tools)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Intra-Machine Resequencing Constraint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Parts on a machine are reordered to minimise total changeover cost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969264"/>
            <a:ext cx="841248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170432"/>
            <a:ext cx="4023360" cy="3419856"/>
          </a:xfrm>
          <a:prstGeom prst="roundRect">
            <a:avLst>
              <a:gd name="adj" fmla="val 3209"/>
            </a:avLst>
          </a:prstGeom>
          <a:solidFill>
            <a:srgbClr val="1E293B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70432"/>
            <a:ext cx="4023360" cy="40233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70432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Resequencing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664208"/>
            <a:ext cx="256032" cy="4572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73736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Part-D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192024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560320" y="1773936"/>
            <a:ext cx="1554480" cy="256032"/>
          </a:xfrm>
          <a:prstGeom prst="roundRect">
            <a:avLst>
              <a:gd name="adj" fmla="val 21429"/>
            </a:avLst>
          </a:prstGeom>
          <a:solidFill>
            <a:srgbClr val="EF4444">
              <a:alpha val="4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0" y="177393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 + PURGE ⚠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57200" y="2322576"/>
            <a:ext cx="256032" cy="4572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239572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Part-A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77240" y="2578608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560320" y="2432304"/>
            <a:ext cx="1554480" cy="256032"/>
          </a:xfrm>
          <a:prstGeom prst="roundRect">
            <a:avLst>
              <a:gd name="adj" fmla="val 21429"/>
            </a:avLst>
          </a:prstGeom>
          <a:solidFill>
            <a:srgbClr val="EF4444">
              <a:alpha val="4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60320" y="243230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 + PURGE ⚠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57200" y="2980944"/>
            <a:ext cx="256032" cy="4572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305409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Part-B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77240" y="3236976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560320" y="3090672"/>
            <a:ext cx="1554480" cy="256032"/>
          </a:xfrm>
          <a:prstGeom prst="roundRect">
            <a:avLst>
              <a:gd name="adj" fmla="val 21429"/>
            </a:avLst>
          </a:prstGeom>
          <a:solidFill>
            <a:srgbClr val="EF4444">
              <a:alpha val="4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60320" y="309067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 + PURGE ⚠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57200" y="3639312"/>
            <a:ext cx="256032" cy="4572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371246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Part-C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77240" y="389534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800600" y="1170432"/>
            <a:ext cx="4023360" cy="3419856"/>
          </a:xfrm>
          <a:prstGeom prst="roundRect">
            <a:avLst>
              <a:gd name="adj" fmla="val 3209"/>
            </a:avLst>
          </a:prstGeom>
          <a:solidFill>
            <a:srgbClr val="1E293B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00600" y="1170432"/>
            <a:ext cx="4023360" cy="40233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1170432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Resequencing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937760" y="1664208"/>
            <a:ext cx="256032" cy="4572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57800" y="173736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Part-D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257800" y="192024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040880" y="1773936"/>
            <a:ext cx="1554480" cy="256032"/>
          </a:xfrm>
          <a:prstGeom prst="roundRect">
            <a:avLst>
              <a:gd name="adj" fmla="val 21429"/>
            </a:avLst>
          </a:prstGeom>
          <a:solidFill>
            <a:srgbClr val="EF4444">
              <a:alpha val="4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040880" y="177393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 + PURGE ⚠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937760" y="2322576"/>
            <a:ext cx="256032" cy="4572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57800" y="239572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Part-C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257800" y="2578608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7040880" y="2432304"/>
            <a:ext cx="1554480" cy="256032"/>
          </a:xfrm>
          <a:prstGeom prst="roundRect">
            <a:avLst>
              <a:gd name="adj" fmla="val 21429"/>
            </a:avLst>
          </a:prstGeom>
          <a:solidFill>
            <a:srgbClr val="0D9488">
              <a:alpha val="4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040880" y="243230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 (base only)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937760" y="2980944"/>
            <a:ext cx="256032" cy="4572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257800" y="305409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Part-A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257800" y="3236976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7040880" y="3090672"/>
            <a:ext cx="1554480" cy="256032"/>
          </a:xfrm>
          <a:prstGeom prst="roundRect">
            <a:avLst>
              <a:gd name="adj" fmla="val 21429"/>
            </a:avLst>
          </a:prstGeom>
          <a:solidFill>
            <a:srgbClr val="EF4444">
              <a:alpha val="4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040880" y="309067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 + PURGE ⚠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937760" y="3639312"/>
            <a:ext cx="256032" cy="4572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257800" y="371246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Part-B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257800" y="389534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4343400" y="2468880"/>
            <a:ext cx="457200" cy="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48" name="Text 46"/>
          <p:cNvSpPr/>
          <p:nvPr/>
        </p:nvSpPr>
        <p:spPr>
          <a:xfrm>
            <a:off x="4315968" y="2514600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Resequence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4315968" y="2688336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CO cost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320040" y="4663440"/>
            <a:ext cx="8503920" cy="347472"/>
          </a:xfrm>
          <a:prstGeom prst="roundRect">
            <a:avLst>
              <a:gd name="adj" fmla="val 21053"/>
            </a:avLst>
          </a:prstGeom>
          <a:solidFill>
            <a:srgbClr val="1E293B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11480" y="4663440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Algorithm: seed from yesterday's last part → greedy nearest-neighbour by CO cost → stable sort tie-break on part name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🔭  Forward Look &amp; Constraint Summary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7-day horizon alert + all 8 constraint domains at a glance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969264"/>
            <a:ext cx="841248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70432"/>
            <a:ext cx="1078992" cy="530352"/>
          </a:xfrm>
          <a:prstGeom prst="rect">
            <a:avLst/>
          </a:prstGeom>
          <a:solidFill>
            <a:srgbClr val="22C55E">
              <a:alpha val="7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70432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499616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499616" y="1170432"/>
            <a:ext cx="1078992" cy="530352"/>
          </a:xfrm>
          <a:prstGeom prst="rect">
            <a:avLst/>
          </a:prstGeom>
          <a:solidFill>
            <a:srgbClr val="22C55E">
              <a:alpha val="7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99616" y="1170432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499616" y="1499616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633472" y="1170432"/>
            <a:ext cx="1078992" cy="530352"/>
          </a:xfrm>
          <a:prstGeom prst="rect">
            <a:avLst/>
          </a:prstGeom>
          <a:solidFill>
            <a:srgbClr val="22C55E">
              <a:alpha val="7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33472" y="1170432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14%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633472" y="1499616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767328" y="1170432"/>
            <a:ext cx="1078992" cy="530352"/>
          </a:xfrm>
          <a:prstGeom prst="rect">
            <a:avLst/>
          </a:prstGeom>
          <a:solidFill>
            <a:srgbClr val="F59E0B">
              <a:alpha val="7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67328" y="1170432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9%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767328" y="1499616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901184" y="1170432"/>
            <a:ext cx="1078992" cy="530352"/>
          </a:xfrm>
          <a:prstGeom prst="rect">
            <a:avLst/>
          </a:prstGeom>
          <a:solidFill>
            <a:srgbClr val="F97316">
              <a:alpha val="70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01184" y="1170432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01184" y="1499616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035040" y="1170432"/>
            <a:ext cx="1078992" cy="530352"/>
          </a:xfrm>
          <a:prstGeom prst="rect">
            <a:avLst/>
          </a:prstGeom>
          <a:solidFill>
            <a:srgbClr val="EF4444">
              <a:alpha val="7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35040" y="1170432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2%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035040" y="1499616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7168896" y="1170432"/>
            <a:ext cx="1078992" cy="530352"/>
          </a:xfrm>
          <a:prstGeom prst="rect">
            <a:avLst/>
          </a:prstGeom>
          <a:solidFill>
            <a:srgbClr val="EF4444">
              <a:alpha val="7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68896" y="1170432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168896" y="1499616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035040" y="1097280"/>
            <a:ext cx="0" cy="676656"/>
          </a:xfrm>
          <a:prstGeom prst="line">
            <a:avLst/>
          </a:prstGeom>
          <a:noFill/>
          <a:ln w="12700">
            <a:solidFill>
              <a:srgbClr val="EF4444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6089904" y="11704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BELOW SAFETY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7114032" y="1097280"/>
            <a:ext cx="0" cy="676656"/>
          </a:xfrm>
          <a:prstGeom prst="line">
            <a:avLst/>
          </a:prstGeom>
          <a:noFill/>
          <a:ln w="12700">
            <a:solidFill>
              <a:srgbClr val="EF444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27648" y="146304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⛔ ZERO STOCK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20040" y="1901952"/>
            <a:ext cx="2103120" cy="585216"/>
          </a:xfrm>
          <a:prstGeom prst="roundRect">
            <a:avLst>
              <a:gd name="adj" fmla="val 15625"/>
            </a:avLst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20040" y="1901952"/>
            <a:ext cx="457200" cy="58521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" y="1901952"/>
            <a:ext cx="457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22960" y="1920240"/>
            <a:ext cx="1536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&amp; Capacity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822960" y="2139696"/>
            <a:ext cx="1536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22h budget, 4h min run, 90% util target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2514600" y="1901952"/>
            <a:ext cx="2103120" cy="585216"/>
          </a:xfrm>
          <a:prstGeom prst="roundRect">
            <a:avLst>
              <a:gd name="adj" fmla="val 15625"/>
            </a:avLst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514600" y="1901952"/>
            <a:ext cx="457200" cy="585216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514600" y="1901952"/>
            <a:ext cx="457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🚦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3017520" y="1920240"/>
            <a:ext cx="1536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Filter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3017520" y="2139696"/>
            <a:ext cx="1536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Rate&gt;0, daily&gt;150, inv&lt;5d target, terminal OK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4709160" y="1901952"/>
            <a:ext cx="2103120" cy="585216"/>
          </a:xfrm>
          <a:prstGeom prst="roundRect">
            <a:avLst>
              <a:gd name="adj" fmla="val 15625"/>
            </a:avLst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09160" y="1901952"/>
            <a:ext cx="457200" cy="58521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09160" y="1901952"/>
            <a:ext cx="457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5212080" y="1920240"/>
            <a:ext cx="1536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Machine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5212080" y="2139696"/>
            <a:ext cx="1536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A: full 22h build  |  Phase B: indent-hrs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6903720" y="1901952"/>
            <a:ext cx="2103120" cy="585216"/>
          </a:xfrm>
          <a:prstGeom prst="roundRect">
            <a:avLst>
              <a:gd name="adj" fmla="val 15625"/>
            </a:avLst>
          </a:prstGeom>
          <a:solidFill>
            <a:srgbClr val="1E293B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903720" y="1901952"/>
            <a:ext cx="457200" cy="58521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903720" y="1901952"/>
            <a:ext cx="457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🧩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7406640" y="1920240"/>
            <a:ext cx="1536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Compatibility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7406640" y="2139696"/>
            <a:ext cx="1536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Matrix-driven, ranked by cost score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320040" y="2578608"/>
            <a:ext cx="2103120" cy="585216"/>
          </a:xfrm>
          <a:prstGeom prst="roundRect">
            <a:avLst>
              <a:gd name="adj" fmla="val 15625"/>
            </a:avLst>
          </a:prstGeom>
          <a:solidFill>
            <a:srgbClr val="1E293B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320040" y="2578608"/>
            <a:ext cx="457200" cy="58521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20040" y="2578608"/>
            <a:ext cx="457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🌈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822960" y="2596896"/>
            <a:ext cx="1536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 CO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822960" y="2816352"/>
            <a:ext cx="1536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CO + 10 min purge on colour switch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2514600" y="2578608"/>
            <a:ext cx="2103120" cy="585216"/>
          </a:xfrm>
          <a:prstGeom prst="roundRect">
            <a:avLst>
              <a:gd name="adj" fmla="val 15625"/>
            </a:avLst>
          </a:prstGeom>
          <a:solidFill>
            <a:srgbClr val="1E293B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2514600" y="2578608"/>
            <a:ext cx="457200" cy="58521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514600" y="2578608"/>
            <a:ext cx="457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</a:t>
            </a:r>
            <a:endParaRPr lang="en-US" sz="1400" dirty="0"/>
          </a:p>
        </p:txBody>
      </p:sp>
      <p:sp>
        <p:nvSpPr>
          <p:cNvPr id="58" name="Text 56"/>
          <p:cNvSpPr/>
          <p:nvPr/>
        </p:nvSpPr>
        <p:spPr>
          <a:xfrm>
            <a:off x="3017520" y="2596896"/>
            <a:ext cx="1536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/ RM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3017520" y="2816352"/>
            <a:ext cx="1536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threshold: Runner 1× / Rep 0.5× / Str 0.25×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4709160" y="2578608"/>
            <a:ext cx="2103120" cy="585216"/>
          </a:xfrm>
          <a:prstGeom prst="roundRect">
            <a:avLst>
              <a:gd name="adj" fmla="val 15625"/>
            </a:avLst>
          </a:prstGeom>
          <a:solidFill>
            <a:srgbClr val="1E293B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4709160" y="2578608"/>
            <a:ext cx="457200" cy="58521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709160" y="2578608"/>
            <a:ext cx="457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</a:t>
            </a:r>
            <a:endParaRPr lang="en-US" sz="1400" dirty="0"/>
          </a:p>
        </p:txBody>
      </p:sp>
      <p:sp>
        <p:nvSpPr>
          <p:cNvPr id="63" name="Text 61"/>
          <p:cNvSpPr/>
          <p:nvPr/>
        </p:nvSpPr>
        <p:spPr>
          <a:xfrm>
            <a:off x="5212080" y="2596896"/>
            <a:ext cx="1536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&amp; OPD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5212080" y="2816352"/>
            <a:ext cx="1536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0-3 sets OPD cap 3-5 days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6903720" y="2578608"/>
            <a:ext cx="2103120" cy="585216"/>
          </a:xfrm>
          <a:prstGeom prst="roundRect">
            <a:avLst>
              <a:gd name="adj" fmla="val 15625"/>
            </a:avLst>
          </a:prstGeom>
          <a:solidFill>
            <a:srgbClr val="1E293B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6903720" y="2578608"/>
            <a:ext cx="457200" cy="58521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903720" y="2578608"/>
            <a:ext cx="457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1400" dirty="0"/>
          </a:p>
        </p:txBody>
      </p:sp>
      <p:sp>
        <p:nvSpPr>
          <p:cNvPr id="68" name="Text 66"/>
          <p:cNvSpPr/>
          <p:nvPr/>
        </p:nvSpPr>
        <p:spPr>
          <a:xfrm>
            <a:off x="7406640" y="2596896"/>
            <a:ext cx="1536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Runner Priority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7406640" y="2816352"/>
            <a:ext cx="1536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2-day inv → pre-empt with displacement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320040" y="3383280"/>
            <a:ext cx="8503920" cy="420624"/>
          </a:xfrm>
          <a:prstGeom prst="roundRect">
            <a:avLst>
              <a:gd name="adj" fmla="val 21739"/>
            </a:avLst>
          </a:prstGeom>
          <a:solidFill>
            <a:srgbClr val="0D9488">
              <a:alpha val="3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11480" y="3383280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constraint is deterministic — same inputs always produce the same optimal plan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320040" y="3895344"/>
            <a:ext cx="8503920" cy="1078992"/>
          </a:xfrm>
          <a:prstGeom prst="roundRect">
            <a:avLst>
              <a:gd name="adj" fmla="val 8475"/>
            </a:avLst>
          </a:prstGeom>
          <a:solidFill>
            <a:srgbClr val="1E293B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320040" y="3895344"/>
            <a:ext cx="8503920" cy="32918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11480" y="389534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State Persistence  (Cross-Day Constraint)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438912" y="4315968"/>
            <a:ext cx="91440" cy="914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85216" y="4279392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part run on each machine is saved to machine_state.json at end of day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438912" y="4517136"/>
            <a:ext cx="91440" cy="914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585216" y="4480560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day: CO cost calculated from yesterday's last part → colour continuity enforced across days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438912" y="4718304"/>
            <a:ext cx="91440" cy="914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585216" y="4681728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saved part is no longer in today's sheet → marked NEEDS_PURGE (always adds purge time)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APS V11 — Constraint Architecture</dc:title>
  <dc:subject>PptxGenJS Presentation</dc:subject>
  <dc:creator>PptxGenJS</dc:creator>
  <cp:lastModifiedBy>PptxGenJS</cp:lastModifiedBy>
  <cp:revision>1</cp:revision>
  <dcterms:created xsi:type="dcterms:W3CDTF">2026-04-19T09:38:34Z</dcterms:created>
  <dcterms:modified xsi:type="dcterms:W3CDTF">2026-04-19T09:38:34Z</dcterms:modified>
</cp:coreProperties>
</file>