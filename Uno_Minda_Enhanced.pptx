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8" r:id="rId2"/>
    <p:sldMasterId id="2147483671" r:id="rId3"/>
  </p:sldMasterIdLst>
  <p:notesMasterIdLst>
    <p:notesMasterId r:id="rId23"/>
  </p:notesMasterIdLst>
  <p:handoutMasterIdLst>
    <p:handoutMasterId r:id="rId24"/>
  </p:handoutMasterIdLst>
  <p:sldIdLst>
    <p:sldId id="395" r:id="rId4"/>
    <p:sldId id="469" r:id="rId5"/>
    <p:sldId id="470" r:id="rId6"/>
    <p:sldId id="471" r:id="rId7"/>
    <p:sldId id="472" r:id="rId8"/>
    <p:sldId id="473" r:id="rId9"/>
    <p:sldId id="466" r:id="rId10"/>
    <p:sldId id="474" r:id="rId11"/>
    <p:sldId id="475" r:id="rId12"/>
    <p:sldId id="476" r:id="rId13"/>
    <p:sldId id="477" r:id="rId14"/>
    <p:sldId id="478" r:id="rId15"/>
    <p:sldId id="479" r:id="rId16"/>
    <p:sldId id="480" r:id="rId17"/>
    <p:sldId id="481" r:id="rId18"/>
    <p:sldId id="257" r:id="rId19"/>
    <p:sldId id="467" r:id="rId20"/>
    <p:sldId id="468" r:id="rId21"/>
    <p:sldId id="354" r:id="rId22"/>
  </p:sldIdLst>
  <p:sldSz cx="12179300" cy="6858000"/>
  <p:notesSz cx="9866313" cy="67357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ntern (Int)/MRPL/HRM/MNSR" initials="I(" lastIdx="1" clrIdx="0">
    <p:extLst>
      <p:ext uri="{19B8F6BF-5375-455C-9EA6-DF929625EA0E}">
        <p15:presenceInfo xmlns:p15="http://schemas.microsoft.com/office/powerpoint/2012/main" userId="S-1-5-21-2493176086-1615525218-267138467-8891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2DA"/>
    <a:srgbClr val="578537"/>
    <a:srgbClr val="009900"/>
    <a:srgbClr val="FF9801"/>
    <a:srgbClr val="FF9900"/>
    <a:srgbClr val="2F5597"/>
    <a:srgbClr val="FF4B4B"/>
    <a:srgbClr val="FF1515"/>
    <a:srgbClr val="FF1111"/>
    <a:srgbClr val="D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26" autoAdjust="0"/>
    <p:restoredTop sz="94364" autoAdjust="0"/>
  </p:normalViewPr>
  <p:slideViewPr>
    <p:cSldViewPr>
      <p:cViewPr varScale="1">
        <p:scale>
          <a:sx n="130" d="100"/>
          <a:sy n="130" d="100"/>
        </p:scale>
        <p:origin x="420" y="126"/>
      </p:cViewPr>
      <p:guideLst>
        <p:guide orient="horz" pos="2160"/>
        <p:guide pos="3836"/>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76" d="100"/>
          <a:sy n="76" d="100"/>
        </p:scale>
        <p:origin x="1716" y="7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nil Kajal/MRPL/MFG/MNSR" userId="86c03b95-eb12-4d52-98df-e2ae432bd47e" providerId="ADAL" clId="{C6304F64-A165-4FC2-91D6-2D558C5B18BD}"/>
    <pc:docChg chg="undo custSel modSld">
      <pc:chgData name="Sunil Kajal/MRPL/MFG/MNSR" userId="86c03b95-eb12-4d52-98df-e2ae432bd47e" providerId="ADAL" clId="{C6304F64-A165-4FC2-91D6-2D558C5B18BD}" dt="2025-12-16T09:57:39.292" v="51" actId="108"/>
      <pc:docMkLst>
        <pc:docMk/>
      </pc:docMkLst>
      <pc:sldChg chg="addSp delSp modSp mod">
        <pc:chgData name="Sunil Kajal/MRPL/MFG/MNSR" userId="86c03b95-eb12-4d52-98df-e2ae432bd47e" providerId="ADAL" clId="{C6304F64-A165-4FC2-91D6-2D558C5B18BD}" dt="2025-12-16T09:57:39.292" v="51" actId="108"/>
        <pc:sldMkLst>
          <pc:docMk/>
          <pc:sldMk cId="3838420264" sldId="467"/>
        </pc:sldMkLst>
        <pc:spChg chg="mod">
          <ac:chgData name="Sunil Kajal/MRPL/MFG/MNSR" userId="86c03b95-eb12-4d52-98df-e2ae432bd47e" providerId="ADAL" clId="{C6304F64-A165-4FC2-91D6-2D558C5B18BD}" dt="2025-12-16T09:57:39.292" v="51" actId="108"/>
          <ac:spMkLst>
            <pc:docMk/>
            <pc:sldMk cId="3838420264" sldId="467"/>
            <ac:spMk id="2" creationId="{10BE3B4B-1ADE-474C-8E64-A75DC30A2957}"/>
          </ac:spMkLst>
        </pc:spChg>
        <pc:spChg chg="del mod">
          <ac:chgData name="Sunil Kajal/MRPL/MFG/MNSR" userId="86c03b95-eb12-4d52-98df-e2ae432bd47e" providerId="ADAL" clId="{C6304F64-A165-4FC2-91D6-2D558C5B18BD}" dt="2025-12-16T09:51:49.830" v="1" actId="478"/>
          <ac:spMkLst>
            <pc:docMk/>
            <pc:sldMk cId="3838420264" sldId="467"/>
            <ac:spMk id="3" creationId="{00000000-0000-0000-0000-000000000000}"/>
          </ac:spMkLst>
        </pc:spChg>
        <pc:spChg chg="add mod">
          <ac:chgData name="Sunil Kajal/MRPL/MFG/MNSR" userId="86c03b95-eb12-4d52-98df-e2ae432bd47e" providerId="ADAL" clId="{C6304F64-A165-4FC2-91D6-2D558C5B18BD}" dt="2025-12-16T09:55:38.840" v="24" actId="14100"/>
          <ac:spMkLst>
            <pc:docMk/>
            <pc:sldMk cId="3838420264" sldId="467"/>
            <ac:spMk id="10" creationId="{C71EEF11-D2C7-41BE-A8D6-2DA27CED5BD5}"/>
          </ac:spMkLst>
        </pc:spChg>
        <pc:spChg chg="add del mod">
          <ac:chgData name="Sunil Kajal/MRPL/MFG/MNSR" userId="86c03b95-eb12-4d52-98df-e2ae432bd47e" providerId="ADAL" clId="{C6304F64-A165-4FC2-91D6-2D558C5B18BD}" dt="2025-12-16T09:56:35.445" v="38" actId="14100"/>
          <ac:spMkLst>
            <pc:docMk/>
            <pc:sldMk cId="3838420264" sldId="467"/>
            <ac:spMk id="11" creationId="{5EE41485-8E4D-41C5-903C-529CB62EC31B}"/>
          </ac:spMkLst>
        </pc:spChg>
        <pc:spChg chg="add mod">
          <ac:chgData name="Sunil Kajal/MRPL/MFG/MNSR" userId="86c03b95-eb12-4d52-98df-e2ae432bd47e" providerId="ADAL" clId="{C6304F64-A165-4FC2-91D6-2D558C5B18BD}" dt="2025-12-16T09:56:05.771" v="30" actId="14100"/>
          <ac:spMkLst>
            <pc:docMk/>
            <pc:sldMk cId="3838420264" sldId="467"/>
            <ac:spMk id="12" creationId="{2C7645BF-C2CC-4006-888A-EF012E228AAB}"/>
          </ac:spMkLst>
        </pc:spChg>
        <pc:picChg chg="add mod">
          <ac:chgData name="Sunil Kajal/MRPL/MFG/MNSR" userId="86c03b95-eb12-4d52-98df-e2ae432bd47e" providerId="ADAL" clId="{C6304F64-A165-4FC2-91D6-2D558C5B18BD}" dt="2025-12-16T09:53:02.743" v="11" actId="14100"/>
          <ac:picMkLst>
            <pc:docMk/>
            <pc:sldMk cId="3838420264" sldId="467"/>
            <ac:picMk id="5" creationId="{04336464-269E-494F-A8F2-BBBB7764FE85}"/>
          </ac:picMkLst>
        </pc:picChg>
        <pc:picChg chg="add mod">
          <ac:chgData name="Sunil Kajal/MRPL/MFG/MNSR" userId="86c03b95-eb12-4d52-98df-e2ae432bd47e" providerId="ADAL" clId="{C6304F64-A165-4FC2-91D6-2D558C5B18BD}" dt="2025-12-16T09:52:57.271" v="9" actId="14100"/>
          <ac:picMkLst>
            <pc:docMk/>
            <pc:sldMk cId="3838420264" sldId="467"/>
            <ac:picMk id="7" creationId="{580DFB98-2BD5-4910-8529-4D61DB7A7588}"/>
          </ac:picMkLst>
        </pc:picChg>
        <pc:picChg chg="add mod">
          <ac:chgData name="Sunil Kajal/MRPL/MFG/MNSR" userId="86c03b95-eb12-4d52-98df-e2ae432bd47e" providerId="ADAL" clId="{C6304F64-A165-4FC2-91D6-2D558C5B18BD}" dt="2025-12-16T09:52:54.458" v="8" actId="14100"/>
          <ac:picMkLst>
            <pc:docMk/>
            <pc:sldMk cId="3838420264" sldId="467"/>
            <ac:picMk id="9" creationId="{86569D91-8CFC-4B99-8DD2-2ABD274BA5E3}"/>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FAD2DB-704D-499D-A9F0-A6A1AE7B5B46}" type="doc">
      <dgm:prSet loTypeId="urn:microsoft.com/office/officeart/2005/8/layout/hList1" loCatId="list" qsTypeId="urn:microsoft.com/office/officeart/2005/8/quickstyle/3d2" qsCatId="3D" csTypeId="urn:microsoft.com/office/officeart/2005/8/colors/colorful5" csCatId="colorful" phldr="1"/>
      <dgm:spPr/>
      <dgm:t xml:space="preserve">
        <a:bodyPr/>
        <a:lstStyle/>
        <a:p>
          <a:endParaRPr lang="en-IN"/>
        </a:p>
      </dgm:t>
    </dgm:pt>
    <dgm:pt modelId="{2FBD262F-C709-4B77-89B1-32E3B6A46CAB}">
      <dgm:prSet phldrT="[Text]"/>
      <dgm:spPr/>
      <dgm:t xml:space="preserve">
        <a:bodyPr/>
        <a:lstStyle/>
        <a:p>
          <a:r>
            <a:rPr lang="en-US" dirty="0"/>
            <a:t>Current Scenario</a:t>
          </a:r>
          <a:endParaRPr lang="en-IN" dirty="0"/>
        </a:p>
      </dgm:t>
    </dgm:pt>
    <dgm:pt modelId="{AD114B3C-0F2C-4A1C-B399-7BD04D21F653}" type="parTrans" cxnId="{74915ECC-C642-4E71-847F-56B6DF0D7A13}">
      <dgm:prSet/>
      <dgm:spPr/>
      <dgm:t xml:space="preserve">
        <a:bodyPr/>
        <a:lstStyle/>
        <a:p>
          <a:endParaRPr lang="en-IN"/>
        </a:p>
      </dgm:t>
    </dgm:pt>
    <dgm:pt modelId="{E47BFCB2-BD1C-451A-9134-8624FA1EEF68}" type="sibTrans" cxnId="{74915ECC-C642-4E71-847F-56B6DF0D7A13}">
      <dgm:prSet/>
      <dgm:spPr/>
      <dgm:t xml:space="preserve">
        <a:bodyPr/>
        <a:lstStyle/>
        <a:p>
          <a:endParaRPr lang="en-IN"/>
        </a:p>
      </dgm:t>
    </dgm:pt>
    <dgm:pt modelId="{4921D84D-1223-4A00-80C0-AA716B3270F0}">
      <dgm:prSet phldrT="[Text]" custT="1"/>
      <dgm:spPr/>
      <dgm:t xml:space="preserve">
        <a:bodyPr/>
        <a:lstStyle/>
        <a:p>
          <a:r>
            <a:rPr lang="en-US" sz="2000" dirty="0"/>
            <a:t>Manual Planning</a:t>
          </a:r>
          <a:endParaRPr lang="en-IN" sz="2000" dirty="0"/>
        </a:p>
      </dgm:t>
    </dgm:pt>
    <dgm:pt modelId="{F5AAB38B-C4DD-4CFD-853A-4DE8B69409C2}" type="parTrans" cxnId="{96A8674B-4A6B-4C33-B5FE-957F613830D2}">
      <dgm:prSet/>
      <dgm:spPr/>
      <dgm:t xml:space="preserve">
        <a:bodyPr/>
        <a:lstStyle/>
        <a:p>
          <a:endParaRPr lang="en-IN"/>
        </a:p>
      </dgm:t>
    </dgm:pt>
    <dgm:pt modelId="{28B63696-1DF5-4FE8-9E92-4858F5AD0BEF}" type="sibTrans" cxnId="{96A8674B-4A6B-4C33-B5FE-957F613830D2}">
      <dgm:prSet/>
      <dgm:spPr/>
      <dgm:t xml:space="preserve">
        <a:bodyPr/>
        <a:lstStyle/>
        <a:p>
          <a:endParaRPr lang="en-IN"/>
        </a:p>
      </dgm:t>
    </dgm:pt>
    <dgm:pt modelId="{221D8438-CAF0-46CE-8DDB-FA74C96F5E32}">
      <dgm:prSet phldrT="[Text]" custT="1"/>
      <dgm:spPr/>
      <dgm:t xml:space="preserve">
        <a:bodyPr/>
        <a:lstStyle/>
        <a:p>
          <a:r>
            <a:rPr lang="en-US" sz="2000" dirty="0"/>
            <a:t>Inventory Management</a:t>
          </a:r>
          <a:endParaRPr lang="en-IN" sz="2000" dirty="0"/>
        </a:p>
      </dgm:t>
    </dgm:pt>
    <dgm:pt modelId="{0C354543-E718-4D58-8361-F647314BA94B}" type="parTrans" cxnId="{967C82C2-0B37-41D4-BAC0-4291D24BA750}">
      <dgm:prSet/>
      <dgm:spPr/>
      <dgm:t xml:space="preserve">
        <a:bodyPr/>
        <a:lstStyle/>
        <a:p>
          <a:endParaRPr lang="en-IN"/>
        </a:p>
      </dgm:t>
    </dgm:pt>
    <dgm:pt modelId="{12F4918C-9593-46DA-B3DA-95B07FF698F3}" type="sibTrans" cxnId="{967C82C2-0B37-41D4-BAC0-4291D24BA750}">
      <dgm:prSet/>
      <dgm:spPr/>
      <dgm:t xml:space="preserve">
        <a:bodyPr/>
        <a:lstStyle/>
        <a:p>
          <a:endParaRPr lang="en-IN"/>
        </a:p>
      </dgm:t>
    </dgm:pt>
    <dgm:pt modelId="{5C24AE22-85FD-4EBA-8CCD-738BF825DEA7}">
      <dgm:prSet phldrT="[Text]"/>
      <dgm:spPr/>
      <dgm:t xml:space="preserve">
        <a:bodyPr/>
        <a:lstStyle/>
        <a:p>
          <a:r>
            <a:rPr lang="en-US" dirty="0"/>
            <a:t>Gap</a:t>
          </a:r>
          <a:endParaRPr lang="en-IN" dirty="0"/>
        </a:p>
      </dgm:t>
    </dgm:pt>
    <dgm:pt modelId="{C7CBCD68-0A31-4522-9AEB-97F190E9D41D}" type="parTrans" cxnId="{1530919D-3492-4D12-B926-5780C32D0743}">
      <dgm:prSet/>
      <dgm:spPr/>
      <dgm:t xml:space="preserve">
        <a:bodyPr/>
        <a:lstStyle/>
        <a:p>
          <a:endParaRPr lang="en-IN"/>
        </a:p>
      </dgm:t>
    </dgm:pt>
    <dgm:pt modelId="{CE4F56D3-B3B3-47D9-8AA9-C3312CEE1A8B}" type="sibTrans" cxnId="{1530919D-3492-4D12-B926-5780C32D0743}">
      <dgm:prSet/>
      <dgm:spPr/>
      <dgm:t xml:space="preserve">
        <a:bodyPr/>
        <a:lstStyle/>
        <a:p>
          <a:endParaRPr lang="en-IN"/>
        </a:p>
      </dgm:t>
    </dgm:pt>
    <dgm:pt modelId="{888CEEE1-F231-4C27-9D5C-CBC975332A57}">
      <dgm:prSet phldrT="[Text]" custT="1"/>
      <dgm:spPr/>
      <dgm:t xml:space="preserve">
        <a:bodyPr/>
        <a:lstStyle/>
        <a:p>
          <a:r>
            <a:rPr lang="en-US" sz="2000" dirty="0"/>
            <a:t>Involves 2 – 3 peoples and is time consuming</a:t>
          </a:r>
          <a:endParaRPr lang="en-IN" sz="2000" dirty="0"/>
        </a:p>
      </dgm:t>
    </dgm:pt>
    <dgm:pt modelId="{CC1F013E-C3F2-43C1-8BB5-9B4A4C412DF9}" type="parTrans" cxnId="{9079F516-6A08-4C32-A710-7EB87E0F7D0F}">
      <dgm:prSet/>
      <dgm:spPr/>
      <dgm:t xml:space="preserve">
        <a:bodyPr/>
        <a:lstStyle/>
        <a:p>
          <a:endParaRPr lang="en-IN"/>
        </a:p>
      </dgm:t>
    </dgm:pt>
    <dgm:pt modelId="{EBFD1B68-1C5C-455B-A834-347045CE89C0}" type="sibTrans" cxnId="{9079F516-6A08-4C32-A710-7EB87E0F7D0F}">
      <dgm:prSet/>
      <dgm:spPr/>
      <dgm:t xml:space="preserve">
        <a:bodyPr/>
        <a:lstStyle/>
        <a:p>
          <a:endParaRPr lang="en-IN"/>
        </a:p>
      </dgm:t>
    </dgm:pt>
    <dgm:pt modelId="{E55AC09C-A436-4EE6-98E1-4E0F5E56056C}">
      <dgm:prSet phldrT="[Text]" custT="1"/>
      <dgm:spPr/>
      <dgm:t xml:space="preserve">
        <a:bodyPr/>
        <a:lstStyle/>
        <a:p>
          <a:r>
            <a:rPr lang="en-US" sz="2000" dirty="0"/>
            <a:t>Some Parts are overproduced/ some may have shortage</a:t>
          </a:r>
          <a:endParaRPr lang="en-IN" sz="2000" dirty="0"/>
        </a:p>
      </dgm:t>
    </dgm:pt>
    <dgm:pt modelId="{33F8411A-B7CE-40E8-8500-0B9F2A7A789E}" type="parTrans" cxnId="{493449E8-33AE-4A89-9E1A-A54E39476B2C}">
      <dgm:prSet/>
      <dgm:spPr/>
      <dgm:t xml:space="preserve">
        <a:bodyPr/>
        <a:lstStyle/>
        <a:p>
          <a:endParaRPr lang="en-IN"/>
        </a:p>
      </dgm:t>
    </dgm:pt>
    <dgm:pt modelId="{70F11D6A-833F-4A15-AAB1-709F42B34EBB}" type="sibTrans" cxnId="{493449E8-33AE-4A89-9E1A-A54E39476B2C}">
      <dgm:prSet/>
      <dgm:spPr/>
      <dgm:t xml:space="preserve">
        <a:bodyPr/>
        <a:lstStyle/>
        <a:p>
          <a:endParaRPr lang="en-IN"/>
        </a:p>
      </dgm:t>
    </dgm:pt>
    <dgm:pt modelId="{A1B6EFA5-2B77-4623-8E87-F0AC19F854ED}">
      <dgm:prSet phldrT="[Text]"/>
      <dgm:spPr/>
      <dgm:t xml:space="preserve">
        <a:bodyPr/>
        <a:lstStyle/>
        <a:p>
          <a:r>
            <a:rPr lang="en-US" dirty="0"/>
            <a:t>To Be</a:t>
          </a:r>
          <a:endParaRPr lang="en-IN" dirty="0"/>
        </a:p>
      </dgm:t>
    </dgm:pt>
    <dgm:pt modelId="{27D8F466-342B-41C6-9ECA-C385D87C4C60}" type="parTrans" cxnId="{6085A4F9-EA19-4650-A3D9-654DDDE71D73}">
      <dgm:prSet/>
      <dgm:spPr/>
      <dgm:t xml:space="preserve">
        <a:bodyPr/>
        <a:lstStyle/>
        <a:p>
          <a:endParaRPr lang="en-IN"/>
        </a:p>
      </dgm:t>
    </dgm:pt>
    <dgm:pt modelId="{911BE730-BF42-4B21-BB4F-D4123089D97D}" type="sibTrans" cxnId="{6085A4F9-EA19-4650-A3D9-654DDDE71D73}">
      <dgm:prSet/>
      <dgm:spPr/>
      <dgm:t xml:space="preserve">
        <a:bodyPr/>
        <a:lstStyle/>
        <a:p>
          <a:endParaRPr lang="en-IN"/>
        </a:p>
      </dgm:t>
    </dgm:pt>
    <dgm:pt modelId="{9AFD8125-50B4-4FD9-9D5B-C79494DA7593}">
      <dgm:prSet phldrT="[Text]" custT="1"/>
      <dgm:spPr/>
      <dgm:t xml:space="preserve">
        <a:bodyPr/>
        <a:lstStyle/>
        <a:p>
          <a:r>
            <a:rPr lang="en-US" sz="2000" dirty="0"/>
            <a:t>Automated</a:t>
          </a:r>
          <a:endParaRPr lang="en-IN" sz="2000" dirty="0"/>
        </a:p>
      </dgm:t>
    </dgm:pt>
    <dgm:pt modelId="{B7E13DF9-D862-4A86-A096-0ECBA98D87F8}" type="parTrans" cxnId="{1D850130-9652-45F1-B97F-D5091163F406}">
      <dgm:prSet/>
      <dgm:spPr/>
      <dgm:t xml:space="preserve">
        <a:bodyPr/>
        <a:lstStyle/>
        <a:p>
          <a:endParaRPr lang="en-IN"/>
        </a:p>
      </dgm:t>
    </dgm:pt>
    <dgm:pt modelId="{0B97DA04-88F7-4532-B8C9-DF1B9065030C}" type="sibTrans" cxnId="{1D850130-9652-45F1-B97F-D5091163F406}">
      <dgm:prSet/>
      <dgm:spPr/>
      <dgm:t xml:space="preserve">
        <a:bodyPr/>
        <a:lstStyle/>
        <a:p>
          <a:endParaRPr lang="en-IN"/>
        </a:p>
      </dgm:t>
    </dgm:pt>
    <dgm:pt modelId="{713DF175-A214-4DBD-8B7B-C3EC8D379AF7}">
      <dgm:prSet phldrT="[Text]" custT="1"/>
      <dgm:spPr/>
      <dgm:t xml:space="preserve">
        <a:bodyPr/>
        <a:lstStyle/>
        <a:p>
          <a:r>
            <a:rPr lang="en-US" sz="2000" dirty="0"/>
            <a:t>Maintain 3 day safety stock</a:t>
          </a:r>
          <a:endParaRPr lang="en-IN" sz="2000" dirty="0"/>
        </a:p>
      </dgm:t>
    </dgm:pt>
    <dgm:pt modelId="{3763C528-681E-4BD6-9C37-5D12FE11AE37}" type="parTrans" cxnId="{9B402EFF-DCF5-4A80-BFF5-91B28495AE2A}">
      <dgm:prSet/>
      <dgm:spPr/>
      <dgm:t xml:space="preserve">
        <a:bodyPr/>
        <a:lstStyle/>
        <a:p>
          <a:endParaRPr lang="en-IN"/>
        </a:p>
      </dgm:t>
    </dgm:pt>
    <dgm:pt modelId="{3D1778DF-F901-4FC2-91B4-74C9D7D36C37}" type="sibTrans" cxnId="{9B402EFF-DCF5-4A80-BFF5-91B28495AE2A}">
      <dgm:prSet/>
      <dgm:spPr/>
      <dgm:t xml:space="preserve">
        <a:bodyPr/>
        <a:lstStyle/>
        <a:p>
          <a:endParaRPr lang="en-IN"/>
        </a:p>
      </dgm:t>
    </dgm:pt>
    <dgm:pt modelId="{6881B322-C3BA-49CC-BF3C-B46C6087C32C}">
      <dgm:prSet phldrT="[Text]" custT="1"/>
      <dgm:spPr/>
      <dgm:t xml:space="preserve">
        <a:bodyPr/>
        <a:lstStyle/>
        <a:p>
          <a:r>
            <a:rPr lang="en-US" sz="2000" dirty="0"/>
            <a:t>Machine Utilization</a:t>
          </a:r>
          <a:endParaRPr lang="en-IN" sz="2000" dirty="0"/>
        </a:p>
      </dgm:t>
    </dgm:pt>
    <dgm:pt modelId="{6F2921D1-698F-463C-B3B2-CFB25780EC3F}" type="parTrans" cxnId="{9023A22F-B812-4727-94E0-E2BD7050BC1F}">
      <dgm:prSet/>
      <dgm:spPr/>
      <dgm:t xml:space="preserve">
        <a:bodyPr/>
        <a:lstStyle/>
        <a:p>
          <a:endParaRPr lang="en-IN"/>
        </a:p>
      </dgm:t>
    </dgm:pt>
    <dgm:pt modelId="{BC6B7725-2AA9-4C65-AE00-6DC170C16F4B}" type="sibTrans" cxnId="{9023A22F-B812-4727-94E0-E2BD7050BC1F}">
      <dgm:prSet/>
      <dgm:spPr/>
      <dgm:t xml:space="preserve">
        <a:bodyPr/>
        <a:lstStyle/>
        <a:p>
          <a:endParaRPr lang="en-IN"/>
        </a:p>
      </dgm:t>
    </dgm:pt>
    <dgm:pt modelId="{BFFC14D2-C9C3-4CB5-B055-2836F3D233F8}">
      <dgm:prSet phldrT="[Text]" custT="1"/>
      <dgm:spPr/>
      <dgm:t xml:space="preserve">
        <a:bodyPr/>
        <a:lstStyle/>
        <a:p>
          <a:r>
            <a:rPr lang="en-US" sz="2000" dirty="0"/>
            <a:t>No proper track of machine utilization, while some machines are on PDT</a:t>
          </a:r>
          <a:endParaRPr lang="en-IN" sz="2000" dirty="0"/>
        </a:p>
      </dgm:t>
    </dgm:pt>
    <dgm:pt modelId="{127F3325-2F54-4ECA-A079-0C3813FFFEE5}" type="parTrans" cxnId="{4AF93A36-7F30-4190-953B-34CE3C99DBCB}">
      <dgm:prSet/>
      <dgm:spPr/>
      <dgm:t xml:space="preserve">
        <a:bodyPr/>
        <a:lstStyle/>
        <a:p>
          <a:endParaRPr lang="en-IN"/>
        </a:p>
      </dgm:t>
    </dgm:pt>
    <dgm:pt modelId="{675221AD-EE48-4704-BF35-DC2A5C22CD01}" type="sibTrans" cxnId="{4AF93A36-7F30-4190-953B-34CE3C99DBCB}">
      <dgm:prSet/>
      <dgm:spPr/>
      <dgm:t xml:space="preserve">
        <a:bodyPr/>
        <a:lstStyle/>
        <a:p>
          <a:endParaRPr lang="en-IN"/>
        </a:p>
      </dgm:t>
    </dgm:pt>
    <dgm:pt modelId="{480CACA1-3B61-4C25-951C-698CE30F45DB}">
      <dgm:prSet phldrT="[Text]" custT="1"/>
      <dgm:spPr/>
      <dgm:t xml:space="preserve">
        <a:bodyPr/>
        <a:lstStyle/>
        <a:p>
          <a:r>
            <a:rPr lang="en-US" sz="2000" dirty="0"/>
            <a:t>As per production scheduling</a:t>
          </a:r>
          <a:endParaRPr lang="en-IN" sz="2000" dirty="0"/>
        </a:p>
      </dgm:t>
    </dgm:pt>
    <dgm:pt modelId="{25197A65-EDCC-46AB-9EAA-9E7A99D63E2F}" type="parTrans" cxnId="{CE4FF847-B822-4B05-BA96-393869FE939A}">
      <dgm:prSet/>
      <dgm:spPr/>
      <dgm:t xml:space="preserve">
        <a:bodyPr/>
        <a:lstStyle/>
        <a:p>
          <a:endParaRPr lang="en-IN"/>
        </a:p>
      </dgm:t>
    </dgm:pt>
    <dgm:pt modelId="{0E391773-1349-44E1-9703-93899675993B}" type="sibTrans" cxnId="{CE4FF847-B822-4B05-BA96-393869FE939A}">
      <dgm:prSet/>
      <dgm:spPr/>
      <dgm:t xml:space="preserve">
        <a:bodyPr/>
        <a:lstStyle/>
        <a:p>
          <a:endParaRPr lang="en-IN"/>
        </a:p>
      </dgm:t>
    </dgm:pt>
    <dgm:pt modelId="{7DF86785-1D59-40A2-B01B-299564350599}" type="pres">
      <dgm:prSet presAssocID="{81FAD2DB-704D-499D-A9F0-A6A1AE7B5B46}" presName="Name0" presStyleCnt="0">
        <dgm:presLayoutVars>
          <dgm:dir/>
          <dgm:animLvl val="lvl"/>
          <dgm:resizeHandles val="exact"/>
        </dgm:presLayoutVars>
      </dgm:prSet>
      <dgm:spPr/>
    </dgm:pt>
    <dgm:pt modelId="{4BD6DD94-673D-4DC2-A01A-1B9A61989FE4}" type="pres">
      <dgm:prSet presAssocID="{2FBD262F-C709-4B77-89B1-32E3B6A46CAB}" presName="composite" presStyleCnt="0"/>
      <dgm:spPr/>
    </dgm:pt>
    <dgm:pt modelId="{70BEDE65-E973-45EA-B85D-1EE0D0931FA8}" type="pres">
      <dgm:prSet presAssocID="{2FBD262F-C709-4B77-89B1-32E3B6A46CAB}" presName="parTx" presStyleLbl="alignNode1" presStyleIdx="0" presStyleCnt="3">
        <dgm:presLayoutVars>
          <dgm:chMax val="0"/>
          <dgm:chPref val="0"/>
          <dgm:bulletEnabled val="1"/>
        </dgm:presLayoutVars>
      </dgm:prSet>
      <dgm:spPr/>
    </dgm:pt>
    <dgm:pt modelId="{E9DD3F9B-E682-41E8-8AC7-23FD3997923C}" type="pres">
      <dgm:prSet presAssocID="{2FBD262F-C709-4B77-89B1-32E3B6A46CAB}" presName="desTx" presStyleLbl="alignAccFollowNode1" presStyleIdx="0" presStyleCnt="3">
        <dgm:presLayoutVars>
          <dgm:bulletEnabled val="1"/>
        </dgm:presLayoutVars>
      </dgm:prSet>
      <dgm:spPr/>
    </dgm:pt>
    <dgm:pt modelId="{8485532B-E20A-459D-AB22-125BFBA41FEC}" type="pres">
      <dgm:prSet presAssocID="{E47BFCB2-BD1C-451A-9134-8624FA1EEF68}" presName="space" presStyleCnt="0"/>
      <dgm:spPr/>
    </dgm:pt>
    <dgm:pt modelId="{54A58E19-F631-41B2-AF78-5A5F13E13B67}" type="pres">
      <dgm:prSet presAssocID="{5C24AE22-85FD-4EBA-8CCD-738BF825DEA7}" presName="composite" presStyleCnt="0"/>
      <dgm:spPr/>
    </dgm:pt>
    <dgm:pt modelId="{D2DC684B-B30B-4CED-9492-DF6BC6D06EF9}" type="pres">
      <dgm:prSet presAssocID="{5C24AE22-85FD-4EBA-8CCD-738BF825DEA7}" presName="parTx" presStyleLbl="alignNode1" presStyleIdx="1" presStyleCnt="3">
        <dgm:presLayoutVars>
          <dgm:chMax val="0"/>
          <dgm:chPref val="0"/>
          <dgm:bulletEnabled val="1"/>
        </dgm:presLayoutVars>
      </dgm:prSet>
      <dgm:spPr/>
    </dgm:pt>
    <dgm:pt modelId="{A00964F0-C12F-4589-B5A7-C354E12F5488}" type="pres">
      <dgm:prSet presAssocID="{5C24AE22-85FD-4EBA-8CCD-738BF825DEA7}" presName="desTx" presStyleLbl="alignAccFollowNode1" presStyleIdx="1" presStyleCnt="3">
        <dgm:presLayoutVars>
          <dgm:bulletEnabled val="1"/>
        </dgm:presLayoutVars>
      </dgm:prSet>
      <dgm:spPr/>
    </dgm:pt>
    <dgm:pt modelId="{CEB452C0-C8A9-4036-BC14-AB4021E2DF61}" type="pres">
      <dgm:prSet presAssocID="{CE4F56D3-B3B3-47D9-8AA9-C3312CEE1A8B}" presName="space" presStyleCnt="0"/>
      <dgm:spPr/>
    </dgm:pt>
    <dgm:pt modelId="{1708D5C3-4683-4149-92E0-FB92EE563491}" type="pres">
      <dgm:prSet presAssocID="{A1B6EFA5-2B77-4623-8E87-F0AC19F854ED}" presName="composite" presStyleCnt="0"/>
      <dgm:spPr/>
    </dgm:pt>
    <dgm:pt modelId="{40E663B8-BFF6-4AFF-A637-D4A560B27D7E}" type="pres">
      <dgm:prSet presAssocID="{A1B6EFA5-2B77-4623-8E87-F0AC19F854ED}" presName="parTx" presStyleLbl="alignNode1" presStyleIdx="2" presStyleCnt="3">
        <dgm:presLayoutVars>
          <dgm:chMax val="0"/>
          <dgm:chPref val="0"/>
          <dgm:bulletEnabled val="1"/>
        </dgm:presLayoutVars>
      </dgm:prSet>
      <dgm:spPr/>
    </dgm:pt>
    <dgm:pt modelId="{6C6B46D2-EED8-4FA7-B64F-34BDAD7199AF}" type="pres">
      <dgm:prSet presAssocID="{A1B6EFA5-2B77-4623-8E87-F0AC19F854ED}" presName="desTx" presStyleLbl="alignAccFollowNode1" presStyleIdx="2" presStyleCnt="3">
        <dgm:presLayoutVars>
          <dgm:bulletEnabled val="1"/>
        </dgm:presLayoutVars>
      </dgm:prSet>
      <dgm:spPr/>
    </dgm:pt>
  </dgm:ptLst>
  <dgm:cxnLst>
    <dgm:cxn modelId="{D0804301-66B2-4706-8FA5-7BF18267ABBC}" type="presOf" srcId="{6881B322-C3BA-49CC-BF3C-B46C6087C32C}" destId="{E9DD3F9B-E682-41E8-8AC7-23FD3997923C}" srcOrd="0" destOrd="2" presId="urn:microsoft.com/office/officeart/2005/8/layout/hList1"/>
    <dgm:cxn modelId="{9079F516-6A08-4C32-A710-7EB87E0F7D0F}" srcId="{5C24AE22-85FD-4EBA-8CCD-738BF825DEA7}" destId="{888CEEE1-F231-4C27-9D5C-CBC975332A57}" srcOrd="0" destOrd="0" parTransId="{CC1F013E-C3F2-43C1-8BB5-9B4A4C412DF9}" sibTransId="{EBFD1B68-1C5C-455B-A834-347045CE89C0}"/>
    <dgm:cxn modelId="{FF1D1B21-48FA-48A4-8B6E-67F1B4B0CC6C}" type="presOf" srcId="{E55AC09C-A436-4EE6-98E1-4E0F5E56056C}" destId="{A00964F0-C12F-4589-B5A7-C354E12F5488}" srcOrd="0" destOrd="1" presId="urn:microsoft.com/office/officeart/2005/8/layout/hList1"/>
    <dgm:cxn modelId="{4D466524-9D4C-411C-8BA7-B61A1CCC12C7}" type="presOf" srcId="{BFFC14D2-C9C3-4CB5-B055-2836F3D233F8}" destId="{A00964F0-C12F-4589-B5A7-C354E12F5488}" srcOrd="0" destOrd="2" presId="urn:microsoft.com/office/officeart/2005/8/layout/hList1"/>
    <dgm:cxn modelId="{9023A22F-B812-4727-94E0-E2BD7050BC1F}" srcId="{2FBD262F-C709-4B77-89B1-32E3B6A46CAB}" destId="{6881B322-C3BA-49CC-BF3C-B46C6087C32C}" srcOrd="2" destOrd="0" parTransId="{6F2921D1-698F-463C-B3B2-CFB25780EC3F}" sibTransId="{BC6B7725-2AA9-4C65-AE00-6DC170C16F4B}"/>
    <dgm:cxn modelId="{1D850130-9652-45F1-B97F-D5091163F406}" srcId="{A1B6EFA5-2B77-4623-8E87-F0AC19F854ED}" destId="{9AFD8125-50B4-4FD9-9D5B-C79494DA7593}" srcOrd="0" destOrd="0" parTransId="{B7E13DF9-D862-4A86-A096-0ECBA98D87F8}" sibTransId="{0B97DA04-88F7-4532-B8C9-DF1B9065030C}"/>
    <dgm:cxn modelId="{4AF93A36-7F30-4190-953B-34CE3C99DBCB}" srcId="{5C24AE22-85FD-4EBA-8CCD-738BF825DEA7}" destId="{BFFC14D2-C9C3-4CB5-B055-2836F3D233F8}" srcOrd="2" destOrd="0" parTransId="{127F3325-2F54-4ECA-A079-0C3813FFFEE5}" sibTransId="{675221AD-EE48-4704-BF35-DC2A5C22CD01}"/>
    <dgm:cxn modelId="{C723DF3E-EED4-4229-B1E8-080E7F6E5353}" type="presOf" srcId="{A1B6EFA5-2B77-4623-8E87-F0AC19F854ED}" destId="{40E663B8-BFF6-4AFF-A637-D4A560B27D7E}" srcOrd="0" destOrd="0" presId="urn:microsoft.com/office/officeart/2005/8/layout/hList1"/>
    <dgm:cxn modelId="{8DF64C5C-C207-46D5-B81E-A3E7C930577A}" type="presOf" srcId="{713DF175-A214-4DBD-8B7B-C3EC8D379AF7}" destId="{6C6B46D2-EED8-4FA7-B64F-34BDAD7199AF}" srcOrd="0" destOrd="1" presId="urn:microsoft.com/office/officeart/2005/8/layout/hList1"/>
    <dgm:cxn modelId="{89B85F65-7D2D-4552-AFF4-C0168C3DF1EF}" type="presOf" srcId="{480CACA1-3B61-4C25-951C-698CE30F45DB}" destId="{6C6B46D2-EED8-4FA7-B64F-34BDAD7199AF}" srcOrd="0" destOrd="2" presId="urn:microsoft.com/office/officeart/2005/8/layout/hList1"/>
    <dgm:cxn modelId="{CE4FF847-B822-4B05-BA96-393869FE939A}" srcId="{A1B6EFA5-2B77-4623-8E87-F0AC19F854ED}" destId="{480CACA1-3B61-4C25-951C-698CE30F45DB}" srcOrd="2" destOrd="0" parTransId="{25197A65-EDCC-46AB-9EAA-9E7A99D63E2F}" sibTransId="{0E391773-1349-44E1-9703-93899675993B}"/>
    <dgm:cxn modelId="{96A8674B-4A6B-4C33-B5FE-957F613830D2}" srcId="{2FBD262F-C709-4B77-89B1-32E3B6A46CAB}" destId="{4921D84D-1223-4A00-80C0-AA716B3270F0}" srcOrd="0" destOrd="0" parTransId="{F5AAB38B-C4DD-4CFD-853A-4DE8B69409C2}" sibTransId="{28B63696-1DF5-4FE8-9E92-4858F5AD0BEF}"/>
    <dgm:cxn modelId="{E248548D-F37C-4E64-9CD2-5B21D5D52CD2}" type="presOf" srcId="{5C24AE22-85FD-4EBA-8CCD-738BF825DEA7}" destId="{D2DC684B-B30B-4CED-9492-DF6BC6D06EF9}" srcOrd="0" destOrd="0" presId="urn:microsoft.com/office/officeart/2005/8/layout/hList1"/>
    <dgm:cxn modelId="{1530919D-3492-4D12-B926-5780C32D0743}" srcId="{81FAD2DB-704D-499D-A9F0-A6A1AE7B5B46}" destId="{5C24AE22-85FD-4EBA-8CCD-738BF825DEA7}" srcOrd="1" destOrd="0" parTransId="{C7CBCD68-0A31-4522-9AEB-97F190E9D41D}" sibTransId="{CE4F56D3-B3B3-47D9-8AA9-C3312CEE1A8B}"/>
    <dgm:cxn modelId="{967C82C2-0B37-41D4-BAC0-4291D24BA750}" srcId="{2FBD262F-C709-4B77-89B1-32E3B6A46CAB}" destId="{221D8438-CAF0-46CE-8DDB-FA74C96F5E32}" srcOrd="1" destOrd="0" parTransId="{0C354543-E718-4D58-8361-F647314BA94B}" sibTransId="{12F4918C-9593-46DA-B3DA-95B07FF698F3}"/>
    <dgm:cxn modelId="{74915ECC-C642-4E71-847F-56B6DF0D7A13}" srcId="{81FAD2DB-704D-499D-A9F0-A6A1AE7B5B46}" destId="{2FBD262F-C709-4B77-89B1-32E3B6A46CAB}" srcOrd="0" destOrd="0" parTransId="{AD114B3C-0F2C-4A1C-B399-7BD04D21F653}" sibTransId="{E47BFCB2-BD1C-451A-9134-8624FA1EEF68}"/>
    <dgm:cxn modelId="{93E540D9-3A96-4205-83DE-19114DCF08A9}" type="presOf" srcId="{81FAD2DB-704D-499D-A9F0-A6A1AE7B5B46}" destId="{7DF86785-1D59-40A2-B01B-299564350599}" srcOrd="0" destOrd="0" presId="urn:microsoft.com/office/officeart/2005/8/layout/hList1"/>
    <dgm:cxn modelId="{670E93E1-E4F0-46CB-A699-04A128400F19}" type="presOf" srcId="{4921D84D-1223-4A00-80C0-AA716B3270F0}" destId="{E9DD3F9B-E682-41E8-8AC7-23FD3997923C}" srcOrd="0" destOrd="0" presId="urn:microsoft.com/office/officeart/2005/8/layout/hList1"/>
    <dgm:cxn modelId="{D3A3B9E1-A419-44C4-9B90-1191CF4A856A}" type="presOf" srcId="{9AFD8125-50B4-4FD9-9D5B-C79494DA7593}" destId="{6C6B46D2-EED8-4FA7-B64F-34BDAD7199AF}" srcOrd="0" destOrd="0" presId="urn:microsoft.com/office/officeart/2005/8/layout/hList1"/>
    <dgm:cxn modelId="{D8A663E4-1351-4843-BF54-BD1B7E389139}" type="presOf" srcId="{2FBD262F-C709-4B77-89B1-32E3B6A46CAB}" destId="{70BEDE65-E973-45EA-B85D-1EE0D0931FA8}" srcOrd="0" destOrd="0" presId="urn:microsoft.com/office/officeart/2005/8/layout/hList1"/>
    <dgm:cxn modelId="{493449E8-33AE-4A89-9E1A-A54E39476B2C}" srcId="{5C24AE22-85FD-4EBA-8CCD-738BF825DEA7}" destId="{E55AC09C-A436-4EE6-98E1-4E0F5E56056C}" srcOrd="1" destOrd="0" parTransId="{33F8411A-B7CE-40E8-8500-0B9F2A7A789E}" sibTransId="{70F11D6A-833F-4A15-AAB1-709F42B34EBB}"/>
    <dgm:cxn modelId="{6E853AF3-1464-4701-9317-7E83189D54C8}" type="presOf" srcId="{888CEEE1-F231-4C27-9D5C-CBC975332A57}" destId="{A00964F0-C12F-4589-B5A7-C354E12F5488}" srcOrd="0" destOrd="0" presId="urn:microsoft.com/office/officeart/2005/8/layout/hList1"/>
    <dgm:cxn modelId="{6085A4F9-EA19-4650-A3D9-654DDDE71D73}" srcId="{81FAD2DB-704D-499D-A9F0-A6A1AE7B5B46}" destId="{A1B6EFA5-2B77-4623-8E87-F0AC19F854ED}" srcOrd="2" destOrd="0" parTransId="{27D8F466-342B-41C6-9ECA-C385D87C4C60}" sibTransId="{911BE730-BF42-4B21-BB4F-D4123089D97D}"/>
    <dgm:cxn modelId="{325C3CFE-D21B-4A2B-8249-8853558D705F}" type="presOf" srcId="{221D8438-CAF0-46CE-8DDB-FA74C96F5E32}" destId="{E9DD3F9B-E682-41E8-8AC7-23FD3997923C}" srcOrd="0" destOrd="1" presId="urn:microsoft.com/office/officeart/2005/8/layout/hList1"/>
    <dgm:cxn modelId="{9B402EFF-DCF5-4A80-BFF5-91B28495AE2A}" srcId="{A1B6EFA5-2B77-4623-8E87-F0AC19F854ED}" destId="{713DF175-A214-4DBD-8B7B-C3EC8D379AF7}" srcOrd="1" destOrd="0" parTransId="{3763C528-681E-4BD6-9C37-5D12FE11AE37}" sibTransId="{3D1778DF-F901-4FC2-91B4-74C9D7D36C37}"/>
    <dgm:cxn modelId="{64559645-C800-43C4-BCA5-FAB8CEFCD9D9}" type="presParOf" srcId="{7DF86785-1D59-40A2-B01B-299564350599}" destId="{4BD6DD94-673D-4DC2-A01A-1B9A61989FE4}" srcOrd="0" destOrd="0" presId="urn:microsoft.com/office/officeart/2005/8/layout/hList1"/>
    <dgm:cxn modelId="{A96A271C-2546-4679-811A-86A6CE00060A}" type="presParOf" srcId="{4BD6DD94-673D-4DC2-A01A-1B9A61989FE4}" destId="{70BEDE65-E973-45EA-B85D-1EE0D0931FA8}" srcOrd="0" destOrd="0" presId="urn:microsoft.com/office/officeart/2005/8/layout/hList1"/>
    <dgm:cxn modelId="{A8B28A76-7808-4720-A100-FE52A78F9F07}" type="presParOf" srcId="{4BD6DD94-673D-4DC2-A01A-1B9A61989FE4}" destId="{E9DD3F9B-E682-41E8-8AC7-23FD3997923C}" srcOrd="1" destOrd="0" presId="urn:microsoft.com/office/officeart/2005/8/layout/hList1"/>
    <dgm:cxn modelId="{A29598D9-B06F-48D0-A705-9219F930B4E9}" type="presParOf" srcId="{7DF86785-1D59-40A2-B01B-299564350599}" destId="{8485532B-E20A-459D-AB22-125BFBA41FEC}" srcOrd="1" destOrd="0" presId="urn:microsoft.com/office/officeart/2005/8/layout/hList1"/>
    <dgm:cxn modelId="{EFFDDAE9-7558-41A8-A6E3-1672B12A2062}" type="presParOf" srcId="{7DF86785-1D59-40A2-B01B-299564350599}" destId="{54A58E19-F631-41B2-AF78-5A5F13E13B67}" srcOrd="2" destOrd="0" presId="urn:microsoft.com/office/officeart/2005/8/layout/hList1"/>
    <dgm:cxn modelId="{33E499B5-82AC-4BC1-A847-65652375692A}" type="presParOf" srcId="{54A58E19-F631-41B2-AF78-5A5F13E13B67}" destId="{D2DC684B-B30B-4CED-9492-DF6BC6D06EF9}" srcOrd="0" destOrd="0" presId="urn:microsoft.com/office/officeart/2005/8/layout/hList1"/>
    <dgm:cxn modelId="{A1A091B8-2DAF-4F0A-B562-F8BE0C949647}" type="presParOf" srcId="{54A58E19-F631-41B2-AF78-5A5F13E13B67}" destId="{A00964F0-C12F-4589-B5A7-C354E12F5488}" srcOrd="1" destOrd="0" presId="urn:microsoft.com/office/officeart/2005/8/layout/hList1"/>
    <dgm:cxn modelId="{DA1FD64F-9F19-42CE-97DE-29E60CBCEA0A}" type="presParOf" srcId="{7DF86785-1D59-40A2-B01B-299564350599}" destId="{CEB452C0-C8A9-4036-BC14-AB4021E2DF61}" srcOrd="3" destOrd="0" presId="urn:microsoft.com/office/officeart/2005/8/layout/hList1"/>
    <dgm:cxn modelId="{3377C998-0DA1-432A-BDD7-C1F8671C7A89}" type="presParOf" srcId="{7DF86785-1D59-40A2-B01B-299564350599}" destId="{1708D5C3-4683-4149-92E0-FB92EE563491}" srcOrd="4" destOrd="0" presId="urn:microsoft.com/office/officeart/2005/8/layout/hList1"/>
    <dgm:cxn modelId="{C1689670-5794-460F-931B-D3708807C281}" type="presParOf" srcId="{1708D5C3-4683-4149-92E0-FB92EE563491}" destId="{40E663B8-BFF6-4AFF-A637-D4A560B27D7E}" srcOrd="0" destOrd="0" presId="urn:microsoft.com/office/officeart/2005/8/layout/hList1"/>
    <dgm:cxn modelId="{B44EDAE7-3CF7-47F5-AE8D-BB503D8844B0}" type="presParOf" srcId="{1708D5C3-4683-4149-92E0-FB92EE563491}" destId="{6C6B46D2-EED8-4FA7-B64F-34BDAD7199A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0B3969-B887-4D12-A18C-29A340959523}" type="doc">
      <dgm:prSet loTypeId="urn:microsoft.com/office/officeart/2005/8/layout/pyramid2" loCatId="list" qsTypeId="urn:microsoft.com/office/officeart/2005/8/quickstyle/3d7" qsCatId="3D" csTypeId="urn:microsoft.com/office/officeart/2005/8/colors/accent2_4" csCatId="accent2" phldr="1"/>
      <dgm:spPr/>
      <dgm:t xml:space="preserve">
        <a:bodyPr/>
        <a:lstStyle/>
        <a:p>
          <a:endParaRPr lang="en-IN"/>
        </a:p>
      </dgm:t>
    </dgm:pt>
    <dgm:pt modelId="{56E2ADFB-96C1-40CD-9168-4D5887F38694}">
      <dgm:prSet phldrT="[Text]"/>
      <dgm:spPr/>
      <dgm:t xml:space="preserve">
        <a:bodyPr/>
        <a:lstStyle/>
        <a:p>
          <a:r>
            <a:rPr lang="en-US" dirty="0"/>
            <a:t>Maintain Safety Stock</a:t>
          </a:r>
          <a:endParaRPr lang="en-IN" dirty="0"/>
        </a:p>
      </dgm:t>
    </dgm:pt>
    <dgm:pt modelId="{61AC8251-9628-497D-BDB3-EFCD8DB59A54}" type="parTrans" cxnId="{1CB6642E-67A2-4E4A-A81E-2B196FE91579}">
      <dgm:prSet/>
      <dgm:spPr/>
      <dgm:t xml:space="preserve">
        <a:bodyPr/>
        <a:lstStyle/>
        <a:p>
          <a:endParaRPr lang="en-IN"/>
        </a:p>
      </dgm:t>
    </dgm:pt>
    <dgm:pt modelId="{9B558839-CE9F-4ECD-99BA-17C8844B7D65}" type="sibTrans" cxnId="{1CB6642E-67A2-4E4A-A81E-2B196FE91579}">
      <dgm:prSet/>
      <dgm:spPr/>
      <dgm:t xml:space="preserve">
        <a:bodyPr/>
        <a:lstStyle/>
        <a:p>
          <a:endParaRPr lang="en-IN"/>
        </a:p>
      </dgm:t>
    </dgm:pt>
    <dgm:pt modelId="{6CC3384D-44F2-4E0B-A71B-F31FEC80E96C}">
      <dgm:prSet phldrT="[Text]"/>
      <dgm:spPr/>
      <dgm:t xml:space="preserve">
        <a:bodyPr/>
        <a:lstStyle/>
        <a:p>
          <a:r>
            <a:rPr lang="en-US" dirty="0"/>
            <a:t>Full Capacity Utilization</a:t>
          </a:r>
          <a:endParaRPr lang="en-IN" dirty="0"/>
        </a:p>
      </dgm:t>
    </dgm:pt>
    <dgm:pt modelId="{D9E4CA85-CE6B-4682-BA10-CDC605DF62DF}" type="parTrans" cxnId="{76957ECE-CB53-4A99-8F32-63085321F2F4}">
      <dgm:prSet/>
      <dgm:spPr/>
      <dgm:t xml:space="preserve">
        <a:bodyPr/>
        <a:lstStyle/>
        <a:p>
          <a:endParaRPr lang="en-IN"/>
        </a:p>
      </dgm:t>
    </dgm:pt>
    <dgm:pt modelId="{3A969F3B-F725-4F25-800E-82E9C70922B7}" type="sibTrans" cxnId="{76957ECE-CB53-4A99-8F32-63085321F2F4}">
      <dgm:prSet/>
      <dgm:spPr/>
      <dgm:t xml:space="preserve">
        <a:bodyPr/>
        <a:lstStyle/>
        <a:p>
          <a:endParaRPr lang="en-IN"/>
        </a:p>
      </dgm:t>
    </dgm:pt>
    <dgm:pt modelId="{E2F66D90-4F09-4B83-8E03-9038F253CB1A}">
      <dgm:prSet phldrT="[Text]"/>
      <dgm:spPr/>
      <dgm:t xml:space="preserve">
        <a:bodyPr/>
        <a:lstStyle/>
        <a:p>
          <a:r>
            <a:rPr lang="en-US" dirty="0"/>
            <a:t>Fixed Machine Allocation</a:t>
          </a:r>
          <a:endParaRPr lang="en-IN" dirty="0"/>
        </a:p>
      </dgm:t>
    </dgm:pt>
    <dgm:pt modelId="{C7F6F0E4-589D-430E-AF5C-6E5496FC439E}" type="parTrans" cxnId="{BC18A914-11F4-4731-A0C8-36FF130089C6}">
      <dgm:prSet/>
      <dgm:spPr/>
      <dgm:t xml:space="preserve">
        <a:bodyPr/>
        <a:lstStyle/>
        <a:p>
          <a:endParaRPr lang="en-IN"/>
        </a:p>
      </dgm:t>
    </dgm:pt>
    <dgm:pt modelId="{9A869274-A07D-4FB4-B234-368DB38F5F3D}" type="sibTrans" cxnId="{BC18A914-11F4-4731-A0C8-36FF130089C6}">
      <dgm:prSet/>
      <dgm:spPr/>
      <dgm:t xml:space="preserve">
        <a:bodyPr/>
        <a:lstStyle/>
        <a:p>
          <a:endParaRPr lang="en-IN"/>
        </a:p>
      </dgm:t>
    </dgm:pt>
    <dgm:pt modelId="{954EC961-8168-4B46-9056-5888AEB1884A}">
      <dgm:prSet phldrT="[Text]"/>
      <dgm:spPr/>
      <dgm:t xml:space="preserve">
        <a:bodyPr/>
        <a:lstStyle/>
        <a:p>
          <a:r>
            <a:rPr lang="en-US" dirty="0"/>
            <a:t>Plan According To Category</a:t>
          </a:r>
          <a:endParaRPr lang="en-IN" dirty="0"/>
        </a:p>
      </dgm:t>
    </dgm:pt>
    <dgm:pt modelId="{A5409670-69A7-411E-950D-92099ACBFD3C}" type="parTrans" cxnId="{B88F8156-02E7-42F7-AED6-7A80F8F6FA8F}">
      <dgm:prSet/>
      <dgm:spPr/>
      <dgm:t xml:space="preserve">
        <a:bodyPr/>
        <a:lstStyle/>
        <a:p>
          <a:endParaRPr lang="en-IN"/>
        </a:p>
      </dgm:t>
    </dgm:pt>
    <dgm:pt modelId="{B5A7EC7A-C1A8-44F0-9847-1A8FF38DC062}" type="sibTrans" cxnId="{B88F8156-02E7-42F7-AED6-7A80F8F6FA8F}">
      <dgm:prSet/>
      <dgm:spPr/>
      <dgm:t xml:space="preserve">
        <a:bodyPr/>
        <a:lstStyle/>
        <a:p>
          <a:endParaRPr lang="en-IN"/>
        </a:p>
      </dgm:t>
    </dgm:pt>
    <dgm:pt modelId="{169F3A28-9584-44DA-91AB-FF5C44D48F30}">
      <dgm:prSet phldrT="[Text]"/>
      <dgm:spPr/>
      <dgm:t xml:space="preserve">
        <a:bodyPr/>
        <a:lstStyle/>
        <a:p>
          <a:r>
            <a:rPr lang="en-US" dirty="0"/>
            <a:t>Minimum Changeover</a:t>
          </a:r>
          <a:endParaRPr lang="en-IN" dirty="0"/>
        </a:p>
      </dgm:t>
    </dgm:pt>
    <dgm:pt modelId="{EE141753-0B64-4108-928D-5EE8161FDF45}" type="parTrans" cxnId="{D4424155-629B-4BCE-8F1E-B9E5C414DF4E}">
      <dgm:prSet/>
      <dgm:spPr/>
      <dgm:t xml:space="preserve">
        <a:bodyPr/>
        <a:lstStyle/>
        <a:p>
          <a:endParaRPr lang="en-IN"/>
        </a:p>
      </dgm:t>
    </dgm:pt>
    <dgm:pt modelId="{9E4C5FFE-BC55-4476-84D2-E80389AB1B34}" type="sibTrans" cxnId="{D4424155-629B-4BCE-8F1E-B9E5C414DF4E}">
      <dgm:prSet/>
      <dgm:spPr/>
      <dgm:t xml:space="preserve">
        <a:bodyPr/>
        <a:lstStyle/>
        <a:p>
          <a:endParaRPr lang="en-IN"/>
        </a:p>
      </dgm:t>
    </dgm:pt>
    <dgm:pt modelId="{15732B18-A6B1-4294-B7E9-65AC29872870}">
      <dgm:prSet phldrT="[Text]"/>
      <dgm:spPr/>
      <dgm:t xml:space="preserve">
        <a:bodyPr/>
        <a:lstStyle/>
        <a:p>
          <a:r>
            <a:rPr lang="en-US" dirty="0"/>
            <a:t>Terminal Availability</a:t>
          </a:r>
          <a:endParaRPr lang="en-IN" dirty="0"/>
        </a:p>
      </dgm:t>
    </dgm:pt>
    <dgm:pt modelId="{098F0D05-FBC8-49CD-818A-1F18D8D18862}" type="parTrans" cxnId="{B2AAC88B-967C-4873-B07C-7859D58135DE}">
      <dgm:prSet/>
      <dgm:spPr/>
      <dgm:t xml:space="preserve">
        <a:bodyPr/>
        <a:lstStyle/>
        <a:p>
          <a:endParaRPr lang="en-IN"/>
        </a:p>
      </dgm:t>
    </dgm:pt>
    <dgm:pt modelId="{B33EF10F-24B6-43B7-81F4-264791D3926D}" type="sibTrans" cxnId="{B2AAC88B-967C-4873-B07C-7859D58135DE}">
      <dgm:prSet/>
      <dgm:spPr/>
      <dgm:t xml:space="preserve">
        <a:bodyPr/>
        <a:lstStyle/>
        <a:p>
          <a:endParaRPr lang="en-IN"/>
        </a:p>
      </dgm:t>
    </dgm:pt>
    <dgm:pt modelId="{B35CFFA0-2EE4-4A01-B083-A9B02511D7CB}" type="pres">
      <dgm:prSet presAssocID="{470B3969-B887-4D12-A18C-29A340959523}" presName="compositeShape" presStyleCnt="0">
        <dgm:presLayoutVars>
          <dgm:dir/>
          <dgm:resizeHandles/>
        </dgm:presLayoutVars>
      </dgm:prSet>
      <dgm:spPr/>
    </dgm:pt>
    <dgm:pt modelId="{A5A3E3D0-ED7D-4A48-90C7-18240535CDE4}" type="pres">
      <dgm:prSet presAssocID="{470B3969-B887-4D12-A18C-29A340959523}" presName="pyramid" presStyleLbl="node1" presStyleIdx="0" presStyleCnt="1"/>
      <dgm:spPr/>
    </dgm:pt>
    <dgm:pt modelId="{F17B4B2D-7481-4ACF-9743-7442C2C64384}" type="pres">
      <dgm:prSet presAssocID="{470B3969-B887-4D12-A18C-29A340959523}" presName="theList" presStyleCnt="0"/>
      <dgm:spPr/>
    </dgm:pt>
    <dgm:pt modelId="{66CA5288-C282-45A8-8A02-D756C21A5C8B}" type="pres">
      <dgm:prSet presAssocID="{56E2ADFB-96C1-40CD-9168-4D5887F38694}" presName="aNode" presStyleLbl="fgAcc1" presStyleIdx="0" presStyleCnt="6">
        <dgm:presLayoutVars>
          <dgm:bulletEnabled val="1"/>
        </dgm:presLayoutVars>
      </dgm:prSet>
      <dgm:spPr/>
    </dgm:pt>
    <dgm:pt modelId="{FF55343A-E32A-4CA8-9854-64327352006C}" type="pres">
      <dgm:prSet presAssocID="{56E2ADFB-96C1-40CD-9168-4D5887F38694}" presName="aSpace" presStyleCnt="0"/>
      <dgm:spPr/>
    </dgm:pt>
    <dgm:pt modelId="{742C3397-AE12-46AB-B456-DF4DD37937FE}" type="pres">
      <dgm:prSet presAssocID="{954EC961-8168-4B46-9056-5888AEB1884A}" presName="aNode" presStyleLbl="fgAcc1" presStyleIdx="1" presStyleCnt="6">
        <dgm:presLayoutVars>
          <dgm:bulletEnabled val="1"/>
        </dgm:presLayoutVars>
      </dgm:prSet>
      <dgm:spPr/>
    </dgm:pt>
    <dgm:pt modelId="{8E946E12-1E1F-4C96-B2DA-69A73601F87D}" type="pres">
      <dgm:prSet presAssocID="{954EC961-8168-4B46-9056-5888AEB1884A}" presName="aSpace" presStyleCnt="0"/>
      <dgm:spPr/>
    </dgm:pt>
    <dgm:pt modelId="{3343FE09-2E4A-4219-B2D0-9A2628421F59}" type="pres">
      <dgm:prSet presAssocID="{6CC3384D-44F2-4E0B-A71B-F31FEC80E96C}" presName="aNode" presStyleLbl="fgAcc1" presStyleIdx="2" presStyleCnt="6">
        <dgm:presLayoutVars>
          <dgm:bulletEnabled val="1"/>
        </dgm:presLayoutVars>
      </dgm:prSet>
      <dgm:spPr/>
    </dgm:pt>
    <dgm:pt modelId="{7FEE186B-FFC9-46E8-A5F9-C2B79709A61D}" type="pres">
      <dgm:prSet presAssocID="{6CC3384D-44F2-4E0B-A71B-F31FEC80E96C}" presName="aSpace" presStyleCnt="0"/>
      <dgm:spPr/>
    </dgm:pt>
    <dgm:pt modelId="{E6E85ED3-ED82-487E-8508-AF58749CB752}" type="pres">
      <dgm:prSet presAssocID="{E2F66D90-4F09-4B83-8E03-9038F253CB1A}" presName="aNode" presStyleLbl="fgAcc1" presStyleIdx="3" presStyleCnt="6">
        <dgm:presLayoutVars>
          <dgm:bulletEnabled val="1"/>
        </dgm:presLayoutVars>
      </dgm:prSet>
      <dgm:spPr/>
    </dgm:pt>
    <dgm:pt modelId="{28B3EA2B-1494-40DC-9068-7700C7E161D2}" type="pres">
      <dgm:prSet presAssocID="{E2F66D90-4F09-4B83-8E03-9038F253CB1A}" presName="aSpace" presStyleCnt="0"/>
      <dgm:spPr/>
    </dgm:pt>
    <dgm:pt modelId="{24582A08-86F2-4CFB-B40C-D4624A4ED32F}" type="pres">
      <dgm:prSet presAssocID="{169F3A28-9584-44DA-91AB-FF5C44D48F30}" presName="aNode" presStyleLbl="fgAcc1" presStyleIdx="4" presStyleCnt="6">
        <dgm:presLayoutVars>
          <dgm:bulletEnabled val="1"/>
        </dgm:presLayoutVars>
      </dgm:prSet>
      <dgm:spPr/>
    </dgm:pt>
    <dgm:pt modelId="{5D704E98-CBA6-4C36-9906-50940C7C91C4}" type="pres">
      <dgm:prSet presAssocID="{169F3A28-9584-44DA-91AB-FF5C44D48F30}" presName="aSpace" presStyleCnt="0"/>
      <dgm:spPr/>
    </dgm:pt>
    <dgm:pt modelId="{644E07C9-1C0E-4D0E-916D-B1D5A4F0E663}" type="pres">
      <dgm:prSet presAssocID="{15732B18-A6B1-4294-B7E9-65AC29872870}" presName="aNode" presStyleLbl="fgAcc1" presStyleIdx="5" presStyleCnt="6">
        <dgm:presLayoutVars>
          <dgm:bulletEnabled val="1"/>
        </dgm:presLayoutVars>
      </dgm:prSet>
      <dgm:spPr/>
    </dgm:pt>
    <dgm:pt modelId="{FC21121D-2284-49DA-9AEA-A6C6165B5EED}" type="pres">
      <dgm:prSet presAssocID="{15732B18-A6B1-4294-B7E9-65AC29872870}" presName="aSpace" presStyleCnt="0"/>
      <dgm:spPr/>
    </dgm:pt>
  </dgm:ptLst>
  <dgm:cxnLst>
    <dgm:cxn modelId="{E41D9708-85A8-4CC6-BE18-56C6248ABD8E}" type="presOf" srcId="{6CC3384D-44F2-4E0B-A71B-F31FEC80E96C}" destId="{3343FE09-2E4A-4219-B2D0-9A2628421F59}" srcOrd="0" destOrd="0" presId="urn:microsoft.com/office/officeart/2005/8/layout/pyramid2"/>
    <dgm:cxn modelId="{FA3F120C-E98F-4ED5-8DB5-FAE4D815C918}" type="presOf" srcId="{954EC961-8168-4B46-9056-5888AEB1884A}" destId="{742C3397-AE12-46AB-B456-DF4DD37937FE}" srcOrd="0" destOrd="0" presId="urn:microsoft.com/office/officeart/2005/8/layout/pyramid2"/>
    <dgm:cxn modelId="{BC18A914-11F4-4731-A0C8-36FF130089C6}" srcId="{470B3969-B887-4D12-A18C-29A340959523}" destId="{E2F66D90-4F09-4B83-8E03-9038F253CB1A}" srcOrd="3" destOrd="0" parTransId="{C7F6F0E4-589D-430E-AF5C-6E5496FC439E}" sibTransId="{9A869274-A07D-4FB4-B234-368DB38F5F3D}"/>
    <dgm:cxn modelId="{6D91FB1D-4F2D-4465-ACF7-5C84C9D71919}" type="presOf" srcId="{E2F66D90-4F09-4B83-8E03-9038F253CB1A}" destId="{E6E85ED3-ED82-487E-8508-AF58749CB752}" srcOrd="0" destOrd="0" presId="urn:microsoft.com/office/officeart/2005/8/layout/pyramid2"/>
    <dgm:cxn modelId="{1CB6642E-67A2-4E4A-A81E-2B196FE91579}" srcId="{470B3969-B887-4D12-A18C-29A340959523}" destId="{56E2ADFB-96C1-40CD-9168-4D5887F38694}" srcOrd="0" destOrd="0" parTransId="{61AC8251-9628-497D-BDB3-EFCD8DB59A54}" sibTransId="{9B558839-CE9F-4ECD-99BA-17C8844B7D65}"/>
    <dgm:cxn modelId="{DF9FCE5E-68B5-4FD5-8C49-DD654AEA1CC1}" type="presOf" srcId="{56E2ADFB-96C1-40CD-9168-4D5887F38694}" destId="{66CA5288-C282-45A8-8A02-D756C21A5C8B}" srcOrd="0" destOrd="0" presId="urn:microsoft.com/office/officeart/2005/8/layout/pyramid2"/>
    <dgm:cxn modelId="{D4424155-629B-4BCE-8F1E-B9E5C414DF4E}" srcId="{470B3969-B887-4D12-A18C-29A340959523}" destId="{169F3A28-9584-44DA-91AB-FF5C44D48F30}" srcOrd="4" destOrd="0" parTransId="{EE141753-0B64-4108-928D-5EE8161FDF45}" sibTransId="{9E4C5FFE-BC55-4476-84D2-E80389AB1B34}"/>
    <dgm:cxn modelId="{B88F8156-02E7-42F7-AED6-7A80F8F6FA8F}" srcId="{470B3969-B887-4D12-A18C-29A340959523}" destId="{954EC961-8168-4B46-9056-5888AEB1884A}" srcOrd="1" destOrd="0" parTransId="{A5409670-69A7-411E-950D-92099ACBFD3C}" sibTransId="{B5A7EC7A-C1A8-44F0-9847-1A8FF38DC062}"/>
    <dgm:cxn modelId="{B2AAC88B-967C-4873-B07C-7859D58135DE}" srcId="{470B3969-B887-4D12-A18C-29A340959523}" destId="{15732B18-A6B1-4294-B7E9-65AC29872870}" srcOrd="5" destOrd="0" parTransId="{098F0D05-FBC8-49CD-818A-1F18D8D18862}" sibTransId="{B33EF10F-24B6-43B7-81F4-264791D3926D}"/>
    <dgm:cxn modelId="{B318649C-1255-4FD0-BCB0-51261F4F634E}" type="presOf" srcId="{169F3A28-9584-44DA-91AB-FF5C44D48F30}" destId="{24582A08-86F2-4CFB-B40C-D4624A4ED32F}" srcOrd="0" destOrd="0" presId="urn:microsoft.com/office/officeart/2005/8/layout/pyramid2"/>
    <dgm:cxn modelId="{24D782C4-532A-46BA-99C7-3385556E22F2}" type="presOf" srcId="{470B3969-B887-4D12-A18C-29A340959523}" destId="{B35CFFA0-2EE4-4A01-B083-A9B02511D7CB}" srcOrd="0" destOrd="0" presId="urn:microsoft.com/office/officeart/2005/8/layout/pyramid2"/>
    <dgm:cxn modelId="{76957ECE-CB53-4A99-8F32-63085321F2F4}" srcId="{470B3969-B887-4D12-A18C-29A340959523}" destId="{6CC3384D-44F2-4E0B-A71B-F31FEC80E96C}" srcOrd="2" destOrd="0" parTransId="{D9E4CA85-CE6B-4682-BA10-CDC605DF62DF}" sibTransId="{3A969F3B-F725-4F25-800E-82E9C70922B7}"/>
    <dgm:cxn modelId="{024691EE-9FBA-4FDD-89AF-52F0551CFA6E}" type="presOf" srcId="{15732B18-A6B1-4294-B7E9-65AC29872870}" destId="{644E07C9-1C0E-4D0E-916D-B1D5A4F0E663}" srcOrd="0" destOrd="0" presId="urn:microsoft.com/office/officeart/2005/8/layout/pyramid2"/>
    <dgm:cxn modelId="{A8BD75FB-CB2D-4EDE-BC6D-CDE4F6E047FC}" type="presParOf" srcId="{B35CFFA0-2EE4-4A01-B083-A9B02511D7CB}" destId="{A5A3E3D0-ED7D-4A48-90C7-18240535CDE4}" srcOrd="0" destOrd="0" presId="urn:microsoft.com/office/officeart/2005/8/layout/pyramid2"/>
    <dgm:cxn modelId="{17AF93A4-9FAE-497F-BC3F-6E50514BB54E}" type="presParOf" srcId="{B35CFFA0-2EE4-4A01-B083-A9B02511D7CB}" destId="{F17B4B2D-7481-4ACF-9743-7442C2C64384}" srcOrd="1" destOrd="0" presId="urn:microsoft.com/office/officeart/2005/8/layout/pyramid2"/>
    <dgm:cxn modelId="{D2833511-AC9E-4006-8EDE-F1825D070A93}" type="presParOf" srcId="{F17B4B2D-7481-4ACF-9743-7442C2C64384}" destId="{66CA5288-C282-45A8-8A02-D756C21A5C8B}" srcOrd="0" destOrd="0" presId="urn:microsoft.com/office/officeart/2005/8/layout/pyramid2"/>
    <dgm:cxn modelId="{B74B76CE-5C07-4442-9E2E-FEC6D92EA45E}" type="presParOf" srcId="{F17B4B2D-7481-4ACF-9743-7442C2C64384}" destId="{FF55343A-E32A-4CA8-9854-64327352006C}" srcOrd="1" destOrd="0" presId="urn:microsoft.com/office/officeart/2005/8/layout/pyramid2"/>
    <dgm:cxn modelId="{2CD4103C-5C45-4FED-83A7-2D25DEFABEF9}" type="presParOf" srcId="{F17B4B2D-7481-4ACF-9743-7442C2C64384}" destId="{742C3397-AE12-46AB-B456-DF4DD37937FE}" srcOrd="2" destOrd="0" presId="urn:microsoft.com/office/officeart/2005/8/layout/pyramid2"/>
    <dgm:cxn modelId="{90344677-4D03-4C5B-9AD9-A8E0E4170E77}" type="presParOf" srcId="{F17B4B2D-7481-4ACF-9743-7442C2C64384}" destId="{8E946E12-1E1F-4C96-B2DA-69A73601F87D}" srcOrd="3" destOrd="0" presId="urn:microsoft.com/office/officeart/2005/8/layout/pyramid2"/>
    <dgm:cxn modelId="{544B8FED-B884-4359-B384-FEC3F05A6DD4}" type="presParOf" srcId="{F17B4B2D-7481-4ACF-9743-7442C2C64384}" destId="{3343FE09-2E4A-4219-B2D0-9A2628421F59}" srcOrd="4" destOrd="0" presId="urn:microsoft.com/office/officeart/2005/8/layout/pyramid2"/>
    <dgm:cxn modelId="{ED104B57-62C1-436D-8A23-560F013B7332}" type="presParOf" srcId="{F17B4B2D-7481-4ACF-9743-7442C2C64384}" destId="{7FEE186B-FFC9-46E8-A5F9-C2B79709A61D}" srcOrd="5" destOrd="0" presId="urn:microsoft.com/office/officeart/2005/8/layout/pyramid2"/>
    <dgm:cxn modelId="{2C3B2986-449B-4F7D-8FC5-9D22A840D45A}" type="presParOf" srcId="{F17B4B2D-7481-4ACF-9743-7442C2C64384}" destId="{E6E85ED3-ED82-487E-8508-AF58749CB752}" srcOrd="6" destOrd="0" presId="urn:microsoft.com/office/officeart/2005/8/layout/pyramid2"/>
    <dgm:cxn modelId="{40C1A937-1613-4F91-83C1-711B934F4720}" type="presParOf" srcId="{F17B4B2D-7481-4ACF-9743-7442C2C64384}" destId="{28B3EA2B-1494-40DC-9068-7700C7E161D2}" srcOrd="7" destOrd="0" presId="urn:microsoft.com/office/officeart/2005/8/layout/pyramid2"/>
    <dgm:cxn modelId="{C8298E2B-3070-4924-B12F-8243ACB8820A}" type="presParOf" srcId="{F17B4B2D-7481-4ACF-9743-7442C2C64384}" destId="{24582A08-86F2-4CFB-B40C-D4624A4ED32F}" srcOrd="8" destOrd="0" presId="urn:microsoft.com/office/officeart/2005/8/layout/pyramid2"/>
    <dgm:cxn modelId="{07E000FD-54BB-4BB5-A7A5-E30F433B65F5}" type="presParOf" srcId="{F17B4B2D-7481-4ACF-9743-7442C2C64384}" destId="{5D704E98-CBA6-4C36-9906-50940C7C91C4}" srcOrd="9" destOrd="0" presId="urn:microsoft.com/office/officeart/2005/8/layout/pyramid2"/>
    <dgm:cxn modelId="{EC42694C-05B5-48B6-AA2D-FF51E28B8AD4}" type="presParOf" srcId="{F17B4B2D-7481-4ACF-9743-7442C2C64384}" destId="{644E07C9-1C0E-4D0E-916D-B1D5A4F0E663}" srcOrd="10" destOrd="0" presId="urn:microsoft.com/office/officeart/2005/8/layout/pyramid2"/>
    <dgm:cxn modelId="{B563C13A-55FF-45B3-90D0-3998EE6F565D}" type="presParOf" srcId="{F17B4B2D-7481-4ACF-9743-7442C2C64384}" destId="{FC21121D-2284-49DA-9AEA-A6C6165B5EED}" srcOrd="11"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EDE65-E973-45EA-B85D-1EE0D0931FA8}">
      <dsp:nvSpPr>
        <dsp:cNvPr id="0" name=""/>
        <dsp:cNvSpPr/>
      </dsp:nvSpPr>
      <dsp:spPr>
        <a:xfrm>
          <a:off x="2537" y="328418"/>
          <a:ext cx="2473920" cy="976320"/>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kern="1200" dirty="0"/>
            <a:t>Current Scenario</a:t>
          </a:r>
          <a:endParaRPr lang="en-IN" sz="2700" kern="1200" dirty="0"/>
        </a:p>
      </dsp:txBody>
      <dsp:txXfrm>
        <a:off x="2537" y="328418"/>
        <a:ext cx="2473920" cy="976320"/>
      </dsp:txXfrm>
    </dsp:sp>
    <dsp:sp modelId="{E9DD3F9B-E682-41E8-8AC7-23FD3997923C}">
      <dsp:nvSpPr>
        <dsp:cNvPr id="0" name=""/>
        <dsp:cNvSpPr/>
      </dsp:nvSpPr>
      <dsp:spPr>
        <a:xfrm>
          <a:off x="2537" y="1304738"/>
          <a:ext cx="2473920" cy="3779864"/>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Manual Planning</a:t>
          </a:r>
          <a:endParaRPr lang="en-IN" sz="2000" kern="1200" dirty="0"/>
        </a:p>
        <a:p>
          <a:pPr marL="228600" lvl="1" indent="-228600" algn="l" defTabSz="889000">
            <a:lnSpc>
              <a:spcPct val="90000"/>
            </a:lnSpc>
            <a:spcBef>
              <a:spcPct val="0"/>
            </a:spcBef>
            <a:spcAft>
              <a:spcPct val="15000"/>
            </a:spcAft>
            <a:buChar char="•"/>
          </a:pPr>
          <a:r>
            <a:rPr lang="en-US" sz="2000" kern="1200" dirty="0"/>
            <a:t>Inventory Management</a:t>
          </a:r>
          <a:endParaRPr lang="en-IN" sz="2000" kern="1200" dirty="0"/>
        </a:p>
        <a:p>
          <a:pPr marL="228600" lvl="1" indent="-228600" algn="l" defTabSz="889000">
            <a:lnSpc>
              <a:spcPct val="90000"/>
            </a:lnSpc>
            <a:spcBef>
              <a:spcPct val="0"/>
            </a:spcBef>
            <a:spcAft>
              <a:spcPct val="15000"/>
            </a:spcAft>
            <a:buChar char="•"/>
          </a:pPr>
          <a:r>
            <a:rPr lang="en-US" sz="2000" kern="1200" dirty="0"/>
            <a:t>Machine Utilization</a:t>
          </a:r>
          <a:endParaRPr lang="en-IN" sz="2000" kern="1200" dirty="0"/>
        </a:p>
      </dsp:txBody>
      <dsp:txXfrm>
        <a:off x="2537" y="1304738"/>
        <a:ext cx="2473920" cy="3779864"/>
      </dsp:txXfrm>
    </dsp:sp>
    <dsp:sp modelId="{D2DC684B-B30B-4CED-9492-DF6BC6D06EF9}">
      <dsp:nvSpPr>
        <dsp:cNvPr id="0" name=""/>
        <dsp:cNvSpPr/>
      </dsp:nvSpPr>
      <dsp:spPr>
        <a:xfrm>
          <a:off x="2822806" y="328418"/>
          <a:ext cx="2473920" cy="976320"/>
        </a:xfrm>
        <a:prstGeom prst="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kern="1200" dirty="0"/>
            <a:t>Gap</a:t>
          </a:r>
          <a:endParaRPr lang="en-IN" sz="2700" kern="1200" dirty="0"/>
        </a:p>
      </dsp:txBody>
      <dsp:txXfrm>
        <a:off x="2822806" y="328418"/>
        <a:ext cx="2473920" cy="976320"/>
      </dsp:txXfrm>
    </dsp:sp>
    <dsp:sp modelId="{A00964F0-C12F-4589-B5A7-C354E12F5488}">
      <dsp:nvSpPr>
        <dsp:cNvPr id="0" name=""/>
        <dsp:cNvSpPr/>
      </dsp:nvSpPr>
      <dsp:spPr>
        <a:xfrm>
          <a:off x="2822806" y="1304738"/>
          <a:ext cx="2473920" cy="3779864"/>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Involves 2 – 3 peoples and is time consuming</a:t>
          </a:r>
          <a:endParaRPr lang="en-IN" sz="2000" kern="1200" dirty="0"/>
        </a:p>
        <a:p>
          <a:pPr marL="228600" lvl="1" indent="-228600" algn="l" defTabSz="889000">
            <a:lnSpc>
              <a:spcPct val="90000"/>
            </a:lnSpc>
            <a:spcBef>
              <a:spcPct val="0"/>
            </a:spcBef>
            <a:spcAft>
              <a:spcPct val="15000"/>
            </a:spcAft>
            <a:buChar char="•"/>
          </a:pPr>
          <a:r>
            <a:rPr lang="en-US" sz="2000" kern="1200" dirty="0"/>
            <a:t>Some Parts are overproduced/ some may have shortage</a:t>
          </a:r>
          <a:endParaRPr lang="en-IN" sz="2000" kern="1200" dirty="0"/>
        </a:p>
        <a:p>
          <a:pPr marL="228600" lvl="1" indent="-228600" algn="l" defTabSz="889000">
            <a:lnSpc>
              <a:spcPct val="90000"/>
            </a:lnSpc>
            <a:spcBef>
              <a:spcPct val="0"/>
            </a:spcBef>
            <a:spcAft>
              <a:spcPct val="15000"/>
            </a:spcAft>
            <a:buChar char="•"/>
          </a:pPr>
          <a:r>
            <a:rPr lang="en-US" sz="2000" kern="1200" dirty="0"/>
            <a:t>No proper track of machine utilization, while some machines are on PDT</a:t>
          </a:r>
          <a:endParaRPr lang="en-IN" sz="2000" kern="1200" dirty="0"/>
        </a:p>
      </dsp:txBody>
      <dsp:txXfrm>
        <a:off x="2822806" y="1304738"/>
        <a:ext cx="2473920" cy="3779864"/>
      </dsp:txXfrm>
    </dsp:sp>
    <dsp:sp modelId="{40E663B8-BFF6-4AFF-A637-D4A560B27D7E}">
      <dsp:nvSpPr>
        <dsp:cNvPr id="0" name=""/>
        <dsp:cNvSpPr/>
      </dsp:nvSpPr>
      <dsp:spPr>
        <a:xfrm>
          <a:off x="5643075" y="328418"/>
          <a:ext cx="2473920" cy="976320"/>
        </a:xfrm>
        <a:prstGeom prst="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kern="1200" dirty="0"/>
            <a:t>To Be</a:t>
          </a:r>
          <a:endParaRPr lang="en-IN" sz="2700" kern="1200" dirty="0"/>
        </a:p>
      </dsp:txBody>
      <dsp:txXfrm>
        <a:off x="5643075" y="328418"/>
        <a:ext cx="2473920" cy="976320"/>
      </dsp:txXfrm>
    </dsp:sp>
    <dsp:sp modelId="{6C6B46D2-EED8-4FA7-B64F-34BDAD7199AF}">
      <dsp:nvSpPr>
        <dsp:cNvPr id="0" name=""/>
        <dsp:cNvSpPr/>
      </dsp:nvSpPr>
      <dsp:spPr>
        <a:xfrm>
          <a:off x="5643075" y="1304738"/>
          <a:ext cx="2473920" cy="3779864"/>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Automated</a:t>
          </a:r>
          <a:endParaRPr lang="en-IN" sz="2000" kern="1200" dirty="0"/>
        </a:p>
        <a:p>
          <a:pPr marL="228600" lvl="1" indent="-228600" algn="l" defTabSz="889000">
            <a:lnSpc>
              <a:spcPct val="90000"/>
            </a:lnSpc>
            <a:spcBef>
              <a:spcPct val="0"/>
            </a:spcBef>
            <a:spcAft>
              <a:spcPct val="15000"/>
            </a:spcAft>
            <a:buChar char="•"/>
          </a:pPr>
          <a:r>
            <a:rPr lang="en-US" sz="2000" kern="1200" dirty="0"/>
            <a:t>Maintain 3 day safety stock</a:t>
          </a:r>
          <a:endParaRPr lang="en-IN" sz="2000" kern="1200" dirty="0"/>
        </a:p>
        <a:p>
          <a:pPr marL="228600" lvl="1" indent="-228600" algn="l" defTabSz="889000">
            <a:lnSpc>
              <a:spcPct val="90000"/>
            </a:lnSpc>
            <a:spcBef>
              <a:spcPct val="0"/>
            </a:spcBef>
            <a:spcAft>
              <a:spcPct val="15000"/>
            </a:spcAft>
            <a:buChar char="•"/>
          </a:pPr>
          <a:r>
            <a:rPr lang="en-US" sz="2000" kern="1200" dirty="0"/>
            <a:t>As per production scheduling</a:t>
          </a:r>
          <a:endParaRPr lang="en-IN" sz="2000" kern="1200" dirty="0"/>
        </a:p>
      </dsp:txBody>
      <dsp:txXfrm>
        <a:off x="5643075" y="1304738"/>
        <a:ext cx="2473920" cy="37798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A3E3D0-ED7D-4A48-90C7-18240535CDE4}">
      <dsp:nvSpPr>
        <dsp:cNvPr id="0" name=""/>
        <dsp:cNvSpPr/>
      </dsp:nvSpPr>
      <dsp:spPr>
        <a:xfrm>
          <a:off x="947278" y="0"/>
          <a:ext cx="5413022" cy="5413022"/>
        </a:xfrm>
        <a:prstGeom prst="triangle">
          <a:avLst/>
        </a:prstGeom>
        <a:solidFill>
          <a:schemeClr val="accent2">
            <a:shade val="50000"/>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sp>
    <dsp:sp modelId="{66CA5288-C282-45A8-8A02-D756C21A5C8B}">
      <dsp:nvSpPr>
        <dsp:cNvPr id="0" name=""/>
        <dsp:cNvSpPr/>
      </dsp:nvSpPr>
      <dsp:spPr>
        <a:xfrm>
          <a:off x="3653789" y="544209"/>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0"/>
              <a:satOff val="0"/>
              <a:lumOff val="0"/>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Maintain Safety Stock</a:t>
          </a:r>
          <a:endParaRPr lang="en-IN" sz="2300" kern="1200" dirty="0"/>
        </a:p>
      </dsp:txBody>
      <dsp:txXfrm>
        <a:off x="3685064" y="575484"/>
        <a:ext cx="3455914" cy="578131"/>
      </dsp:txXfrm>
    </dsp:sp>
    <dsp:sp modelId="{742C3397-AE12-46AB-B456-DF4DD37937FE}">
      <dsp:nvSpPr>
        <dsp:cNvPr id="0" name=""/>
        <dsp:cNvSpPr/>
      </dsp:nvSpPr>
      <dsp:spPr>
        <a:xfrm>
          <a:off x="3653789" y="1264976"/>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185330"/>
              <a:satOff val="2886"/>
              <a:lumOff val="14375"/>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Plan According To Category</a:t>
          </a:r>
          <a:endParaRPr lang="en-IN" sz="2300" kern="1200" dirty="0"/>
        </a:p>
      </dsp:txBody>
      <dsp:txXfrm>
        <a:off x="3685064" y="1296251"/>
        <a:ext cx="3455914" cy="578131"/>
      </dsp:txXfrm>
    </dsp:sp>
    <dsp:sp modelId="{3343FE09-2E4A-4219-B2D0-9A2628421F59}">
      <dsp:nvSpPr>
        <dsp:cNvPr id="0" name=""/>
        <dsp:cNvSpPr/>
      </dsp:nvSpPr>
      <dsp:spPr>
        <a:xfrm>
          <a:off x="3653789" y="1985743"/>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370661"/>
              <a:satOff val="5772"/>
              <a:lumOff val="28749"/>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Full Capacity Utilization</a:t>
          </a:r>
          <a:endParaRPr lang="en-IN" sz="2300" kern="1200" dirty="0"/>
        </a:p>
      </dsp:txBody>
      <dsp:txXfrm>
        <a:off x="3685064" y="2017018"/>
        <a:ext cx="3455914" cy="578131"/>
      </dsp:txXfrm>
    </dsp:sp>
    <dsp:sp modelId="{E6E85ED3-ED82-487E-8508-AF58749CB752}">
      <dsp:nvSpPr>
        <dsp:cNvPr id="0" name=""/>
        <dsp:cNvSpPr/>
      </dsp:nvSpPr>
      <dsp:spPr>
        <a:xfrm>
          <a:off x="3653789" y="2706511"/>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555991"/>
              <a:satOff val="8658"/>
              <a:lumOff val="43124"/>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Fixed Machine Allocation</a:t>
          </a:r>
          <a:endParaRPr lang="en-IN" sz="2300" kern="1200" dirty="0"/>
        </a:p>
      </dsp:txBody>
      <dsp:txXfrm>
        <a:off x="3685064" y="2737786"/>
        <a:ext cx="3455914" cy="578131"/>
      </dsp:txXfrm>
    </dsp:sp>
    <dsp:sp modelId="{24582A08-86F2-4CFB-B40C-D4624A4ED32F}">
      <dsp:nvSpPr>
        <dsp:cNvPr id="0" name=""/>
        <dsp:cNvSpPr/>
      </dsp:nvSpPr>
      <dsp:spPr>
        <a:xfrm>
          <a:off x="3653789" y="3427278"/>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370661"/>
              <a:satOff val="5772"/>
              <a:lumOff val="28749"/>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Minimum Changeover</a:t>
          </a:r>
          <a:endParaRPr lang="en-IN" sz="2300" kern="1200" dirty="0"/>
        </a:p>
      </dsp:txBody>
      <dsp:txXfrm>
        <a:off x="3685064" y="3458553"/>
        <a:ext cx="3455914" cy="578131"/>
      </dsp:txXfrm>
    </dsp:sp>
    <dsp:sp modelId="{644E07C9-1C0E-4D0E-916D-B1D5A4F0E663}">
      <dsp:nvSpPr>
        <dsp:cNvPr id="0" name=""/>
        <dsp:cNvSpPr/>
      </dsp:nvSpPr>
      <dsp:spPr>
        <a:xfrm>
          <a:off x="3653789" y="4148045"/>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185330"/>
              <a:satOff val="2886"/>
              <a:lumOff val="14375"/>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Terminal Availability</a:t>
          </a:r>
          <a:endParaRPr lang="en-IN" sz="2300" kern="1200" dirty="0"/>
        </a:p>
      </dsp:txBody>
      <dsp:txXfrm>
        <a:off x="3685064" y="4179320"/>
        <a:ext cx="3455914" cy="578131"/>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5138" cy="33813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5588000" y="0"/>
            <a:ext cx="4276725" cy="338138"/>
          </a:xfrm>
          <a:prstGeom prst="rect">
            <a:avLst/>
          </a:prstGeom>
        </p:spPr>
        <p:txBody>
          <a:bodyPr vert="horz" lIns="91440" tIns="45720" rIns="91440" bIns="45720" rtlCol="0"/>
          <a:lstStyle>
            <a:lvl1pPr algn="r">
              <a:defRPr sz="1200"/>
            </a:lvl1pPr>
          </a:lstStyle>
          <a:p>
            <a:fld id="{062D03F9-AA40-4F3A-A210-006EC2BEDAA2}" type="datetimeFigureOut">
              <a:rPr lang="en-IN" smtClean="0"/>
              <a:t>22-04-2026</a:t>
            </a:fld>
            <a:endParaRPr lang="en-IN" dirty="0"/>
          </a:p>
        </p:txBody>
      </p:sp>
      <p:sp>
        <p:nvSpPr>
          <p:cNvPr id="4" name="Footer Placeholder 3"/>
          <p:cNvSpPr>
            <a:spLocks noGrp="1"/>
          </p:cNvSpPr>
          <p:nvPr>
            <p:ph type="ftr" sz="quarter" idx="2"/>
          </p:nvPr>
        </p:nvSpPr>
        <p:spPr>
          <a:xfrm>
            <a:off x="0" y="6397625"/>
            <a:ext cx="4275138" cy="338138"/>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p:cNvSpPr>
            <a:spLocks noGrp="1"/>
          </p:cNvSpPr>
          <p:nvPr>
            <p:ph type="sldNum" sz="quarter" idx="3"/>
          </p:nvPr>
        </p:nvSpPr>
        <p:spPr>
          <a:xfrm>
            <a:off x="5588000" y="6397625"/>
            <a:ext cx="4276725" cy="338138"/>
          </a:xfrm>
          <a:prstGeom prst="rect">
            <a:avLst/>
          </a:prstGeom>
        </p:spPr>
        <p:txBody>
          <a:bodyPr vert="horz" lIns="91440" tIns="45720" rIns="91440" bIns="45720" rtlCol="0" anchor="b"/>
          <a:lstStyle>
            <a:lvl1pPr algn="r">
              <a:defRPr sz="1200"/>
            </a:lvl1pPr>
          </a:lstStyle>
          <a:p>
            <a:fld id="{18AF49BA-AF7D-4CBD-89D9-630D4AAD3B91}" type="slidenum">
              <a:rPr lang="en-IN" smtClean="0"/>
              <a:t>‹#›</a:t>
            </a:fld>
            <a:endParaRPr lang="en-IN" dirty="0"/>
          </a:p>
        </p:txBody>
      </p:sp>
    </p:spTree>
    <p:extLst>
      <p:ext uri="{BB962C8B-B14F-4D97-AF65-F5344CB8AC3E}">
        <p14:creationId xmlns:p14="http://schemas.microsoft.com/office/powerpoint/2010/main" val="12785313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6003" cy="338348"/>
          </a:xfrm>
          <a:prstGeom prst="rect">
            <a:avLst/>
          </a:prstGeom>
        </p:spPr>
        <p:txBody>
          <a:bodyPr vert="horz" lIns="79736" tIns="39868" rIns="79736" bIns="39868" rtlCol="0"/>
          <a:lstStyle>
            <a:lvl1pPr algn="l">
              <a:defRPr sz="1000"/>
            </a:lvl1pPr>
          </a:lstStyle>
          <a:p>
            <a:endParaRPr lang="en-US" dirty="0"/>
          </a:p>
        </p:txBody>
      </p:sp>
      <p:sp>
        <p:nvSpPr>
          <p:cNvPr id="3" name="Date Placeholder 2"/>
          <p:cNvSpPr>
            <a:spLocks noGrp="1"/>
          </p:cNvSpPr>
          <p:nvPr>
            <p:ph type="dt" idx="1"/>
          </p:nvPr>
        </p:nvSpPr>
        <p:spPr>
          <a:xfrm>
            <a:off x="5589025" y="0"/>
            <a:ext cx="4274716" cy="338348"/>
          </a:xfrm>
          <a:prstGeom prst="rect">
            <a:avLst/>
          </a:prstGeom>
        </p:spPr>
        <p:txBody>
          <a:bodyPr vert="horz" lIns="79736" tIns="39868" rIns="79736" bIns="39868" rtlCol="0"/>
          <a:lstStyle>
            <a:lvl1pPr algn="r">
              <a:defRPr sz="1000"/>
            </a:lvl1pPr>
          </a:lstStyle>
          <a:p>
            <a:fld id="{BB1100BD-CA0D-4C22-83C4-848DCBD3E88F}" type="datetimeFigureOut">
              <a:rPr lang="en-US" smtClean="0"/>
              <a:pPr/>
              <a:t>4/22/2026</a:t>
            </a:fld>
            <a:endParaRPr lang="en-US" dirty="0"/>
          </a:p>
        </p:txBody>
      </p:sp>
      <p:sp>
        <p:nvSpPr>
          <p:cNvPr id="4" name="Slide Image Placeholder 3"/>
          <p:cNvSpPr>
            <a:spLocks noGrp="1" noRot="1" noChangeAspect="1"/>
          </p:cNvSpPr>
          <p:nvPr>
            <p:ph type="sldImg" idx="2"/>
          </p:nvPr>
        </p:nvSpPr>
        <p:spPr>
          <a:xfrm>
            <a:off x="2914650" y="841375"/>
            <a:ext cx="4037013" cy="2273300"/>
          </a:xfrm>
          <a:prstGeom prst="rect">
            <a:avLst/>
          </a:prstGeom>
          <a:noFill/>
          <a:ln w="12700">
            <a:solidFill>
              <a:prstClr val="black"/>
            </a:solidFill>
          </a:ln>
        </p:spPr>
        <p:txBody>
          <a:bodyPr vert="horz" lIns="79736" tIns="39868" rIns="79736" bIns="39868" rtlCol="0" anchor="ctr"/>
          <a:lstStyle/>
          <a:p>
            <a:endParaRPr lang="en-US" dirty="0"/>
          </a:p>
        </p:txBody>
      </p:sp>
      <p:sp>
        <p:nvSpPr>
          <p:cNvPr id="5" name="Notes Placeholder 4"/>
          <p:cNvSpPr>
            <a:spLocks noGrp="1"/>
          </p:cNvSpPr>
          <p:nvPr>
            <p:ph type="body" sz="quarter" idx="3"/>
          </p:nvPr>
        </p:nvSpPr>
        <p:spPr>
          <a:xfrm>
            <a:off x="986375" y="3241587"/>
            <a:ext cx="7893565" cy="2652206"/>
          </a:xfrm>
          <a:prstGeom prst="rect">
            <a:avLst/>
          </a:prstGeom>
        </p:spPr>
        <p:txBody>
          <a:bodyPr vert="horz" lIns="79736" tIns="39868" rIns="79736" bIns="3986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397417"/>
            <a:ext cx="4276003" cy="338347"/>
          </a:xfrm>
          <a:prstGeom prst="rect">
            <a:avLst/>
          </a:prstGeom>
        </p:spPr>
        <p:txBody>
          <a:bodyPr vert="horz" lIns="79736" tIns="39868" rIns="79736" bIns="39868" rtlCol="0" anchor="b"/>
          <a:lstStyle>
            <a:lvl1pPr algn="l">
              <a:defRPr sz="1000"/>
            </a:lvl1pPr>
          </a:lstStyle>
          <a:p>
            <a:endParaRPr lang="en-US" dirty="0"/>
          </a:p>
        </p:txBody>
      </p:sp>
      <p:sp>
        <p:nvSpPr>
          <p:cNvPr id="7" name="Slide Number Placeholder 6"/>
          <p:cNvSpPr>
            <a:spLocks noGrp="1"/>
          </p:cNvSpPr>
          <p:nvPr>
            <p:ph type="sldNum" sz="quarter" idx="5"/>
          </p:nvPr>
        </p:nvSpPr>
        <p:spPr>
          <a:xfrm>
            <a:off x="5589025" y="6397417"/>
            <a:ext cx="4274716" cy="338347"/>
          </a:xfrm>
          <a:prstGeom prst="rect">
            <a:avLst/>
          </a:prstGeom>
        </p:spPr>
        <p:txBody>
          <a:bodyPr vert="horz" lIns="79736" tIns="39868" rIns="79736" bIns="39868" rtlCol="0" anchor="b"/>
          <a:lstStyle>
            <a:lvl1pPr algn="r">
              <a:defRPr sz="1000"/>
            </a:lvl1pPr>
          </a:lstStyle>
          <a:p>
            <a:fld id="{41748037-3A49-467E-9603-D49DD34660DA}" type="slidenum">
              <a:rPr lang="en-US" smtClean="0"/>
              <a:pPr/>
              <a:t>‹#›</a:t>
            </a:fld>
            <a:endParaRPr lang="en-US" dirty="0"/>
          </a:p>
        </p:txBody>
      </p:sp>
    </p:spTree>
    <p:extLst>
      <p:ext uri="{BB962C8B-B14F-4D97-AF65-F5344CB8AC3E}">
        <p14:creationId xmlns:p14="http://schemas.microsoft.com/office/powerpoint/2010/main" val="28027071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14650" y="841375"/>
            <a:ext cx="4037013" cy="2273300"/>
          </a:xfrm>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41748037-3A49-467E-9603-D49DD34660DA}" type="slidenum">
              <a:rPr lang="en-US" smtClean="0"/>
              <a:pPr/>
              <a:t>19</a:t>
            </a:fld>
            <a:endParaRPr lang="en-US" dirty="0"/>
          </a:p>
        </p:txBody>
      </p:sp>
    </p:spTree>
    <p:extLst>
      <p:ext uri="{BB962C8B-B14F-4D97-AF65-F5344CB8AC3E}">
        <p14:creationId xmlns:p14="http://schemas.microsoft.com/office/powerpoint/2010/main" val="3661376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360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C754A25A-DBEF-B64B-84F6-87261CC020F4}"/>
              </a:ext>
            </a:extLst>
          </p:cNvPr>
          <p:cNvSpPr txBox="1">
            <a:spLocks/>
          </p:cNvSpPr>
          <p:nvPr userDrawn="1"/>
        </p:nvSpPr>
        <p:spPr>
          <a:xfrm>
            <a:off x="11432516" y="6391175"/>
            <a:ext cx="669862" cy="279133"/>
          </a:xfrm>
          <a:prstGeom prst="rect">
            <a:avLst/>
          </a:prstGeom>
        </p:spPr>
        <p:style>
          <a:lnRef idx="2">
            <a:schemeClr val="accent1"/>
          </a:lnRef>
          <a:fillRef idx="1">
            <a:schemeClr val="lt1"/>
          </a:fillRef>
          <a:effectRef idx="0">
            <a:schemeClr val="accent1"/>
          </a:effectRef>
          <a:fontRef idx="minor">
            <a:schemeClr val="dk1"/>
          </a:fontRef>
        </p:style>
        <p:txBody>
          <a:bodyPr vert="horz" lIns="91345" tIns="45672" rIns="91345" bIns="45672" rtlCol="0" anchor="ct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36E95A1-262F-4E3E-9B30-207FF0616F93}" type="slidenum">
              <a:rPr lang="en-US" sz="1399" smtClean="0">
                <a:solidFill>
                  <a:srgbClr val="0070C0"/>
                </a:solidFill>
              </a:rPr>
              <a:pPr/>
              <a:t>‹#›</a:t>
            </a:fld>
            <a:r>
              <a:rPr lang="en-US" sz="1399" dirty="0">
                <a:solidFill>
                  <a:srgbClr val="0070C0"/>
                </a:solidFill>
              </a:rPr>
              <a:t>/19</a:t>
            </a:r>
          </a:p>
        </p:txBody>
      </p:sp>
    </p:spTree>
    <p:extLst>
      <p:ext uri="{BB962C8B-B14F-4D97-AF65-F5344CB8AC3E}">
        <p14:creationId xmlns:p14="http://schemas.microsoft.com/office/powerpoint/2010/main" val="2903950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1301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239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0A566-4463-B745-9B78-46BA42718B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09A0AF-F84E-BD48-9F61-FD9F08123A9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8844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7311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D2DA031-3960-A348-8D75-321E722D17A7}"/>
              </a:ext>
            </a:extLst>
          </p:cNvPr>
          <p:cNvSpPr/>
          <p:nvPr userDrawn="1"/>
        </p:nvSpPr>
        <p:spPr>
          <a:xfrm rot="10800000">
            <a:off x="0" y="685801"/>
            <a:ext cx="12192000" cy="292497"/>
          </a:xfrm>
          <a:prstGeom prst="rect">
            <a:avLst/>
          </a:prstGeom>
          <a:gradFill>
            <a:gsLst>
              <a:gs pos="0">
                <a:schemeClr val="bg1">
                  <a:alpha val="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1D3BAFFB-A611-FB48-BE13-A0731D48F01C}"/>
              </a:ext>
            </a:extLst>
          </p:cNvPr>
          <p:cNvGrpSpPr/>
          <p:nvPr userDrawn="1"/>
        </p:nvGrpSpPr>
        <p:grpSpPr>
          <a:xfrm>
            <a:off x="0" y="6755141"/>
            <a:ext cx="12179301" cy="99288"/>
            <a:chOff x="196456" y="6335445"/>
            <a:chExt cx="5306303" cy="307340"/>
          </a:xfrm>
        </p:grpSpPr>
        <p:sp>
          <p:nvSpPr>
            <p:cNvPr id="10" name="object 9">
              <a:extLst>
                <a:ext uri="{FF2B5EF4-FFF2-40B4-BE49-F238E27FC236}">
                  <a16:creationId xmlns:a16="http://schemas.microsoft.com/office/drawing/2014/main" id="{BB36231A-7123-E142-A811-B691AB0DD493}"/>
                </a:ext>
              </a:extLst>
            </p:cNvPr>
            <p:cNvSpPr/>
            <p:nvPr/>
          </p:nvSpPr>
          <p:spPr>
            <a:xfrm>
              <a:off x="196456" y="6335445"/>
              <a:ext cx="2053307" cy="307340"/>
            </a:xfrm>
            <a:custGeom>
              <a:avLst/>
              <a:gdLst/>
              <a:ahLst/>
              <a:cxnLst/>
              <a:rect l="l" t="t" r="r" b="b"/>
              <a:pathLst>
                <a:path w="1324609" h="307339">
                  <a:moveTo>
                    <a:pt x="0" y="306882"/>
                  </a:moveTo>
                  <a:lnTo>
                    <a:pt x="1324584" y="306882"/>
                  </a:lnTo>
                  <a:lnTo>
                    <a:pt x="1324584" y="0"/>
                  </a:lnTo>
                  <a:lnTo>
                    <a:pt x="0" y="0"/>
                  </a:lnTo>
                  <a:lnTo>
                    <a:pt x="0" y="306882"/>
                  </a:lnTo>
                  <a:close/>
                </a:path>
              </a:pathLst>
            </a:custGeom>
            <a:solidFill>
              <a:srgbClr val="035DBB"/>
            </a:solidFill>
          </p:spPr>
          <p:txBody>
            <a:bodyPr wrap="square" lIns="0" tIns="0" rIns="0" bIns="0" rtlCol="0"/>
            <a:lstStyle/>
            <a:p>
              <a:endParaRPr sz="1798" dirty="0"/>
            </a:p>
          </p:txBody>
        </p:sp>
        <p:sp>
          <p:nvSpPr>
            <p:cNvPr id="11" name="object 10">
              <a:extLst>
                <a:ext uri="{FF2B5EF4-FFF2-40B4-BE49-F238E27FC236}">
                  <a16:creationId xmlns:a16="http://schemas.microsoft.com/office/drawing/2014/main" id="{63279C28-93AB-C842-B27E-95CF4279320C}"/>
                </a:ext>
              </a:extLst>
            </p:cNvPr>
            <p:cNvSpPr/>
            <p:nvPr/>
          </p:nvSpPr>
          <p:spPr>
            <a:xfrm>
              <a:off x="2249764" y="6335445"/>
              <a:ext cx="1455135" cy="307340"/>
            </a:xfrm>
            <a:custGeom>
              <a:avLst/>
              <a:gdLst/>
              <a:ahLst/>
              <a:cxnLst/>
              <a:rect l="l" t="t" r="r" b="b"/>
              <a:pathLst>
                <a:path w="1324609" h="307339">
                  <a:moveTo>
                    <a:pt x="1324584" y="306882"/>
                  </a:moveTo>
                  <a:lnTo>
                    <a:pt x="0" y="306882"/>
                  </a:lnTo>
                  <a:lnTo>
                    <a:pt x="0" y="0"/>
                  </a:lnTo>
                  <a:lnTo>
                    <a:pt x="1324584" y="0"/>
                  </a:lnTo>
                  <a:lnTo>
                    <a:pt x="1324584" y="306882"/>
                  </a:lnTo>
                  <a:close/>
                </a:path>
              </a:pathLst>
            </a:custGeom>
            <a:solidFill>
              <a:srgbClr val="097AE8"/>
            </a:solidFill>
          </p:spPr>
          <p:txBody>
            <a:bodyPr wrap="square" lIns="0" tIns="0" rIns="0" bIns="0" rtlCol="0"/>
            <a:lstStyle/>
            <a:p>
              <a:endParaRPr sz="1798" dirty="0"/>
            </a:p>
          </p:txBody>
        </p:sp>
        <p:sp>
          <p:nvSpPr>
            <p:cNvPr id="12" name="object 11">
              <a:extLst>
                <a:ext uri="{FF2B5EF4-FFF2-40B4-BE49-F238E27FC236}">
                  <a16:creationId xmlns:a16="http://schemas.microsoft.com/office/drawing/2014/main" id="{7FB22E6C-EF8F-8048-A1D5-3E911BA50468}"/>
                </a:ext>
              </a:extLst>
            </p:cNvPr>
            <p:cNvSpPr/>
            <p:nvPr/>
          </p:nvSpPr>
          <p:spPr>
            <a:xfrm>
              <a:off x="3704901" y="6335445"/>
              <a:ext cx="1042059" cy="307340"/>
            </a:xfrm>
            <a:custGeom>
              <a:avLst/>
              <a:gdLst/>
              <a:ahLst/>
              <a:cxnLst/>
              <a:rect l="l" t="t" r="r" b="b"/>
              <a:pathLst>
                <a:path w="1324609" h="307339">
                  <a:moveTo>
                    <a:pt x="0" y="306882"/>
                  </a:moveTo>
                  <a:lnTo>
                    <a:pt x="1324571" y="306882"/>
                  </a:lnTo>
                  <a:lnTo>
                    <a:pt x="1324571" y="0"/>
                  </a:lnTo>
                  <a:lnTo>
                    <a:pt x="0" y="0"/>
                  </a:lnTo>
                  <a:lnTo>
                    <a:pt x="0" y="306882"/>
                  </a:lnTo>
                  <a:close/>
                </a:path>
              </a:pathLst>
            </a:custGeom>
            <a:solidFill>
              <a:srgbClr val="2DBFFF"/>
            </a:solidFill>
          </p:spPr>
          <p:txBody>
            <a:bodyPr wrap="square" lIns="0" tIns="0" rIns="0" bIns="0" rtlCol="0"/>
            <a:lstStyle/>
            <a:p>
              <a:endParaRPr sz="1798" dirty="0"/>
            </a:p>
          </p:txBody>
        </p:sp>
        <p:sp>
          <p:nvSpPr>
            <p:cNvPr id="13" name="object 12">
              <a:extLst>
                <a:ext uri="{FF2B5EF4-FFF2-40B4-BE49-F238E27FC236}">
                  <a16:creationId xmlns:a16="http://schemas.microsoft.com/office/drawing/2014/main" id="{247A5B5C-5C47-D14C-A890-4A38B66FFF74}"/>
                </a:ext>
              </a:extLst>
            </p:cNvPr>
            <p:cNvSpPr/>
            <p:nvPr/>
          </p:nvSpPr>
          <p:spPr>
            <a:xfrm>
              <a:off x="4746959" y="6335445"/>
              <a:ext cx="755800" cy="307340"/>
            </a:xfrm>
            <a:custGeom>
              <a:avLst/>
              <a:gdLst/>
              <a:ahLst/>
              <a:cxnLst/>
              <a:rect l="l" t="t" r="r" b="b"/>
              <a:pathLst>
                <a:path w="1324609" h="307339">
                  <a:moveTo>
                    <a:pt x="1324571" y="306882"/>
                  </a:moveTo>
                  <a:lnTo>
                    <a:pt x="0" y="306882"/>
                  </a:lnTo>
                  <a:lnTo>
                    <a:pt x="0" y="0"/>
                  </a:lnTo>
                  <a:lnTo>
                    <a:pt x="1324571" y="0"/>
                  </a:lnTo>
                  <a:lnTo>
                    <a:pt x="1324571" y="306882"/>
                  </a:lnTo>
                  <a:close/>
                </a:path>
              </a:pathLst>
            </a:custGeom>
            <a:solidFill>
              <a:srgbClr val="B0E7FF"/>
            </a:solidFill>
          </p:spPr>
          <p:txBody>
            <a:bodyPr wrap="square" lIns="0" tIns="0" rIns="0" bIns="0" rtlCol="0"/>
            <a:lstStyle/>
            <a:p>
              <a:endParaRPr sz="1798" dirty="0"/>
            </a:p>
          </p:txBody>
        </p:sp>
      </p:grpSp>
      <p:sp>
        <p:nvSpPr>
          <p:cNvPr id="14" name="Footer Placeholder 4">
            <a:extLst>
              <a:ext uri="{FF2B5EF4-FFF2-40B4-BE49-F238E27FC236}">
                <a16:creationId xmlns:a16="http://schemas.microsoft.com/office/drawing/2014/main" id="{C754A25A-DBEF-B64B-84F6-87261CC020F4}"/>
              </a:ext>
            </a:extLst>
          </p:cNvPr>
          <p:cNvSpPr txBox="1">
            <a:spLocks/>
          </p:cNvSpPr>
          <p:nvPr userDrawn="1"/>
        </p:nvSpPr>
        <p:spPr>
          <a:xfrm>
            <a:off x="11432516" y="6391175"/>
            <a:ext cx="669862" cy="279133"/>
          </a:xfrm>
          <a:prstGeom prst="rect">
            <a:avLst/>
          </a:prstGeom>
        </p:spPr>
        <p:style>
          <a:lnRef idx="2">
            <a:schemeClr val="accent1"/>
          </a:lnRef>
          <a:fillRef idx="1">
            <a:schemeClr val="lt1"/>
          </a:fillRef>
          <a:effectRef idx="0">
            <a:schemeClr val="accent1"/>
          </a:effectRef>
          <a:fontRef idx="minor">
            <a:schemeClr val="dk1"/>
          </a:fontRef>
        </p:style>
        <p:txBody>
          <a:bodyPr vert="horz" lIns="91345" tIns="45672" rIns="91345" bIns="45672" rtlCol="0" anchor="ct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36E95A1-262F-4E3E-9B30-207FF0616F93}" type="slidenum">
              <a:rPr lang="en-US" sz="1399" smtClean="0">
                <a:solidFill>
                  <a:srgbClr val="0070C0"/>
                </a:solidFill>
              </a:rPr>
              <a:pPr/>
              <a:t>‹#›</a:t>
            </a:fld>
            <a:r>
              <a:rPr lang="en-US" sz="1399" dirty="0">
                <a:solidFill>
                  <a:srgbClr val="0070C0"/>
                </a:solidFill>
              </a:rPr>
              <a:t>/5</a:t>
            </a:r>
          </a:p>
        </p:txBody>
      </p:sp>
      <p:pic>
        <p:nvPicPr>
          <p:cNvPr id="15" name="Picture 14">
            <a:extLst>
              <a:ext uri="{FF2B5EF4-FFF2-40B4-BE49-F238E27FC236}">
                <a16:creationId xmlns:a16="http://schemas.microsoft.com/office/drawing/2014/main" id="{CA047C07-817C-47E3-B2AB-849B5D0A547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814050" y="0"/>
            <a:ext cx="1288328" cy="675321"/>
          </a:xfrm>
          <a:prstGeom prst="rect">
            <a:avLst/>
          </a:prstGeom>
        </p:spPr>
      </p:pic>
    </p:spTree>
    <p:extLst>
      <p:ext uri="{BB962C8B-B14F-4D97-AF65-F5344CB8AC3E}">
        <p14:creationId xmlns:p14="http://schemas.microsoft.com/office/powerpoint/2010/main" val="2217829467"/>
      </p:ext>
    </p:extLst>
  </p:cSld>
  <p:clrMap bg1="lt1" tx1="dk1" bg2="lt2" tx2="dk2" accent1="accent1" accent2="accent2" accent3="accent3" accent4="accent4" accent5="accent5" accent6="accent6" hlink="hlink" folHlink="folHlink"/>
  <p:sldLayoutIdLst>
    <p:sldLayoutId id="2147483670" r:id="rId1"/>
    <p:sldLayoutId id="2147483679" r:id="rId2"/>
    <p:sldLayoutId id="2147483689"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BEB63F-C9BB-9F4F-B960-E251F832BFCD}"/>
              </a:ext>
            </a:extLst>
          </p:cNvPr>
          <p:cNvSpPr>
            <a:spLocks noGrp="1"/>
          </p:cNvSpPr>
          <p:nvPr>
            <p:ph type="title"/>
          </p:nvPr>
        </p:nvSpPr>
        <p:spPr>
          <a:xfrm>
            <a:off x="836613" y="365125"/>
            <a:ext cx="10506075"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D59DF1-F9E6-204E-8BA7-5E6A94406569}"/>
              </a:ext>
            </a:extLst>
          </p:cNvPr>
          <p:cNvSpPr>
            <a:spLocks noGrp="1"/>
          </p:cNvSpPr>
          <p:nvPr>
            <p:ph type="body" idx="1"/>
          </p:nvPr>
        </p:nvSpPr>
        <p:spPr>
          <a:xfrm>
            <a:off x="836613" y="1825625"/>
            <a:ext cx="1050607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264B09E6-C041-B548-A5BB-89FBD638FAA1}"/>
              </a:ext>
            </a:extLst>
          </p:cNvPr>
          <p:cNvGrpSpPr/>
          <p:nvPr userDrawn="1"/>
        </p:nvGrpSpPr>
        <p:grpSpPr>
          <a:xfrm>
            <a:off x="0" y="6755141"/>
            <a:ext cx="12179301" cy="99288"/>
            <a:chOff x="196456" y="6335445"/>
            <a:chExt cx="5306303" cy="307340"/>
          </a:xfrm>
        </p:grpSpPr>
        <p:sp>
          <p:nvSpPr>
            <p:cNvPr id="8" name="object 9">
              <a:extLst>
                <a:ext uri="{FF2B5EF4-FFF2-40B4-BE49-F238E27FC236}">
                  <a16:creationId xmlns:a16="http://schemas.microsoft.com/office/drawing/2014/main" id="{332FA3B0-D9CA-2249-822F-FF57E0F6DF68}"/>
                </a:ext>
              </a:extLst>
            </p:cNvPr>
            <p:cNvSpPr/>
            <p:nvPr/>
          </p:nvSpPr>
          <p:spPr>
            <a:xfrm>
              <a:off x="196456" y="6335445"/>
              <a:ext cx="2053307" cy="307340"/>
            </a:xfrm>
            <a:custGeom>
              <a:avLst/>
              <a:gdLst/>
              <a:ahLst/>
              <a:cxnLst/>
              <a:rect l="l" t="t" r="r" b="b"/>
              <a:pathLst>
                <a:path w="1324609" h="307339">
                  <a:moveTo>
                    <a:pt x="0" y="306882"/>
                  </a:moveTo>
                  <a:lnTo>
                    <a:pt x="1324584" y="306882"/>
                  </a:lnTo>
                  <a:lnTo>
                    <a:pt x="1324584" y="0"/>
                  </a:lnTo>
                  <a:lnTo>
                    <a:pt x="0" y="0"/>
                  </a:lnTo>
                  <a:lnTo>
                    <a:pt x="0" y="306882"/>
                  </a:lnTo>
                  <a:close/>
                </a:path>
              </a:pathLst>
            </a:custGeom>
            <a:solidFill>
              <a:srgbClr val="035DBB"/>
            </a:solidFill>
          </p:spPr>
          <p:txBody>
            <a:bodyPr wrap="square" lIns="0" tIns="0" rIns="0" bIns="0" rtlCol="0"/>
            <a:lstStyle/>
            <a:p>
              <a:endParaRPr sz="1798" dirty="0"/>
            </a:p>
          </p:txBody>
        </p:sp>
        <p:sp>
          <p:nvSpPr>
            <p:cNvPr id="9" name="object 10">
              <a:extLst>
                <a:ext uri="{FF2B5EF4-FFF2-40B4-BE49-F238E27FC236}">
                  <a16:creationId xmlns:a16="http://schemas.microsoft.com/office/drawing/2014/main" id="{F5E1FA67-779F-1144-8DA0-8137BDC89C33}"/>
                </a:ext>
              </a:extLst>
            </p:cNvPr>
            <p:cNvSpPr/>
            <p:nvPr/>
          </p:nvSpPr>
          <p:spPr>
            <a:xfrm>
              <a:off x="2249764" y="6335445"/>
              <a:ext cx="1455135" cy="307340"/>
            </a:xfrm>
            <a:custGeom>
              <a:avLst/>
              <a:gdLst/>
              <a:ahLst/>
              <a:cxnLst/>
              <a:rect l="l" t="t" r="r" b="b"/>
              <a:pathLst>
                <a:path w="1324609" h="307339">
                  <a:moveTo>
                    <a:pt x="1324584" y="306882"/>
                  </a:moveTo>
                  <a:lnTo>
                    <a:pt x="0" y="306882"/>
                  </a:lnTo>
                  <a:lnTo>
                    <a:pt x="0" y="0"/>
                  </a:lnTo>
                  <a:lnTo>
                    <a:pt x="1324584" y="0"/>
                  </a:lnTo>
                  <a:lnTo>
                    <a:pt x="1324584" y="306882"/>
                  </a:lnTo>
                  <a:close/>
                </a:path>
              </a:pathLst>
            </a:custGeom>
            <a:solidFill>
              <a:srgbClr val="097AE8"/>
            </a:solidFill>
          </p:spPr>
          <p:txBody>
            <a:bodyPr wrap="square" lIns="0" tIns="0" rIns="0" bIns="0" rtlCol="0"/>
            <a:lstStyle/>
            <a:p>
              <a:endParaRPr sz="1798" dirty="0"/>
            </a:p>
          </p:txBody>
        </p:sp>
        <p:sp>
          <p:nvSpPr>
            <p:cNvPr id="10" name="object 11">
              <a:extLst>
                <a:ext uri="{FF2B5EF4-FFF2-40B4-BE49-F238E27FC236}">
                  <a16:creationId xmlns:a16="http://schemas.microsoft.com/office/drawing/2014/main" id="{A5FD011F-2679-F346-A10F-2E3A0F20D5C4}"/>
                </a:ext>
              </a:extLst>
            </p:cNvPr>
            <p:cNvSpPr/>
            <p:nvPr/>
          </p:nvSpPr>
          <p:spPr>
            <a:xfrm>
              <a:off x="3704901" y="6335445"/>
              <a:ext cx="1042059" cy="307340"/>
            </a:xfrm>
            <a:custGeom>
              <a:avLst/>
              <a:gdLst/>
              <a:ahLst/>
              <a:cxnLst/>
              <a:rect l="l" t="t" r="r" b="b"/>
              <a:pathLst>
                <a:path w="1324609" h="307339">
                  <a:moveTo>
                    <a:pt x="0" y="306882"/>
                  </a:moveTo>
                  <a:lnTo>
                    <a:pt x="1324571" y="306882"/>
                  </a:lnTo>
                  <a:lnTo>
                    <a:pt x="1324571" y="0"/>
                  </a:lnTo>
                  <a:lnTo>
                    <a:pt x="0" y="0"/>
                  </a:lnTo>
                  <a:lnTo>
                    <a:pt x="0" y="306882"/>
                  </a:lnTo>
                  <a:close/>
                </a:path>
              </a:pathLst>
            </a:custGeom>
            <a:solidFill>
              <a:srgbClr val="2DBFFF"/>
            </a:solidFill>
          </p:spPr>
          <p:txBody>
            <a:bodyPr wrap="square" lIns="0" tIns="0" rIns="0" bIns="0" rtlCol="0"/>
            <a:lstStyle/>
            <a:p>
              <a:endParaRPr sz="1798" dirty="0"/>
            </a:p>
          </p:txBody>
        </p:sp>
        <p:sp>
          <p:nvSpPr>
            <p:cNvPr id="11" name="object 12">
              <a:extLst>
                <a:ext uri="{FF2B5EF4-FFF2-40B4-BE49-F238E27FC236}">
                  <a16:creationId xmlns:a16="http://schemas.microsoft.com/office/drawing/2014/main" id="{91EA6475-751A-5544-ACEA-D92AE244A7CE}"/>
                </a:ext>
              </a:extLst>
            </p:cNvPr>
            <p:cNvSpPr/>
            <p:nvPr/>
          </p:nvSpPr>
          <p:spPr>
            <a:xfrm>
              <a:off x="4746959" y="6335445"/>
              <a:ext cx="755800" cy="307340"/>
            </a:xfrm>
            <a:custGeom>
              <a:avLst/>
              <a:gdLst/>
              <a:ahLst/>
              <a:cxnLst/>
              <a:rect l="l" t="t" r="r" b="b"/>
              <a:pathLst>
                <a:path w="1324609" h="307339">
                  <a:moveTo>
                    <a:pt x="1324571" y="306882"/>
                  </a:moveTo>
                  <a:lnTo>
                    <a:pt x="0" y="306882"/>
                  </a:lnTo>
                  <a:lnTo>
                    <a:pt x="0" y="0"/>
                  </a:lnTo>
                  <a:lnTo>
                    <a:pt x="1324571" y="0"/>
                  </a:lnTo>
                  <a:lnTo>
                    <a:pt x="1324571" y="306882"/>
                  </a:lnTo>
                  <a:close/>
                </a:path>
              </a:pathLst>
            </a:custGeom>
            <a:solidFill>
              <a:srgbClr val="B0E7FF"/>
            </a:solidFill>
          </p:spPr>
          <p:txBody>
            <a:bodyPr wrap="square" lIns="0" tIns="0" rIns="0" bIns="0" rtlCol="0"/>
            <a:lstStyle/>
            <a:p>
              <a:endParaRPr sz="1798" dirty="0"/>
            </a:p>
          </p:txBody>
        </p:sp>
      </p:grpSp>
    </p:spTree>
    <p:extLst>
      <p:ext uri="{BB962C8B-B14F-4D97-AF65-F5344CB8AC3E}">
        <p14:creationId xmlns:p14="http://schemas.microsoft.com/office/powerpoint/2010/main" val="122842664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88"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e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www.facebook.com/UnoMindaGroup/" TargetMode="External"/><Relationship Id="rId4" Type="http://schemas.openxmlformats.org/officeDocument/2006/relationships/image" Target="../media/image7.png"/><Relationship Id="rId5" Type="http://schemas.openxmlformats.org/officeDocument/2006/relationships/hyperlink" Target="https://www.linkedin.com/company/unominda/mycompany/" TargetMode="External"/><Relationship Id="rId6" Type="http://schemas.openxmlformats.org/officeDocument/2006/relationships/image" Target="../media/image8.png"/><Relationship Id="rId7" Type="http://schemas.openxmlformats.org/officeDocument/2006/relationships/hyperlink" Target="https://instagram.com/unominda?utm_medium=copy_link" TargetMode="External"/><Relationship Id="rId8" Type="http://schemas.openxmlformats.org/officeDocument/2006/relationships/image" Target="../media/image9.jpeg"/><Relationship Id="rId9" Type="http://schemas.openxmlformats.org/officeDocument/2006/relationships/hyperlink" Target="https://www.youtube.com/channel/UCu088mcVOmv4KyIkuapRL-Q" TargetMode="External"/><Relationship Id="rId10" Type="http://schemas.openxmlformats.org/officeDocument/2006/relationships/image" Target="../media/image10.jpeg"/><Relationship Id="rId11" Type="http://schemas.openxmlformats.org/officeDocument/2006/relationships/image" Target="../media/image3.png"/><Relationship Id="rId12" Type="http://schemas.openxmlformats.org/officeDocument/2006/relationships/hyperlink" Target="https://twitter.com/Unomindacom?ref_src=twsrc%5egoogle|twcamp%5eserp|twgr%5eauthor" TargetMode="External"/><Relationship Id="rId1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p:cNvGrpSpPr/>
          <p:nvPr/>
        </p:nvGrpSpPr>
        <p:grpSpPr>
          <a:xfrm>
            <a:off x="146050" y="0"/>
            <a:ext cx="11887200" cy="6705600"/>
            <a:chOff x="267012" y="0"/>
            <a:chExt cx="11887200" cy="6705600"/>
          </a:xfrm>
        </p:grpSpPr>
        <p:pic>
          <p:nvPicPr>
            <p:cNvPr id="6" name="Picture 5">
              <a:extLst>
                <a:ext uri="{FF2B5EF4-FFF2-40B4-BE49-F238E27FC236}">
                  <a16:creationId xmlns:a16="http://schemas.microsoft.com/office/drawing/2014/main" id="{72178E4E-A9D4-754B-9DA2-AE7CC756D93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095812" y="0"/>
              <a:ext cx="10058400" cy="6705600"/>
            </a:xfrm>
            <a:prstGeom prst="rect">
              <a:avLst/>
            </a:prstGeom>
          </p:spPr>
        </p:pic>
        <p:grpSp>
          <p:nvGrpSpPr>
            <p:cNvPr id="7" name="Group 6">
              <a:extLst>
                <a:ext uri="{FF2B5EF4-FFF2-40B4-BE49-F238E27FC236}">
                  <a16:creationId xmlns:a16="http://schemas.microsoft.com/office/drawing/2014/main" id="{5589C8AE-B222-C748-8664-25A3329EF109}"/>
                </a:ext>
              </a:extLst>
            </p:cNvPr>
            <p:cNvGrpSpPr/>
            <p:nvPr/>
          </p:nvGrpSpPr>
          <p:grpSpPr>
            <a:xfrm>
              <a:off x="10554012" y="2512952"/>
              <a:ext cx="376070" cy="376070"/>
              <a:chOff x="5756135" y="1311137"/>
              <a:chExt cx="527330" cy="527331"/>
            </a:xfrm>
          </p:grpSpPr>
          <p:sp>
            <p:nvSpPr>
              <p:cNvPr id="8" name="Oval 7">
                <a:extLst>
                  <a:ext uri="{FF2B5EF4-FFF2-40B4-BE49-F238E27FC236}">
                    <a16:creationId xmlns:a16="http://schemas.microsoft.com/office/drawing/2014/main" id="{1040E639-C2FC-A446-87A8-D35F9765A5FA}"/>
                  </a:ext>
                </a:extLst>
              </p:cNvPr>
              <p:cNvSpPr/>
              <p:nvPr/>
            </p:nvSpPr>
            <p:spPr>
              <a:xfrm>
                <a:off x="5756135" y="1311137"/>
                <a:ext cx="527330" cy="527331"/>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9" name="Oval 8">
                <a:extLst>
                  <a:ext uri="{FF2B5EF4-FFF2-40B4-BE49-F238E27FC236}">
                    <a16:creationId xmlns:a16="http://schemas.microsoft.com/office/drawing/2014/main" id="{8FBD5BB8-7CA4-2E47-8090-F40E47F9A56A}"/>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10" name="Oval 9">
                <a:extLst>
                  <a:ext uri="{FF2B5EF4-FFF2-40B4-BE49-F238E27FC236}">
                    <a16:creationId xmlns:a16="http://schemas.microsoft.com/office/drawing/2014/main" id="{3D85D98A-4AFB-4B40-BA84-3AF255EF23B6}"/>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11" name="Group 10">
              <a:extLst>
                <a:ext uri="{FF2B5EF4-FFF2-40B4-BE49-F238E27FC236}">
                  <a16:creationId xmlns:a16="http://schemas.microsoft.com/office/drawing/2014/main" id="{6F4C017C-CC0E-F94C-8F21-936CB924B457}"/>
                </a:ext>
              </a:extLst>
            </p:cNvPr>
            <p:cNvGrpSpPr/>
            <p:nvPr/>
          </p:nvGrpSpPr>
          <p:grpSpPr>
            <a:xfrm>
              <a:off x="8809989" y="2939738"/>
              <a:ext cx="576364" cy="576363"/>
              <a:chOff x="5756135" y="1311135"/>
              <a:chExt cx="527330" cy="527330"/>
            </a:xfrm>
          </p:grpSpPr>
          <p:sp>
            <p:nvSpPr>
              <p:cNvPr id="12" name="Oval 11">
                <a:extLst>
                  <a:ext uri="{FF2B5EF4-FFF2-40B4-BE49-F238E27FC236}">
                    <a16:creationId xmlns:a16="http://schemas.microsoft.com/office/drawing/2014/main" id="{14B4AA65-114C-744B-AB2B-FA84AA8F9DAC}"/>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13" name="Oval 12">
                <a:extLst>
                  <a:ext uri="{FF2B5EF4-FFF2-40B4-BE49-F238E27FC236}">
                    <a16:creationId xmlns:a16="http://schemas.microsoft.com/office/drawing/2014/main" id="{ECF99C62-105F-9848-99D1-ECF1C1B62B7C}"/>
                  </a:ext>
                </a:extLst>
              </p:cNvPr>
              <p:cNvSpPr/>
              <p:nvPr/>
            </p:nvSpPr>
            <p:spPr>
              <a:xfrm>
                <a:off x="5834678" y="1394084"/>
                <a:ext cx="368300" cy="368301"/>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14" name="Oval 13">
                <a:extLst>
                  <a:ext uri="{FF2B5EF4-FFF2-40B4-BE49-F238E27FC236}">
                    <a16:creationId xmlns:a16="http://schemas.microsoft.com/office/drawing/2014/main" id="{D015A1B5-ECF1-6B4C-A5C8-B8208142B24E}"/>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15" name="Group 14">
              <a:extLst>
                <a:ext uri="{FF2B5EF4-FFF2-40B4-BE49-F238E27FC236}">
                  <a16:creationId xmlns:a16="http://schemas.microsoft.com/office/drawing/2014/main" id="{15FC0D5D-24E0-2940-BD83-DDC08C9808D8}"/>
                </a:ext>
              </a:extLst>
            </p:cNvPr>
            <p:cNvGrpSpPr/>
            <p:nvPr/>
          </p:nvGrpSpPr>
          <p:grpSpPr>
            <a:xfrm>
              <a:off x="9632603" y="3421853"/>
              <a:ext cx="376070" cy="376070"/>
              <a:chOff x="5756135" y="1311135"/>
              <a:chExt cx="527330" cy="527330"/>
            </a:xfrm>
          </p:grpSpPr>
          <p:sp>
            <p:nvSpPr>
              <p:cNvPr id="16" name="Oval 15">
                <a:extLst>
                  <a:ext uri="{FF2B5EF4-FFF2-40B4-BE49-F238E27FC236}">
                    <a16:creationId xmlns:a16="http://schemas.microsoft.com/office/drawing/2014/main" id="{3B55D1E7-44D3-B94A-A2D6-0A458CA36A2F}"/>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17" name="Oval 16">
                <a:extLst>
                  <a:ext uri="{FF2B5EF4-FFF2-40B4-BE49-F238E27FC236}">
                    <a16:creationId xmlns:a16="http://schemas.microsoft.com/office/drawing/2014/main" id="{223359EE-38AE-2B43-8FDD-513351BC62D0}"/>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18" name="Oval 17">
                <a:extLst>
                  <a:ext uri="{FF2B5EF4-FFF2-40B4-BE49-F238E27FC236}">
                    <a16:creationId xmlns:a16="http://schemas.microsoft.com/office/drawing/2014/main" id="{76442FD1-3578-3D4D-93CF-C91107CFD8F1}"/>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19" name="Group 18">
              <a:extLst>
                <a:ext uri="{FF2B5EF4-FFF2-40B4-BE49-F238E27FC236}">
                  <a16:creationId xmlns:a16="http://schemas.microsoft.com/office/drawing/2014/main" id="{1D4E684C-E72C-BC4A-BF87-D6733C4B104F}"/>
                </a:ext>
              </a:extLst>
            </p:cNvPr>
            <p:cNvGrpSpPr/>
            <p:nvPr/>
          </p:nvGrpSpPr>
          <p:grpSpPr>
            <a:xfrm>
              <a:off x="7252823" y="2862671"/>
              <a:ext cx="262657" cy="262657"/>
              <a:chOff x="5756135" y="1311135"/>
              <a:chExt cx="527330" cy="527330"/>
            </a:xfrm>
          </p:grpSpPr>
          <p:sp>
            <p:nvSpPr>
              <p:cNvPr id="20" name="Oval 19">
                <a:extLst>
                  <a:ext uri="{FF2B5EF4-FFF2-40B4-BE49-F238E27FC236}">
                    <a16:creationId xmlns:a16="http://schemas.microsoft.com/office/drawing/2014/main" id="{75F19C7D-BE7A-3A47-ACBF-D631171F8300}"/>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21" name="Oval 20">
                <a:extLst>
                  <a:ext uri="{FF2B5EF4-FFF2-40B4-BE49-F238E27FC236}">
                    <a16:creationId xmlns:a16="http://schemas.microsoft.com/office/drawing/2014/main" id="{B3F52A3F-2B83-6649-91C6-F92D20098CDE}"/>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22" name="Oval 21">
                <a:extLst>
                  <a:ext uri="{FF2B5EF4-FFF2-40B4-BE49-F238E27FC236}">
                    <a16:creationId xmlns:a16="http://schemas.microsoft.com/office/drawing/2014/main" id="{08909E9E-FEC1-6147-AC9C-F3D5C45D7841}"/>
                  </a:ext>
                </a:extLst>
              </p:cNvPr>
              <p:cNvSpPr/>
              <p:nvPr/>
            </p:nvSpPr>
            <p:spPr>
              <a:xfrm>
                <a:off x="5923107" y="1491109"/>
                <a:ext cx="180847" cy="180847"/>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23" name="Group 22">
              <a:extLst>
                <a:ext uri="{FF2B5EF4-FFF2-40B4-BE49-F238E27FC236}">
                  <a16:creationId xmlns:a16="http://schemas.microsoft.com/office/drawing/2014/main" id="{6A74FDCE-C482-734D-A6A7-332E362C0474}"/>
                </a:ext>
              </a:extLst>
            </p:cNvPr>
            <p:cNvGrpSpPr/>
            <p:nvPr/>
          </p:nvGrpSpPr>
          <p:grpSpPr>
            <a:xfrm>
              <a:off x="10145537" y="2831764"/>
              <a:ext cx="262657" cy="262657"/>
              <a:chOff x="5756135" y="1311135"/>
              <a:chExt cx="527330" cy="527330"/>
            </a:xfrm>
          </p:grpSpPr>
          <p:sp>
            <p:nvSpPr>
              <p:cNvPr id="24" name="Oval 23">
                <a:extLst>
                  <a:ext uri="{FF2B5EF4-FFF2-40B4-BE49-F238E27FC236}">
                    <a16:creationId xmlns:a16="http://schemas.microsoft.com/office/drawing/2014/main" id="{C0DAA129-01BF-F648-AF2E-5A4E665CBC24}"/>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25" name="Oval 24">
                <a:extLst>
                  <a:ext uri="{FF2B5EF4-FFF2-40B4-BE49-F238E27FC236}">
                    <a16:creationId xmlns:a16="http://schemas.microsoft.com/office/drawing/2014/main" id="{721088E4-F64E-D847-9162-07A114E80650}"/>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26" name="Oval 25">
                <a:extLst>
                  <a:ext uri="{FF2B5EF4-FFF2-40B4-BE49-F238E27FC236}">
                    <a16:creationId xmlns:a16="http://schemas.microsoft.com/office/drawing/2014/main" id="{2BA24042-D44F-FA44-A9B5-949A295F894D}"/>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27" name="Group 26">
              <a:extLst>
                <a:ext uri="{FF2B5EF4-FFF2-40B4-BE49-F238E27FC236}">
                  <a16:creationId xmlns:a16="http://schemas.microsoft.com/office/drawing/2014/main" id="{28DC0FB8-4C06-2F4C-B874-54B8B3B1FE13}"/>
                </a:ext>
              </a:extLst>
            </p:cNvPr>
            <p:cNvGrpSpPr/>
            <p:nvPr/>
          </p:nvGrpSpPr>
          <p:grpSpPr>
            <a:xfrm>
              <a:off x="7139410" y="2200745"/>
              <a:ext cx="376070" cy="376070"/>
              <a:chOff x="5756135" y="1311135"/>
              <a:chExt cx="527330" cy="527330"/>
            </a:xfrm>
          </p:grpSpPr>
          <p:sp>
            <p:nvSpPr>
              <p:cNvPr id="28" name="Oval 27">
                <a:extLst>
                  <a:ext uri="{FF2B5EF4-FFF2-40B4-BE49-F238E27FC236}">
                    <a16:creationId xmlns:a16="http://schemas.microsoft.com/office/drawing/2014/main" id="{BA6A7AF5-8161-F149-932B-CDAEFB6E5D57}"/>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29" name="Oval 28">
                <a:extLst>
                  <a:ext uri="{FF2B5EF4-FFF2-40B4-BE49-F238E27FC236}">
                    <a16:creationId xmlns:a16="http://schemas.microsoft.com/office/drawing/2014/main" id="{00432531-06D5-384D-96B4-861128AEE870}"/>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30" name="Oval 29">
                <a:extLst>
                  <a:ext uri="{FF2B5EF4-FFF2-40B4-BE49-F238E27FC236}">
                    <a16:creationId xmlns:a16="http://schemas.microsoft.com/office/drawing/2014/main" id="{BCD06443-6580-924A-953B-6117838A3315}"/>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31" name="Group 30">
              <a:extLst>
                <a:ext uri="{FF2B5EF4-FFF2-40B4-BE49-F238E27FC236}">
                  <a16:creationId xmlns:a16="http://schemas.microsoft.com/office/drawing/2014/main" id="{BB86641A-BED6-534E-B7B6-562DD3007B84}"/>
                </a:ext>
              </a:extLst>
            </p:cNvPr>
            <p:cNvGrpSpPr/>
            <p:nvPr/>
          </p:nvGrpSpPr>
          <p:grpSpPr>
            <a:xfrm>
              <a:off x="6851574" y="2617930"/>
              <a:ext cx="376070" cy="376070"/>
              <a:chOff x="5756135" y="1311135"/>
              <a:chExt cx="527330" cy="527330"/>
            </a:xfrm>
          </p:grpSpPr>
          <p:sp>
            <p:nvSpPr>
              <p:cNvPr id="32" name="Oval 31">
                <a:extLst>
                  <a:ext uri="{FF2B5EF4-FFF2-40B4-BE49-F238E27FC236}">
                    <a16:creationId xmlns:a16="http://schemas.microsoft.com/office/drawing/2014/main" id="{E0D0D50E-C02F-A541-9DF6-1000EE36ABD4}"/>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33" name="Oval 32">
                <a:extLst>
                  <a:ext uri="{FF2B5EF4-FFF2-40B4-BE49-F238E27FC236}">
                    <a16:creationId xmlns:a16="http://schemas.microsoft.com/office/drawing/2014/main" id="{F8FBC5D4-67A2-F147-9C7E-495A5F710E17}"/>
                  </a:ext>
                </a:extLst>
              </p:cNvPr>
              <p:cNvSpPr/>
              <p:nvPr/>
            </p:nvSpPr>
            <p:spPr>
              <a:xfrm>
                <a:off x="5834679" y="1394084"/>
                <a:ext cx="368299"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34" name="Oval 33">
                <a:extLst>
                  <a:ext uri="{FF2B5EF4-FFF2-40B4-BE49-F238E27FC236}">
                    <a16:creationId xmlns:a16="http://schemas.microsoft.com/office/drawing/2014/main" id="{38333FFD-CA12-1540-879B-A99AF2CDE183}"/>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35" name="Group 34">
              <a:extLst>
                <a:ext uri="{FF2B5EF4-FFF2-40B4-BE49-F238E27FC236}">
                  <a16:creationId xmlns:a16="http://schemas.microsoft.com/office/drawing/2014/main" id="{93E91310-5F23-0445-856E-3789924F66B8}"/>
                </a:ext>
              </a:extLst>
            </p:cNvPr>
            <p:cNvGrpSpPr/>
            <p:nvPr/>
          </p:nvGrpSpPr>
          <p:grpSpPr>
            <a:xfrm>
              <a:off x="5003108" y="4101523"/>
              <a:ext cx="376070" cy="376070"/>
              <a:chOff x="5756135" y="1311137"/>
              <a:chExt cx="527330" cy="527331"/>
            </a:xfrm>
          </p:grpSpPr>
          <p:sp>
            <p:nvSpPr>
              <p:cNvPr id="36" name="Oval 35">
                <a:extLst>
                  <a:ext uri="{FF2B5EF4-FFF2-40B4-BE49-F238E27FC236}">
                    <a16:creationId xmlns:a16="http://schemas.microsoft.com/office/drawing/2014/main" id="{2EBF5773-1129-124F-ADEF-F3E327A155BF}"/>
                  </a:ext>
                </a:extLst>
              </p:cNvPr>
              <p:cNvSpPr/>
              <p:nvPr/>
            </p:nvSpPr>
            <p:spPr>
              <a:xfrm>
                <a:off x="5756135" y="1311137"/>
                <a:ext cx="527330" cy="527331"/>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37" name="Oval 36">
                <a:extLst>
                  <a:ext uri="{FF2B5EF4-FFF2-40B4-BE49-F238E27FC236}">
                    <a16:creationId xmlns:a16="http://schemas.microsoft.com/office/drawing/2014/main" id="{EC73B20E-AF2B-B84F-BB03-8E707DC7F335}"/>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38" name="Oval 37">
                <a:extLst>
                  <a:ext uri="{FF2B5EF4-FFF2-40B4-BE49-F238E27FC236}">
                    <a16:creationId xmlns:a16="http://schemas.microsoft.com/office/drawing/2014/main" id="{7B9D8CAF-A982-0749-996E-A751E9980A51}"/>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39" name="Group 38">
              <a:extLst>
                <a:ext uri="{FF2B5EF4-FFF2-40B4-BE49-F238E27FC236}">
                  <a16:creationId xmlns:a16="http://schemas.microsoft.com/office/drawing/2014/main" id="{411028C5-3519-7641-8744-85BDC7418FB8}"/>
                </a:ext>
              </a:extLst>
            </p:cNvPr>
            <p:cNvGrpSpPr/>
            <p:nvPr/>
          </p:nvGrpSpPr>
          <p:grpSpPr>
            <a:xfrm>
              <a:off x="4067871" y="2937293"/>
              <a:ext cx="376070" cy="376070"/>
              <a:chOff x="5756135" y="1311135"/>
              <a:chExt cx="527330" cy="527330"/>
            </a:xfrm>
          </p:grpSpPr>
          <p:sp>
            <p:nvSpPr>
              <p:cNvPr id="40" name="Oval 39">
                <a:extLst>
                  <a:ext uri="{FF2B5EF4-FFF2-40B4-BE49-F238E27FC236}">
                    <a16:creationId xmlns:a16="http://schemas.microsoft.com/office/drawing/2014/main" id="{16018E1A-61EF-EE41-95B4-2A8998DC5519}"/>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41" name="Oval 40">
                <a:extLst>
                  <a:ext uri="{FF2B5EF4-FFF2-40B4-BE49-F238E27FC236}">
                    <a16:creationId xmlns:a16="http://schemas.microsoft.com/office/drawing/2014/main" id="{75F7136D-71C8-CA4D-8162-A709F1E4B0AF}"/>
                  </a:ext>
                </a:extLst>
              </p:cNvPr>
              <p:cNvSpPr/>
              <p:nvPr/>
            </p:nvSpPr>
            <p:spPr>
              <a:xfrm>
                <a:off x="5834679" y="1394084"/>
                <a:ext cx="368299"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42" name="Oval 41">
                <a:extLst>
                  <a:ext uri="{FF2B5EF4-FFF2-40B4-BE49-F238E27FC236}">
                    <a16:creationId xmlns:a16="http://schemas.microsoft.com/office/drawing/2014/main" id="{F2B358E7-978B-5546-844D-2BCA91B581F1}"/>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sp>
          <p:nvSpPr>
            <p:cNvPr id="4" name="Title 14">
              <a:extLst>
                <a:ext uri="{FF2B5EF4-FFF2-40B4-BE49-F238E27FC236}">
                  <a16:creationId xmlns:a16="http://schemas.microsoft.com/office/drawing/2014/main" id="{15B75061-CCA8-EE46-AC50-C67FD5C5D1F7}"/>
                </a:ext>
              </a:extLst>
            </p:cNvPr>
            <p:cNvSpPr txBox="1">
              <a:spLocks/>
            </p:cNvSpPr>
            <p:nvPr/>
          </p:nvSpPr>
          <p:spPr>
            <a:xfrm>
              <a:off x="267012" y="5269142"/>
              <a:ext cx="11536588" cy="103505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mn-lt"/>
                </a:rPr>
                <a:t>____________( Heading)</a:t>
              </a:r>
            </a:p>
            <a:p>
              <a:r>
                <a:rPr lang="en-US" sz="3200" b="1" dirty="0">
                  <a:latin typeface="+mn-lt"/>
                </a:rPr>
                <a:t>________________( Business/Division)</a:t>
              </a:r>
            </a:p>
            <a:p>
              <a:r>
                <a:rPr lang="en-US" sz="1998" b="1" i="1">
                  <a:latin typeface="+mn-lt"/>
                </a:rPr>
                <a:t xml:space="preserve">____________ 2025 </a:t>
              </a:r>
              <a:r>
                <a:rPr lang="en-US" sz="1998" b="1" i="1" dirty="0">
                  <a:latin typeface="+mn-lt"/>
                </a:rPr>
                <a:t>( Date)</a:t>
              </a:r>
            </a:p>
          </p:txBody>
        </p:sp>
      </p:grpSp>
      <p:pic>
        <p:nvPicPr>
          <p:cNvPr id="44" name="Picture 43">
            <a:extLst>
              <a:ext uri="{FF2B5EF4-FFF2-40B4-BE49-F238E27FC236}">
                <a16:creationId xmlns:a16="http://schemas.microsoft.com/office/drawing/2014/main" id="{CA047C07-817C-47E3-B2AB-849B5D0A54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308" y="2864608"/>
            <a:ext cx="3919025" cy="2054290"/>
          </a:xfrm>
          <a:prstGeom prst="rect">
            <a:avLst/>
          </a:prstGeom>
        </p:spPr>
      </p:pic>
      <p:sp>
        <p:nvSpPr>
          <p:cNvPr id="2" name="GTBClassificationF1788952312">
            <a:extLst>
              <a:ext uri="{FF2B5EF4-FFF2-40B4-BE49-F238E27FC236}">
                <a16:creationId xmlns:a16="http://schemas.microsoft.com/office/drawing/2014/main" id="{F7604711-CB08-42F1-BCF5-0F3821EBD880}"/>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1858497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TBClassificationF587139386">
            <a:extLst>
              <a:ext uri="{FF2B5EF4-FFF2-40B4-BE49-F238E27FC236}">
                <a16:creationId xmlns:a16="http://schemas.microsoft.com/office/drawing/2014/main" id="{9CDF7173-5CA8-46E8-AD6D-EE30029521D1}"/>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
        <p:nvSpPr>
          <p:cNvPr id="5" name="TextBox 4"/>
          <p:cNvSpPr txBox="1"/>
          <p:nvPr/>
        </p:nvSpPr>
        <p:spPr>
          <a:xfrm>
            <a:off x="228600" y="109728"/>
            <a:ext cx="8686800" cy="594360"/>
          </a:xfrm>
          <a:prstGeom prst="rect">
            <a:avLst/>
          </a:prstGeom>
          <a:noFill/>
        </p:spPr>
        <p:txBody>
          <a:bodyPr wrap="square">
            <a:spAutoFit/>
          </a:bodyPr>
          <a:lstStyle/>
          <a:p>
            <a:pPr algn="l"/>
            <a:r>
              <a:rPr sz="2800" b="1" i="0">
                <a:solidFill>
                  <a:srgbClr val="097AE8"/>
                </a:solidFill>
                <a:latin typeface="Calibri"/>
              </a:rPr>
              <a:t>Production Planning</a:t>
            </a:r>
          </a:p>
        </p:txBody>
      </p:sp>
      <p:sp>
        <p:nvSpPr>
          <p:cNvPr id="6" name="Rectangle 5"/>
          <p:cNvSpPr/>
          <p:nvPr/>
        </p:nvSpPr>
        <p:spPr>
          <a:xfrm>
            <a:off x="0" y="822960"/>
            <a:ext cx="12179808" cy="365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28600" y="914400"/>
            <a:ext cx="8046720" cy="594360"/>
          </a:xfrm>
          <a:prstGeom prst="roundRect">
            <a:avLst>
              <a:gd name="adj" fmla="val 8000"/>
            </a:avLst>
          </a:prstGeom>
          <a:solidFill>
            <a:srgbClr val="DBEAFE"/>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i="0">
                <a:solidFill>
                  <a:srgbClr val="1A2E4A"/>
                </a:solidFill>
                <a:latin typeface="Calibri"/>
              </a:rPr>
              <a:t>A systematic approach to organizing resources, machines &amp; materials — ensuring the right parts are produced at the right time, in the right quantity.</a:t>
            </a:r>
          </a:p>
        </p:txBody>
      </p:sp>
      <p:sp>
        <p:nvSpPr>
          <p:cNvPr id="8" name="TextBox 7"/>
          <p:cNvSpPr txBox="1"/>
          <p:nvPr/>
        </p:nvSpPr>
        <p:spPr>
          <a:xfrm>
            <a:off x="228600" y="1600200"/>
            <a:ext cx="8229600" cy="320040"/>
          </a:xfrm>
          <a:prstGeom prst="rect">
            <a:avLst/>
          </a:prstGeom>
          <a:noFill/>
        </p:spPr>
        <p:txBody>
          <a:bodyPr wrap="square">
            <a:spAutoFit/>
          </a:bodyPr>
          <a:lstStyle/>
          <a:p>
            <a:pPr algn="l"/>
            <a:r>
              <a:rPr sz="1300" b="1" i="0">
                <a:solidFill>
                  <a:srgbClr val="1A2E4A"/>
                </a:solidFill>
                <a:latin typeface="Calibri"/>
              </a:rPr>
              <a:t>KEY ELEMENTS OF PRODUCTION PLANNING</a:t>
            </a:r>
          </a:p>
        </p:txBody>
      </p:sp>
      <p:sp>
        <p:nvSpPr>
          <p:cNvPr id="9" name="Rounded Rectangle 8"/>
          <p:cNvSpPr/>
          <p:nvPr/>
        </p:nvSpPr>
        <p:spPr>
          <a:xfrm>
            <a:off x="228600" y="1965960"/>
            <a:ext cx="3749039" cy="914400"/>
          </a:xfrm>
          <a:prstGeom prst="roundRect">
            <a:avLst>
              <a:gd name="adj" fmla="val 8000"/>
            </a:avLst>
          </a:prstGeom>
          <a:solidFill>
            <a:srgbClr val="F0F4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965960"/>
            <a:ext cx="54864" cy="9144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2039112"/>
            <a:ext cx="3566159" cy="292608"/>
          </a:xfrm>
          <a:prstGeom prst="rect">
            <a:avLst/>
          </a:prstGeom>
          <a:noFill/>
        </p:spPr>
        <p:txBody>
          <a:bodyPr wrap="square">
            <a:spAutoFit/>
          </a:bodyPr>
          <a:lstStyle/>
          <a:p>
            <a:pPr algn="l"/>
            <a:r>
              <a:rPr sz="1300" b="1" i="0">
                <a:solidFill>
                  <a:srgbClr val="0070C0"/>
                </a:solidFill>
                <a:latin typeface="Calibri"/>
              </a:rPr>
              <a:t>📦  Demand (Indent)</a:t>
            </a:r>
          </a:p>
        </p:txBody>
      </p:sp>
      <p:sp>
        <p:nvSpPr>
          <p:cNvPr id="12" name="TextBox 11"/>
          <p:cNvSpPr txBox="1"/>
          <p:nvPr/>
        </p:nvSpPr>
        <p:spPr>
          <a:xfrm>
            <a:off x="338328" y="2350008"/>
            <a:ext cx="3566159" cy="502920"/>
          </a:xfrm>
          <a:prstGeom prst="rect">
            <a:avLst/>
          </a:prstGeom>
          <a:noFill/>
        </p:spPr>
        <p:txBody>
          <a:bodyPr wrap="square">
            <a:spAutoFit/>
          </a:bodyPr>
          <a:lstStyle/>
          <a:p>
            <a:pPr algn="l"/>
            <a:r>
              <a:rPr sz="1100" b="0" i="0">
                <a:solidFill>
                  <a:srgbClr val="64748B"/>
                </a:solidFill>
                <a:latin typeface="Calibri"/>
              </a:rPr>
              <a:t>How much needs to be made daily / monthly</a:t>
            </a:r>
          </a:p>
        </p:txBody>
      </p:sp>
      <p:sp>
        <p:nvSpPr>
          <p:cNvPr id="13" name="Rounded Rectangle 12"/>
          <p:cNvSpPr/>
          <p:nvPr/>
        </p:nvSpPr>
        <p:spPr>
          <a:xfrm>
            <a:off x="4114800" y="1965960"/>
            <a:ext cx="3749039" cy="914400"/>
          </a:xfrm>
          <a:prstGeom prst="roundRect">
            <a:avLst>
              <a:gd name="adj" fmla="val 8000"/>
            </a:avLst>
          </a:prstGeom>
          <a:solidFill>
            <a:srgbClr val="F0F4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0" y="1965960"/>
            <a:ext cx="54864" cy="914400"/>
          </a:xfrm>
          <a:prstGeom prst="rect">
            <a:avLst/>
          </a:prstGeom>
          <a:solidFill>
            <a:srgbClr val="0062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24528" y="2039112"/>
            <a:ext cx="3566159" cy="292608"/>
          </a:xfrm>
          <a:prstGeom prst="rect">
            <a:avLst/>
          </a:prstGeom>
          <a:noFill/>
        </p:spPr>
        <p:txBody>
          <a:bodyPr wrap="square">
            <a:spAutoFit/>
          </a:bodyPr>
          <a:lstStyle/>
          <a:p>
            <a:pPr algn="l"/>
            <a:r>
              <a:rPr sz="1300" b="1" i="0">
                <a:solidFill>
                  <a:srgbClr val="0062B1"/>
                </a:solidFill>
                <a:latin typeface="Calibri"/>
              </a:rPr>
              <a:t>⚙️  Capacity</a:t>
            </a:r>
          </a:p>
        </p:txBody>
      </p:sp>
      <p:sp>
        <p:nvSpPr>
          <p:cNvPr id="16" name="TextBox 15"/>
          <p:cNvSpPr txBox="1"/>
          <p:nvPr/>
        </p:nvSpPr>
        <p:spPr>
          <a:xfrm>
            <a:off x="4224528" y="2350008"/>
            <a:ext cx="3566159" cy="502920"/>
          </a:xfrm>
          <a:prstGeom prst="rect">
            <a:avLst/>
          </a:prstGeom>
          <a:noFill/>
        </p:spPr>
        <p:txBody>
          <a:bodyPr wrap="square">
            <a:spAutoFit/>
          </a:bodyPr>
          <a:lstStyle/>
          <a:p>
            <a:pPr algn="l"/>
            <a:r>
              <a:rPr sz="1100" b="0" i="0">
                <a:solidFill>
                  <a:srgbClr val="64748B"/>
                </a:solidFill>
                <a:latin typeface="Calibri"/>
              </a:rPr>
              <a:t>How many hours machines can run</a:t>
            </a:r>
          </a:p>
        </p:txBody>
      </p:sp>
      <p:sp>
        <p:nvSpPr>
          <p:cNvPr id="17" name="Rounded Rectangle 16"/>
          <p:cNvSpPr/>
          <p:nvPr/>
        </p:nvSpPr>
        <p:spPr>
          <a:xfrm>
            <a:off x="8001000" y="1965960"/>
            <a:ext cx="3749039" cy="914400"/>
          </a:xfrm>
          <a:prstGeom prst="roundRect">
            <a:avLst>
              <a:gd name="adj" fmla="val 8000"/>
            </a:avLst>
          </a:prstGeom>
          <a:solidFill>
            <a:srgbClr val="F0F4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01000" y="1965960"/>
            <a:ext cx="54864" cy="9144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0727" y="2039112"/>
            <a:ext cx="3566159" cy="292608"/>
          </a:xfrm>
          <a:prstGeom prst="rect">
            <a:avLst/>
          </a:prstGeom>
          <a:noFill/>
        </p:spPr>
        <p:txBody>
          <a:bodyPr wrap="square">
            <a:spAutoFit/>
          </a:bodyPr>
          <a:lstStyle/>
          <a:p>
            <a:pPr algn="l"/>
            <a:r>
              <a:rPr sz="1300" b="1" i="0">
                <a:solidFill>
                  <a:srgbClr val="1A7A4A"/>
                </a:solidFill>
                <a:latin typeface="Calibri"/>
              </a:rPr>
              <a:t>🗃️  Inventory</a:t>
            </a:r>
          </a:p>
        </p:txBody>
      </p:sp>
      <p:sp>
        <p:nvSpPr>
          <p:cNvPr id="20" name="TextBox 19"/>
          <p:cNvSpPr txBox="1"/>
          <p:nvPr/>
        </p:nvSpPr>
        <p:spPr>
          <a:xfrm>
            <a:off x="8110727" y="2350008"/>
            <a:ext cx="3566159" cy="502920"/>
          </a:xfrm>
          <a:prstGeom prst="rect">
            <a:avLst/>
          </a:prstGeom>
          <a:noFill/>
        </p:spPr>
        <p:txBody>
          <a:bodyPr wrap="square">
            <a:spAutoFit/>
          </a:bodyPr>
          <a:lstStyle/>
          <a:p>
            <a:pPr algn="l"/>
            <a:r>
              <a:rPr sz="1100" b="0" i="0">
                <a:solidFill>
                  <a:srgbClr val="64748B"/>
                </a:solidFill>
                <a:latin typeface="Calibri"/>
              </a:rPr>
              <a:t>How many parts are already in stock</a:t>
            </a:r>
          </a:p>
        </p:txBody>
      </p:sp>
      <p:sp>
        <p:nvSpPr>
          <p:cNvPr id="21" name="Rounded Rectangle 20"/>
          <p:cNvSpPr/>
          <p:nvPr/>
        </p:nvSpPr>
        <p:spPr>
          <a:xfrm>
            <a:off x="228600" y="2999232"/>
            <a:ext cx="3749039" cy="914400"/>
          </a:xfrm>
          <a:prstGeom prst="roundRect">
            <a:avLst>
              <a:gd name="adj" fmla="val 8000"/>
            </a:avLst>
          </a:prstGeom>
          <a:solidFill>
            <a:srgbClr val="F0F4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8600" y="2999232"/>
            <a:ext cx="54864" cy="9144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 y="3072384"/>
            <a:ext cx="3566159" cy="292608"/>
          </a:xfrm>
          <a:prstGeom prst="rect">
            <a:avLst/>
          </a:prstGeom>
          <a:noFill/>
        </p:spPr>
        <p:txBody>
          <a:bodyPr wrap="square">
            <a:spAutoFit/>
          </a:bodyPr>
          <a:lstStyle/>
          <a:p>
            <a:pPr algn="l"/>
            <a:r>
              <a:rPr sz="1300" b="1" i="0">
                <a:solidFill>
                  <a:srgbClr val="ED7D31"/>
                </a:solidFill>
                <a:latin typeface="Calibri"/>
              </a:rPr>
              <a:t>📅  Scheduling</a:t>
            </a:r>
          </a:p>
        </p:txBody>
      </p:sp>
      <p:sp>
        <p:nvSpPr>
          <p:cNvPr id="24" name="TextBox 23"/>
          <p:cNvSpPr txBox="1"/>
          <p:nvPr/>
        </p:nvSpPr>
        <p:spPr>
          <a:xfrm>
            <a:off x="338328" y="3383279"/>
            <a:ext cx="3566159" cy="502920"/>
          </a:xfrm>
          <a:prstGeom prst="rect">
            <a:avLst/>
          </a:prstGeom>
          <a:noFill/>
        </p:spPr>
        <p:txBody>
          <a:bodyPr wrap="square">
            <a:spAutoFit/>
          </a:bodyPr>
          <a:lstStyle/>
          <a:p>
            <a:pPr algn="l"/>
            <a:r>
              <a:rPr sz="1100" b="0" i="0">
                <a:solidFill>
                  <a:srgbClr val="64748B"/>
                </a:solidFill>
                <a:latin typeface="Calibri"/>
              </a:rPr>
              <a:t>Which part to make first, on which machine</a:t>
            </a:r>
          </a:p>
        </p:txBody>
      </p:sp>
      <p:sp>
        <p:nvSpPr>
          <p:cNvPr id="25" name="Rounded Rectangle 24"/>
          <p:cNvSpPr/>
          <p:nvPr/>
        </p:nvSpPr>
        <p:spPr>
          <a:xfrm>
            <a:off x="4114800" y="2999232"/>
            <a:ext cx="3749039" cy="914400"/>
          </a:xfrm>
          <a:prstGeom prst="roundRect">
            <a:avLst>
              <a:gd name="adj" fmla="val 8000"/>
            </a:avLst>
          </a:prstGeom>
          <a:solidFill>
            <a:srgbClr val="F0F4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0" y="2999232"/>
            <a:ext cx="54864" cy="914400"/>
          </a:xfrm>
          <a:prstGeom prst="rect">
            <a:avLst/>
          </a:prstGeom>
          <a:solidFill>
            <a:srgbClr val="14A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3072384"/>
            <a:ext cx="3566159" cy="292608"/>
          </a:xfrm>
          <a:prstGeom prst="rect">
            <a:avLst/>
          </a:prstGeom>
          <a:noFill/>
        </p:spPr>
        <p:txBody>
          <a:bodyPr wrap="square">
            <a:spAutoFit/>
          </a:bodyPr>
          <a:lstStyle/>
          <a:p>
            <a:pPr algn="l"/>
            <a:r>
              <a:rPr sz="1300" b="1" i="0">
                <a:solidFill>
                  <a:srgbClr val="14A3A8"/>
                </a:solidFill>
                <a:latin typeface="Calibri"/>
              </a:rPr>
              <a:t>🔧  Resources</a:t>
            </a:r>
          </a:p>
        </p:txBody>
      </p:sp>
      <p:sp>
        <p:nvSpPr>
          <p:cNvPr id="28" name="TextBox 27"/>
          <p:cNvSpPr txBox="1"/>
          <p:nvPr/>
        </p:nvSpPr>
        <p:spPr>
          <a:xfrm>
            <a:off x="4224528" y="3383279"/>
            <a:ext cx="3566159" cy="502920"/>
          </a:xfrm>
          <a:prstGeom prst="rect">
            <a:avLst/>
          </a:prstGeom>
          <a:noFill/>
        </p:spPr>
        <p:txBody>
          <a:bodyPr wrap="square">
            <a:spAutoFit/>
          </a:bodyPr>
          <a:lstStyle/>
          <a:p>
            <a:pPr algn="l"/>
            <a:r>
              <a:rPr sz="1100" b="0" i="0">
                <a:solidFill>
                  <a:srgbClr val="64748B"/>
                </a:solidFill>
                <a:latin typeface="Calibri"/>
              </a:rPr>
              <a:t>Machines, tools, colors &amp; terminals needed</a:t>
            </a:r>
          </a:p>
        </p:txBody>
      </p:sp>
      <p:sp>
        <p:nvSpPr>
          <p:cNvPr id="29" name="Rounded Rectangle 28"/>
          <p:cNvSpPr/>
          <p:nvPr/>
        </p:nvSpPr>
        <p:spPr>
          <a:xfrm>
            <a:off x="8001000" y="2999232"/>
            <a:ext cx="3749039" cy="914400"/>
          </a:xfrm>
          <a:prstGeom prst="roundRect">
            <a:avLst>
              <a:gd name="adj" fmla="val 8000"/>
            </a:avLst>
          </a:prstGeom>
          <a:solidFill>
            <a:srgbClr val="F0F4F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01000" y="2999232"/>
            <a:ext cx="54864" cy="9144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7" y="3072384"/>
            <a:ext cx="3566159" cy="292608"/>
          </a:xfrm>
          <a:prstGeom prst="rect">
            <a:avLst/>
          </a:prstGeom>
          <a:noFill/>
        </p:spPr>
        <p:txBody>
          <a:bodyPr wrap="square">
            <a:spAutoFit/>
          </a:bodyPr>
          <a:lstStyle/>
          <a:p>
            <a:pPr algn="l"/>
            <a:r>
              <a:rPr sz="1300" b="1" i="0">
                <a:solidFill>
                  <a:srgbClr val="6B21A8"/>
                </a:solidFill>
                <a:latin typeface="Calibri"/>
              </a:rPr>
              <a:t>📋  Rules</a:t>
            </a:r>
          </a:p>
        </p:txBody>
      </p:sp>
      <p:sp>
        <p:nvSpPr>
          <p:cNvPr id="32" name="TextBox 31"/>
          <p:cNvSpPr txBox="1"/>
          <p:nvPr/>
        </p:nvSpPr>
        <p:spPr>
          <a:xfrm>
            <a:off x="8110727" y="3383279"/>
            <a:ext cx="3566159" cy="502920"/>
          </a:xfrm>
          <a:prstGeom prst="rect">
            <a:avLst/>
          </a:prstGeom>
          <a:noFill/>
        </p:spPr>
        <p:txBody>
          <a:bodyPr wrap="square">
            <a:spAutoFit/>
          </a:bodyPr>
          <a:lstStyle/>
          <a:p>
            <a:pPr algn="l"/>
            <a:r>
              <a:rPr sz="1100" b="0" i="0">
                <a:solidFill>
                  <a:srgbClr val="64748B"/>
                </a:solidFill>
                <a:latin typeface="Calibri"/>
              </a:rPr>
              <a:t>Safety stock limits &amp; machine restrictions</a:t>
            </a:r>
          </a:p>
        </p:txBody>
      </p:sp>
      <p:sp>
        <p:nvSpPr>
          <p:cNvPr id="33" name="TextBox 32"/>
          <p:cNvSpPr txBox="1"/>
          <p:nvPr/>
        </p:nvSpPr>
        <p:spPr>
          <a:xfrm>
            <a:off x="228600" y="4041648"/>
            <a:ext cx="8229600" cy="320040"/>
          </a:xfrm>
          <a:prstGeom prst="rect">
            <a:avLst/>
          </a:prstGeom>
          <a:noFill/>
        </p:spPr>
        <p:txBody>
          <a:bodyPr wrap="square">
            <a:spAutoFit/>
          </a:bodyPr>
          <a:lstStyle/>
          <a:p>
            <a:pPr algn="l"/>
            <a:r>
              <a:rPr sz="1300" b="1" i="0">
                <a:solidFill>
                  <a:srgbClr val="1A2E4A"/>
                </a:solidFill>
                <a:latin typeface="Calibri"/>
              </a:rPr>
              <a:t>BENEFITS OF GOOD PLANNING</a:t>
            </a:r>
          </a:p>
        </p:txBody>
      </p:sp>
      <p:sp>
        <p:nvSpPr>
          <p:cNvPr id="34" name="Rounded Rectangle 33"/>
          <p:cNvSpPr/>
          <p:nvPr/>
        </p:nvSpPr>
        <p:spPr>
          <a:xfrm>
            <a:off x="228600" y="4407408"/>
            <a:ext cx="2240280" cy="502920"/>
          </a:xfrm>
          <a:prstGeom prst="roundRect">
            <a:avLst>
              <a:gd name="adj" fmla="val 8000"/>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Smooth Operations</a:t>
            </a:r>
          </a:p>
        </p:txBody>
      </p:sp>
      <p:sp>
        <p:nvSpPr>
          <p:cNvPr id="35" name="Rounded Rectangle 34"/>
          <p:cNvSpPr/>
          <p:nvPr/>
        </p:nvSpPr>
        <p:spPr>
          <a:xfrm>
            <a:off x="2514600" y="4407408"/>
            <a:ext cx="2240280" cy="502920"/>
          </a:xfrm>
          <a:prstGeom prst="roundRect">
            <a:avLst>
              <a:gd name="adj" fmla="val 8000"/>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Machines Fully Used</a:t>
            </a:r>
          </a:p>
        </p:txBody>
      </p:sp>
      <p:sp>
        <p:nvSpPr>
          <p:cNvPr id="36" name="Rounded Rectangle 35"/>
          <p:cNvSpPr/>
          <p:nvPr/>
        </p:nvSpPr>
        <p:spPr>
          <a:xfrm>
            <a:off x="4800600" y="4407408"/>
            <a:ext cx="2240280" cy="502920"/>
          </a:xfrm>
          <a:prstGeom prst="roundRect">
            <a:avLst>
              <a:gd name="adj" fmla="val 8000"/>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Less Waste</a:t>
            </a:r>
          </a:p>
        </p:txBody>
      </p:sp>
      <p:sp>
        <p:nvSpPr>
          <p:cNvPr id="37" name="Rounded Rectangle 36"/>
          <p:cNvSpPr/>
          <p:nvPr/>
        </p:nvSpPr>
        <p:spPr>
          <a:xfrm>
            <a:off x="7086600" y="4407408"/>
            <a:ext cx="2240280" cy="502920"/>
          </a:xfrm>
          <a:prstGeom prst="roundRect">
            <a:avLst>
              <a:gd name="adj" fmla="val 8000"/>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On-Time Delivery</a:t>
            </a:r>
          </a:p>
        </p:txBody>
      </p:sp>
      <p:sp>
        <p:nvSpPr>
          <p:cNvPr id="38" name="Rounded Rectangle 37"/>
          <p:cNvSpPr/>
          <p:nvPr/>
        </p:nvSpPr>
        <p:spPr>
          <a:xfrm>
            <a:off x="9372600" y="4407408"/>
            <a:ext cx="2240280" cy="502920"/>
          </a:xfrm>
          <a:prstGeom prst="roundRect">
            <a:avLst>
              <a:gd name="adj" fmla="val 8000"/>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Lower Costs</a:t>
            </a:r>
          </a:p>
        </p:txBody>
      </p:sp>
    </p:spTree>
    <p:extLst>
      <p:ext uri="{BB962C8B-B14F-4D97-AF65-F5344CB8AC3E}">
        <p14:creationId xmlns:p14="http://schemas.microsoft.com/office/powerpoint/2010/main" val="828467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TBClassificationF260577896">
            <a:extLst>
              <a:ext uri="{FF2B5EF4-FFF2-40B4-BE49-F238E27FC236}">
                <a16:creationId xmlns:a16="http://schemas.microsoft.com/office/drawing/2014/main" id="{5567B99F-CA4A-4B30-BE7C-373677AB444D}"/>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
        <p:nvSpPr>
          <p:cNvPr id="5" name="TextBox 4"/>
          <p:cNvSpPr txBox="1"/>
          <p:nvPr/>
        </p:nvSpPr>
        <p:spPr>
          <a:xfrm>
            <a:off x="228600" y="109728"/>
            <a:ext cx="8686800" cy="594360"/>
          </a:xfrm>
          <a:prstGeom prst="rect">
            <a:avLst/>
          </a:prstGeom>
          <a:noFill/>
        </p:spPr>
        <p:txBody>
          <a:bodyPr wrap="square">
            <a:spAutoFit/>
          </a:bodyPr>
          <a:lstStyle/>
          <a:p>
            <a:pPr algn="l"/>
            <a:r>
              <a:rPr sz="2800" b="1" i="0">
                <a:solidFill>
                  <a:srgbClr val="097AE8"/>
                </a:solidFill>
                <a:latin typeface="Calibri"/>
              </a:rPr>
              <a:t>Production Planning — Common Challenges</a:t>
            </a:r>
          </a:p>
        </p:txBody>
      </p:sp>
      <p:sp>
        <p:nvSpPr>
          <p:cNvPr id="6" name="Rectangle 5"/>
          <p:cNvSpPr/>
          <p:nvPr/>
        </p:nvSpPr>
        <p:spPr>
          <a:xfrm>
            <a:off x="0" y="822960"/>
            <a:ext cx="12179808" cy="365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932688"/>
            <a:ext cx="9144000" cy="347472"/>
          </a:xfrm>
          <a:prstGeom prst="rect">
            <a:avLst/>
          </a:prstGeom>
          <a:noFill/>
        </p:spPr>
        <p:txBody>
          <a:bodyPr wrap="square">
            <a:spAutoFit/>
          </a:bodyPr>
          <a:lstStyle/>
          <a:p>
            <a:pPr algn="l"/>
            <a:r>
              <a:rPr sz="1400" b="0" i="1">
                <a:solidFill>
                  <a:srgbClr val="64748B"/>
                </a:solidFill>
                <a:latin typeface="Calibri"/>
              </a:rPr>
              <a:t>6 Critical Pain Points Impacting Production Efficiency</a:t>
            </a:r>
          </a:p>
        </p:txBody>
      </p:sp>
      <p:sp>
        <p:nvSpPr>
          <p:cNvPr id="8" name="Rounded Rectangle 7"/>
          <p:cNvSpPr/>
          <p:nvPr/>
        </p:nvSpPr>
        <p:spPr>
          <a:xfrm>
            <a:off x="228600" y="1371600"/>
            <a:ext cx="5669280" cy="74980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371600"/>
            <a:ext cx="73152"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 y="1527048"/>
            <a:ext cx="438912" cy="438912"/>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Calibri"/>
              </a:rPr>
              <a:t>🔴</a:t>
            </a:r>
          </a:p>
        </p:txBody>
      </p:sp>
      <p:sp>
        <p:nvSpPr>
          <p:cNvPr id="11" name="TextBox 10"/>
          <p:cNvSpPr txBox="1"/>
          <p:nvPr/>
        </p:nvSpPr>
        <p:spPr>
          <a:xfrm>
            <a:off x="886968" y="1444752"/>
            <a:ext cx="4892040" cy="292608"/>
          </a:xfrm>
          <a:prstGeom prst="rect">
            <a:avLst/>
          </a:prstGeom>
          <a:noFill/>
        </p:spPr>
        <p:txBody>
          <a:bodyPr wrap="square">
            <a:spAutoFit/>
          </a:bodyPr>
          <a:lstStyle/>
          <a:p>
            <a:pPr algn="l"/>
            <a:r>
              <a:rPr sz="1300" b="1" i="0">
                <a:solidFill>
                  <a:srgbClr val="B91C1C"/>
                </a:solidFill>
                <a:latin typeface="Calibri"/>
              </a:rPr>
              <a:t>Machine Breakdowns</a:t>
            </a:r>
          </a:p>
        </p:txBody>
      </p:sp>
      <p:sp>
        <p:nvSpPr>
          <p:cNvPr id="12" name="TextBox 11"/>
          <p:cNvSpPr txBox="1"/>
          <p:nvPr/>
        </p:nvSpPr>
        <p:spPr>
          <a:xfrm>
            <a:off x="886968" y="1737360"/>
            <a:ext cx="4892040" cy="365760"/>
          </a:xfrm>
          <a:prstGeom prst="rect">
            <a:avLst/>
          </a:prstGeom>
          <a:noFill/>
        </p:spPr>
        <p:txBody>
          <a:bodyPr wrap="square">
            <a:spAutoFit/>
          </a:bodyPr>
          <a:lstStyle/>
          <a:p>
            <a:pPr algn="l"/>
            <a:r>
              <a:rPr sz="1100" b="0" i="0">
                <a:solidFill>
                  <a:srgbClr val="64748B"/>
                </a:solidFill>
                <a:latin typeface="Calibri"/>
              </a:rPr>
              <a:t>Equipment failure disrupts schedules &amp; forces replanning.</a:t>
            </a:r>
          </a:p>
        </p:txBody>
      </p:sp>
      <p:sp>
        <p:nvSpPr>
          <p:cNvPr id="13" name="Rounded Rectangle 12"/>
          <p:cNvSpPr/>
          <p:nvPr/>
        </p:nvSpPr>
        <p:spPr>
          <a:xfrm>
            <a:off x="228600" y="2267712"/>
            <a:ext cx="5669280" cy="74980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8600" y="2267712"/>
            <a:ext cx="73152" cy="749808"/>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5760" y="2423160"/>
            <a:ext cx="438912" cy="438912"/>
          </a:xfrm>
          <a:prstGeom prst="roundRect">
            <a:avLst>
              <a:gd name="adj" fmla="val 8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Calibri"/>
              </a:rPr>
              <a:t>🟠</a:t>
            </a:r>
          </a:p>
        </p:txBody>
      </p:sp>
      <p:sp>
        <p:nvSpPr>
          <p:cNvPr id="16" name="TextBox 15"/>
          <p:cNvSpPr txBox="1"/>
          <p:nvPr/>
        </p:nvSpPr>
        <p:spPr>
          <a:xfrm>
            <a:off x="886968" y="2340864"/>
            <a:ext cx="4892040" cy="292608"/>
          </a:xfrm>
          <a:prstGeom prst="rect">
            <a:avLst/>
          </a:prstGeom>
          <a:noFill/>
        </p:spPr>
        <p:txBody>
          <a:bodyPr wrap="square">
            <a:spAutoFit/>
          </a:bodyPr>
          <a:lstStyle/>
          <a:p>
            <a:pPr algn="l"/>
            <a:r>
              <a:rPr sz="1300" b="1" i="0">
                <a:solidFill>
                  <a:srgbClr val="ED7D31"/>
                </a:solidFill>
                <a:latin typeface="Calibri"/>
              </a:rPr>
              <a:t>Material Shortages</a:t>
            </a:r>
          </a:p>
        </p:txBody>
      </p:sp>
      <p:sp>
        <p:nvSpPr>
          <p:cNvPr id="17" name="TextBox 16"/>
          <p:cNvSpPr txBox="1"/>
          <p:nvPr/>
        </p:nvSpPr>
        <p:spPr>
          <a:xfrm>
            <a:off x="886968" y="2633472"/>
            <a:ext cx="4892040" cy="365760"/>
          </a:xfrm>
          <a:prstGeom prst="rect">
            <a:avLst/>
          </a:prstGeom>
          <a:noFill/>
        </p:spPr>
        <p:txBody>
          <a:bodyPr wrap="square">
            <a:spAutoFit/>
          </a:bodyPr>
          <a:lstStyle/>
          <a:p>
            <a:pPr algn="l"/>
            <a:r>
              <a:rPr sz="1100" b="0" i="0">
                <a:solidFill>
                  <a:srgbClr val="64748B"/>
                </a:solidFill>
                <a:latin typeface="Calibri"/>
              </a:rPr>
              <a:t>Raw materials or terminals may not arrive on time, blocking production.</a:t>
            </a:r>
          </a:p>
        </p:txBody>
      </p:sp>
      <p:sp>
        <p:nvSpPr>
          <p:cNvPr id="18" name="Rounded Rectangle 17"/>
          <p:cNvSpPr/>
          <p:nvPr/>
        </p:nvSpPr>
        <p:spPr>
          <a:xfrm>
            <a:off x="228600" y="3163824"/>
            <a:ext cx="5669280" cy="74980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8600" y="3163824"/>
            <a:ext cx="73152" cy="7498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5760" y="3319272"/>
            <a:ext cx="438912" cy="438912"/>
          </a:xfrm>
          <a:prstGeom prst="roundRect">
            <a:avLst>
              <a:gd name="adj" fmla="val 8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Calibri"/>
              </a:rPr>
              <a:t>🟡</a:t>
            </a:r>
          </a:p>
        </p:txBody>
      </p:sp>
      <p:sp>
        <p:nvSpPr>
          <p:cNvPr id="21" name="TextBox 20"/>
          <p:cNvSpPr txBox="1"/>
          <p:nvPr/>
        </p:nvSpPr>
        <p:spPr>
          <a:xfrm>
            <a:off x="886968" y="3236976"/>
            <a:ext cx="4892040" cy="292608"/>
          </a:xfrm>
          <a:prstGeom prst="rect">
            <a:avLst/>
          </a:prstGeom>
          <a:noFill/>
        </p:spPr>
        <p:txBody>
          <a:bodyPr wrap="square">
            <a:spAutoFit/>
          </a:bodyPr>
          <a:lstStyle/>
          <a:p>
            <a:pPr algn="l"/>
            <a:r>
              <a:rPr sz="1300" b="1" i="0">
                <a:solidFill>
                  <a:srgbClr val="D97706"/>
                </a:solidFill>
                <a:latin typeface="Calibri"/>
              </a:rPr>
              <a:t>High Changeover Times</a:t>
            </a:r>
          </a:p>
        </p:txBody>
      </p:sp>
      <p:sp>
        <p:nvSpPr>
          <p:cNvPr id="22" name="TextBox 21"/>
          <p:cNvSpPr txBox="1"/>
          <p:nvPr/>
        </p:nvSpPr>
        <p:spPr>
          <a:xfrm>
            <a:off x="886968" y="3529584"/>
            <a:ext cx="4892040" cy="365760"/>
          </a:xfrm>
          <a:prstGeom prst="rect">
            <a:avLst/>
          </a:prstGeom>
          <a:noFill/>
        </p:spPr>
        <p:txBody>
          <a:bodyPr wrap="square">
            <a:spAutoFit/>
          </a:bodyPr>
          <a:lstStyle/>
          <a:p>
            <a:pPr algn="l"/>
            <a:r>
              <a:rPr sz="1100" b="0" i="0">
                <a:solidFill>
                  <a:srgbClr val="64748B"/>
                </a:solidFill>
                <a:latin typeface="Calibri"/>
              </a:rPr>
              <a:t>Switching machines between different parts/colors consumes valuable hours.</a:t>
            </a:r>
          </a:p>
        </p:txBody>
      </p:sp>
      <p:sp>
        <p:nvSpPr>
          <p:cNvPr id="23" name="Rounded Rectangle 22"/>
          <p:cNvSpPr/>
          <p:nvPr/>
        </p:nvSpPr>
        <p:spPr>
          <a:xfrm>
            <a:off x="6172200" y="1371600"/>
            <a:ext cx="5669280" cy="74980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1371600"/>
            <a:ext cx="73152" cy="7498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09360" y="1527048"/>
            <a:ext cx="438912" cy="438912"/>
          </a:xfrm>
          <a:prstGeom prst="roundRect">
            <a:avLst>
              <a:gd name="adj" fmla="val 8000"/>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Calibri"/>
              </a:rPr>
              <a:t>🔵</a:t>
            </a:r>
          </a:p>
        </p:txBody>
      </p:sp>
      <p:sp>
        <p:nvSpPr>
          <p:cNvPr id="26" name="TextBox 25"/>
          <p:cNvSpPr txBox="1"/>
          <p:nvPr/>
        </p:nvSpPr>
        <p:spPr>
          <a:xfrm>
            <a:off x="6830568" y="1444752"/>
            <a:ext cx="4892040" cy="292608"/>
          </a:xfrm>
          <a:prstGeom prst="rect">
            <a:avLst/>
          </a:prstGeom>
          <a:noFill/>
        </p:spPr>
        <p:txBody>
          <a:bodyPr wrap="square">
            <a:spAutoFit/>
          </a:bodyPr>
          <a:lstStyle/>
          <a:p>
            <a:pPr algn="l"/>
            <a:r>
              <a:rPr sz="1300" b="1" i="0">
                <a:solidFill>
                  <a:srgbClr val="0070C0"/>
                </a:solidFill>
                <a:latin typeface="Calibri"/>
              </a:rPr>
              <a:t>Labour Issues</a:t>
            </a:r>
          </a:p>
        </p:txBody>
      </p:sp>
      <p:sp>
        <p:nvSpPr>
          <p:cNvPr id="27" name="TextBox 26"/>
          <p:cNvSpPr txBox="1"/>
          <p:nvPr/>
        </p:nvSpPr>
        <p:spPr>
          <a:xfrm>
            <a:off x="6830568" y="1737360"/>
            <a:ext cx="4892040" cy="365760"/>
          </a:xfrm>
          <a:prstGeom prst="rect">
            <a:avLst/>
          </a:prstGeom>
          <a:noFill/>
        </p:spPr>
        <p:txBody>
          <a:bodyPr wrap="square">
            <a:spAutoFit/>
          </a:bodyPr>
          <a:lstStyle/>
          <a:p>
            <a:pPr algn="l"/>
            <a:r>
              <a:rPr sz="1100" b="0" i="0">
                <a:solidFill>
                  <a:srgbClr val="64748B"/>
                </a:solidFill>
                <a:latin typeface="Calibri"/>
              </a:rPr>
              <a:t>Shortage of skilled operators or unexpected absenteeism affects capacity.</a:t>
            </a:r>
          </a:p>
        </p:txBody>
      </p:sp>
      <p:sp>
        <p:nvSpPr>
          <p:cNvPr id="28" name="Rounded Rectangle 27"/>
          <p:cNvSpPr/>
          <p:nvPr/>
        </p:nvSpPr>
        <p:spPr>
          <a:xfrm>
            <a:off x="6172200" y="2267712"/>
            <a:ext cx="5669280" cy="74980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2267712"/>
            <a:ext cx="73152" cy="749808"/>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09360" y="2423160"/>
            <a:ext cx="438912" cy="438912"/>
          </a:xfrm>
          <a:prstGeom prst="roundRect">
            <a:avLst>
              <a:gd name="adj" fmla="val 8000"/>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Calibri"/>
              </a:rPr>
              <a:t>🟣</a:t>
            </a:r>
          </a:p>
        </p:txBody>
      </p:sp>
      <p:sp>
        <p:nvSpPr>
          <p:cNvPr id="31" name="TextBox 30"/>
          <p:cNvSpPr txBox="1"/>
          <p:nvPr/>
        </p:nvSpPr>
        <p:spPr>
          <a:xfrm>
            <a:off x="6830568" y="2340864"/>
            <a:ext cx="4892040" cy="292608"/>
          </a:xfrm>
          <a:prstGeom prst="rect">
            <a:avLst/>
          </a:prstGeom>
          <a:noFill/>
        </p:spPr>
        <p:txBody>
          <a:bodyPr wrap="square">
            <a:spAutoFit/>
          </a:bodyPr>
          <a:lstStyle/>
          <a:p>
            <a:pPr algn="l"/>
            <a:r>
              <a:rPr sz="1300" b="1" i="0">
                <a:solidFill>
                  <a:srgbClr val="6B21A8"/>
                </a:solidFill>
                <a:latin typeface="Calibri"/>
              </a:rPr>
              <a:t>Data Accuracy</a:t>
            </a:r>
          </a:p>
        </p:txBody>
      </p:sp>
      <p:sp>
        <p:nvSpPr>
          <p:cNvPr id="32" name="TextBox 31"/>
          <p:cNvSpPr txBox="1"/>
          <p:nvPr/>
        </p:nvSpPr>
        <p:spPr>
          <a:xfrm>
            <a:off x="6830568" y="2633472"/>
            <a:ext cx="4892040" cy="365760"/>
          </a:xfrm>
          <a:prstGeom prst="rect">
            <a:avLst/>
          </a:prstGeom>
          <a:noFill/>
        </p:spPr>
        <p:txBody>
          <a:bodyPr wrap="square">
            <a:spAutoFit/>
          </a:bodyPr>
          <a:lstStyle/>
          <a:p>
            <a:pPr algn="l"/>
            <a:r>
              <a:rPr sz="1100" b="0" i="0">
                <a:solidFill>
                  <a:srgbClr val="64748B"/>
                </a:solidFill>
                <a:latin typeface="Calibri"/>
              </a:rPr>
              <a:t>Wrong or missing information in planning leads to poor decisions.</a:t>
            </a:r>
          </a:p>
        </p:txBody>
      </p:sp>
      <p:sp>
        <p:nvSpPr>
          <p:cNvPr id="33" name="Rounded Rectangle 32"/>
          <p:cNvSpPr/>
          <p:nvPr/>
        </p:nvSpPr>
        <p:spPr>
          <a:xfrm>
            <a:off x="6172200" y="3163824"/>
            <a:ext cx="5669280" cy="74980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2200" y="3163824"/>
            <a:ext cx="73152" cy="74980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309360" y="3319272"/>
            <a:ext cx="438912" cy="438912"/>
          </a:xfrm>
          <a:prstGeom prst="roundRect">
            <a:avLst>
              <a:gd name="adj" fmla="val 8000"/>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Calibri"/>
              </a:rPr>
              <a:t>⚪</a:t>
            </a:r>
          </a:p>
        </p:txBody>
      </p:sp>
      <p:sp>
        <p:nvSpPr>
          <p:cNvPr id="36" name="TextBox 35"/>
          <p:cNvSpPr txBox="1"/>
          <p:nvPr/>
        </p:nvSpPr>
        <p:spPr>
          <a:xfrm>
            <a:off x="6830568" y="3236976"/>
            <a:ext cx="4892040" cy="292608"/>
          </a:xfrm>
          <a:prstGeom prst="rect">
            <a:avLst/>
          </a:prstGeom>
          <a:noFill/>
        </p:spPr>
        <p:txBody>
          <a:bodyPr wrap="square">
            <a:spAutoFit/>
          </a:bodyPr>
          <a:lstStyle/>
          <a:p>
            <a:pPr algn="l"/>
            <a:r>
              <a:rPr sz="1300" b="1" i="0">
                <a:solidFill>
                  <a:srgbClr val="64748B"/>
                </a:solidFill>
                <a:latin typeface="Calibri"/>
              </a:rPr>
              <a:t>Coordination Gaps</a:t>
            </a:r>
          </a:p>
        </p:txBody>
      </p:sp>
      <p:sp>
        <p:nvSpPr>
          <p:cNvPr id="37" name="TextBox 36"/>
          <p:cNvSpPr txBox="1"/>
          <p:nvPr/>
        </p:nvSpPr>
        <p:spPr>
          <a:xfrm>
            <a:off x="6830568" y="3529584"/>
            <a:ext cx="4892040" cy="365760"/>
          </a:xfrm>
          <a:prstGeom prst="rect">
            <a:avLst/>
          </a:prstGeom>
          <a:noFill/>
        </p:spPr>
        <p:txBody>
          <a:bodyPr wrap="square">
            <a:spAutoFit/>
          </a:bodyPr>
          <a:lstStyle/>
          <a:p>
            <a:pPr algn="l"/>
            <a:r>
              <a:rPr sz="1100" b="0" i="0">
                <a:solidFill>
                  <a:srgbClr val="64748B"/>
                </a:solidFill>
                <a:latin typeface="Calibri"/>
              </a:rPr>
              <a:t>Miscommunication between planning, procurement &amp; shop floor teams.</a:t>
            </a:r>
          </a:p>
        </p:txBody>
      </p:sp>
      <p:sp>
        <p:nvSpPr>
          <p:cNvPr id="38" name="Rectangle 37"/>
          <p:cNvSpPr/>
          <p:nvPr/>
        </p:nvSpPr>
        <p:spPr>
          <a:xfrm>
            <a:off x="228600" y="4096512"/>
            <a:ext cx="11704320" cy="530352"/>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i="0">
                <a:solidFill>
                  <a:srgbClr val="FFFFFF"/>
                </a:solidFill>
                <a:latin typeface="Calibri"/>
              </a:rPr>
              <a:t>⚡  These challenges lead to production delays, cost overruns &amp; missed deliveries — demanding a smarter scheduling solution</a:t>
            </a:r>
          </a:p>
        </p:txBody>
      </p:sp>
    </p:spTree>
    <p:extLst>
      <p:ext uri="{BB962C8B-B14F-4D97-AF65-F5344CB8AC3E}">
        <p14:creationId xmlns:p14="http://schemas.microsoft.com/office/powerpoint/2010/main" val="1686509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TBClassificationF1659589833">
            <a:extLst>
              <a:ext uri="{FF2B5EF4-FFF2-40B4-BE49-F238E27FC236}">
                <a16:creationId xmlns:a16="http://schemas.microsoft.com/office/drawing/2014/main" id="{0910C611-5A44-4E11-ADB5-C544353F8972}"/>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
        <p:nvSpPr>
          <p:cNvPr id="7" name="TextBox 6"/>
          <p:cNvSpPr txBox="1"/>
          <p:nvPr/>
        </p:nvSpPr>
        <p:spPr>
          <a:xfrm>
            <a:off x="228600" y="109728"/>
            <a:ext cx="8686800" cy="594360"/>
          </a:xfrm>
          <a:prstGeom prst="rect">
            <a:avLst/>
          </a:prstGeom>
          <a:noFill/>
        </p:spPr>
        <p:txBody>
          <a:bodyPr wrap="square">
            <a:spAutoFit/>
          </a:bodyPr>
          <a:lstStyle/>
          <a:p>
            <a:pPr algn="l"/>
            <a:r>
              <a:rPr sz="2800" b="1" i="0">
                <a:solidFill>
                  <a:srgbClr val="097AE8"/>
                </a:solidFill>
                <a:latin typeface="Calibri"/>
              </a:rPr>
              <a:t>Where We Are and Where We Want to Be</a:t>
            </a:r>
          </a:p>
        </p:txBody>
      </p:sp>
      <p:sp>
        <p:nvSpPr>
          <p:cNvPr id="8" name="Rectangle 7"/>
          <p:cNvSpPr/>
          <p:nvPr/>
        </p:nvSpPr>
        <p:spPr>
          <a:xfrm>
            <a:off x="0" y="822960"/>
            <a:ext cx="12179808" cy="365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8600" y="960120"/>
            <a:ext cx="3840480" cy="566928"/>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  CURRENT STATE</a:t>
            </a:r>
          </a:p>
        </p:txBody>
      </p:sp>
      <p:sp>
        <p:nvSpPr>
          <p:cNvPr id="10" name="Rounded Rectangle 9"/>
          <p:cNvSpPr/>
          <p:nvPr/>
        </p:nvSpPr>
        <p:spPr>
          <a:xfrm>
            <a:off x="228600" y="1627632"/>
            <a:ext cx="3840480" cy="1005840"/>
          </a:xfrm>
          <a:prstGeom prst="roundRect">
            <a:avLst>
              <a:gd name="adj" fmla="val 8000"/>
            </a:avLst>
          </a:prstGeom>
          <a:solidFill>
            <a:srgbClr val="F0F4F8"/>
          </a:solidFill>
          <a:ln w="9525">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700784"/>
            <a:ext cx="3657600" cy="320040"/>
          </a:xfrm>
          <a:prstGeom prst="rect">
            <a:avLst/>
          </a:prstGeom>
          <a:noFill/>
        </p:spPr>
        <p:txBody>
          <a:bodyPr wrap="square">
            <a:spAutoFit/>
          </a:bodyPr>
          <a:lstStyle/>
          <a:p>
            <a:pPr algn="l"/>
            <a:r>
              <a:rPr sz="1200" b="1" i="0">
                <a:solidFill>
                  <a:srgbClr val="B91C1C"/>
                </a:solidFill>
                <a:latin typeface="Calibri"/>
              </a:rPr>
              <a:t>👥 Manual Planning</a:t>
            </a:r>
          </a:p>
        </p:txBody>
      </p:sp>
      <p:sp>
        <p:nvSpPr>
          <p:cNvPr id="12" name="TextBox 11"/>
          <p:cNvSpPr txBox="1"/>
          <p:nvPr/>
        </p:nvSpPr>
        <p:spPr>
          <a:xfrm>
            <a:off x="365760" y="2039112"/>
            <a:ext cx="3657600" cy="548640"/>
          </a:xfrm>
          <a:prstGeom prst="rect">
            <a:avLst/>
          </a:prstGeom>
          <a:noFill/>
        </p:spPr>
        <p:txBody>
          <a:bodyPr wrap="square">
            <a:spAutoFit/>
          </a:bodyPr>
          <a:lstStyle/>
          <a:p>
            <a:pPr algn="l"/>
            <a:r>
              <a:rPr sz="1100" b="0" i="0">
                <a:solidFill>
                  <a:srgbClr val="64748B"/>
                </a:solidFill>
                <a:latin typeface="Calibri"/>
              </a:rPr>
              <a:t>Done by 2–3 people; slow &amp; time-consuming</a:t>
            </a:r>
          </a:p>
        </p:txBody>
      </p:sp>
      <p:sp>
        <p:nvSpPr>
          <p:cNvPr id="13" name="Rounded Rectangle 12"/>
          <p:cNvSpPr/>
          <p:nvPr/>
        </p:nvSpPr>
        <p:spPr>
          <a:xfrm>
            <a:off x="228600" y="2724912"/>
            <a:ext cx="3840480" cy="1005840"/>
          </a:xfrm>
          <a:prstGeom prst="roundRect">
            <a:avLst>
              <a:gd name="adj" fmla="val 8000"/>
            </a:avLst>
          </a:prstGeom>
          <a:solidFill>
            <a:srgbClr val="F0F4F8"/>
          </a:solidFill>
          <a:ln w="9525">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2798064"/>
            <a:ext cx="3657600" cy="320040"/>
          </a:xfrm>
          <a:prstGeom prst="rect">
            <a:avLst/>
          </a:prstGeom>
          <a:noFill/>
        </p:spPr>
        <p:txBody>
          <a:bodyPr wrap="square">
            <a:spAutoFit/>
          </a:bodyPr>
          <a:lstStyle/>
          <a:p>
            <a:pPr algn="l"/>
            <a:r>
              <a:rPr sz="1200" b="1" i="0">
                <a:solidFill>
                  <a:srgbClr val="B91C1C"/>
                </a:solidFill>
                <a:latin typeface="Calibri"/>
              </a:rPr>
              <a:t>📉 Inventory Issues</a:t>
            </a:r>
          </a:p>
        </p:txBody>
      </p:sp>
      <p:sp>
        <p:nvSpPr>
          <p:cNvPr id="15" name="TextBox 14"/>
          <p:cNvSpPr txBox="1"/>
          <p:nvPr/>
        </p:nvSpPr>
        <p:spPr>
          <a:xfrm>
            <a:off x="365760" y="3136392"/>
            <a:ext cx="3657600" cy="548640"/>
          </a:xfrm>
          <a:prstGeom prst="rect">
            <a:avLst/>
          </a:prstGeom>
          <a:noFill/>
        </p:spPr>
        <p:txBody>
          <a:bodyPr wrap="square">
            <a:spAutoFit/>
          </a:bodyPr>
          <a:lstStyle/>
          <a:p>
            <a:pPr algn="l"/>
            <a:r>
              <a:rPr sz="1100" b="0" i="0">
                <a:solidFill>
                  <a:srgbClr val="64748B"/>
                </a:solidFill>
                <a:latin typeface="Calibri"/>
              </a:rPr>
              <a:t>Parts overproduced or face shortages</a:t>
            </a:r>
          </a:p>
        </p:txBody>
      </p:sp>
      <p:sp>
        <p:nvSpPr>
          <p:cNvPr id="16" name="Rounded Rectangle 15"/>
          <p:cNvSpPr/>
          <p:nvPr/>
        </p:nvSpPr>
        <p:spPr>
          <a:xfrm>
            <a:off x="228600" y="3822191"/>
            <a:ext cx="3840480" cy="1005840"/>
          </a:xfrm>
          <a:prstGeom prst="roundRect">
            <a:avLst>
              <a:gd name="adj" fmla="val 8000"/>
            </a:avLst>
          </a:prstGeom>
          <a:solidFill>
            <a:srgbClr val="F0F4F8"/>
          </a:solidFill>
          <a:ln w="9525">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895344"/>
            <a:ext cx="3657600" cy="320040"/>
          </a:xfrm>
          <a:prstGeom prst="rect">
            <a:avLst/>
          </a:prstGeom>
          <a:noFill/>
        </p:spPr>
        <p:txBody>
          <a:bodyPr wrap="square">
            <a:spAutoFit/>
          </a:bodyPr>
          <a:lstStyle/>
          <a:p>
            <a:pPr algn="l"/>
            <a:r>
              <a:rPr sz="1200" b="1" i="0">
                <a:solidFill>
                  <a:srgbClr val="B91C1C"/>
                </a:solidFill>
                <a:latin typeface="Calibri"/>
              </a:rPr>
              <a:t>⚙️ Machine Tracking</a:t>
            </a:r>
          </a:p>
        </p:txBody>
      </p:sp>
      <p:sp>
        <p:nvSpPr>
          <p:cNvPr id="18" name="TextBox 17"/>
          <p:cNvSpPr txBox="1"/>
          <p:nvPr/>
        </p:nvSpPr>
        <p:spPr>
          <a:xfrm>
            <a:off x="365760" y="4233672"/>
            <a:ext cx="3657600" cy="548640"/>
          </a:xfrm>
          <a:prstGeom prst="rect">
            <a:avLst/>
          </a:prstGeom>
          <a:noFill/>
        </p:spPr>
        <p:txBody>
          <a:bodyPr wrap="square">
            <a:spAutoFit/>
          </a:bodyPr>
          <a:lstStyle/>
          <a:p>
            <a:pPr algn="l"/>
            <a:r>
              <a:rPr sz="1100" b="0" i="0">
                <a:solidFill>
                  <a:srgbClr val="64748B"/>
                </a:solidFill>
                <a:latin typeface="Calibri"/>
              </a:rPr>
              <a:t>No visibility on utilisation or downtime</a:t>
            </a:r>
          </a:p>
        </p:txBody>
      </p:sp>
      <p:sp>
        <p:nvSpPr>
          <p:cNvPr id="19" name="Rounded Rectangle 18"/>
          <p:cNvSpPr/>
          <p:nvPr/>
        </p:nvSpPr>
        <p:spPr>
          <a:xfrm>
            <a:off x="4206240" y="960120"/>
            <a:ext cx="3840480" cy="566928"/>
          </a:xfrm>
          <a:prstGeom prst="roundRect">
            <a:avLst>
              <a:gd name="adj" fmla="val 8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  GAP / CHALLENGE</a:t>
            </a:r>
          </a:p>
        </p:txBody>
      </p:sp>
      <p:sp>
        <p:nvSpPr>
          <p:cNvPr id="20" name="Rounded Rectangle 19"/>
          <p:cNvSpPr/>
          <p:nvPr/>
        </p:nvSpPr>
        <p:spPr>
          <a:xfrm>
            <a:off x="4206240" y="1627632"/>
            <a:ext cx="3840480" cy="1005840"/>
          </a:xfrm>
          <a:prstGeom prst="roundRect">
            <a:avLst>
              <a:gd name="adj" fmla="val 8000"/>
            </a:avLst>
          </a:prstGeom>
          <a:solidFill>
            <a:srgbClr val="F0F4F8"/>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1700784"/>
            <a:ext cx="3657600" cy="320040"/>
          </a:xfrm>
          <a:prstGeom prst="rect">
            <a:avLst/>
          </a:prstGeom>
          <a:noFill/>
        </p:spPr>
        <p:txBody>
          <a:bodyPr wrap="square">
            <a:spAutoFit/>
          </a:bodyPr>
          <a:lstStyle/>
          <a:p>
            <a:pPr algn="l"/>
            <a:r>
              <a:rPr sz="1200" b="1" i="0">
                <a:solidFill>
                  <a:srgbClr val="D97706"/>
                </a:solidFill>
                <a:latin typeface="Calibri"/>
              </a:rPr>
              <a:t>⏱ Time-Consuming</a:t>
            </a:r>
          </a:p>
        </p:txBody>
      </p:sp>
      <p:sp>
        <p:nvSpPr>
          <p:cNvPr id="22" name="TextBox 21"/>
          <p:cNvSpPr txBox="1"/>
          <p:nvPr/>
        </p:nvSpPr>
        <p:spPr>
          <a:xfrm>
            <a:off x="4343400" y="2039112"/>
            <a:ext cx="3657600" cy="548640"/>
          </a:xfrm>
          <a:prstGeom prst="rect">
            <a:avLst/>
          </a:prstGeom>
          <a:noFill/>
        </p:spPr>
        <p:txBody>
          <a:bodyPr wrap="square">
            <a:spAutoFit/>
          </a:bodyPr>
          <a:lstStyle/>
          <a:p>
            <a:pPr algn="l"/>
            <a:r>
              <a:rPr sz="1100" b="0" i="0">
                <a:solidFill>
                  <a:srgbClr val="64748B"/>
                </a:solidFill>
                <a:latin typeface="Calibri"/>
              </a:rPr>
              <a:t>Manual work takes hours daily</a:t>
            </a:r>
          </a:p>
        </p:txBody>
      </p:sp>
      <p:sp>
        <p:nvSpPr>
          <p:cNvPr id="23" name="Rounded Rectangle 22"/>
          <p:cNvSpPr/>
          <p:nvPr/>
        </p:nvSpPr>
        <p:spPr>
          <a:xfrm>
            <a:off x="4206240" y="2724912"/>
            <a:ext cx="3840480" cy="1005840"/>
          </a:xfrm>
          <a:prstGeom prst="roundRect">
            <a:avLst>
              <a:gd name="adj" fmla="val 8000"/>
            </a:avLst>
          </a:prstGeom>
          <a:solidFill>
            <a:srgbClr val="F0F4F8"/>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2798064"/>
            <a:ext cx="3657600" cy="320040"/>
          </a:xfrm>
          <a:prstGeom prst="rect">
            <a:avLst/>
          </a:prstGeom>
          <a:noFill/>
        </p:spPr>
        <p:txBody>
          <a:bodyPr wrap="square">
            <a:spAutoFit/>
          </a:bodyPr>
          <a:lstStyle/>
          <a:p>
            <a:pPr algn="l"/>
            <a:r>
              <a:rPr sz="1200" b="1" i="0">
                <a:solidFill>
                  <a:srgbClr val="D97706"/>
                </a:solidFill>
                <a:latin typeface="Calibri"/>
              </a:rPr>
              <a:t>⚖️ Imbalanced Stock</a:t>
            </a:r>
          </a:p>
        </p:txBody>
      </p:sp>
      <p:sp>
        <p:nvSpPr>
          <p:cNvPr id="25" name="TextBox 24"/>
          <p:cNvSpPr txBox="1"/>
          <p:nvPr/>
        </p:nvSpPr>
        <p:spPr>
          <a:xfrm>
            <a:off x="4343400" y="3136392"/>
            <a:ext cx="3657600" cy="548640"/>
          </a:xfrm>
          <a:prstGeom prst="rect">
            <a:avLst/>
          </a:prstGeom>
          <a:noFill/>
        </p:spPr>
        <p:txBody>
          <a:bodyPr wrap="square">
            <a:spAutoFit/>
          </a:bodyPr>
          <a:lstStyle/>
          <a:p>
            <a:pPr algn="l"/>
            <a:r>
              <a:rPr sz="1100" b="0" i="0">
                <a:solidFill>
                  <a:srgbClr val="64748B"/>
                </a:solidFill>
                <a:latin typeface="Calibri"/>
              </a:rPr>
              <a:t>Some excess, some shortage</a:t>
            </a:r>
          </a:p>
        </p:txBody>
      </p:sp>
      <p:sp>
        <p:nvSpPr>
          <p:cNvPr id="26" name="Rounded Rectangle 25"/>
          <p:cNvSpPr/>
          <p:nvPr/>
        </p:nvSpPr>
        <p:spPr>
          <a:xfrm>
            <a:off x="4206240" y="3822191"/>
            <a:ext cx="3840480" cy="1005840"/>
          </a:xfrm>
          <a:prstGeom prst="roundRect">
            <a:avLst>
              <a:gd name="adj" fmla="val 8000"/>
            </a:avLst>
          </a:prstGeom>
          <a:solidFill>
            <a:srgbClr val="F0F4F8"/>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3895344"/>
            <a:ext cx="3657600" cy="320040"/>
          </a:xfrm>
          <a:prstGeom prst="rect">
            <a:avLst/>
          </a:prstGeom>
          <a:noFill/>
        </p:spPr>
        <p:txBody>
          <a:bodyPr wrap="square">
            <a:spAutoFit/>
          </a:bodyPr>
          <a:lstStyle/>
          <a:p>
            <a:pPr algn="l"/>
            <a:r>
              <a:rPr sz="1200" b="1" i="0">
                <a:solidFill>
                  <a:srgbClr val="D97706"/>
                </a:solidFill>
                <a:latin typeface="Calibri"/>
              </a:rPr>
              <a:t>🔍 No Utilisation Data</a:t>
            </a:r>
          </a:p>
        </p:txBody>
      </p:sp>
      <p:sp>
        <p:nvSpPr>
          <p:cNvPr id="28" name="TextBox 27"/>
          <p:cNvSpPr txBox="1"/>
          <p:nvPr/>
        </p:nvSpPr>
        <p:spPr>
          <a:xfrm>
            <a:off x="4343400" y="4233672"/>
            <a:ext cx="3657600" cy="548640"/>
          </a:xfrm>
          <a:prstGeom prst="rect">
            <a:avLst/>
          </a:prstGeom>
          <a:noFill/>
        </p:spPr>
        <p:txBody>
          <a:bodyPr wrap="square">
            <a:spAutoFit/>
          </a:bodyPr>
          <a:lstStyle/>
          <a:p>
            <a:pPr algn="l"/>
            <a:r>
              <a:rPr sz="1100" b="0" i="0">
                <a:solidFill>
                  <a:srgbClr val="64748B"/>
                </a:solidFill>
                <a:latin typeface="Calibri"/>
              </a:rPr>
              <a:t>Machines left idle or on PDT</a:t>
            </a:r>
          </a:p>
        </p:txBody>
      </p:sp>
      <p:sp>
        <p:nvSpPr>
          <p:cNvPr id="29" name="Rounded Rectangle 28"/>
          <p:cNvSpPr/>
          <p:nvPr/>
        </p:nvSpPr>
        <p:spPr>
          <a:xfrm>
            <a:off x="8183879" y="960120"/>
            <a:ext cx="3840480" cy="566928"/>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  FUTURE STATE</a:t>
            </a:r>
          </a:p>
        </p:txBody>
      </p:sp>
      <p:sp>
        <p:nvSpPr>
          <p:cNvPr id="30" name="Rounded Rectangle 29"/>
          <p:cNvSpPr/>
          <p:nvPr/>
        </p:nvSpPr>
        <p:spPr>
          <a:xfrm>
            <a:off x="8183879" y="1627632"/>
            <a:ext cx="3840480" cy="1005840"/>
          </a:xfrm>
          <a:prstGeom prst="roundRect">
            <a:avLst>
              <a:gd name="adj" fmla="val 8000"/>
            </a:avLst>
          </a:prstGeom>
          <a:solidFill>
            <a:srgbClr val="F0F4F8"/>
          </a:solidFill>
          <a:ln w="9525">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0" y="1700784"/>
            <a:ext cx="3657600" cy="320040"/>
          </a:xfrm>
          <a:prstGeom prst="rect">
            <a:avLst/>
          </a:prstGeom>
          <a:noFill/>
        </p:spPr>
        <p:txBody>
          <a:bodyPr wrap="square">
            <a:spAutoFit/>
          </a:bodyPr>
          <a:lstStyle/>
          <a:p>
            <a:pPr algn="l"/>
            <a:r>
              <a:rPr sz="1200" b="1" i="0">
                <a:solidFill>
                  <a:srgbClr val="1A7A4A"/>
                </a:solidFill>
                <a:latin typeface="Calibri"/>
              </a:rPr>
              <a:t>🤖 Fully Automated</a:t>
            </a:r>
          </a:p>
        </p:txBody>
      </p:sp>
      <p:sp>
        <p:nvSpPr>
          <p:cNvPr id="32" name="TextBox 31"/>
          <p:cNvSpPr txBox="1"/>
          <p:nvPr/>
        </p:nvSpPr>
        <p:spPr>
          <a:xfrm>
            <a:off x="8321040" y="2039112"/>
            <a:ext cx="3657600" cy="548640"/>
          </a:xfrm>
          <a:prstGeom prst="rect">
            <a:avLst/>
          </a:prstGeom>
          <a:noFill/>
        </p:spPr>
        <p:txBody>
          <a:bodyPr wrap="square">
            <a:spAutoFit/>
          </a:bodyPr>
          <a:lstStyle/>
          <a:p>
            <a:pPr algn="l"/>
            <a:r>
              <a:rPr sz="1100" b="0" i="0">
                <a:solidFill>
                  <a:srgbClr val="64748B"/>
                </a:solidFill>
                <a:latin typeface="Calibri"/>
              </a:rPr>
              <a:t>Digital scheduling with real-time data</a:t>
            </a:r>
          </a:p>
        </p:txBody>
      </p:sp>
      <p:sp>
        <p:nvSpPr>
          <p:cNvPr id="33" name="Rounded Rectangle 32"/>
          <p:cNvSpPr/>
          <p:nvPr/>
        </p:nvSpPr>
        <p:spPr>
          <a:xfrm>
            <a:off x="8183879" y="2724912"/>
            <a:ext cx="3840480" cy="1005840"/>
          </a:xfrm>
          <a:prstGeom prst="roundRect">
            <a:avLst>
              <a:gd name="adj" fmla="val 8000"/>
            </a:avLst>
          </a:prstGeom>
          <a:solidFill>
            <a:srgbClr val="F0F4F8"/>
          </a:solidFill>
          <a:ln w="9525">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2798064"/>
            <a:ext cx="3657600" cy="320040"/>
          </a:xfrm>
          <a:prstGeom prst="rect">
            <a:avLst/>
          </a:prstGeom>
          <a:noFill/>
        </p:spPr>
        <p:txBody>
          <a:bodyPr wrap="square">
            <a:spAutoFit/>
          </a:bodyPr>
          <a:lstStyle/>
          <a:p>
            <a:pPr algn="l"/>
            <a:r>
              <a:rPr sz="1200" b="1" i="0">
                <a:solidFill>
                  <a:srgbClr val="1A7A4A"/>
                </a:solidFill>
                <a:latin typeface="Calibri"/>
              </a:rPr>
              <a:t>📦 3-Day Safety Stock</a:t>
            </a:r>
          </a:p>
        </p:txBody>
      </p:sp>
      <p:sp>
        <p:nvSpPr>
          <p:cNvPr id="35" name="TextBox 34"/>
          <p:cNvSpPr txBox="1"/>
          <p:nvPr/>
        </p:nvSpPr>
        <p:spPr>
          <a:xfrm>
            <a:off x="8321040" y="3136392"/>
            <a:ext cx="3657600" cy="548640"/>
          </a:xfrm>
          <a:prstGeom prst="rect">
            <a:avLst/>
          </a:prstGeom>
          <a:noFill/>
        </p:spPr>
        <p:txBody>
          <a:bodyPr wrap="square">
            <a:spAutoFit/>
          </a:bodyPr>
          <a:lstStyle/>
          <a:p>
            <a:pPr algn="l"/>
            <a:r>
              <a:rPr sz="1100" b="0" i="0">
                <a:solidFill>
                  <a:srgbClr val="64748B"/>
                </a:solidFill>
                <a:latin typeface="Calibri"/>
              </a:rPr>
              <a:t>Consistent buffer maintained always</a:t>
            </a:r>
          </a:p>
        </p:txBody>
      </p:sp>
      <p:sp>
        <p:nvSpPr>
          <p:cNvPr id="36" name="Rounded Rectangle 35"/>
          <p:cNvSpPr/>
          <p:nvPr/>
        </p:nvSpPr>
        <p:spPr>
          <a:xfrm>
            <a:off x="8183879" y="3822191"/>
            <a:ext cx="3840480" cy="1005840"/>
          </a:xfrm>
          <a:prstGeom prst="roundRect">
            <a:avLst>
              <a:gd name="adj" fmla="val 8000"/>
            </a:avLst>
          </a:prstGeom>
          <a:solidFill>
            <a:srgbClr val="F0F4F8"/>
          </a:solidFill>
          <a:ln w="9525">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21040" y="3895344"/>
            <a:ext cx="3657600" cy="320040"/>
          </a:xfrm>
          <a:prstGeom prst="rect">
            <a:avLst/>
          </a:prstGeom>
          <a:noFill/>
        </p:spPr>
        <p:txBody>
          <a:bodyPr wrap="square">
            <a:spAutoFit/>
          </a:bodyPr>
          <a:lstStyle/>
          <a:p>
            <a:pPr algn="l"/>
            <a:r>
              <a:rPr sz="1200" b="1" i="0">
                <a:solidFill>
                  <a:srgbClr val="1A7A4A"/>
                </a:solidFill>
                <a:latin typeface="Calibri"/>
              </a:rPr>
              <a:t>📊 Optimised Planning</a:t>
            </a:r>
          </a:p>
        </p:txBody>
      </p:sp>
      <p:sp>
        <p:nvSpPr>
          <p:cNvPr id="38" name="TextBox 37"/>
          <p:cNvSpPr txBox="1"/>
          <p:nvPr/>
        </p:nvSpPr>
        <p:spPr>
          <a:xfrm>
            <a:off x="8321040" y="4233672"/>
            <a:ext cx="3657600" cy="548640"/>
          </a:xfrm>
          <a:prstGeom prst="rect">
            <a:avLst/>
          </a:prstGeom>
          <a:noFill/>
        </p:spPr>
        <p:txBody>
          <a:bodyPr wrap="square">
            <a:spAutoFit/>
          </a:bodyPr>
          <a:lstStyle/>
          <a:p>
            <a:pPr algn="l"/>
            <a:r>
              <a:rPr sz="1100" b="0" i="0">
                <a:solidFill>
                  <a:srgbClr val="64748B"/>
                </a:solidFill>
                <a:latin typeface="Calibri"/>
              </a:rPr>
              <a:t>Data-driven, efficient allocation</a:t>
            </a:r>
          </a:p>
        </p:txBody>
      </p:sp>
      <p:cxnSp>
        <p:nvCxnSpPr>
          <p:cNvPr id="39" name="Connector 38"/>
          <p:cNvCxnSpPr/>
          <p:nvPr/>
        </p:nvCxnSpPr>
        <p:spPr>
          <a:xfrm>
            <a:off x="4114800" y="2606040"/>
            <a:ext cx="137160" cy="0"/>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069080" y="2331720"/>
            <a:ext cx="457200" cy="548640"/>
          </a:xfrm>
          <a:prstGeom prst="roundRect">
            <a:avLst>
              <a:gd name="adj" fmla="val 8000"/>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64748B"/>
                </a:solidFill>
                <a:latin typeface="Calibri"/>
              </a:rPr>
              <a:t>→</a:t>
            </a:r>
          </a:p>
        </p:txBody>
      </p:sp>
      <p:cxnSp>
        <p:nvCxnSpPr>
          <p:cNvPr id="41" name="Connector 40"/>
          <p:cNvCxnSpPr/>
          <p:nvPr/>
        </p:nvCxnSpPr>
        <p:spPr>
          <a:xfrm>
            <a:off x="8092440" y="2606040"/>
            <a:ext cx="137160" cy="0"/>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046719" y="2331720"/>
            <a:ext cx="457200" cy="548640"/>
          </a:xfrm>
          <a:prstGeom prst="roundRect">
            <a:avLst>
              <a:gd name="adj" fmla="val 8000"/>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64748B"/>
                </a:solidFill>
                <a:latin typeface="Calibri"/>
              </a:rPr>
              <a:t>→</a:t>
            </a:r>
          </a:p>
        </p:txBody>
      </p:sp>
      <p:sp>
        <p:nvSpPr>
          <p:cNvPr id="43" name="Rounded Rectangle 42"/>
          <p:cNvSpPr/>
          <p:nvPr/>
        </p:nvSpPr>
        <p:spPr>
          <a:xfrm>
            <a:off x="228600" y="4773168"/>
            <a:ext cx="11704320" cy="475488"/>
          </a:xfrm>
          <a:prstGeom prst="roundRect">
            <a:avLst>
              <a:gd name="adj" fmla="val 8000"/>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FFFFFF"/>
                </a:solidFill>
                <a:latin typeface="Calibri"/>
              </a:rPr>
              <a:t>🎯  Digital Production Scheduling bridges this gap — transforming manual, reactive planning into automated, proactive execution</a:t>
            </a:r>
          </a:p>
        </p:txBody>
      </p:sp>
    </p:spTree>
    <p:extLst>
      <p:ext uri="{BB962C8B-B14F-4D97-AF65-F5344CB8AC3E}">
        <p14:creationId xmlns:p14="http://schemas.microsoft.com/office/powerpoint/2010/main" val="3931451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TBClassificationF1555595390">
            <a:extLst>
              <a:ext uri="{FF2B5EF4-FFF2-40B4-BE49-F238E27FC236}">
                <a16:creationId xmlns:a16="http://schemas.microsoft.com/office/drawing/2014/main" id="{EA521A1E-373B-4161-96A6-6F96CEC63A44}"/>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
        <p:nvSpPr>
          <p:cNvPr id="5" name="TextBox 4"/>
          <p:cNvSpPr txBox="1"/>
          <p:nvPr/>
        </p:nvSpPr>
        <p:spPr>
          <a:xfrm>
            <a:off x="228600" y="109728"/>
            <a:ext cx="8686800" cy="594360"/>
          </a:xfrm>
          <a:prstGeom prst="rect">
            <a:avLst/>
          </a:prstGeom>
          <a:noFill/>
        </p:spPr>
        <p:txBody>
          <a:bodyPr wrap="square">
            <a:spAutoFit/>
          </a:bodyPr>
          <a:lstStyle/>
          <a:p>
            <a:pPr algn="l"/>
            <a:r>
              <a:rPr sz="2800" b="1" i="0">
                <a:solidFill>
                  <a:srgbClr val="097AE8"/>
                </a:solidFill>
                <a:latin typeface="Calibri"/>
              </a:rPr>
              <a:t>Digital Production Scheduling</a:t>
            </a:r>
          </a:p>
        </p:txBody>
      </p:sp>
      <p:sp>
        <p:nvSpPr>
          <p:cNvPr id="6" name="TextBox 5"/>
          <p:cNvSpPr txBox="1"/>
          <p:nvPr/>
        </p:nvSpPr>
        <p:spPr>
          <a:xfrm>
            <a:off x="228600" y="658368"/>
            <a:ext cx="8686800" cy="320040"/>
          </a:xfrm>
          <a:prstGeom prst="rect">
            <a:avLst/>
          </a:prstGeom>
          <a:noFill/>
        </p:spPr>
        <p:txBody>
          <a:bodyPr wrap="square">
            <a:spAutoFit/>
          </a:bodyPr>
          <a:lstStyle/>
          <a:p>
            <a:pPr algn="l"/>
            <a:r>
              <a:rPr sz="1400" b="0" i="1">
                <a:solidFill>
                  <a:srgbClr val="64748B"/>
                </a:solidFill>
                <a:latin typeface="Calibri"/>
              </a:rPr>
              <a:t>Smart · Automated · Real-Time</a:t>
            </a:r>
          </a:p>
        </p:txBody>
      </p:sp>
      <p:sp>
        <p:nvSpPr>
          <p:cNvPr id="7" name="Rectangle 6"/>
          <p:cNvSpPr/>
          <p:nvPr/>
        </p:nvSpPr>
        <p:spPr>
          <a:xfrm>
            <a:off x="0" y="822960"/>
            <a:ext cx="12179808" cy="365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28600" y="932688"/>
            <a:ext cx="11704320" cy="621792"/>
          </a:xfrm>
          <a:prstGeom prst="roundRect">
            <a:avLst>
              <a:gd name="adj" fmla="val 8000"/>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i="0">
                <a:solidFill>
                  <a:srgbClr val="FFFFFF"/>
                </a:solidFill>
                <a:latin typeface="Calibri"/>
              </a:rPr>
              <a:t>🤖   A smart, automated system that creates production plans using real-time data from demand (indents), inventory &amp; machine capacity</a:t>
            </a:r>
          </a:p>
        </p:txBody>
      </p:sp>
      <p:sp>
        <p:nvSpPr>
          <p:cNvPr id="9" name="TextBox 8"/>
          <p:cNvSpPr txBox="1"/>
          <p:nvPr/>
        </p:nvSpPr>
        <p:spPr>
          <a:xfrm>
            <a:off x="228600" y="1664208"/>
            <a:ext cx="5669280" cy="365760"/>
          </a:xfrm>
          <a:prstGeom prst="rect">
            <a:avLst/>
          </a:prstGeom>
          <a:noFill/>
        </p:spPr>
        <p:txBody>
          <a:bodyPr wrap="square">
            <a:spAutoFit/>
          </a:bodyPr>
          <a:lstStyle/>
          <a:p>
            <a:pPr algn="l"/>
            <a:r>
              <a:rPr sz="1300" b="1" i="0">
                <a:solidFill>
                  <a:srgbClr val="0062B1"/>
                </a:solidFill>
                <a:latin typeface="Calibri"/>
              </a:rPr>
              <a:t>🔧  WHAT PROBLEMS IT SOLVES</a:t>
            </a:r>
          </a:p>
        </p:txBody>
      </p:sp>
      <p:sp>
        <p:nvSpPr>
          <p:cNvPr id="10" name="TextBox 9"/>
          <p:cNvSpPr txBox="1"/>
          <p:nvPr/>
        </p:nvSpPr>
        <p:spPr>
          <a:xfrm>
            <a:off x="6126480" y="1664208"/>
            <a:ext cx="5669280" cy="365760"/>
          </a:xfrm>
          <a:prstGeom prst="rect">
            <a:avLst/>
          </a:prstGeom>
          <a:noFill/>
        </p:spPr>
        <p:txBody>
          <a:bodyPr wrap="square">
            <a:spAutoFit/>
          </a:bodyPr>
          <a:lstStyle/>
          <a:p>
            <a:pPr algn="l"/>
            <a:r>
              <a:rPr sz="1300" b="1" i="0">
                <a:solidFill>
                  <a:srgbClr val="1A7A4A"/>
                </a:solidFill>
                <a:latin typeface="Calibri"/>
              </a:rPr>
              <a:t>🚀  WHY IT SHOULD BE USED</a:t>
            </a:r>
          </a:p>
        </p:txBody>
      </p:sp>
      <p:sp>
        <p:nvSpPr>
          <p:cNvPr id="11" name="Rounded Rectangle 10"/>
          <p:cNvSpPr/>
          <p:nvPr/>
        </p:nvSpPr>
        <p:spPr>
          <a:xfrm>
            <a:off x="228600" y="2084831"/>
            <a:ext cx="5669280" cy="621792"/>
          </a:xfrm>
          <a:prstGeom prst="roundRect">
            <a:avLst>
              <a:gd name="adj" fmla="val 8000"/>
            </a:avLst>
          </a:prstGeom>
          <a:solidFill>
            <a:srgbClr val="FEE2E2"/>
          </a:solidFill>
          <a:ln w="63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130551"/>
            <a:ext cx="5394960" cy="256032"/>
          </a:xfrm>
          <a:prstGeom prst="rect">
            <a:avLst/>
          </a:prstGeom>
          <a:noFill/>
        </p:spPr>
        <p:txBody>
          <a:bodyPr wrap="square">
            <a:spAutoFit/>
          </a:bodyPr>
          <a:lstStyle/>
          <a:p>
            <a:pPr algn="l"/>
            <a:r>
              <a:rPr sz="1200" b="1" i="0">
                <a:solidFill>
                  <a:srgbClr val="B91C1C"/>
                </a:solidFill>
                <a:latin typeface="Calibri"/>
              </a:rPr>
              <a:t>✖ Removes manual planning</a:t>
            </a:r>
          </a:p>
        </p:txBody>
      </p:sp>
      <p:sp>
        <p:nvSpPr>
          <p:cNvPr id="13" name="TextBox 12"/>
          <p:cNvSpPr txBox="1"/>
          <p:nvPr/>
        </p:nvSpPr>
        <p:spPr>
          <a:xfrm>
            <a:off x="365760" y="2404872"/>
            <a:ext cx="5394960" cy="256032"/>
          </a:xfrm>
          <a:prstGeom prst="rect">
            <a:avLst/>
          </a:prstGeom>
          <a:noFill/>
        </p:spPr>
        <p:txBody>
          <a:bodyPr wrap="square">
            <a:spAutoFit/>
          </a:bodyPr>
          <a:lstStyle/>
          <a:p>
            <a:pPr algn="l"/>
            <a:r>
              <a:rPr sz="1100" b="0" i="0">
                <a:solidFill>
                  <a:srgbClr val="64748B"/>
                </a:solidFill>
                <a:latin typeface="Calibri"/>
              </a:rPr>
              <a:t>  Slow, error-prone processes eliminated</a:t>
            </a:r>
          </a:p>
        </p:txBody>
      </p:sp>
      <p:sp>
        <p:nvSpPr>
          <p:cNvPr id="14" name="Rounded Rectangle 13"/>
          <p:cNvSpPr/>
          <p:nvPr/>
        </p:nvSpPr>
        <p:spPr>
          <a:xfrm>
            <a:off x="6126480" y="2084831"/>
            <a:ext cx="5669280" cy="621792"/>
          </a:xfrm>
          <a:prstGeom prst="roundRect">
            <a:avLst>
              <a:gd name="adj" fmla="val 8000"/>
            </a:avLst>
          </a:prstGeom>
          <a:solidFill>
            <a:srgbClr val="D1FAE5"/>
          </a:solidFill>
          <a:ln w="635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2130551"/>
            <a:ext cx="5394960" cy="256032"/>
          </a:xfrm>
          <a:prstGeom prst="rect">
            <a:avLst/>
          </a:prstGeom>
          <a:noFill/>
        </p:spPr>
        <p:txBody>
          <a:bodyPr wrap="square">
            <a:spAutoFit/>
          </a:bodyPr>
          <a:lstStyle/>
          <a:p>
            <a:pPr algn="l"/>
            <a:r>
              <a:rPr sz="1200" b="1" i="0">
                <a:solidFill>
                  <a:srgbClr val="1A7A4A"/>
                </a:solidFill>
                <a:latin typeface="Calibri"/>
              </a:rPr>
              <a:t>✔ Faster &amp; accurate plans</a:t>
            </a:r>
          </a:p>
        </p:txBody>
      </p:sp>
      <p:sp>
        <p:nvSpPr>
          <p:cNvPr id="16" name="TextBox 15"/>
          <p:cNvSpPr txBox="1"/>
          <p:nvPr/>
        </p:nvSpPr>
        <p:spPr>
          <a:xfrm>
            <a:off x="6263640" y="2404872"/>
            <a:ext cx="5394960" cy="256032"/>
          </a:xfrm>
          <a:prstGeom prst="rect">
            <a:avLst/>
          </a:prstGeom>
          <a:noFill/>
        </p:spPr>
        <p:txBody>
          <a:bodyPr wrap="square">
            <a:spAutoFit/>
          </a:bodyPr>
          <a:lstStyle/>
          <a:p>
            <a:pPr algn="l"/>
            <a:r>
              <a:rPr sz="1100" b="0" i="0">
                <a:solidFill>
                  <a:srgbClr val="64748B"/>
                </a:solidFill>
                <a:latin typeface="Calibri"/>
              </a:rPr>
              <a:t>  No human delays or errors in scheduling</a:t>
            </a:r>
          </a:p>
        </p:txBody>
      </p:sp>
      <p:sp>
        <p:nvSpPr>
          <p:cNvPr id="17" name="Rounded Rectangle 16"/>
          <p:cNvSpPr/>
          <p:nvPr/>
        </p:nvSpPr>
        <p:spPr>
          <a:xfrm>
            <a:off x="228600" y="2779776"/>
            <a:ext cx="5669280" cy="621792"/>
          </a:xfrm>
          <a:prstGeom prst="roundRect">
            <a:avLst>
              <a:gd name="adj" fmla="val 8000"/>
            </a:avLst>
          </a:prstGeom>
          <a:solidFill>
            <a:srgbClr val="FEE2E2"/>
          </a:solidFill>
          <a:ln w="63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825496"/>
            <a:ext cx="5394960" cy="256032"/>
          </a:xfrm>
          <a:prstGeom prst="rect">
            <a:avLst/>
          </a:prstGeom>
          <a:noFill/>
        </p:spPr>
        <p:txBody>
          <a:bodyPr wrap="square">
            <a:spAutoFit/>
          </a:bodyPr>
          <a:lstStyle/>
          <a:p>
            <a:pPr algn="l"/>
            <a:r>
              <a:rPr sz="1200" b="1" i="0">
                <a:solidFill>
                  <a:srgbClr val="B91C1C"/>
                </a:solidFill>
                <a:latin typeface="Calibri"/>
              </a:rPr>
              <a:t>✖ Balances demand vs hours</a:t>
            </a:r>
          </a:p>
        </p:txBody>
      </p:sp>
      <p:sp>
        <p:nvSpPr>
          <p:cNvPr id="19" name="TextBox 18"/>
          <p:cNvSpPr txBox="1"/>
          <p:nvPr/>
        </p:nvSpPr>
        <p:spPr>
          <a:xfrm>
            <a:off x="365760" y="3099816"/>
            <a:ext cx="5394960" cy="256032"/>
          </a:xfrm>
          <a:prstGeom prst="rect">
            <a:avLst/>
          </a:prstGeom>
          <a:noFill/>
        </p:spPr>
        <p:txBody>
          <a:bodyPr wrap="square">
            <a:spAutoFit/>
          </a:bodyPr>
          <a:lstStyle/>
          <a:p>
            <a:pPr algn="l"/>
            <a:r>
              <a:rPr sz="1100" b="0" i="0">
                <a:solidFill>
                  <a:srgbClr val="64748B"/>
                </a:solidFill>
                <a:latin typeface="Calibri"/>
              </a:rPr>
              <a:t>  Machine hours matched to actual demand</a:t>
            </a:r>
          </a:p>
        </p:txBody>
      </p:sp>
      <p:sp>
        <p:nvSpPr>
          <p:cNvPr id="20" name="Rounded Rectangle 19"/>
          <p:cNvSpPr/>
          <p:nvPr/>
        </p:nvSpPr>
        <p:spPr>
          <a:xfrm>
            <a:off x="6126480" y="2779776"/>
            <a:ext cx="5669280" cy="621792"/>
          </a:xfrm>
          <a:prstGeom prst="roundRect">
            <a:avLst>
              <a:gd name="adj" fmla="val 8000"/>
            </a:avLst>
          </a:prstGeom>
          <a:solidFill>
            <a:srgbClr val="D1FAE5"/>
          </a:solidFill>
          <a:ln w="635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2825496"/>
            <a:ext cx="5394960" cy="256032"/>
          </a:xfrm>
          <a:prstGeom prst="rect">
            <a:avLst/>
          </a:prstGeom>
          <a:noFill/>
        </p:spPr>
        <p:txBody>
          <a:bodyPr wrap="square">
            <a:spAutoFit/>
          </a:bodyPr>
          <a:lstStyle/>
          <a:p>
            <a:pPr algn="l"/>
            <a:r>
              <a:rPr sz="1200" b="1" i="0">
                <a:solidFill>
                  <a:srgbClr val="1A7A4A"/>
                </a:solidFill>
                <a:latin typeface="Calibri"/>
              </a:rPr>
              <a:t>✔ Clear production visibility</a:t>
            </a:r>
          </a:p>
        </p:txBody>
      </p:sp>
      <p:sp>
        <p:nvSpPr>
          <p:cNvPr id="22" name="TextBox 21"/>
          <p:cNvSpPr txBox="1"/>
          <p:nvPr/>
        </p:nvSpPr>
        <p:spPr>
          <a:xfrm>
            <a:off x="6263640" y="3099816"/>
            <a:ext cx="5394960" cy="256032"/>
          </a:xfrm>
          <a:prstGeom prst="rect">
            <a:avLst/>
          </a:prstGeom>
          <a:noFill/>
        </p:spPr>
        <p:txBody>
          <a:bodyPr wrap="square">
            <a:spAutoFit/>
          </a:bodyPr>
          <a:lstStyle/>
          <a:p>
            <a:pPr algn="l"/>
            <a:r>
              <a:rPr sz="1100" b="0" i="0">
                <a:solidFill>
                  <a:srgbClr val="64748B"/>
                </a:solidFill>
                <a:latin typeface="Calibri"/>
              </a:rPr>
              <a:t>  Know what to make, when and how much</a:t>
            </a:r>
          </a:p>
        </p:txBody>
      </p:sp>
      <p:sp>
        <p:nvSpPr>
          <p:cNvPr id="23" name="Rounded Rectangle 22"/>
          <p:cNvSpPr/>
          <p:nvPr/>
        </p:nvSpPr>
        <p:spPr>
          <a:xfrm>
            <a:off x="228600" y="3474720"/>
            <a:ext cx="5669280" cy="621792"/>
          </a:xfrm>
          <a:prstGeom prst="roundRect">
            <a:avLst>
              <a:gd name="adj" fmla="val 8000"/>
            </a:avLst>
          </a:prstGeom>
          <a:solidFill>
            <a:srgbClr val="FEE2E2"/>
          </a:solidFill>
          <a:ln w="63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3520439"/>
            <a:ext cx="5394960" cy="256032"/>
          </a:xfrm>
          <a:prstGeom prst="rect">
            <a:avLst/>
          </a:prstGeom>
          <a:noFill/>
        </p:spPr>
        <p:txBody>
          <a:bodyPr wrap="square">
            <a:spAutoFit/>
          </a:bodyPr>
          <a:lstStyle/>
          <a:p>
            <a:pPr algn="l"/>
            <a:r>
              <a:rPr sz="1200" b="1" i="0">
                <a:solidFill>
                  <a:srgbClr val="B91C1C"/>
                </a:solidFill>
                <a:latin typeface="Calibri"/>
              </a:rPr>
              <a:t>✖ Reduces over/under stock</a:t>
            </a:r>
          </a:p>
        </p:txBody>
      </p:sp>
      <p:sp>
        <p:nvSpPr>
          <p:cNvPr id="25" name="TextBox 24"/>
          <p:cNvSpPr txBox="1"/>
          <p:nvPr/>
        </p:nvSpPr>
        <p:spPr>
          <a:xfrm>
            <a:off x="365760" y="3794759"/>
            <a:ext cx="5394960" cy="256032"/>
          </a:xfrm>
          <a:prstGeom prst="rect">
            <a:avLst/>
          </a:prstGeom>
          <a:noFill/>
        </p:spPr>
        <p:txBody>
          <a:bodyPr wrap="square">
            <a:spAutoFit/>
          </a:bodyPr>
          <a:lstStyle/>
          <a:p>
            <a:pPr algn="l"/>
            <a:r>
              <a:rPr sz="1100" b="0" i="0">
                <a:solidFill>
                  <a:srgbClr val="64748B"/>
                </a:solidFill>
                <a:latin typeface="Calibri"/>
              </a:rPr>
              <a:t>  Safety stock maintained automatically</a:t>
            </a:r>
          </a:p>
        </p:txBody>
      </p:sp>
      <p:sp>
        <p:nvSpPr>
          <p:cNvPr id="26" name="Rounded Rectangle 25"/>
          <p:cNvSpPr/>
          <p:nvPr/>
        </p:nvSpPr>
        <p:spPr>
          <a:xfrm>
            <a:off x="6126480" y="3474720"/>
            <a:ext cx="5669280" cy="621792"/>
          </a:xfrm>
          <a:prstGeom prst="roundRect">
            <a:avLst>
              <a:gd name="adj" fmla="val 8000"/>
            </a:avLst>
          </a:prstGeom>
          <a:solidFill>
            <a:srgbClr val="D1FAE5"/>
          </a:solidFill>
          <a:ln w="635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3520439"/>
            <a:ext cx="5394960" cy="256032"/>
          </a:xfrm>
          <a:prstGeom prst="rect">
            <a:avLst/>
          </a:prstGeom>
          <a:noFill/>
        </p:spPr>
        <p:txBody>
          <a:bodyPr wrap="square">
            <a:spAutoFit/>
          </a:bodyPr>
          <a:lstStyle/>
          <a:p>
            <a:pPr algn="l"/>
            <a:r>
              <a:rPr sz="1200" b="1" i="0">
                <a:solidFill>
                  <a:srgbClr val="1A7A4A"/>
                </a:solidFill>
                <a:latin typeface="Calibri"/>
              </a:rPr>
              <a:t>✔ Better machine utilisation</a:t>
            </a:r>
          </a:p>
        </p:txBody>
      </p:sp>
      <p:sp>
        <p:nvSpPr>
          <p:cNvPr id="28" name="TextBox 27"/>
          <p:cNvSpPr txBox="1"/>
          <p:nvPr/>
        </p:nvSpPr>
        <p:spPr>
          <a:xfrm>
            <a:off x="6263640" y="3794759"/>
            <a:ext cx="5394960" cy="256032"/>
          </a:xfrm>
          <a:prstGeom prst="rect">
            <a:avLst/>
          </a:prstGeom>
          <a:noFill/>
        </p:spPr>
        <p:txBody>
          <a:bodyPr wrap="square">
            <a:spAutoFit/>
          </a:bodyPr>
          <a:lstStyle/>
          <a:p>
            <a:pPr algn="l"/>
            <a:r>
              <a:rPr sz="1100" b="0" i="0">
                <a:solidFill>
                  <a:srgbClr val="64748B"/>
                </a:solidFill>
                <a:latin typeface="Calibri"/>
              </a:rPr>
              <a:t>  Fewer idle hours, higher throughput</a:t>
            </a:r>
          </a:p>
        </p:txBody>
      </p:sp>
      <p:sp>
        <p:nvSpPr>
          <p:cNvPr id="29" name="Rounded Rectangle 28"/>
          <p:cNvSpPr/>
          <p:nvPr/>
        </p:nvSpPr>
        <p:spPr>
          <a:xfrm>
            <a:off x="228600" y="4169664"/>
            <a:ext cx="5669280" cy="621792"/>
          </a:xfrm>
          <a:prstGeom prst="roundRect">
            <a:avLst>
              <a:gd name="adj" fmla="val 8000"/>
            </a:avLst>
          </a:prstGeom>
          <a:solidFill>
            <a:srgbClr val="FEE2E2"/>
          </a:solidFill>
          <a:ln w="63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4215384"/>
            <a:ext cx="5394960" cy="256032"/>
          </a:xfrm>
          <a:prstGeom prst="rect">
            <a:avLst/>
          </a:prstGeom>
          <a:noFill/>
        </p:spPr>
        <p:txBody>
          <a:bodyPr wrap="square">
            <a:spAutoFit/>
          </a:bodyPr>
          <a:lstStyle/>
          <a:p>
            <a:pPr algn="l"/>
            <a:r>
              <a:rPr sz="1200" b="1" i="0">
                <a:solidFill>
                  <a:srgbClr val="B91C1C"/>
                </a:solidFill>
                <a:latin typeface="Calibri"/>
              </a:rPr>
              <a:t>✖ Tracks utilisation</a:t>
            </a:r>
          </a:p>
        </p:txBody>
      </p:sp>
      <p:sp>
        <p:nvSpPr>
          <p:cNvPr id="31" name="TextBox 30"/>
          <p:cNvSpPr txBox="1"/>
          <p:nvPr/>
        </p:nvSpPr>
        <p:spPr>
          <a:xfrm>
            <a:off x="365760" y="4489704"/>
            <a:ext cx="5394960" cy="256032"/>
          </a:xfrm>
          <a:prstGeom prst="rect">
            <a:avLst/>
          </a:prstGeom>
          <a:noFill/>
        </p:spPr>
        <p:txBody>
          <a:bodyPr wrap="square">
            <a:spAutoFit/>
          </a:bodyPr>
          <a:lstStyle/>
          <a:p>
            <a:pPr algn="l"/>
            <a:r>
              <a:rPr sz="1100" b="0" i="0">
                <a:solidFill>
                  <a:srgbClr val="64748B"/>
                </a:solidFill>
                <a:latin typeface="Calibri"/>
              </a:rPr>
              <a:t>  Full visibility on machine uptime</a:t>
            </a:r>
          </a:p>
        </p:txBody>
      </p:sp>
      <p:sp>
        <p:nvSpPr>
          <p:cNvPr id="32" name="Rounded Rectangle 31"/>
          <p:cNvSpPr/>
          <p:nvPr/>
        </p:nvSpPr>
        <p:spPr>
          <a:xfrm>
            <a:off x="6126480" y="4169664"/>
            <a:ext cx="5669280" cy="621792"/>
          </a:xfrm>
          <a:prstGeom prst="roundRect">
            <a:avLst>
              <a:gd name="adj" fmla="val 8000"/>
            </a:avLst>
          </a:prstGeom>
          <a:solidFill>
            <a:srgbClr val="D1FAE5"/>
          </a:solidFill>
          <a:ln w="635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4215384"/>
            <a:ext cx="5394960" cy="256032"/>
          </a:xfrm>
          <a:prstGeom prst="rect">
            <a:avLst/>
          </a:prstGeom>
          <a:noFill/>
        </p:spPr>
        <p:txBody>
          <a:bodyPr wrap="square">
            <a:spAutoFit/>
          </a:bodyPr>
          <a:lstStyle/>
          <a:p>
            <a:pPr algn="l"/>
            <a:r>
              <a:rPr sz="1200" b="1" i="0">
                <a:solidFill>
                  <a:srgbClr val="1A7A4A"/>
                </a:solidFill>
                <a:latin typeface="Calibri"/>
              </a:rPr>
              <a:t>✔ Lower costs</a:t>
            </a:r>
          </a:p>
        </p:txBody>
      </p:sp>
      <p:sp>
        <p:nvSpPr>
          <p:cNvPr id="34" name="TextBox 33"/>
          <p:cNvSpPr txBox="1"/>
          <p:nvPr/>
        </p:nvSpPr>
        <p:spPr>
          <a:xfrm>
            <a:off x="6263640" y="4489704"/>
            <a:ext cx="5394960" cy="256032"/>
          </a:xfrm>
          <a:prstGeom prst="rect">
            <a:avLst/>
          </a:prstGeom>
          <a:noFill/>
        </p:spPr>
        <p:txBody>
          <a:bodyPr wrap="square">
            <a:spAutoFit/>
          </a:bodyPr>
          <a:lstStyle/>
          <a:p>
            <a:pPr algn="l"/>
            <a:r>
              <a:rPr sz="1100" b="0" i="0">
                <a:solidFill>
                  <a:srgbClr val="64748B"/>
                </a:solidFill>
                <a:latin typeface="Calibri"/>
              </a:rPr>
              <a:t>  Smoother shop floor operations</a:t>
            </a:r>
          </a:p>
        </p:txBody>
      </p:sp>
      <p:sp>
        <p:nvSpPr>
          <p:cNvPr id="35" name="Rounded Rectangle 34"/>
          <p:cNvSpPr/>
          <p:nvPr/>
        </p:nvSpPr>
        <p:spPr>
          <a:xfrm>
            <a:off x="228600" y="4864608"/>
            <a:ext cx="5669280" cy="621792"/>
          </a:xfrm>
          <a:prstGeom prst="roundRect">
            <a:avLst>
              <a:gd name="adj" fmla="val 8000"/>
            </a:avLst>
          </a:prstGeom>
          <a:solidFill>
            <a:srgbClr val="FEE2E2"/>
          </a:solidFill>
          <a:ln w="63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4910328"/>
            <a:ext cx="5394960" cy="256032"/>
          </a:xfrm>
          <a:prstGeom prst="rect">
            <a:avLst/>
          </a:prstGeom>
          <a:noFill/>
        </p:spPr>
        <p:txBody>
          <a:bodyPr wrap="square">
            <a:spAutoFit/>
          </a:bodyPr>
          <a:lstStyle/>
          <a:p>
            <a:pPr algn="l"/>
            <a:r>
              <a:rPr sz="1200" b="1" i="0">
                <a:solidFill>
                  <a:srgbClr val="B91C1C"/>
                </a:solidFill>
                <a:latin typeface="Calibri"/>
              </a:rPr>
              <a:t>✖ Cuts changeover waste</a:t>
            </a:r>
          </a:p>
        </p:txBody>
      </p:sp>
      <p:sp>
        <p:nvSpPr>
          <p:cNvPr id="37" name="TextBox 36"/>
          <p:cNvSpPr txBox="1"/>
          <p:nvPr/>
        </p:nvSpPr>
        <p:spPr>
          <a:xfrm>
            <a:off x="365760" y="5184648"/>
            <a:ext cx="5394960" cy="256032"/>
          </a:xfrm>
          <a:prstGeom prst="rect">
            <a:avLst/>
          </a:prstGeom>
          <a:noFill/>
        </p:spPr>
        <p:txBody>
          <a:bodyPr wrap="square">
            <a:spAutoFit/>
          </a:bodyPr>
          <a:lstStyle/>
          <a:p>
            <a:pPr algn="l"/>
            <a:r>
              <a:rPr sz="1100" b="0" i="0">
                <a:solidFill>
                  <a:srgbClr val="64748B"/>
                </a:solidFill>
                <a:latin typeface="Calibri"/>
              </a:rPr>
              <a:t>  Parts grouped to minimise setups</a:t>
            </a:r>
          </a:p>
        </p:txBody>
      </p:sp>
      <p:sp>
        <p:nvSpPr>
          <p:cNvPr id="38" name="Rounded Rectangle 37"/>
          <p:cNvSpPr/>
          <p:nvPr/>
        </p:nvSpPr>
        <p:spPr>
          <a:xfrm>
            <a:off x="6126480" y="4864608"/>
            <a:ext cx="5669280" cy="621792"/>
          </a:xfrm>
          <a:prstGeom prst="roundRect">
            <a:avLst>
              <a:gd name="adj" fmla="val 8000"/>
            </a:avLst>
          </a:prstGeom>
          <a:solidFill>
            <a:srgbClr val="D1FAE5"/>
          </a:solidFill>
          <a:ln w="635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3640" y="4910328"/>
            <a:ext cx="5394960" cy="256032"/>
          </a:xfrm>
          <a:prstGeom prst="rect">
            <a:avLst/>
          </a:prstGeom>
          <a:noFill/>
        </p:spPr>
        <p:txBody>
          <a:bodyPr wrap="square">
            <a:spAutoFit/>
          </a:bodyPr>
          <a:lstStyle/>
          <a:p>
            <a:pPr algn="l"/>
            <a:r>
              <a:rPr sz="1200" b="1" i="0">
                <a:solidFill>
                  <a:srgbClr val="1A7A4A"/>
                </a:solidFill>
                <a:latin typeface="Calibri"/>
              </a:rPr>
              <a:t>✔ Easy to adapt</a:t>
            </a:r>
          </a:p>
        </p:txBody>
      </p:sp>
      <p:sp>
        <p:nvSpPr>
          <p:cNvPr id="40" name="TextBox 39"/>
          <p:cNvSpPr txBox="1"/>
          <p:nvPr/>
        </p:nvSpPr>
        <p:spPr>
          <a:xfrm>
            <a:off x="6263640" y="5184648"/>
            <a:ext cx="5394960" cy="256032"/>
          </a:xfrm>
          <a:prstGeom prst="rect">
            <a:avLst/>
          </a:prstGeom>
          <a:noFill/>
        </p:spPr>
        <p:txBody>
          <a:bodyPr wrap="square">
            <a:spAutoFit/>
          </a:bodyPr>
          <a:lstStyle/>
          <a:p>
            <a:pPr algn="l"/>
            <a:r>
              <a:rPr sz="1100" b="0" i="0">
                <a:solidFill>
                  <a:srgbClr val="64748B"/>
                </a:solidFill>
                <a:latin typeface="Calibri"/>
              </a:rPr>
              <a:t>  Adjusts when demand or machines change</a:t>
            </a:r>
          </a:p>
        </p:txBody>
      </p:sp>
    </p:spTree>
    <p:extLst>
      <p:ext uri="{BB962C8B-B14F-4D97-AF65-F5344CB8AC3E}">
        <p14:creationId xmlns:p14="http://schemas.microsoft.com/office/powerpoint/2010/main" val="108915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TBClassificationF49372605">
            <a:extLst>
              <a:ext uri="{FF2B5EF4-FFF2-40B4-BE49-F238E27FC236}">
                <a16:creationId xmlns:a16="http://schemas.microsoft.com/office/drawing/2014/main" id="{7BC7079A-837D-4C71-94D5-E25146023A09}"/>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
        <p:nvSpPr>
          <p:cNvPr id="6" name="TextBox 5"/>
          <p:cNvSpPr txBox="1"/>
          <p:nvPr/>
        </p:nvSpPr>
        <p:spPr>
          <a:xfrm>
            <a:off x="228600" y="109728"/>
            <a:ext cx="8686800" cy="594360"/>
          </a:xfrm>
          <a:prstGeom prst="rect">
            <a:avLst/>
          </a:prstGeom>
          <a:noFill/>
        </p:spPr>
        <p:txBody>
          <a:bodyPr wrap="square">
            <a:spAutoFit/>
          </a:bodyPr>
          <a:lstStyle/>
          <a:p>
            <a:pPr algn="l"/>
            <a:r>
              <a:rPr sz="2800" b="1" i="0">
                <a:solidFill>
                  <a:srgbClr val="097AE8"/>
                </a:solidFill>
                <a:latin typeface="Calibri"/>
              </a:rPr>
              <a:t>Where to Implement?</a:t>
            </a:r>
          </a:p>
        </p:txBody>
      </p:sp>
      <p:sp>
        <p:nvSpPr>
          <p:cNvPr id="7" name="Rectangle 6"/>
          <p:cNvSpPr/>
          <p:nvPr/>
        </p:nvSpPr>
        <p:spPr>
          <a:xfrm>
            <a:off x="0" y="822960"/>
            <a:ext cx="12179808" cy="365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28600" y="932688"/>
            <a:ext cx="11704320" cy="530352"/>
          </a:xfrm>
          <a:prstGeom prst="roundRect">
            <a:avLst>
              <a:gd name="adj" fmla="val 8000"/>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   Implementation Area: MOULDING SECTION — Injection Moulding Division, Uno Minda Rika Pvt. Ltd.</a:t>
            </a:r>
          </a:p>
        </p:txBody>
      </p:sp>
      <p:sp>
        <p:nvSpPr>
          <p:cNvPr id="9" name="TextBox 8"/>
          <p:cNvSpPr txBox="1"/>
          <p:nvPr/>
        </p:nvSpPr>
        <p:spPr>
          <a:xfrm>
            <a:off x="228600" y="1572768"/>
            <a:ext cx="9144000" cy="384048"/>
          </a:xfrm>
          <a:prstGeom prst="rect">
            <a:avLst/>
          </a:prstGeom>
          <a:noFill/>
        </p:spPr>
        <p:txBody>
          <a:bodyPr wrap="square">
            <a:spAutoFit/>
          </a:bodyPr>
          <a:lstStyle/>
          <a:p>
            <a:pPr algn="l"/>
            <a:r>
              <a:rPr sz="1600" b="1" i="0">
                <a:solidFill>
                  <a:srgbClr val="0062B1"/>
                </a:solidFill>
                <a:latin typeface="Calibri"/>
              </a:rPr>
              <a:t>Why the Moulding Section Was Selected</a:t>
            </a:r>
          </a:p>
        </p:txBody>
      </p:sp>
      <p:sp>
        <p:nvSpPr>
          <p:cNvPr id="10" name="Rounded Rectangle 9"/>
          <p:cNvSpPr/>
          <p:nvPr/>
        </p:nvSpPr>
        <p:spPr>
          <a:xfrm>
            <a:off x="228600" y="2029968"/>
            <a:ext cx="11704320" cy="530352"/>
          </a:xfrm>
          <a:prstGeom prst="roundRect">
            <a:avLst>
              <a:gd name="adj" fmla="val 8000"/>
            </a:avLst>
          </a:prstGeom>
          <a:solidFill>
            <a:srgbClr val="FFFFFF"/>
          </a:solidFill>
          <a:ln w="1524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2029968"/>
            <a:ext cx="73152" cy="53035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2103120"/>
            <a:ext cx="384048" cy="384048"/>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Calibri"/>
              </a:rPr>
              <a:t>👥</a:t>
            </a:r>
          </a:p>
        </p:txBody>
      </p:sp>
      <p:sp>
        <p:nvSpPr>
          <p:cNvPr id="13" name="TextBox 12"/>
          <p:cNvSpPr txBox="1"/>
          <p:nvPr/>
        </p:nvSpPr>
        <p:spPr>
          <a:xfrm>
            <a:off x="822960" y="2066544"/>
            <a:ext cx="2560320" cy="274320"/>
          </a:xfrm>
          <a:prstGeom prst="rect">
            <a:avLst/>
          </a:prstGeom>
          <a:noFill/>
        </p:spPr>
        <p:txBody>
          <a:bodyPr wrap="square">
            <a:spAutoFit/>
          </a:bodyPr>
          <a:lstStyle/>
          <a:p>
            <a:pPr algn="l"/>
            <a:r>
              <a:rPr sz="1300" b="1" i="0">
                <a:solidFill>
                  <a:srgbClr val="B91C1C"/>
                </a:solidFill>
                <a:latin typeface="Calibri"/>
              </a:rPr>
              <a:t>Manual Planning:</a:t>
            </a:r>
          </a:p>
        </p:txBody>
      </p:sp>
      <p:sp>
        <p:nvSpPr>
          <p:cNvPr id="14" name="TextBox 13"/>
          <p:cNvSpPr txBox="1"/>
          <p:nvPr/>
        </p:nvSpPr>
        <p:spPr>
          <a:xfrm>
            <a:off x="3410712" y="2066544"/>
            <a:ext cx="8321040" cy="457200"/>
          </a:xfrm>
          <a:prstGeom prst="rect">
            <a:avLst/>
          </a:prstGeom>
          <a:noFill/>
        </p:spPr>
        <p:txBody>
          <a:bodyPr wrap="square">
            <a:spAutoFit/>
          </a:bodyPr>
          <a:lstStyle/>
          <a:p>
            <a:pPr algn="l"/>
            <a:r>
              <a:rPr sz="1200" b="0" i="0">
                <a:solidFill>
                  <a:srgbClr val="64748B"/>
                </a:solidFill>
                <a:latin typeface="Calibri"/>
              </a:rPr>
              <a:t>Planning done by 2–3 people — slow &amp; time-consuming</a:t>
            </a:r>
          </a:p>
        </p:txBody>
      </p:sp>
      <p:sp>
        <p:nvSpPr>
          <p:cNvPr id="15" name="Rounded Rectangle 14"/>
          <p:cNvSpPr/>
          <p:nvPr/>
        </p:nvSpPr>
        <p:spPr>
          <a:xfrm>
            <a:off x="228600" y="2633472"/>
            <a:ext cx="11704320" cy="530352"/>
          </a:xfrm>
          <a:prstGeom prst="roundRect">
            <a:avLst>
              <a:gd name="adj" fmla="val 8000"/>
            </a:avLst>
          </a:prstGeom>
          <a:solidFill>
            <a:srgbClr val="FFFFFF"/>
          </a:solidFill>
          <a:ln w="1524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 y="2633472"/>
            <a:ext cx="73152" cy="530352"/>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65760" y="2706624"/>
            <a:ext cx="384048" cy="384048"/>
          </a:xfrm>
          <a:prstGeom prst="roundRect">
            <a:avLst>
              <a:gd name="adj" fmla="val 8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Calibri"/>
              </a:rPr>
              <a:t>📦</a:t>
            </a:r>
          </a:p>
        </p:txBody>
      </p:sp>
      <p:sp>
        <p:nvSpPr>
          <p:cNvPr id="18" name="TextBox 17"/>
          <p:cNvSpPr txBox="1"/>
          <p:nvPr/>
        </p:nvSpPr>
        <p:spPr>
          <a:xfrm>
            <a:off x="822960" y="2670048"/>
            <a:ext cx="2560320" cy="274320"/>
          </a:xfrm>
          <a:prstGeom prst="rect">
            <a:avLst/>
          </a:prstGeom>
          <a:noFill/>
        </p:spPr>
        <p:txBody>
          <a:bodyPr wrap="square">
            <a:spAutoFit/>
          </a:bodyPr>
          <a:lstStyle/>
          <a:p>
            <a:pPr algn="l"/>
            <a:r>
              <a:rPr sz="1300" b="1" i="0">
                <a:solidFill>
                  <a:srgbClr val="ED7D31"/>
                </a:solidFill>
                <a:latin typeface="Calibri"/>
              </a:rPr>
              <a:t>Inventory Issues:</a:t>
            </a:r>
          </a:p>
        </p:txBody>
      </p:sp>
      <p:sp>
        <p:nvSpPr>
          <p:cNvPr id="19" name="TextBox 18"/>
          <p:cNvSpPr txBox="1"/>
          <p:nvPr/>
        </p:nvSpPr>
        <p:spPr>
          <a:xfrm>
            <a:off x="3410712" y="2670048"/>
            <a:ext cx="8321040" cy="457200"/>
          </a:xfrm>
          <a:prstGeom prst="rect">
            <a:avLst/>
          </a:prstGeom>
          <a:noFill/>
        </p:spPr>
        <p:txBody>
          <a:bodyPr wrap="square">
            <a:spAutoFit/>
          </a:bodyPr>
          <a:lstStyle/>
          <a:p>
            <a:pPr algn="l"/>
            <a:r>
              <a:rPr sz="1200" b="0" i="0">
                <a:solidFill>
                  <a:srgbClr val="64748B"/>
                </a:solidFill>
                <a:latin typeface="Calibri"/>
              </a:rPr>
              <a:t>Some parts overproduced; others face shortages — causing imbalance</a:t>
            </a:r>
          </a:p>
        </p:txBody>
      </p:sp>
      <p:sp>
        <p:nvSpPr>
          <p:cNvPr id="20" name="Rounded Rectangle 19"/>
          <p:cNvSpPr/>
          <p:nvPr/>
        </p:nvSpPr>
        <p:spPr>
          <a:xfrm>
            <a:off x="228600" y="3236976"/>
            <a:ext cx="11704320" cy="530352"/>
          </a:xfrm>
          <a:prstGeom prst="roundRect">
            <a:avLst>
              <a:gd name="adj" fmla="val 8000"/>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236976"/>
            <a:ext cx="73152" cy="5303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65760" y="3310128"/>
            <a:ext cx="384048" cy="384048"/>
          </a:xfrm>
          <a:prstGeom prst="roundRect">
            <a:avLst>
              <a:gd name="adj" fmla="val 8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Calibri"/>
              </a:rPr>
              <a:t>⚙️</a:t>
            </a:r>
          </a:p>
        </p:txBody>
      </p:sp>
      <p:sp>
        <p:nvSpPr>
          <p:cNvPr id="23" name="TextBox 22"/>
          <p:cNvSpPr txBox="1"/>
          <p:nvPr/>
        </p:nvSpPr>
        <p:spPr>
          <a:xfrm>
            <a:off x="822960" y="3273552"/>
            <a:ext cx="2560320" cy="274320"/>
          </a:xfrm>
          <a:prstGeom prst="rect">
            <a:avLst/>
          </a:prstGeom>
          <a:noFill/>
        </p:spPr>
        <p:txBody>
          <a:bodyPr wrap="square">
            <a:spAutoFit/>
          </a:bodyPr>
          <a:lstStyle/>
          <a:p>
            <a:pPr algn="l"/>
            <a:r>
              <a:rPr sz="1300" b="1" i="0">
                <a:solidFill>
                  <a:srgbClr val="D97706"/>
                </a:solidFill>
                <a:latin typeface="Calibri"/>
              </a:rPr>
              <a:t>Machine Utilisation Gaps:</a:t>
            </a:r>
          </a:p>
        </p:txBody>
      </p:sp>
      <p:sp>
        <p:nvSpPr>
          <p:cNvPr id="24" name="TextBox 23"/>
          <p:cNvSpPr txBox="1"/>
          <p:nvPr/>
        </p:nvSpPr>
        <p:spPr>
          <a:xfrm>
            <a:off x="3410712" y="3273552"/>
            <a:ext cx="8321040" cy="457200"/>
          </a:xfrm>
          <a:prstGeom prst="rect">
            <a:avLst/>
          </a:prstGeom>
          <a:noFill/>
        </p:spPr>
        <p:txBody>
          <a:bodyPr wrap="square">
            <a:spAutoFit/>
          </a:bodyPr>
          <a:lstStyle/>
          <a:p>
            <a:pPr algn="l"/>
            <a:r>
              <a:rPr sz="1200" b="0" i="0">
                <a:solidFill>
                  <a:srgbClr val="64748B"/>
                </a:solidFill>
                <a:latin typeface="Calibri"/>
              </a:rPr>
              <a:t>No proper tracking; machines remain idle or on downtime undetected</a:t>
            </a:r>
          </a:p>
        </p:txBody>
      </p:sp>
      <p:sp>
        <p:nvSpPr>
          <p:cNvPr id="25" name="Rounded Rectangle 24"/>
          <p:cNvSpPr/>
          <p:nvPr/>
        </p:nvSpPr>
        <p:spPr>
          <a:xfrm>
            <a:off x="228600" y="3840480"/>
            <a:ext cx="11704320" cy="530352"/>
          </a:xfrm>
          <a:prstGeom prst="roundRect">
            <a:avLst>
              <a:gd name="adj" fmla="val 8000"/>
            </a:avLst>
          </a:prstGeom>
          <a:solidFill>
            <a:srgbClr val="FFFFFF"/>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8600" y="3840480"/>
            <a:ext cx="73152" cy="5303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65760" y="3913632"/>
            <a:ext cx="384048" cy="384048"/>
          </a:xfrm>
          <a:prstGeom prst="roundRect">
            <a:avLst>
              <a:gd name="adj" fmla="val 8000"/>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Calibri"/>
              </a:rPr>
              <a:t>🎯</a:t>
            </a:r>
          </a:p>
        </p:txBody>
      </p:sp>
      <p:sp>
        <p:nvSpPr>
          <p:cNvPr id="28" name="TextBox 27"/>
          <p:cNvSpPr txBox="1"/>
          <p:nvPr/>
        </p:nvSpPr>
        <p:spPr>
          <a:xfrm>
            <a:off x="822960" y="3877056"/>
            <a:ext cx="2560320" cy="274320"/>
          </a:xfrm>
          <a:prstGeom prst="rect">
            <a:avLst/>
          </a:prstGeom>
          <a:noFill/>
        </p:spPr>
        <p:txBody>
          <a:bodyPr wrap="square">
            <a:spAutoFit/>
          </a:bodyPr>
          <a:lstStyle/>
          <a:p>
            <a:pPr algn="l"/>
            <a:r>
              <a:rPr sz="1300" b="1" i="0">
                <a:solidFill>
                  <a:srgbClr val="0070C0"/>
                </a:solidFill>
                <a:latin typeface="Calibri"/>
              </a:rPr>
              <a:t>High Impact Area:</a:t>
            </a:r>
          </a:p>
        </p:txBody>
      </p:sp>
      <p:sp>
        <p:nvSpPr>
          <p:cNvPr id="29" name="TextBox 28"/>
          <p:cNvSpPr txBox="1"/>
          <p:nvPr/>
        </p:nvSpPr>
        <p:spPr>
          <a:xfrm>
            <a:off x="3410712" y="3877056"/>
            <a:ext cx="8321040" cy="457200"/>
          </a:xfrm>
          <a:prstGeom prst="rect">
            <a:avLst/>
          </a:prstGeom>
          <a:noFill/>
        </p:spPr>
        <p:txBody>
          <a:bodyPr wrap="square">
            <a:spAutoFit/>
          </a:bodyPr>
          <a:lstStyle/>
          <a:p>
            <a:pPr algn="l"/>
            <a:r>
              <a:rPr sz="1200" b="0" i="0">
                <a:solidFill>
                  <a:srgbClr val="64748B"/>
                </a:solidFill>
                <a:latin typeface="Calibri"/>
              </a:rPr>
              <a:t>Moulding is a critical stage — improvements here directly affect overall efficiency</a:t>
            </a:r>
          </a:p>
        </p:txBody>
      </p:sp>
      <p:sp>
        <p:nvSpPr>
          <p:cNvPr id="30" name="Rounded Rectangle 29"/>
          <p:cNvSpPr/>
          <p:nvPr/>
        </p:nvSpPr>
        <p:spPr>
          <a:xfrm>
            <a:off x="228600" y="4443984"/>
            <a:ext cx="11704320" cy="530352"/>
          </a:xfrm>
          <a:prstGeom prst="roundRect">
            <a:avLst>
              <a:gd name="adj" fmla="val 8000"/>
            </a:avLst>
          </a:prstGeom>
          <a:solidFill>
            <a:srgbClr val="FFFFFF"/>
          </a:solidFill>
          <a:ln w="1524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8600" y="4443984"/>
            <a:ext cx="73152" cy="53035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65760" y="4517136"/>
            <a:ext cx="384048" cy="384048"/>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Calibri"/>
              </a:rPr>
              <a:t>🤖</a:t>
            </a:r>
          </a:p>
        </p:txBody>
      </p:sp>
      <p:sp>
        <p:nvSpPr>
          <p:cNvPr id="33" name="TextBox 32"/>
          <p:cNvSpPr txBox="1"/>
          <p:nvPr/>
        </p:nvSpPr>
        <p:spPr>
          <a:xfrm>
            <a:off x="822960" y="4480560"/>
            <a:ext cx="2560320" cy="274320"/>
          </a:xfrm>
          <a:prstGeom prst="rect">
            <a:avLst/>
          </a:prstGeom>
          <a:noFill/>
        </p:spPr>
        <p:txBody>
          <a:bodyPr wrap="square">
            <a:spAutoFit/>
          </a:bodyPr>
          <a:lstStyle/>
          <a:p>
            <a:pPr algn="l"/>
            <a:r>
              <a:rPr sz="1300" b="1" i="0">
                <a:solidFill>
                  <a:srgbClr val="1A7A4A"/>
                </a:solidFill>
                <a:latin typeface="Calibri"/>
              </a:rPr>
              <a:t>Best Fit for Automation:</a:t>
            </a:r>
          </a:p>
        </p:txBody>
      </p:sp>
      <p:sp>
        <p:nvSpPr>
          <p:cNvPr id="34" name="TextBox 33"/>
          <p:cNvSpPr txBox="1"/>
          <p:nvPr/>
        </p:nvSpPr>
        <p:spPr>
          <a:xfrm>
            <a:off x="3410712" y="4480560"/>
            <a:ext cx="8321040" cy="457200"/>
          </a:xfrm>
          <a:prstGeom prst="rect">
            <a:avLst/>
          </a:prstGeom>
          <a:noFill/>
        </p:spPr>
        <p:txBody>
          <a:bodyPr wrap="square">
            <a:spAutoFit/>
          </a:bodyPr>
          <a:lstStyle/>
          <a:p>
            <a:pPr algn="l"/>
            <a:r>
              <a:rPr sz="1200" b="0" i="0">
                <a:solidFill>
                  <a:srgbClr val="64748B"/>
                </a:solidFill>
                <a:latin typeface="Calibri"/>
              </a:rPr>
              <a:t>Clear demand signals, measurable machine hours &amp; visible inventory — ideal for digital scheduling</a:t>
            </a:r>
          </a:p>
        </p:txBody>
      </p:sp>
      <p:sp>
        <p:nvSpPr>
          <p:cNvPr id="35" name="Rounded Rectangle 34"/>
          <p:cNvSpPr/>
          <p:nvPr/>
        </p:nvSpPr>
        <p:spPr>
          <a:xfrm>
            <a:off x="228600" y="5056632"/>
            <a:ext cx="11704320" cy="475488"/>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i="0">
                <a:solidFill>
                  <a:srgbClr val="FFFFFF"/>
                </a:solidFill>
                <a:latin typeface="Calibri"/>
              </a:rPr>
              <a:t>✅  This section has the biggest gaps AND the clearest data — making it the perfect starting point for digital scheduling</a:t>
            </a:r>
          </a:p>
        </p:txBody>
      </p:sp>
    </p:spTree>
    <p:extLst>
      <p:ext uri="{BB962C8B-B14F-4D97-AF65-F5344CB8AC3E}">
        <p14:creationId xmlns:p14="http://schemas.microsoft.com/office/powerpoint/2010/main" val="3095147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10BE3B4B-1ADE-474C-8E64-A75DC30A2957}"/>
              </a:ext>
            </a:extLst>
          </p:cNvPr>
          <p:cNvSpPr txBox="1"/>
          <p:nvPr/>
        </p:nvSpPr>
        <p:spPr>
          <a:xfrm>
            <a:off x="253490" y="76200"/>
            <a:ext cx="7741160" cy="506549"/>
          </a:xfrm>
          <a:prstGeom prst="rect">
            <a:avLst/>
          </a:prstGeom>
        </p:spPr>
        <p:txBody>
          <a:bodyPr vert="horz" wrap="square" lIns="0" tIns="13970" rIns="0" bIns="0" rtlCol="0">
            <a:spAutoFit/>
          </a:bodyPr>
          <a:lstStyle>
            <a:lvl1pPr marL="12700">
              <a:lnSpc>
                <a:spcPct val="100000"/>
              </a:lnSpc>
              <a:spcBef>
                <a:spcPts val="110"/>
              </a:spcBef>
              <a:defRPr sz="3050" b="1" i="0">
                <a:solidFill>
                  <a:schemeClr val="tx2"/>
                </a:solidFill>
                <a:latin typeface="Trebuchet MS"/>
                <a:ea typeface="+mj-ea"/>
                <a:cs typeface="Trebuchet MS"/>
              </a:defRPr>
            </a:lvl1pPr>
          </a:lstStyle>
          <a:p>
            <a:r>
              <a:rPr lang="en-IN" sz="3200" dirty="0">
                <a:solidFill>
                  <a:srgbClr val="097AE8"/>
                </a:solidFill>
                <a:latin typeface="+mn-lt"/>
                <a:cs typeface="Arial" pitchFamily="34" charset="0"/>
              </a:rPr>
              <a:t>Important Guidelines</a:t>
            </a:r>
            <a:endParaRPr sz="3200" dirty="0">
              <a:solidFill>
                <a:srgbClr val="097AE8"/>
              </a:solidFill>
              <a:latin typeface="+mn-lt"/>
              <a:cs typeface="Arial" pitchFamily="34" charset="0"/>
            </a:endParaRPr>
          </a:p>
        </p:txBody>
      </p:sp>
      <p:sp>
        <p:nvSpPr>
          <p:cNvPr id="3" name="TextBox 2"/>
          <p:cNvSpPr txBox="1"/>
          <p:nvPr/>
        </p:nvSpPr>
        <p:spPr>
          <a:xfrm>
            <a:off x="755650" y="762000"/>
            <a:ext cx="10820400" cy="5509200"/>
          </a:xfrm>
          <a:prstGeom prst="rect">
            <a:avLst/>
          </a:prstGeom>
          <a:noFill/>
        </p:spPr>
        <p:txBody>
          <a:bodyPr wrap="square" rtlCol="0">
            <a:spAutoFit/>
          </a:bodyPr>
          <a:lstStyle/>
          <a:p>
            <a:pPr marL="342900" indent="-342900" algn="just">
              <a:buFont typeface="Arial" panose="020B0604020202020204" pitchFamily="34" charset="0"/>
              <a:buChar char="•"/>
            </a:pPr>
            <a:r>
              <a:rPr lang="en-IN" sz="2200" dirty="0">
                <a:cs typeface="Arial" pitchFamily="34" charset="0"/>
              </a:rPr>
              <a:t xml:space="preserve"> Ensure every slide has a page number written on bottom right side. Exclude writing page number on cover slide. </a:t>
            </a:r>
          </a:p>
          <a:p>
            <a:pPr marL="342900" indent="-342900" algn="just">
              <a:buFont typeface="Arial" panose="020B0604020202020204" pitchFamily="34" charset="0"/>
              <a:buChar char="•"/>
            </a:pPr>
            <a:endParaRPr lang="en-IN" sz="2200" dirty="0">
              <a:cs typeface="Arial" pitchFamily="34" charset="0"/>
            </a:endParaRPr>
          </a:p>
          <a:p>
            <a:pPr marL="342900" indent="-342900" algn="just">
              <a:buFont typeface="Arial" panose="020B0604020202020204" pitchFamily="34" charset="0"/>
              <a:buChar char="•"/>
            </a:pPr>
            <a:r>
              <a:rPr lang="en-IN" sz="2200" dirty="0">
                <a:cs typeface="Arial" pitchFamily="34" charset="0"/>
              </a:rPr>
              <a:t xml:space="preserve">While counting total number of slides of the presentation include cover slide and thank you slide. Count first slide, which is also the cover slide, as slide number 1. </a:t>
            </a:r>
          </a:p>
          <a:p>
            <a:pPr marL="342900" indent="-342900" algn="just">
              <a:buFont typeface="Arial" panose="020B0604020202020204" pitchFamily="34" charset="0"/>
              <a:buChar char="•"/>
            </a:pPr>
            <a:endParaRPr lang="en-IN" sz="2200" dirty="0">
              <a:cs typeface="Arial" pitchFamily="34" charset="0"/>
            </a:endParaRPr>
          </a:p>
          <a:p>
            <a:pPr marL="342900" indent="-342900" algn="just">
              <a:buFont typeface="Arial" panose="020B0604020202020204" pitchFamily="34" charset="0"/>
              <a:buChar char="•"/>
            </a:pPr>
            <a:r>
              <a:rPr lang="en-IN" sz="2200" dirty="0">
                <a:cs typeface="Arial" pitchFamily="34" charset="0"/>
              </a:rPr>
              <a:t>Total number of slides= Cover Slide + Thank you Slide + All inner slides</a:t>
            </a:r>
          </a:p>
          <a:p>
            <a:pPr marL="342900" indent="-342900" algn="just">
              <a:buFont typeface="Arial" panose="020B0604020202020204" pitchFamily="34" charset="0"/>
              <a:buChar char="•"/>
            </a:pPr>
            <a:endParaRPr lang="en-US" sz="2200" dirty="0">
              <a:cs typeface="Arial" pitchFamily="34" charset="0"/>
            </a:endParaRPr>
          </a:p>
          <a:p>
            <a:pPr marL="342900" indent="-342900" algn="just">
              <a:buFont typeface="Arial" panose="020B0604020202020204" pitchFamily="34" charset="0"/>
              <a:buChar char="•"/>
            </a:pPr>
            <a:r>
              <a:rPr lang="en-US" sz="2200" dirty="0">
                <a:cs typeface="Arial" pitchFamily="34" charset="0"/>
              </a:rPr>
              <a:t>The thank you slide has clickable links to our official social media handles in the form of icons. These links open to their respective handles. Please ensure the links are clickable at all times.</a:t>
            </a:r>
          </a:p>
          <a:p>
            <a:pPr marL="342900" indent="-342900" algn="just">
              <a:buFont typeface="Arial" panose="020B0604020202020204" pitchFamily="34" charset="0"/>
              <a:buChar char="•"/>
            </a:pPr>
            <a:endParaRPr lang="en-US" sz="2200" dirty="0">
              <a:cs typeface="Arial" pitchFamily="34" charset="0"/>
            </a:endParaRPr>
          </a:p>
          <a:p>
            <a:pPr marL="342900" indent="-342900" algn="just">
              <a:buFont typeface="Arial" panose="020B0604020202020204" pitchFamily="34" charset="0"/>
              <a:buChar char="•"/>
            </a:pPr>
            <a:r>
              <a:rPr lang="en-US" sz="2200" dirty="0">
                <a:cs typeface="Arial" pitchFamily="34" charset="0"/>
              </a:rPr>
              <a:t>Editable items in cover slide are Presentation title, month &amp; year. Email ID, address (if applicable) in the thank you slide.</a:t>
            </a:r>
          </a:p>
          <a:p>
            <a:pPr marL="342900" indent="-342900" algn="just">
              <a:buFont typeface="Arial" panose="020B0604020202020204" pitchFamily="34" charset="0"/>
              <a:buChar char="•"/>
            </a:pPr>
            <a:endParaRPr lang="en-US" sz="2200" dirty="0">
              <a:cs typeface="Arial" pitchFamily="34" charset="0"/>
            </a:endParaRPr>
          </a:p>
          <a:p>
            <a:pPr marL="342900" indent="-342900" algn="just">
              <a:buFont typeface="Arial" panose="020B0604020202020204" pitchFamily="34" charset="0"/>
              <a:buChar char="•"/>
            </a:pPr>
            <a:r>
              <a:rPr lang="en-US" sz="2200" dirty="0">
                <a:cs typeface="Arial" pitchFamily="34" charset="0"/>
              </a:rPr>
              <a:t xml:space="preserve">DO NOT TAMPER with the design of the PPT. </a:t>
            </a:r>
          </a:p>
        </p:txBody>
      </p:sp>
      <p:sp>
        <p:nvSpPr>
          <p:cNvPr id="4" name="GTBClassificationF326437389">
            <a:extLst>
              <a:ext uri="{FF2B5EF4-FFF2-40B4-BE49-F238E27FC236}">
                <a16:creationId xmlns:a16="http://schemas.microsoft.com/office/drawing/2014/main" id="{9A51C652-469F-4383-B873-70C3A890F0BF}"/>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
        <p:nvSpPr>
          <p:cNvPr id="9001" name="PageNumber"/>
          <p:cNvSpPr txBox="1">
            <a:spLocks/>
          </p:cNvSpPr>
          <p:nvPr/>
        </p:nvSpPr>
        <p:spPr>
          <a:xfrm>
            <a:off x="11432516" y="6391175"/>
            <a:ext cx="669862" cy="279133"/>
          </a:xfrm>
          <a:prstGeom prst="rect">
            <a:avLst/>
          </a:prstGeom>
        </p:spPr>
        <p:txBody>
          <a:bodyPr vert="horz" lIns="91345" tIns="45672" rIns="91345" bIns="45672" rtlCol="0" anchor="ctr"/>
          <a:lstStyle/>
          <a:p>
            <a:fld id="{D36E95A1-262F-4E3E-9B30-207FF0616F94}" type="slidenum">
              <a:rPr lang="en-US" sz="1399" smtClean="0">
                <a:solidFill>
                  <a:srgbClr val="0070C0"/>
                </a:solidFill>
              </a:rPr>
              <a:t>‹#›</a:t>
            </a:fld>
            <a:r>
              <a:rPr lang="en-US" sz="1399" dirty="0">
                <a:solidFill>
                  <a:srgbClr val="0070C0"/>
                </a:solidFill>
              </a:rPr>
              <a:t>/19</a:t>
            </a:r>
          </a:p>
        </p:txBody>
      </p:sp>
    </p:spTree>
    <p:extLst>
      <p:ext uri="{BB962C8B-B14F-4D97-AF65-F5344CB8AC3E}">
        <p14:creationId xmlns:p14="http://schemas.microsoft.com/office/powerpoint/2010/main" val="1456543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2ADA71-5BCC-4AF8-B67B-4507395253C8}"/>
              </a:ext>
            </a:extLst>
          </p:cNvPr>
          <p:cNvSpPr txBox="1"/>
          <p:nvPr/>
        </p:nvSpPr>
        <p:spPr>
          <a:xfrm>
            <a:off x="146050" y="76200"/>
            <a:ext cx="10287000" cy="584775"/>
          </a:xfrm>
          <a:prstGeom prst="rect">
            <a:avLst/>
          </a:prstGeom>
          <a:noFill/>
        </p:spPr>
        <p:txBody>
          <a:bodyPr wrap="square" rtlCol="0">
            <a:spAutoFit/>
          </a:bodyPr>
          <a:lstStyle/>
          <a:p>
            <a:r>
              <a:rPr lang="en-US" sz="3200" b="1" dirty="0">
                <a:solidFill>
                  <a:srgbClr val="0062DA"/>
                </a:solidFill>
              </a:rPr>
              <a:t>Constraints Implemented in Digital Production Scheduling</a:t>
            </a:r>
            <a:endParaRPr lang="en-IN" sz="3200" b="1" dirty="0">
              <a:solidFill>
                <a:srgbClr val="0062DA"/>
              </a:solidFill>
            </a:endParaRPr>
          </a:p>
        </p:txBody>
      </p:sp>
      <p:sp>
        <p:nvSpPr>
          <p:cNvPr id="3" name="TextBox 2">
            <a:extLst>
              <a:ext uri="{FF2B5EF4-FFF2-40B4-BE49-F238E27FC236}">
                <a16:creationId xmlns:a16="http://schemas.microsoft.com/office/drawing/2014/main" id="{00583F04-51A2-431F-AF82-E4650BA6A62F}"/>
              </a:ext>
            </a:extLst>
          </p:cNvPr>
          <p:cNvSpPr txBox="1"/>
          <p:nvPr/>
        </p:nvSpPr>
        <p:spPr>
          <a:xfrm>
            <a:off x="222250" y="762000"/>
            <a:ext cx="11430000" cy="5943600"/>
          </a:xfrm>
          <a:prstGeom prst="rect">
            <a:avLst/>
          </a:prstGeom>
          <a:noFill/>
        </p:spPr>
        <p:txBody>
          <a:bodyPr wrap="square" rtlCol="0">
            <a:spAutoFit/>
          </a:bodyPr>
          <a:lstStyle/>
          <a:p>
            <a:endParaRPr lang="en-IN" dirty="0"/>
          </a:p>
        </p:txBody>
      </p:sp>
      <p:graphicFrame>
        <p:nvGraphicFramePr>
          <p:cNvPr id="4" name="Diagram 3">
            <a:extLst>
              <a:ext uri="{FF2B5EF4-FFF2-40B4-BE49-F238E27FC236}">
                <a16:creationId xmlns:a16="http://schemas.microsoft.com/office/drawing/2014/main" id="{E50BA6C9-DEBB-4910-8E06-D8AD8889F534}"/>
              </a:ext>
            </a:extLst>
          </p:cNvPr>
          <p:cNvGraphicFramePr/>
          <p:nvPr>
            <p:extLst>
              <p:ext uri="{D42A27DB-BD31-4B8C-83A1-F6EECF244321}">
                <p14:modId xmlns:p14="http://schemas.microsoft.com/office/powerpoint/2010/main" val="455928295"/>
              </p:ext>
            </p:extLst>
          </p:nvPr>
        </p:nvGraphicFramePr>
        <p:xfrm>
          <a:off x="2029883" y="722489"/>
          <a:ext cx="8119533" cy="54130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GTBClassificationF793208428">
            <a:extLst>
              <a:ext uri="{FF2B5EF4-FFF2-40B4-BE49-F238E27FC236}">
                <a16:creationId xmlns:a16="http://schemas.microsoft.com/office/drawing/2014/main" id="{B3FAA9A0-61BC-4818-B1A8-B02B7763C6B0}"/>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285567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GTBClassificationF826565807">
            <a:extLst>
              <a:ext uri="{FF2B5EF4-FFF2-40B4-BE49-F238E27FC236}">
                <a16:creationId xmlns:a16="http://schemas.microsoft.com/office/drawing/2014/main" id="{CA9449CF-1FAE-48A3-852B-8B178CD22C5B}"/>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
        <p:nvSpPr>
          <p:cNvPr id="18" name="TextBox 17"/>
          <p:cNvSpPr txBox="1"/>
          <p:nvPr/>
        </p:nvSpPr>
        <p:spPr>
          <a:xfrm>
            <a:off x="228600" y="109728"/>
            <a:ext cx="8686800" cy="594360"/>
          </a:xfrm>
          <a:prstGeom prst="rect">
            <a:avLst/>
          </a:prstGeom>
          <a:noFill/>
        </p:spPr>
        <p:txBody>
          <a:bodyPr wrap="square">
            <a:spAutoFit/>
          </a:bodyPr>
          <a:lstStyle/>
          <a:p>
            <a:pPr algn="l"/>
            <a:r>
              <a:rPr sz="2800" b="1" i="0">
                <a:solidFill>
                  <a:srgbClr val="097AE8"/>
                </a:solidFill>
                <a:latin typeface="Calibri"/>
              </a:rPr>
              <a:t>Constraint 1 — Maintain Safety Stock</a:t>
            </a:r>
          </a:p>
        </p:txBody>
      </p:sp>
      <p:sp>
        <p:nvSpPr>
          <p:cNvPr id="19" name="Rectangle 18"/>
          <p:cNvSpPr/>
          <p:nvPr/>
        </p:nvSpPr>
        <p:spPr>
          <a:xfrm>
            <a:off x="0" y="822960"/>
            <a:ext cx="12179808" cy="365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28600" y="932688"/>
            <a:ext cx="11704320" cy="548640"/>
          </a:xfrm>
          <a:prstGeom prst="roundRect">
            <a:avLst>
              <a:gd name="adj" fmla="val 8000"/>
            </a:avLst>
          </a:prstGeom>
          <a:solidFill>
            <a:srgbClr val="DBEAFE"/>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i="0">
                <a:solidFill>
                  <a:srgbClr val="1A2E4A"/>
                </a:solidFill>
                <a:latin typeface="Calibri"/>
              </a:rPr>
              <a:t>🎯   Maintain a minimum 3-day safety stock for all parts — ensuring uninterrupted production flow against downtime, demand fluctuations &amp; supply disruptions</a:t>
            </a:r>
          </a:p>
        </p:txBody>
      </p:sp>
      <p:sp>
        <p:nvSpPr>
          <p:cNvPr id="21" name="Rectangle 20"/>
          <p:cNvSpPr/>
          <p:nvPr/>
        </p:nvSpPr>
        <p:spPr>
          <a:xfrm>
            <a:off x="228600" y="1600200"/>
            <a:ext cx="11704320" cy="3840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TARGET STOCK:  3 Days Safety Stock  +  2 Days Rolling Stock  =  5 Days Total Buffer</a:t>
            </a:r>
          </a:p>
        </p:txBody>
      </p:sp>
      <p:sp>
        <p:nvSpPr>
          <p:cNvPr id="22" name="Rounded Rectangle 21"/>
          <p:cNvSpPr/>
          <p:nvPr/>
        </p:nvSpPr>
        <p:spPr>
          <a:xfrm>
            <a:off x="228600" y="2084831"/>
            <a:ext cx="2697480" cy="530352"/>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1–2 Days
CRITICAL</a:t>
            </a:r>
          </a:p>
        </p:txBody>
      </p:sp>
      <p:sp>
        <p:nvSpPr>
          <p:cNvPr id="23" name="Rounded Rectangle 22"/>
          <p:cNvSpPr/>
          <p:nvPr/>
        </p:nvSpPr>
        <p:spPr>
          <a:xfrm>
            <a:off x="3154680" y="2084831"/>
            <a:ext cx="2697480" cy="530352"/>
          </a:xfrm>
          <a:prstGeom prst="roundRect">
            <a:avLst>
              <a:gd name="adj" fmla="val 8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2–3 Days
SAFETY STOCK</a:t>
            </a:r>
          </a:p>
        </p:txBody>
      </p:sp>
      <p:sp>
        <p:nvSpPr>
          <p:cNvPr id="24" name="Rounded Rectangle 23"/>
          <p:cNvSpPr/>
          <p:nvPr/>
        </p:nvSpPr>
        <p:spPr>
          <a:xfrm>
            <a:off x="6080760" y="2084831"/>
            <a:ext cx="2697480" cy="530352"/>
          </a:xfrm>
          <a:prstGeom prst="roundRect">
            <a:avLst>
              <a:gd name="adj" fmla="val 8000"/>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4 Days
ROLLING STOCK</a:t>
            </a:r>
          </a:p>
        </p:txBody>
      </p:sp>
      <p:sp>
        <p:nvSpPr>
          <p:cNvPr id="25" name="Rounded Rectangle 24"/>
          <p:cNvSpPr/>
          <p:nvPr/>
        </p:nvSpPr>
        <p:spPr>
          <a:xfrm>
            <a:off x="9006840" y="2084831"/>
            <a:ext cx="2697480" cy="530352"/>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5 Days
TARGET LEVEL</a:t>
            </a:r>
          </a:p>
        </p:txBody>
      </p:sp>
      <p:cxnSp>
        <p:nvCxnSpPr>
          <p:cNvPr id="26" name="Connector 25"/>
          <p:cNvCxnSpPr/>
          <p:nvPr/>
        </p:nvCxnSpPr>
        <p:spPr>
          <a:xfrm>
            <a:off x="2926080" y="2350008"/>
            <a:ext cx="228600" cy="0"/>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852160" y="2350008"/>
            <a:ext cx="228600" cy="0"/>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778240" y="2350008"/>
            <a:ext cx="228600" cy="0"/>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56032" y="2670048"/>
            <a:ext cx="1371600" cy="274320"/>
          </a:xfrm>
          <a:prstGeom prst="rect">
            <a:avLst/>
          </a:prstGeom>
          <a:noFill/>
        </p:spPr>
        <p:txBody>
          <a:bodyPr wrap="square">
            <a:spAutoFit/>
          </a:bodyPr>
          <a:lstStyle/>
          <a:p>
            <a:pPr algn="l"/>
            <a:r>
              <a:rPr sz="1100" b="0" i="0">
                <a:solidFill>
                  <a:srgbClr val="64748B"/>
                </a:solidFill>
                <a:latin typeface="Calibri"/>
              </a:rPr>
              <a:t>← 0 Stock</a:t>
            </a:r>
          </a:p>
        </p:txBody>
      </p:sp>
      <p:sp>
        <p:nvSpPr>
          <p:cNvPr id="30" name="TextBox 29"/>
          <p:cNvSpPr txBox="1"/>
          <p:nvPr/>
        </p:nvSpPr>
        <p:spPr>
          <a:xfrm>
            <a:off x="2926080" y="2670048"/>
            <a:ext cx="2286000" cy="274320"/>
          </a:xfrm>
          <a:prstGeom prst="rect">
            <a:avLst/>
          </a:prstGeom>
          <a:noFill/>
        </p:spPr>
        <p:txBody>
          <a:bodyPr wrap="square">
            <a:spAutoFit/>
          </a:bodyPr>
          <a:lstStyle/>
          <a:p>
            <a:pPr algn="l"/>
            <a:r>
              <a:rPr sz="1100" b="1" i="0">
                <a:solidFill>
                  <a:srgbClr val="D97706"/>
                </a:solidFill>
                <a:latin typeface="Calibri"/>
              </a:rPr>
              <a:t>Safety Zone →</a:t>
            </a:r>
          </a:p>
        </p:txBody>
      </p:sp>
      <p:sp>
        <p:nvSpPr>
          <p:cNvPr id="31" name="TextBox 30"/>
          <p:cNvSpPr txBox="1"/>
          <p:nvPr/>
        </p:nvSpPr>
        <p:spPr>
          <a:xfrm>
            <a:off x="5852160" y="2670048"/>
            <a:ext cx="2286000" cy="274320"/>
          </a:xfrm>
          <a:prstGeom prst="rect">
            <a:avLst/>
          </a:prstGeom>
          <a:noFill/>
        </p:spPr>
        <p:txBody>
          <a:bodyPr wrap="square">
            <a:spAutoFit/>
          </a:bodyPr>
          <a:lstStyle/>
          <a:p>
            <a:pPr algn="l"/>
            <a:r>
              <a:rPr sz="1100" b="1" i="0">
                <a:solidFill>
                  <a:srgbClr val="0070C0"/>
                </a:solidFill>
                <a:latin typeface="Calibri"/>
              </a:rPr>
              <a:t>Rolling Zone →</a:t>
            </a:r>
          </a:p>
        </p:txBody>
      </p:sp>
      <p:sp>
        <p:nvSpPr>
          <p:cNvPr id="32" name="TextBox 31"/>
          <p:cNvSpPr txBox="1"/>
          <p:nvPr/>
        </p:nvSpPr>
        <p:spPr>
          <a:xfrm>
            <a:off x="8778240" y="2670048"/>
            <a:ext cx="1828800" cy="274320"/>
          </a:xfrm>
          <a:prstGeom prst="rect">
            <a:avLst/>
          </a:prstGeom>
          <a:noFill/>
        </p:spPr>
        <p:txBody>
          <a:bodyPr wrap="square">
            <a:spAutoFit/>
          </a:bodyPr>
          <a:lstStyle/>
          <a:p>
            <a:pPr algn="l"/>
            <a:r>
              <a:rPr sz="1100" b="1" i="0">
                <a:solidFill>
                  <a:srgbClr val="1A7A4A"/>
                </a:solidFill>
                <a:latin typeface="Calibri"/>
              </a:rPr>
              <a:t>← Target</a:t>
            </a:r>
          </a:p>
        </p:txBody>
      </p:sp>
      <p:sp>
        <p:nvSpPr>
          <p:cNvPr id="33" name="TextBox 32"/>
          <p:cNvSpPr txBox="1"/>
          <p:nvPr/>
        </p:nvSpPr>
        <p:spPr>
          <a:xfrm>
            <a:off x="228600" y="3035808"/>
            <a:ext cx="9144000" cy="320040"/>
          </a:xfrm>
          <a:prstGeom prst="rect">
            <a:avLst/>
          </a:prstGeom>
          <a:noFill/>
        </p:spPr>
        <p:txBody>
          <a:bodyPr wrap="square">
            <a:spAutoFit/>
          </a:bodyPr>
          <a:lstStyle/>
          <a:p>
            <a:pPr algn="l"/>
            <a:r>
              <a:rPr sz="1200" b="1" i="0">
                <a:solidFill>
                  <a:srgbClr val="1A2E4A"/>
                </a:solidFill>
                <a:latin typeface="Calibri"/>
              </a:rPr>
              <a:t>PRODUCTION SCENARIOS BASED ON STOCK LEVEL</a:t>
            </a:r>
          </a:p>
        </p:txBody>
      </p:sp>
      <p:sp>
        <p:nvSpPr>
          <p:cNvPr id="34" name="Rounded Rectangle 33"/>
          <p:cNvSpPr/>
          <p:nvPr/>
        </p:nvSpPr>
        <p:spPr>
          <a:xfrm>
            <a:off x="228600" y="3401568"/>
            <a:ext cx="3749039" cy="457200"/>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Case 0 | Stock &lt; 1 Day</a:t>
            </a:r>
          </a:p>
        </p:txBody>
      </p:sp>
      <p:sp>
        <p:nvSpPr>
          <p:cNvPr id="35" name="Rounded Rectangle 34"/>
          <p:cNvSpPr/>
          <p:nvPr/>
        </p:nvSpPr>
        <p:spPr>
          <a:xfrm>
            <a:off x="228600" y="3913632"/>
            <a:ext cx="3749039" cy="384048"/>
          </a:xfrm>
          <a:prstGeom prst="roundRect">
            <a:avLst>
              <a:gd name="adj" fmla="val 8000"/>
            </a:avLst>
          </a:prstGeom>
          <a:solidFill>
            <a:srgbClr val="FFFFFF"/>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B91C1C"/>
                </a:solidFill>
                <a:latin typeface="Calibri"/>
              </a:rPr>
              <a:t>🚨 Urgent Production</a:t>
            </a:r>
          </a:p>
        </p:txBody>
      </p:sp>
      <p:sp>
        <p:nvSpPr>
          <p:cNvPr id="36" name="Rounded Rectangle 35"/>
          <p:cNvSpPr/>
          <p:nvPr/>
        </p:nvSpPr>
        <p:spPr>
          <a:xfrm>
            <a:off x="228600" y="4352544"/>
            <a:ext cx="3749039" cy="530352"/>
          </a:xfrm>
          <a:prstGeom prst="roundRect">
            <a:avLst>
              <a:gd name="adj" fmla="val 8000"/>
            </a:avLst>
          </a:prstGeom>
          <a:solidFill>
            <a:srgbClr val="F0F4F8"/>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64748B"/>
                </a:solidFill>
                <a:latin typeface="Calibri"/>
              </a:rPr>
              <a:t>Stop everything — produce immediately</a:t>
            </a:r>
          </a:p>
        </p:txBody>
      </p:sp>
      <p:sp>
        <p:nvSpPr>
          <p:cNvPr id="37" name="Rounded Rectangle 36"/>
          <p:cNvSpPr/>
          <p:nvPr/>
        </p:nvSpPr>
        <p:spPr>
          <a:xfrm>
            <a:off x="4069079" y="3401568"/>
            <a:ext cx="3749039" cy="457200"/>
          </a:xfrm>
          <a:prstGeom prst="roundRect">
            <a:avLst>
              <a:gd name="adj" fmla="val 8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S–1 | Stock 1–3 Days</a:t>
            </a:r>
          </a:p>
        </p:txBody>
      </p:sp>
      <p:sp>
        <p:nvSpPr>
          <p:cNvPr id="38" name="Rounded Rectangle 37"/>
          <p:cNvSpPr/>
          <p:nvPr/>
        </p:nvSpPr>
        <p:spPr>
          <a:xfrm>
            <a:off x="4069079" y="3913632"/>
            <a:ext cx="3749039" cy="384048"/>
          </a:xfrm>
          <a:prstGeom prst="roundRect">
            <a:avLst>
              <a:gd name="adj" fmla="val 8000"/>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D97706"/>
                </a:solidFill>
                <a:latin typeface="Calibri"/>
              </a:rPr>
              <a:t>⚠️  Balance Shortage</a:t>
            </a:r>
          </a:p>
        </p:txBody>
      </p:sp>
      <p:sp>
        <p:nvSpPr>
          <p:cNvPr id="39" name="Rounded Rectangle 38"/>
          <p:cNvSpPr/>
          <p:nvPr/>
        </p:nvSpPr>
        <p:spPr>
          <a:xfrm>
            <a:off x="4069079" y="4352544"/>
            <a:ext cx="3749039" cy="530352"/>
          </a:xfrm>
          <a:prstGeom prst="roundRect">
            <a:avLst>
              <a:gd name="adj" fmla="val 8000"/>
            </a:avLst>
          </a:prstGeom>
          <a:solidFill>
            <a:srgbClr val="F0F4F8"/>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64748B"/>
                </a:solidFill>
                <a:latin typeface="Calibri"/>
              </a:rPr>
              <a:t>Prioritise short parts while keeping stable parts running</a:t>
            </a:r>
          </a:p>
        </p:txBody>
      </p:sp>
      <p:sp>
        <p:nvSpPr>
          <p:cNvPr id="40" name="Rounded Rectangle 39"/>
          <p:cNvSpPr/>
          <p:nvPr/>
        </p:nvSpPr>
        <p:spPr>
          <a:xfrm>
            <a:off x="7909559" y="3401568"/>
            <a:ext cx="3749039" cy="457200"/>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S–2 | Stock &gt; 3 Days</a:t>
            </a:r>
          </a:p>
        </p:txBody>
      </p:sp>
      <p:sp>
        <p:nvSpPr>
          <p:cNvPr id="41" name="Rounded Rectangle 40"/>
          <p:cNvSpPr/>
          <p:nvPr/>
        </p:nvSpPr>
        <p:spPr>
          <a:xfrm>
            <a:off x="7909559" y="3913632"/>
            <a:ext cx="3749039" cy="384048"/>
          </a:xfrm>
          <a:prstGeom prst="roundRect">
            <a:avLst>
              <a:gd name="adj" fmla="val 8000"/>
            </a:avLst>
          </a:prstGeom>
          <a:solidFill>
            <a:srgbClr val="FFFFFF"/>
          </a:solidFill>
          <a:ln w="1270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1A7A4A"/>
                </a:solidFill>
                <a:latin typeface="Calibri"/>
              </a:rPr>
              <a:t>✅ Maintain Flow</a:t>
            </a:r>
          </a:p>
        </p:txBody>
      </p:sp>
      <p:sp>
        <p:nvSpPr>
          <p:cNvPr id="42" name="Rounded Rectangle 41"/>
          <p:cNvSpPr/>
          <p:nvPr/>
        </p:nvSpPr>
        <p:spPr>
          <a:xfrm>
            <a:off x="7909559" y="4352544"/>
            <a:ext cx="3749039" cy="530352"/>
          </a:xfrm>
          <a:prstGeom prst="roundRect">
            <a:avLst>
              <a:gd name="adj" fmla="val 8000"/>
            </a:avLst>
          </a:prstGeom>
          <a:solidFill>
            <a:srgbClr val="F0F4F8"/>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64748B"/>
                </a:solidFill>
                <a:latin typeface="Calibri"/>
              </a:rPr>
              <a:t>Keep production flowing; optimise machine efficiency</a:t>
            </a:r>
          </a:p>
        </p:txBody>
      </p:sp>
    </p:spTree>
    <p:extLst>
      <p:ext uri="{BB962C8B-B14F-4D97-AF65-F5344CB8AC3E}">
        <p14:creationId xmlns:p14="http://schemas.microsoft.com/office/powerpoint/2010/main" val="3745660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9728"/>
            <a:ext cx="8686800" cy="594360"/>
          </a:xfrm>
          <a:prstGeom prst="rect">
            <a:avLst/>
          </a:prstGeom>
          <a:noFill/>
        </p:spPr>
        <p:txBody>
          <a:bodyPr wrap="square">
            <a:spAutoFit/>
          </a:bodyPr>
          <a:lstStyle/>
          <a:p>
            <a:pPr algn="l"/>
            <a:r>
              <a:rPr sz="2800" b="1" i="0">
                <a:solidFill>
                  <a:srgbClr val="097AE8"/>
                </a:solidFill>
                <a:latin typeface="Calibri"/>
              </a:rPr>
              <a:t>Constraint 2 — Plan According to Category</a:t>
            </a:r>
          </a:p>
        </p:txBody>
      </p:sp>
      <p:sp>
        <p:nvSpPr>
          <p:cNvPr id="3" name="Rectangle 2"/>
          <p:cNvSpPr/>
          <p:nvPr/>
        </p:nvSpPr>
        <p:spPr>
          <a:xfrm>
            <a:off x="0" y="822960"/>
            <a:ext cx="12179808" cy="365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28600" y="932688"/>
            <a:ext cx="11704320" cy="548640"/>
          </a:xfrm>
          <a:prstGeom prst="roundRect">
            <a:avLst>
              <a:gd name="adj" fmla="val 8000"/>
            </a:avLst>
          </a:prstGeom>
          <a:solidFill>
            <a:srgbClr val="DBEAFE"/>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i="0">
                <a:solidFill>
                  <a:srgbClr val="1A2E4A"/>
                </a:solidFill>
                <a:latin typeface="Calibri"/>
              </a:rPr>
              <a:t>🏷️   Schedule production based on part type — balancing fast-moving &amp; slow-moving items by classifying into Runners, Repeaters &amp; Strangers</a:t>
            </a:r>
          </a:p>
        </p:txBody>
      </p:sp>
      <p:sp>
        <p:nvSpPr>
          <p:cNvPr id="5" name="Rounded Rectangle 4"/>
          <p:cNvSpPr/>
          <p:nvPr/>
        </p:nvSpPr>
        <p:spPr>
          <a:xfrm>
            <a:off x="4937760" y="1600200"/>
            <a:ext cx="2286000" cy="548640"/>
          </a:xfrm>
          <a:prstGeom prst="roundRect">
            <a:avLst>
              <a:gd name="adj" fmla="val 8000"/>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CATEGORIES</a:t>
            </a:r>
          </a:p>
        </p:txBody>
      </p:sp>
      <p:sp>
        <p:nvSpPr>
          <p:cNvPr id="6" name="Rounded Rectangle 5"/>
          <p:cNvSpPr/>
          <p:nvPr/>
        </p:nvSpPr>
        <p:spPr>
          <a:xfrm>
            <a:off x="228600" y="2267712"/>
            <a:ext cx="3566160" cy="594360"/>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latin typeface="Calibri"/>
              </a:rPr>
              <a:t>🏃  RUNNER</a:t>
            </a:r>
          </a:p>
        </p:txBody>
      </p:sp>
      <p:cxnSp>
        <p:nvCxnSpPr>
          <p:cNvPr id="7" name="Connector 6"/>
          <p:cNvCxnSpPr/>
          <p:nvPr/>
        </p:nvCxnSpPr>
        <p:spPr>
          <a:xfrm>
            <a:off x="2011680" y="2148840"/>
            <a:ext cx="0" cy="118872"/>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28600" y="2926080"/>
            <a:ext cx="3566160" cy="777240"/>
          </a:xfrm>
          <a:prstGeom prst="roundRect">
            <a:avLst>
              <a:gd name="adj" fmla="val 8000"/>
            </a:avLst>
          </a:prstGeom>
          <a:solidFill>
            <a:srgbClr val="FFFFFF"/>
          </a:solidFill>
          <a:ln w="9525">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64748B"/>
                </a:solidFill>
                <a:latin typeface="Calibri"/>
              </a:rPr>
              <a:t>Fast-moving parts
High demand
Produced frequently</a:t>
            </a:r>
          </a:p>
        </p:txBody>
      </p:sp>
      <p:sp>
        <p:nvSpPr>
          <p:cNvPr id="9" name="Rounded Rectangle 8"/>
          <p:cNvSpPr/>
          <p:nvPr/>
        </p:nvSpPr>
        <p:spPr>
          <a:xfrm>
            <a:off x="228600" y="3776472"/>
            <a:ext cx="3566160" cy="457200"/>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PRIORITISE FREQUENTLY</a:t>
            </a:r>
          </a:p>
        </p:txBody>
      </p:sp>
      <p:sp>
        <p:nvSpPr>
          <p:cNvPr id="10" name="Rounded Rectangle 9"/>
          <p:cNvSpPr/>
          <p:nvPr/>
        </p:nvSpPr>
        <p:spPr>
          <a:xfrm>
            <a:off x="228600" y="4297680"/>
            <a:ext cx="3566160" cy="530352"/>
          </a:xfrm>
          <a:prstGeom prst="roundRect">
            <a:avLst>
              <a:gd name="adj" fmla="val 8000"/>
            </a:avLst>
          </a:prstGeom>
          <a:solidFill>
            <a:srgbClr val="F0F4F8"/>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64748B"/>
                </a:solidFill>
                <a:latin typeface="Calibri"/>
              </a:rPr>
              <a:t>High Indent
Frequent Production</a:t>
            </a:r>
          </a:p>
        </p:txBody>
      </p:sp>
      <p:sp>
        <p:nvSpPr>
          <p:cNvPr id="11" name="Rounded Rectangle 10"/>
          <p:cNvSpPr/>
          <p:nvPr/>
        </p:nvSpPr>
        <p:spPr>
          <a:xfrm>
            <a:off x="4206240" y="2267712"/>
            <a:ext cx="3566160" cy="594360"/>
          </a:xfrm>
          <a:prstGeom prst="roundRect">
            <a:avLst>
              <a:gd name="adj" fmla="val 8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latin typeface="Calibri"/>
              </a:rPr>
              <a:t>🔁  REPEATER</a:t>
            </a:r>
          </a:p>
        </p:txBody>
      </p:sp>
      <p:cxnSp>
        <p:nvCxnSpPr>
          <p:cNvPr id="12" name="Connector 11"/>
          <p:cNvCxnSpPr/>
          <p:nvPr/>
        </p:nvCxnSpPr>
        <p:spPr>
          <a:xfrm>
            <a:off x="5989320" y="2148840"/>
            <a:ext cx="0" cy="118872"/>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06240" y="2926080"/>
            <a:ext cx="3566160" cy="777240"/>
          </a:xfrm>
          <a:prstGeom prst="roundRect">
            <a:avLst>
              <a:gd name="adj" fmla="val 8000"/>
            </a:avLst>
          </a:prstGeom>
          <a:solidFill>
            <a:srgbClr val="FFFFFF"/>
          </a:solidFill>
          <a:ln w="9525">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64748B"/>
                </a:solidFill>
                <a:latin typeface="Calibri"/>
              </a:rPr>
              <a:t>Moderate demand
Produced regularly
but not daily</a:t>
            </a:r>
          </a:p>
        </p:txBody>
      </p:sp>
      <p:sp>
        <p:nvSpPr>
          <p:cNvPr id="14" name="Rounded Rectangle 13"/>
          <p:cNvSpPr/>
          <p:nvPr/>
        </p:nvSpPr>
        <p:spPr>
          <a:xfrm>
            <a:off x="4206240" y="3776472"/>
            <a:ext cx="3566160" cy="457200"/>
          </a:xfrm>
          <a:prstGeom prst="roundRect">
            <a:avLst>
              <a:gd name="adj" fmla="val 8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PLAN AT INTERVALS</a:t>
            </a:r>
          </a:p>
        </p:txBody>
      </p:sp>
      <p:sp>
        <p:nvSpPr>
          <p:cNvPr id="15" name="Rounded Rectangle 14"/>
          <p:cNvSpPr/>
          <p:nvPr/>
        </p:nvSpPr>
        <p:spPr>
          <a:xfrm>
            <a:off x="4206240" y="4297680"/>
            <a:ext cx="3566160" cy="530352"/>
          </a:xfrm>
          <a:prstGeom prst="roundRect">
            <a:avLst>
              <a:gd name="adj" fmla="val 8000"/>
            </a:avLst>
          </a:prstGeom>
          <a:solidFill>
            <a:srgbClr val="F0F4F8"/>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64748B"/>
                </a:solidFill>
                <a:latin typeface="Calibri"/>
              </a:rPr>
              <a:t>Regular Planning
Avoid Shortages</a:t>
            </a:r>
          </a:p>
        </p:txBody>
      </p:sp>
      <p:sp>
        <p:nvSpPr>
          <p:cNvPr id="16" name="Rounded Rectangle 15"/>
          <p:cNvSpPr/>
          <p:nvPr/>
        </p:nvSpPr>
        <p:spPr>
          <a:xfrm>
            <a:off x="8183879" y="2267712"/>
            <a:ext cx="3566160" cy="594360"/>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latin typeface="Calibri"/>
              </a:rPr>
              <a:t>🔮  STRANGER</a:t>
            </a:r>
          </a:p>
        </p:txBody>
      </p:sp>
      <p:cxnSp>
        <p:nvCxnSpPr>
          <p:cNvPr id="17" name="Connector 16"/>
          <p:cNvCxnSpPr/>
          <p:nvPr/>
        </p:nvCxnSpPr>
        <p:spPr>
          <a:xfrm>
            <a:off x="9966959" y="2148840"/>
            <a:ext cx="0" cy="118872"/>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83879" y="2926080"/>
            <a:ext cx="3566160" cy="777240"/>
          </a:xfrm>
          <a:prstGeom prst="roundRect">
            <a:avLst>
              <a:gd name="adj" fmla="val 8000"/>
            </a:avLst>
          </a:prstGeom>
          <a:solidFill>
            <a:srgbClr val="FFFFFF"/>
          </a:solidFill>
          <a:ln w="9525">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64748B"/>
                </a:solidFill>
                <a:latin typeface="Calibri"/>
              </a:rPr>
              <a:t>Slow-moving parts
Low demand
Produced occasionally</a:t>
            </a:r>
          </a:p>
        </p:txBody>
      </p:sp>
      <p:sp>
        <p:nvSpPr>
          <p:cNvPr id="19" name="Rounded Rectangle 18"/>
          <p:cNvSpPr/>
          <p:nvPr/>
        </p:nvSpPr>
        <p:spPr>
          <a:xfrm>
            <a:off x="8183879" y="3776472"/>
            <a:ext cx="3566160" cy="457200"/>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PLAN STRATEGICALLY</a:t>
            </a:r>
          </a:p>
        </p:txBody>
      </p:sp>
      <p:sp>
        <p:nvSpPr>
          <p:cNvPr id="20" name="Rounded Rectangle 19"/>
          <p:cNvSpPr/>
          <p:nvPr/>
        </p:nvSpPr>
        <p:spPr>
          <a:xfrm>
            <a:off x="8183879" y="4297680"/>
            <a:ext cx="3566160" cy="530352"/>
          </a:xfrm>
          <a:prstGeom prst="roundRect">
            <a:avLst>
              <a:gd name="adj" fmla="val 8000"/>
            </a:avLst>
          </a:prstGeom>
          <a:solidFill>
            <a:srgbClr val="F0F4F8"/>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64748B"/>
                </a:solidFill>
                <a:latin typeface="Calibri"/>
              </a:rPr>
              <a:t>Occasional Demand
Slow Moving</a:t>
            </a:r>
          </a:p>
        </p:txBody>
      </p:sp>
    </p:spTree>
    <p:extLst>
      <p:ext uri="{BB962C8B-B14F-4D97-AF65-F5344CB8AC3E}">
        <p14:creationId xmlns:p14="http://schemas.microsoft.com/office/powerpoint/2010/main" val="874067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9728"/>
            <a:ext cx="8686800" cy="594360"/>
          </a:xfrm>
          <a:prstGeom prst="rect">
            <a:avLst/>
          </a:prstGeom>
          <a:noFill/>
        </p:spPr>
        <p:txBody>
          <a:bodyPr wrap="square">
            <a:spAutoFit/>
          </a:bodyPr>
          <a:lstStyle/>
          <a:p>
            <a:pPr algn="l"/>
            <a:r>
              <a:rPr sz="2800" b="1" i="0">
                <a:solidFill>
                  <a:srgbClr val="097AE8"/>
                </a:solidFill>
                <a:latin typeface="Calibri"/>
              </a:rPr>
              <a:t>Constraint 3 — Full Capacity Utilization</a:t>
            </a:r>
          </a:p>
        </p:txBody>
      </p:sp>
      <p:sp>
        <p:nvSpPr>
          <p:cNvPr id="3" name="Rectangle 2"/>
          <p:cNvSpPr/>
          <p:nvPr/>
        </p:nvSpPr>
        <p:spPr>
          <a:xfrm>
            <a:off x="0" y="822960"/>
            <a:ext cx="12179808" cy="365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28600" y="932688"/>
            <a:ext cx="11704320" cy="530352"/>
          </a:xfrm>
          <a:prstGeom prst="roundRect">
            <a:avLst>
              <a:gd name="adj" fmla="val 8000"/>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   2 Shifts × 12h  |  1h Break Each  =  11h per Shift  =  22 Available Hours per Day</a:t>
            </a:r>
          </a:p>
        </p:txBody>
      </p:sp>
      <p:sp>
        <p:nvSpPr>
          <p:cNvPr id="5" name="TextBox 4"/>
          <p:cNvSpPr txBox="1"/>
          <p:nvPr/>
        </p:nvSpPr>
        <p:spPr>
          <a:xfrm>
            <a:off x="228600" y="1572768"/>
            <a:ext cx="11704320" cy="457200"/>
          </a:xfrm>
          <a:prstGeom prst="rect">
            <a:avLst/>
          </a:prstGeom>
          <a:noFill/>
        </p:spPr>
        <p:txBody>
          <a:bodyPr wrap="square">
            <a:spAutoFit/>
          </a:bodyPr>
          <a:lstStyle/>
          <a:p>
            <a:pPr algn="l"/>
            <a:r>
              <a:rPr sz="1200" b="0" i="1">
                <a:solidFill>
                  <a:srgbClr val="64748B"/>
                </a:solidFill>
                <a:latin typeface="Calibri"/>
              </a:rPr>
              <a:t>Ensure all machine hours are fully utilised — maximising productivity and minimising idle time by balancing workloads across all machines.</a:t>
            </a:r>
          </a:p>
        </p:txBody>
      </p:sp>
      <p:sp>
        <p:nvSpPr>
          <p:cNvPr id="6" name="TextBox 5"/>
          <p:cNvSpPr txBox="1"/>
          <p:nvPr/>
        </p:nvSpPr>
        <p:spPr>
          <a:xfrm>
            <a:off x="228600" y="2084831"/>
            <a:ext cx="7315200" cy="320040"/>
          </a:xfrm>
          <a:prstGeom prst="rect">
            <a:avLst/>
          </a:prstGeom>
          <a:noFill/>
        </p:spPr>
        <p:txBody>
          <a:bodyPr wrap="square">
            <a:spAutoFit/>
          </a:bodyPr>
          <a:lstStyle/>
          <a:p>
            <a:pPr algn="l"/>
            <a:r>
              <a:rPr sz="1300" b="1" i="0">
                <a:solidFill>
                  <a:srgbClr val="1A2E4A"/>
                </a:solidFill>
                <a:latin typeface="Calibri"/>
              </a:rPr>
              <a:t>DAILY CAPACITY BREAKDOWN</a:t>
            </a:r>
          </a:p>
        </p:txBody>
      </p:sp>
      <p:sp>
        <p:nvSpPr>
          <p:cNvPr id="7" name="Rounded Rectangle 6"/>
          <p:cNvSpPr/>
          <p:nvPr/>
        </p:nvSpPr>
        <p:spPr>
          <a:xfrm>
            <a:off x="228600" y="2450592"/>
            <a:ext cx="2624327" cy="566928"/>
          </a:xfrm>
          <a:prstGeom prst="roundRect">
            <a:avLst>
              <a:gd name="adj" fmla="val 8000"/>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Shift 1
11h</a:t>
            </a:r>
          </a:p>
        </p:txBody>
      </p:sp>
      <p:sp>
        <p:nvSpPr>
          <p:cNvPr id="8" name="Rounded Rectangle 7"/>
          <p:cNvSpPr/>
          <p:nvPr/>
        </p:nvSpPr>
        <p:spPr>
          <a:xfrm>
            <a:off x="2871215" y="2450592"/>
            <a:ext cx="239001" cy="566928"/>
          </a:xfrm>
          <a:prstGeom prst="roundRect">
            <a:avLst>
              <a:gd name="adj" fmla="val 8000"/>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128505" y="2450592"/>
            <a:ext cx="2624327" cy="566928"/>
          </a:xfrm>
          <a:prstGeom prst="roundRect">
            <a:avLst>
              <a:gd name="adj" fmla="val 8000"/>
            </a:avLst>
          </a:prstGeom>
          <a:solidFill>
            <a:srgbClr val="0062B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Shift 2
11h</a:t>
            </a:r>
          </a:p>
        </p:txBody>
      </p:sp>
      <p:sp>
        <p:nvSpPr>
          <p:cNvPr id="10" name="Rounded Rectangle 9"/>
          <p:cNvSpPr/>
          <p:nvPr/>
        </p:nvSpPr>
        <p:spPr>
          <a:xfrm>
            <a:off x="5771121" y="2450592"/>
            <a:ext cx="239001" cy="566928"/>
          </a:xfrm>
          <a:prstGeom prst="roundRect">
            <a:avLst>
              <a:gd name="adj" fmla="val 8000"/>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3182112"/>
            <a:ext cx="7315200" cy="320040"/>
          </a:xfrm>
          <a:prstGeom prst="rect">
            <a:avLst/>
          </a:prstGeom>
          <a:noFill/>
        </p:spPr>
        <p:txBody>
          <a:bodyPr wrap="square">
            <a:spAutoFit/>
          </a:bodyPr>
          <a:lstStyle/>
          <a:p>
            <a:pPr algn="l"/>
            <a:r>
              <a:rPr sz="1300" b="1" i="0">
                <a:solidFill>
                  <a:srgbClr val="1A2E4A"/>
                </a:solidFill>
                <a:latin typeface="Calibri"/>
              </a:rPr>
              <a:t>SCHEDULING FLOW</a:t>
            </a:r>
          </a:p>
        </p:txBody>
      </p:sp>
      <p:sp>
        <p:nvSpPr>
          <p:cNvPr id="12" name="Rounded Rectangle 11"/>
          <p:cNvSpPr/>
          <p:nvPr/>
        </p:nvSpPr>
        <p:spPr>
          <a:xfrm>
            <a:off x="228600" y="3584448"/>
            <a:ext cx="2084831" cy="1005840"/>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1
Total Available
Hours = 22</a:t>
            </a:r>
          </a:p>
        </p:txBody>
      </p:sp>
      <p:cxnSp>
        <p:nvCxnSpPr>
          <p:cNvPr id="13" name="Connector 12"/>
          <p:cNvCxnSpPr/>
          <p:nvPr/>
        </p:nvCxnSpPr>
        <p:spPr>
          <a:xfrm>
            <a:off x="2313432" y="4087368"/>
            <a:ext cx="256031"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569463" y="3584448"/>
            <a:ext cx="2084831" cy="1005840"/>
          </a:xfrm>
          <a:prstGeom prst="roundRect">
            <a:avLst>
              <a:gd name="adj" fmla="val 8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2
Subtract
Downtime &amp;
Changeover</a:t>
            </a:r>
          </a:p>
        </p:txBody>
      </p:sp>
      <p:cxnSp>
        <p:nvCxnSpPr>
          <p:cNvPr id="15" name="Connector 14"/>
          <p:cNvCxnSpPr/>
          <p:nvPr/>
        </p:nvCxnSpPr>
        <p:spPr>
          <a:xfrm>
            <a:off x="4654296" y="4087368"/>
            <a:ext cx="256032"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910327" y="3584448"/>
            <a:ext cx="2084831" cy="1005840"/>
          </a:xfrm>
          <a:prstGeom prst="roundRect">
            <a:avLst>
              <a:gd name="adj" fmla="val 8000"/>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3
Allocate Parts
to Machines</a:t>
            </a:r>
          </a:p>
        </p:txBody>
      </p:sp>
      <p:cxnSp>
        <p:nvCxnSpPr>
          <p:cNvPr id="17" name="Connector 16"/>
          <p:cNvCxnSpPr/>
          <p:nvPr/>
        </p:nvCxnSpPr>
        <p:spPr>
          <a:xfrm>
            <a:off x="6995159" y="4087368"/>
            <a:ext cx="256032"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251191" y="3584448"/>
            <a:ext cx="2084831" cy="1005840"/>
          </a:xfrm>
          <a:prstGeom prst="roundRect">
            <a:avLst>
              <a:gd name="adj" fmla="val 8000"/>
            </a:avLst>
          </a:prstGeom>
          <a:solidFill>
            <a:srgbClr val="14A3A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4
Balance
Workload
Across Machines</a:t>
            </a:r>
          </a:p>
        </p:txBody>
      </p:sp>
      <p:cxnSp>
        <p:nvCxnSpPr>
          <p:cNvPr id="19" name="Connector 18"/>
          <p:cNvCxnSpPr/>
          <p:nvPr/>
        </p:nvCxnSpPr>
        <p:spPr>
          <a:xfrm>
            <a:off x="9336024" y="4087368"/>
            <a:ext cx="256031"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592055" y="3584448"/>
            <a:ext cx="2084831" cy="1005840"/>
          </a:xfrm>
          <a:prstGeom prst="roundRect">
            <a:avLst>
              <a:gd name="adj" fmla="val 8000"/>
            </a:avLst>
          </a:prstGeom>
          <a:solidFill>
            <a:srgbClr val="0062B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Full Capacity
Utilisation
Achieved!</a:t>
            </a:r>
          </a:p>
        </p:txBody>
      </p:sp>
      <p:sp>
        <p:nvSpPr>
          <p:cNvPr id="21" name="Rounded Rectangle 20"/>
          <p:cNvSpPr/>
          <p:nvPr/>
        </p:nvSpPr>
        <p:spPr>
          <a:xfrm>
            <a:off x="228600" y="2450592"/>
            <a:ext cx="5154930" cy="566928"/>
          </a:xfrm>
          <a:prstGeom prst="roundRect">
            <a:avLst>
              <a:gd name="adj" fmla="val 8000"/>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Shift 1  •  11h Active</a:t>
            </a:r>
          </a:p>
        </p:txBody>
      </p:sp>
      <p:sp>
        <p:nvSpPr>
          <p:cNvPr id="22" name="Rounded Rectangle 21"/>
          <p:cNvSpPr/>
          <p:nvPr/>
        </p:nvSpPr>
        <p:spPr>
          <a:xfrm>
            <a:off x="5392674" y="2450592"/>
            <a:ext cx="468629" cy="566928"/>
          </a:xfrm>
          <a:prstGeom prst="roundRect">
            <a:avLst>
              <a:gd name="adj" fmla="val 8000"/>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64748B"/>
                </a:solidFill>
                <a:latin typeface="Calibri"/>
              </a:rPr>
              <a:t>⏸</a:t>
            </a:r>
          </a:p>
        </p:txBody>
      </p:sp>
      <p:sp>
        <p:nvSpPr>
          <p:cNvPr id="23" name="Rounded Rectangle 22"/>
          <p:cNvSpPr/>
          <p:nvPr/>
        </p:nvSpPr>
        <p:spPr>
          <a:xfrm>
            <a:off x="5870448" y="2450592"/>
            <a:ext cx="5154930" cy="566928"/>
          </a:xfrm>
          <a:prstGeom prst="roundRect">
            <a:avLst>
              <a:gd name="adj" fmla="val 8000"/>
            </a:avLst>
          </a:prstGeom>
          <a:solidFill>
            <a:srgbClr val="0062B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Shift 2  •  11h Active</a:t>
            </a:r>
          </a:p>
        </p:txBody>
      </p:sp>
      <p:sp>
        <p:nvSpPr>
          <p:cNvPr id="24" name="Rounded Rectangle 23"/>
          <p:cNvSpPr/>
          <p:nvPr/>
        </p:nvSpPr>
        <p:spPr>
          <a:xfrm>
            <a:off x="11034522" y="2450592"/>
            <a:ext cx="468629" cy="566928"/>
          </a:xfrm>
          <a:prstGeom prst="roundRect">
            <a:avLst>
              <a:gd name="adj" fmla="val 8000"/>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64748B"/>
                </a:solidFill>
                <a:latin typeface="Calibri"/>
              </a:rPr>
              <a:t>⏸</a:t>
            </a:r>
          </a:p>
        </p:txBody>
      </p:sp>
    </p:spTree>
    <p:extLst>
      <p:ext uri="{BB962C8B-B14F-4D97-AF65-F5344CB8AC3E}">
        <p14:creationId xmlns:p14="http://schemas.microsoft.com/office/powerpoint/2010/main" val="4281157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9728"/>
            <a:ext cx="8686800" cy="594360"/>
          </a:xfrm>
          <a:prstGeom prst="rect">
            <a:avLst/>
          </a:prstGeom>
          <a:noFill/>
        </p:spPr>
        <p:txBody>
          <a:bodyPr wrap="square">
            <a:spAutoFit/>
          </a:bodyPr>
          <a:lstStyle/>
          <a:p>
            <a:pPr algn="l"/>
            <a:r>
              <a:rPr sz="2800" b="1" i="0">
                <a:solidFill>
                  <a:srgbClr val="097AE8"/>
                </a:solidFill>
                <a:latin typeface="Calibri"/>
              </a:rPr>
              <a:t>Constraint 4 — Fixed Machine Allocation</a:t>
            </a:r>
          </a:p>
        </p:txBody>
      </p:sp>
      <p:sp>
        <p:nvSpPr>
          <p:cNvPr id="3" name="Rectangle 2"/>
          <p:cNvSpPr/>
          <p:nvPr/>
        </p:nvSpPr>
        <p:spPr>
          <a:xfrm>
            <a:off x="0" y="822960"/>
            <a:ext cx="12179808" cy="365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28600" y="932688"/>
            <a:ext cx="11704320" cy="640080"/>
          </a:xfrm>
          <a:prstGeom prst="roundRect">
            <a:avLst>
              <a:gd name="adj" fmla="val 8000"/>
            </a:avLst>
          </a:prstGeom>
          <a:solidFill>
            <a:srgbClr val="DBEAFE"/>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i="0">
                <a:solidFill>
                  <a:srgbClr val="1A2E4A"/>
                </a:solidFill>
                <a:latin typeface="Calibri"/>
              </a:rPr>
              <a:t>🔒   Machines assigned to certain parts always run ONLY those parts and are excluded from planning &amp; reallocation.
       Keeping them dedicated saves time, reduces changeover costs &amp; keeps production steady.</a:t>
            </a:r>
          </a:p>
        </p:txBody>
      </p:sp>
      <p:sp>
        <p:nvSpPr>
          <p:cNvPr id="5" name="Rounded Rectangle 4"/>
          <p:cNvSpPr/>
          <p:nvPr/>
        </p:nvSpPr>
        <p:spPr>
          <a:xfrm>
            <a:off x="228600" y="1719072"/>
            <a:ext cx="2834640" cy="777240"/>
          </a:xfrm>
          <a:prstGeom prst="roundRect">
            <a:avLst>
              <a:gd name="adj" fmla="val 8000"/>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719072"/>
            <a:ext cx="64008" cy="7772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764792"/>
            <a:ext cx="2651760" cy="292608"/>
          </a:xfrm>
          <a:prstGeom prst="rect">
            <a:avLst/>
          </a:prstGeom>
          <a:noFill/>
        </p:spPr>
        <p:txBody>
          <a:bodyPr wrap="square">
            <a:spAutoFit/>
          </a:bodyPr>
          <a:lstStyle/>
          <a:p>
            <a:pPr algn="l"/>
            <a:r>
              <a:rPr sz="1300" b="1" i="0">
                <a:solidFill>
                  <a:srgbClr val="0070C0"/>
                </a:solidFill>
                <a:latin typeface="Calibri"/>
              </a:rPr>
              <a:t>⏱ Saves Time</a:t>
            </a:r>
          </a:p>
        </p:txBody>
      </p:sp>
      <p:sp>
        <p:nvSpPr>
          <p:cNvPr id="8" name="TextBox 7"/>
          <p:cNvSpPr txBox="1"/>
          <p:nvPr/>
        </p:nvSpPr>
        <p:spPr>
          <a:xfrm>
            <a:off x="365760" y="2084831"/>
            <a:ext cx="2651760" cy="384048"/>
          </a:xfrm>
          <a:prstGeom prst="rect">
            <a:avLst/>
          </a:prstGeom>
          <a:noFill/>
        </p:spPr>
        <p:txBody>
          <a:bodyPr wrap="square">
            <a:spAutoFit/>
          </a:bodyPr>
          <a:lstStyle/>
          <a:p>
            <a:pPr algn="l"/>
            <a:r>
              <a:rPr sz="1100" b="0" i="0">
                <a:solidFill>
                  <a:srgbClr val="64748B"/>
                </a:solidFill>
                <a:latin typeface="Calibri"/>
              </a:rPr>
              <a:t>No replanning needed for fixed machines</a:t>
            </a:r>
          </a:p>
        </p:txBody>
      </p:sp>
      <p:sp>
        <p:nvSpPr>
          <p:cNvPr id="9" name="Rounded Rectangle 8"/>
          <p:cNvSpPr/>
          <p:nvPr/>
        </p:nvSpPr>
        <p:spPr>
          <a:xfrm>
            <a:off x="3136392" y="1719072"/>
            <a:ext cx="2834640" cy="777240"/>
          </a:xfrm>
          <a:prstGeom prst="roundRect">
            <a:avLst>
              <a:gd name="adj" fmla="val 8000"/>
            </a:avLst>
          </a:prstGeom>
          <a:solidFill>
            <a:srgbClr val="FFFFFF"/>
          </a:solidFill>
          <a:ln w="1270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36392" y="1719072"/>
            <a:ext cx="64008" cy="7772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73552" y="1764792"/>
            <a:ext cx="2651760" cy="292608"/>
          </a:xfrm>
          <a:prstGeom prst="rect">
            <a:avLst/>
          </a:prstGeom>
          <a:noFill/>
        </p:spPr>
        <p:txBody>
          <a:bodyPr wrap="square">
            <a:spAutoFit/>
          </a:bodyPr>
          <a:lstStyle/>
          <a:p>
            <a:pPr algn="l"/>
            <a:r>
              <a:rPr sz="1300" b="1" i="0">
                <a:solidFill>
                  <a:srgbClr val="1A7A4A"/>
                </a:solidFill>
                <a:latin typeface="Calibri"/>
              </a:rPr>
              <a:t>💰 Reduces Costs</a:t>
            </a:r>
          </a:p>
        </p:txBody>
      </p:sp>
      <p:sp>
        <p:nvSpPr>
          <p:cNvPr id="12" name="TextBox 11"/>
          <p:cNvSpPr txBox="1"/>
          <p:nvPr/>
        </p:nvSpPr>
        <p:spPr>
          <a:xfrm>
            <a:off x="3273552" y="2084831"/>
            <a:ext cx="2651760" cy="384048"/>
          </a:xfrm>
          <a:prstGeom prst="rect">
            <a:avLst/>
          </a:prstGeom>
          <a:noFill/>
        </p:spPr>
        <p:txBody>
          <a:bodyPr wrap="square">
            <a:spAutoFit/>
          </a:bodyPr>
          <a:lstStyle/>
          <a:p>
            <a:pPr algn="l"/>
            <a:r>
              <a:rPr sz="1100" b="0" i="0">
                <a:solidFill>
                  <a:srgbClr val="64748B"/>
                </a:solidFill>
                <a:latin typeface="Calibri"/>
              </a:rPr>
              <a:t>No changeover expense for dedicated parts</a:t>
            </a:r>
          </a:p>
        </p:txBody>
      </p:sp>
      <p:sp>
        <p:nvSpPr>
          <p:cNvPr id="13" name="Rounded Rectangle 12"/>
          <p:cNvSpPr/>
          <p:nvPr/>
        </p:nvSpPr>
        <p:spPr>
          <a:xfrm>
            <a:off x="6044184" y="1719072"/>
            <a:ext cx="2834640" cy="777240"/>
          </a:xfrm>
          <a:prstGeom prst="roundRect">
            <a:avLst>
              <a:gd name="adj" fmla="val 8000"/>
            </a:avLst>
          </a:prstGeom>
          <a:solidFill>
            <a:srgbClr val="FFFFFF"/>
          </a:solidFill>
          <a:ln w="1270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44184" y="1719072"/>
            <a:ext cx="64008" cy="77724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81344" y="1764792"/>
            <a:ext cx="2651760" cy="292608"/>
          </a:xfrm>
          <a:prstGeom prst="rect">
            <a:avLst/>
          </a:prstGeom>
          <a:noFill/>
        </p:spPr>
        <p:txBody>
          <a:bodyPr wrap="square">
            <a:spAutoFit/>
          </a:bodyPr>
          <a:lstStyle/>
          <a:p>
            <a:pPr algn="l"/>
            <a:r>
              <a:rPr sz="1300" b="1" i="0">
                <a:solidFill>
                  <a:srgbClr val="ED7D31"/>
                </a:solidFill>
                <a:latin typeface="Calibri"/>
              </a:rPr>
              <a:t>📈 Steady Output</a:t>
            </a:r>
          </a:p>
        </p:txBody>
      </p:sp>
      <p:sp>
        <p:nvSpPr>
          <p:cNvPr id="16" name="TextBox 15"/>
          <p:cNvSpPr txBox="1"/>
          <p:nvPr/>
        </p:nvSpPr>
        <p:spPr>
          <a:xfrm>
            <a:off x="6181344" y="2084831"/>
            <a:ext cx="2651760" cy="384048"/>
          </a:xfrm>
          <a:prstGeom prst="rect">
            <a:avLst/>
          </a:prstGeom>
          <a:noFill/>
        </p:spPr>
        <p:txBody>
          <a:bodyPr wrap="square">
            <a:spAutoFit/>
          </a:bodyPr>
          <a:lstStyle/>
          <a:p>
            <a:pPr algn="l"/>
            <a:r>
              <a:rPr sz="1100" b="0" i="0">
                <a:solidFill>
                  <a:srgbClr val="64748B"/>
                </a:solidFill>
                <a:latin typeface="Calibri"/>
              </a:rPr>
              <a:t>Consistent production flow maintained</a:t>
            </a:r>
          </a:p>
        </p:txBody>
      </p:sp>
      <p:sp>
        <p:nvSpPr>
          <p:cNvPr id="17" name="Rounded Rectangle 16"/>
          <p:cNvSpPr/>
          <p:nvPr/>
        </p:nvSpPr>
        <p:spPr>
          <a:xfrm>
            <a:off x="8951976" y="1719072"/>
            <a:ext cx="2834640" cy="777240"/>
          </a:xfrm>
          <a:prstGeom prst="roundRect">
            <a:avLst>
              <a:gd name="adj" fmla="val 8000"/>
            </a:avLst>
          </a:prstGeom>
          <a:solidFill>
            <a:srgbClr val="FFFFFF"/>
          </a:solidFill>
          <a:ln w="12700">
            <a:solidFill>
              <a:srgbClr val="14A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51976" y="1719072"/>
            <a:ext cx="64008" cy="777240"/>
          </a:xfrm>
          <a:prstGeom prst="rect">
            <a:avLst/>
          </a:prstGeom>
          <a:solidFill>
            <a:srgbClr val="14A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89136" y="1764792"/>
            <a:ext cx="2651760" cy="292608"/>
          </a:xfrm>
          <a:prstGeom prst="rect">
            <a:avLst/>
          </a:prstGeom>
          <a:noFill/>
        </p:spPr>
        <p:txBody>
          <a:bodyPr wrap="square">
            <a:spAutoFit/>
          </a:bodyPr>
          <a:lstStyle/>
          <a:p>
            <a:pPr algn="l"/>
            <a:r>
              <a:rPr sz="1300" b="1" i="0">
                <a:solidFill>
                  <a:srgbClr val="14A3A8"/>
                </a:solidFill>
                <a:latin typeface="Calibri"/>
              </a:rPr>
              <a:t>🎯 Full Capacity</a:t>
            </a:r>
          </a:p>
        </p:txBody>
      </p:sp>
      <p:sp>
        <p:nvSpPr>
          <p:cNvPr id="20" name="TextBox 19"/>
          <p:cNvSpPr txBox="1"/>
          <p:nvPr/>
        </p:nvSpPr>
        <p:spPr>
          <a:xfrm>
            <a:off x="9089136" y="2084831"/>
            <a:ext cx="2651760" cy="384048"/>
          </a:xfrm>
          <a:prstGeom prst="rect">
            <a:avLst/>
          </a:prstGeom>
          <a:noFill/>
        </p:spPr>
        <p:txBody>
          <a:bodyPr wrap="square">
            <a:spAutoFit/>
          </a:bodyPr>
          <a:lstStyle/>
          <a:p>
            <a:pPr algn="l"/>
            <a:r>
              <a:rPr sz="1100" b="0" i="0">
                <a:solidFill>
                  <a:srgbClr val="64748B"/>
                </a:solidFill>
                <a:latin typeface="Calibri"/>
              </a:rPr>
              <a:t>Parts needing 100% machine capacity handled</a:t>
            </a:r>
          </a:p>
        </p:txBody>
      </p:sp>
      <p:sp>
        <p:nvSpPr>
          <p:cNvPr id="21" name="TextBox 20"/>
          <p:cNvSpPr txBox="1"/>
          <p:nvPr/>
        </p:nvSpPr>
        <p:spPr>
          <a:xfrm>
            <a:off x="228600" y="2633472"/>
            <a:ext cx="5486400" cy="320040"/>
          </a:xfrm>
          <a:prstGeom prst="rect">
            <a:avLst/>
          </a:prstGeom>
          <a:noFill/>
        </p:spPr>
        <p:txBody>
          <a:bodyPr wrap="square">
            <a:spAutoFit/>
          </a:bodyPr>
          <a:lstStyle/>
          <a:p>
            <a:pPr algn="l"/>
            <a:r>
              <a:rPr sz="1300" b="1" i="0">
                <a:solidFill>
                  <a:srgbClr val="1A2E4A"/>
                </a:solidFill>
                <a:latin typeface="Calibri"/>
              </a:rPr>
              <a:t>DECISION LOGIC</a:t>
            </a:r>
          </a:p>
        </p:txBody>
      </p:sp>
      <p:sp>
        <p:nvSpPr>
          <p:cNvPr id="22" name="Rounded Rectangle 21"/>
          <p:cNvSpPr/>
          <p:nvPr/>
        </p:nvSpPr>
        <p:spPr>
          <a:xfrm>
            <a:off x="4937760" y="2971800"/>
            <a:ext cx="2286000" cy="502920"/>
          </a:xfrm>
          <a:prstGeom prst="roundRect">
            <a:avLst>
              <a:gd name="adj" fmla="val 8000"/>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  Check Each Machine</a:t>
            </a:r>
          </a:p>
        </p:txBody>
      </p:sp>
      <p:cxnSp>
        <p:nvCxnSpPr>
          <p:cNvPr id="23" name="Connector 22"/>
          <p:cNvCxnSpPr/>
          <p:nvPr/>
        </p:nvCxnSpPr>
        <p:spPr>
          <a:xfrm>
            <a:off x="6080760" y="3474720"/>
            <a:ext cx="0" cy="292608"/>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4663440" y="3767328"/>
            <a:ext cx="2834640" cy="804672"/>
          </a:xfrm>
          <a:prstGeom prst="diamond">
            <a:avLst/>
          </a:prstGeom>
          <a:solidFill>
            <a:srgbClr val="0062B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Is the Machine
Fixed?</a:t>
            </a:r>
          </a:p>
        </p:txBody>
      </p:sp>
      <p:cxnSp>
        <p:nvCxnSpPr>
          <p:cNvPr id="25" name="Connector 24"/>
          <p:cNvCxnSpPr/>
          <p:nvPr/>
        </p:nvCxnSpPr>
        <p:spPr>
          <a:xfrm>
            <a:off x="7498079" y="4169663"/>
            <a:ext cx="1371601" cy="0"/>
          </a:xfrm>
          <a:prstGeom prst="line">
            <a:avLst/>
          </a:prstGeom>
          <a:ln w="19050">
            <a:solidFill>
              <a:srgbClr val="B91C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869680" y="3858768"/>
            <a:ext cx="2560320" cy="621792"/>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  Skip It!
(Do Not Reallocate)</a:t>
            </a:r>
          </a:p>
        </p:txBody>
      </p:sp>
      <p:sp>
        <p:nvSpPr>
          <p:cNvPr id="27" name="TextBox 26"/>
          <p:cNvSpPr txBox="1"/>
          <p:nvPr/>
        </p:nvSpPr>
        <p:spPr>
          <a:xfrm>
            <a:off x="7589520" y="3977639"/>
            <a:ext cx="914400" cy="274320"/>
          </a:xfrm>
          <a:prstGeom prst="rect">
            <a:avLst/>
          </a:prstGeom>
          <a:noFill/>
        </p:spPr>
        <p:txBody>
          <a:bodyPr wrap="square">
            <a:spAutoFit/>
          </a:bodyPr>
          <a:lstStyle/>
          <a:p>
            <a:pPr algn="l"/>
            <a:r>
              <a:rPr sz="1200" b="1" i="0">
                <a:solidFill>
                  <a:srgbClr val="B91C1C"/>
                </a:solidFill>
                <a:latin typeface="Calibri"/>
              </a:rPr>
              <a:t>YES</a:t>
            </a:r>
          </a:p>
        </p:txBody>
      </p:sp>
      <p:cxnSp>
        <p:nvCxnSpPr>
          <p:cNvPr id="28" name="Connector 27"/>
          <p:cNvCxnSpPr/>
          <p:nvPr/>
        </p:nvCxnSpPr>
        <p:spPr>
          <a:xfrm>
            <a:off x="6080760" y="4572000"/>
            <a:ext cx="0" cy="292608"/>
          </a:xfrm>
          <a:prstGeom prst="line">
            <a:avLst/>
          </a:prstGeom>
          <a:ln w="19050">
            <a:solidFill>
              <a:srgbClr val="1A7A4A"/>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846320" y="4864608"/>
            <a:ext cx="2468880" cy="566928"/>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Plan Parts on It
(Include in Schedule)</a:t>
            </a:r>
          </a:p>
        </p:txBody>
      </p:sp>
      <p:sp>
        <p:nvSpPr>
          <p:cNvPr id="30" name="TextBox 29"/>
          <p:cNvSpPr txBox="1"/>
          <p:nvPr/>
        </p:nvSpPr>
        <p:spPr>
          <a:xfrm>
            <a:off x="6199632" y="4617720"/>
            <a:ext cx="731520" cy="274320"/>
          </a:xfrm>
          <a:prstGeom prst="rect">
            <a:avLst/>
          </a:prstGeom>
          <a:noFill/>
        </p:spPr>
        <p:txBody>
          <a:bodyPr wrap="square">
            <a:spAutoFit/>
          </a:bodyPr>
          <a:lstStyle/>
          <a:p>
            <a:pPr algn="l"/>
            <a:r>
              <a:rPr sz="1200" b="1" i="0">
                <a:solidFill>
                  <a:srgbClr val="1A7A4A"/>
                </a:solidFill>
                <a:latin typeface="Calibri"/>
              </a:rPr>
              <a:t>NO</a:t>
            </a:r>
          </a:p>
        </p:txBody>
      </p:sp>
    </p:spTree>
    <p:extLst>
      <p:ext uri="{BB962C8B-B14F-4D97-AF65-F5344CB8AC3E}">
        <p14:creationId xmlns:p14="http://schemas.microsoft.com/office/powerpoint/2010/main" val="770166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9728"/>
            <a:ext cx="8686800" cy="594360"/>
          </a:xfrm>
          <a:prstGeom prst="rect">
            <a:avLst/>
          </a:prstGeom>
          <a:noFill/>
        </p:spPr>
        <p:txBody>
          <a:bodyPr wrap="square">
            <a:spAutoFit/>
          </a:bodyPr>
          <a:lstStyle/>
          <a:p>
            <a:pPr algn="l"/>
            <a:r>
              <a:rPr sz="2800" b="1" i="0">
                <a:solidFill>
                  <a:srgbClr val="097AE8"/>
                </a:solidFill>
                <a:latin typeface="Calibri"/>
              </a:rPr>
              <a:t>Constraint 5 — Minimum Changeover</a:t>
            </a:r>
          </a:p>
        </p:txBody>
      </p:sp>
      <p:sp>
        <p:nvSpPr>
          <p:cNvPr id="3" name="Rectangle 2"/>
          <p:cNvSpPr/>
          <p:nvPr/>
        </p:nvSpPr>
        <p:spPr>
          <a:xfrm>
            <a:off x="0" y="822960"/>
            <a:ext cx="12179808" cy="365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28600" y="932688"/>
            <a:ext cx="11704320" cy="530352"/>
          </a:xfrm>
          <a:prstGeom prst="roundRect">
            <a:avLst>
              <a:gd name="adj" fmla="val 8000"/>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   Daily Changeover Limit = 25   |   Group same-color parts together to minimise machine reconfiguration time &amp; cost</a:t>
            </a:r>
          </a:p>
        </p:txBody>
      </p:sp>
      <p:sp>
        <p:nvSpPr>
          <p:cNvPr id="5" name="TextBox 4"/>
          <p:cNvSpPr txBox="1"/>
          <p:nvPr/>
        </p:nvSpPr>
        <p:spPr>
          <a:xfrm>
            <a:off x="228600" y="1572768"/>
            <a:ext cx="11704320" cy="411480"/>
          </a:xfrm>
          <a:prstGeom prst="rect">
            <a:avLst/>
          </a:prstGeom>
          <a:noFill/>
        </p:spPr>
        <p:txBody>
          <a:bodyPr wrap="square">
            <a:spAutoFit/>
          </a:bodyPr>
          <a:lstStyle/>
          <a:p>
            <a:pPr algn="l"/>
            <a:r>
              <a:rPr sz="1200" b="0" i="1">
                <a:solidFill>
                  <a:srgbClr val="64748B"/>
                </a:solidFill>
                <a:latin typeface="Calibri"/>
              </a:rPr>
              <a:t>Intelligently sequences parts to minimise setups — ensuring machines spend more hours PRODUCING rather than stopping for reconfiguration.</a:t>
            </a:r>
          </a:p>
        </p:txBody>
      </p:sp>
      <p:sp>
        <p:nvSpPr>
          <p:cNvPr id="6" name="TextBox 5"/>
          <p:cNvSpPr txBox="1"/>
          <p:nvPr/>
        </p:nvSpPr>
        <p:spPr>
          <a:xfrm>
            <a:off x="228600" y="2029968"/>
            <a:ext cx="7315200" cy="320040"/>
          </a:xfrm>
          <a:prstGeom prst="rect">
            <a:avLst/>
          </a:prstGeom>
          <a:noFill/>
        </p:spPr>
        <p:txBody>
          <a:bodyPr wrap="square">
            <a:spAutoFit/>
          </a:bodyPr>
          <a:lstStyle/>
          <a:p>
            <a:pPr algn="l"/>
            <a:r>
              <a:rPr sz="1300" b="1" i="0">
                <a:solidFill>
                  <a:srgbClr val="1A2E4A"/>
                </a:solidFill>
                <a:latin typeface="Calibri"/>
              </a:rPr>
              <a:t>IMPACT OF MINIMISING CHANGEOVERS</a:t>
            </a:r>
          </a:p>
        </p:txBody>
      </p:sp>
      <p:sp>
        <p:nvSpPr>
          <p:cNvPr id="7" name="Rounded Rectangle 6"/>
          <p:cNvSpPr/>
          <p:nvPr/>
        </p:nvSpPr>
        <p:spPr>
          <a:xfrm>
            <a:off x="228600" y="2395728"/>
            <a:ext cx="2816352" cy="749808"/>
          </a:xfrm>
          <a:prstGeom prst="roundRect">
            <a:avLst>
              <a:gd name="adj" fmla="val 8000"/>
            </a:avLst>
          </a:prstGeom>
          <a:solidFill>
            <a:srgbClr val="FFFFFF"/>
          </a:solidFill>
          <a:ln w="1270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2395728"/>
            <a:ext cx="64008"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441448"/>
            <a:ext cx="2633472" cy="274320"/>
          </a:xfrm>
          <a:prstGeom prst="rect">
            <a:avLst/>
          </a:prstGeom>
          <a:noFill/>
        </p:spPr>
        <p:txBody>
          <a:bodyPr wrap="square">
            <a:spAutoFit/>
          </a:bodyPr>
          <a:lstStyle/>
          <a:p>
            <a:pPr algn="l"/>
            <a:r>
              <a:rPr sz="1200" b="1" i="0">
                <a:solidFill>
                  <a:srgbClr val="1A7A4A"/>
                </a:solidFill>
                <a:latin typeface="Calibri"/>
              </a:rPr>
              <a:t>🕐 Less Downtime</a:t>
            </a:r>
          </a:p>
        </p:txBody>
      </p:sp>
      <p:sp>
        <p:nvSpPr>
          <p:cNvPr id="10" name="TextBox 9"/>
          <p:cNvSpPr txBox="1"/>
          <p:nvPr/>
        </p:nvSpPr>
        <p:spPr>
          <a:xfrm>
            <a:off x="365760" y="2724912"/>
            <a:ext cx="2633472" cy="384048"/>
          </a:xfrm>
          <a:prstGeom prst="rect">
            <a:avLst/>
          </a:prstGeom>
          <a:noFill/>
        </p:spPr>
        <p:txBody>
          <a:bodyPr wrap="square">
            <a:spAutoFit/>
          </a:bodyPr>
          <a:lstStyle/>
          <a:p>
            <a:pPr algn="l"/>
            <a:r>
              <a:rPr sz="1100" b="0" i="0">
                <a:solidFill>
                  <a:srgbClr val="64748B"/>
                </a:solidFill>
                <a:latin typeface="Calibri"/>
              </a:rPr>
              <a:t>Machines run longer without stops</a:t>
            </a:r>
          </a:p>
        </p:txBody>
      </p:sp>
      <p:sp>
        <p:nvSpPr>
          <p:cNvPr id="11" name="Rounded Rectangle 10"/>
          <p:cNvSpPr/>
          <p:nvPr/>
        </p:nvSpPr>
        <p:spPr>
          <a:xfrm>
            <a:off x="3136392" y="2395728"/>
            <a:ext cx="2816352" cy="749808"/>
          </a:xfrm>
          <a:prstGeom prst="roundRect">
            <a:avLst>
              <a:gd name="adj" fmla="val 8000"/>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36392" y="2395728"/>
            <a:ext cx="64008" cy="7498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73552" y="2441448"/>
            <a:ext cx="2633472" cy="274320"/>
          </a:xfrm>
          <a:prstGeom prst="rect">
            <a:avLst/>
          </a:prstGeom>
          <a:noFill/>
        </p:spPr>
        <p:txBody>
          <a:bodyPr wrap="square">
            <a:spAutoFit/>
          </a:bodyPr>
          <a:lstStyle/>
          <a:p>
            <a:pPr algn="l"/>
            <a:r>
              <a:rPr sz="1200" b="1" i="0">
                <a:solidFill>
                  <a:srgbClr val="0070C0"/>
                </a:solidFill>
                <a:latin typeface="Calibri"/>
              </a:rPr>
              <a:t>💰 Lower Cost</a:t>
            </a:r>
          </a:p>
        </p:txBody>
      </p:sp>
      <p:sp>
        <p:nvSpPr>
          <p:cNvPr id="14" name="TextBox 13"/>
          <p:cNvSpPr txBox="1"/>
          <p:nvPr/>
        </p:nvSpPr>
        <p:spPr>
          <a:xfrm>
            <a:off x="3273552" y="2724912"/>
            <a:ext cx="2633472" cy="384048"/>
          </a:xfrm>
          <a:prstGeom prst="rect">
            <a:avLst/>
          </a:prstGeom>
          <a:noFill/>
        </p:spPr>
        <p:txBody>
          <a:bodyPr wrap="square">
            <a:spAutoFit/>
          </a:bodyPr>
          <a:lstStyle/>
          <a:p>
            <a:pPr algn="l"/>
            <a:r>
              <a:rPr sz="1100" b="0" i="0">
                <a:solidFill>
                  <a:srgbClr val="64748B"/>
                </a:solidFill>
                <a:latin typeface="Calibri"/>
              </a:rPr>
              <a:t>Fewer setup resources &amp; labour needed</a:t>
            </a:r>
          </a:p>
        </p:txBody>
      </p:sp>
      <p:sp>
        <p:nvSpPr>
          <p:cNvPr id="15" name="Rounded Rectangle 14"/>
          <p:cNvSpPr/>
          <p:nvPr/>
        </p:nvSpPr>
        <p:spPr>
          <a:xfrm>
            <a:off x="6044184" y="2395728"/>
            <a:ext cx="2816352" cy="749808"/>
          </a:xfrm>
          <a:prstGeom prst="roundRect">
            <a:avLst>
              <a:gd name="adj" fmla="val 8000"/>
            </a:avLst>
          </a:prstGeom>
          <a:solidFill>
            <a:srgbClr val="FFFFFF"/>
          </a:solidFill>
          <a:ln w="1270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44184" y="2395728"/>
            <a:ext cx="64008" cy="749808"/>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344" y="2441448"/>
            <a:ext cx="2633472" cy="274320"/>
          </a:xfrm>
          <a:prstGeom prst="rect">
            <a:avLst/>
          </a:prstGeom>
          <a:noFill/>
        </p:spPr>
        <p:txBody>
          <a:bodyPr wrap="square">
            <a:spAutoFit/>
          </a:bodyPr>
          <a:lstStyle/>
          <a:p>
            <a:pPr algn="l"/>
            <a:r>
              <a:rPr sz="1200" b="1" i="0">
                <a:solidFill>
                  <a:srgbClr val="ED7D31"/>
                </a:solidFill>
                <a:latin typeface="Calibri"/>
              </a:rPr>
              <a:t>🎨 Color Grouping</a:t>
            </a:r>
          </a:p>
        </p:txBody>
      </p:sp>
      <p:sp>
        <p:nvSpPr>
          <p:cNvPr id="18" name="TextBox 17"/>
          <p:cNvSpPr txBox="1"/>
          <p:nvPr/>
        </p:nvSpPr>
        <p:spPr>
          <a:xfrm>
            <a:off x="6181344" y="2724912"/>
            <a:ext cx="2633472" cy="384048"/>
          </a:xfrm>
          <a:prstGeom prst="rect">
            <a:avLst/>
          </a:prstGeom>
          <a:noFill/>
        </p:spPr>
        <p:txBody>
          <a:bodyPr wrap="square">
            <a:spAutoFit/>
          </a:bodyPr>
          <a:lstStyle/>
          <a:p>
            <a:pPr algn="l"/>
            <a:r>
              <a:rPr sz="1100" b="0" i="0">
                <a:solidFill>
                  <a:srgbClr val="64748B"/>
                </a:solidFill>
                <a:latin typeface="Calibri"/>
              </a:rPr>
              <a:t>Same-color parts batched together</a:t>
            </a:r>
          </a:p>
        </p:txBody>
      </p:sp>
      <p:sp>
        <p:nvSpPr>
          <p:cNvPr id="19" name="Rounded Rectangle 18"/>
          <p:cNvSpPr/>
          <p:nvPr/>
        </p:nvSpPr>
        <p:spPr>
          <a:xfrm>
            <a:off x="8951976" y="2395728"/>
            <a:ext cx="2816352" cy="749808"/>
          </a:xfrm>
          <a:prstGeom prst="roundRect">
            <a:avLst>
              <a:gd name="adj" fmla="val 8000"/>
            </a:avLst>
          </a:prstGeom>
          <a:solidFill>
            <a:srgbClr val="FFFFFF"/>
          </a:solidFill>
          <a:ln w="12700">
            <a:solidFill>
              <a:srgbClr val="14A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1976" y="2395728"/>
            <a:ext cx="64008" cy="749808"/>
          </a:xfrm>
          <a:prstGeom prst="rect">
            <a:avLst/>
          </a:prstGeom>
          <a:solidFill>
            <a:srgbClr val="14A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89136" y="2441448"/>
            <a:ext cx="2633472" cy="274320"/>
          </a:xfrm>
          <a:prstGeom prst="rect">
            <a:avLst/>
          </a:prstGeom>
          <a:noFill/>
        </p:spPr>
        <p:txBody>
          <a:bodyPr wrap="square">
            <a:spAutoFit/>
          </a:bodyPr>
          <a:lstStyle/>
          <a:p>
            <a:pPr algn="l"/>
            <a:r>
              <a:rPr sz="1200" b="1" i="0">
                <a:solidFill>
                  <a:srgbClr val="14A3A8"/>
                </a:solidFill>
                <a:latin typeface="Calibri"/>
              </a:rPr>
              <a:t>📊 Better Utilisation</a:t>
            </a:r>
          </a:p>
        </p:txBody>
      </p:sp>
      <p:sp>
        <p:nvSpPr>
          <p:cNvPr id="22" name="TextBox 21"/>
          <p:cNvSpPr txBox="1"/>
          <p:nvPr/>
        </p:nvSpPr>
        <p:spPr>
          <a:xfrm>
            <a:off x="9089136" y="2724912"/>
            <a:ext cx="2633472" cy="384048"/>
          </a:xfrm>
          <a:prstGeom prst="rect">
            <a:avLst/>
          </a:prstGeom>
          <a:noFill/>
        </p:spPr>
        <p:txBody>
          <a:bodyPr wrap="square">
            <a:spAutoFit/>
          </a:bodyPr>
          <a:lstStyle/>
          <a:p>
            <a:pPr algn="l"/>
            <a:r>
              <a:rPr sz="1100" b="0" i="0">
                <a:solidFill>
                  <a:srgbClr val="64748B"/>
                </a:solidFill>
                <a:latin typeface="Calibri"/>
              </a:rPr>
              <a:t>More hours producing, less setting up</a:t>
            </a:r>
          </a:p>
        </p:txBody>
      </p:sp>
      <p:sp>
        <p:nvSpPr>
          <p:cNvPr id="23" name="TextBox 22"/>
          <p:cNvSpPr txBox="1"/>
          <p:nvPr/>
        </p:nvSpPr>
        <p:spPr>
          <a:xfrm>
            <a:off x="228600" y="3273552"/>
            <a:ext cx="7315200" cy="320040"/>
          </a:xfrm>
          <a:prstGeom prst="rect">
            <a:avLst/>
          </a:prstGeom>
          <a:noFill/>
        </p:spPr>
        <p:txBody>
          <a:bodyPr wrap="square">
            <a:spAutoFit/>
          </a:bodyPr>
          <a:lstStyle/>
          <a:p>
            <a:pPr algn="l"/>
            <a:r>
              <a:rPr sz="1300" b="1" i="0">
                <a:solidFill>
                  <a:srgbClr val="1A2E4A"/>
                </a:solidFill>
                <a:latin typeface="Calibri"/>
              </a:rPr>
              <a:t>CHANGEOVER DECISION FLOW</a:t>
            </a:r>
          </a:p>
        </p:txBody>
      </p:sp>
      <p:sp>
        <p:nvSpPr>
          <p:cNvPr id="24" name="Rounded Rectangle 23"/>
          <p:cNvSpPr/>
          <p:nvPr/>
        </p:nvSpPr>
        <p:spPr>
          <a:xfrm>
            <a:off x="228600" y="3657600"/>
            <a:ext cx="2560320" cy="566928"/>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Daily Limit = 25
Changeovers Set</a:t>
            </a:r>
          </a:p>
        </p:txBody>
      </p:sp>
      <p:cxnSp>
        <p:nvCxnSpPr>
          <p:cNvPr id="25" name="Connector 24"/>
          <p:cNvCxnSpPr/>
          <p:nvPr/>
        </p:nvCxnSpPr>
        <p:spPr>
          <a:xfrm>
            <a:off x="2788920" y="3941063"/>
            <a:ext cx="365760" cy="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6" name="Diamond 25"/>
          <p:cNvSpPr/>
          <p:nvPr/>
        </p:nvSpPr>
        <p:spPr>
          <a:xfrm>
            <a:off x="3154680" y="3547872"/>
            <a:ext cx="2011680" cy="804672"/>
          </a:xfrm>
          <a:prstGeom prst="diamond">
            <a:avLst/>
          </a:prstGeom>
          <a:solidFill>
            <a:srgbClr val="0062B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Within
Limit?</a:t>
            </a:r>
          </a:p>
        </p:txBody>
      </p:sp>
      <p:cxnSp>
        <p:nvCxnSpPr>
          <p:cNvPr id="27" name="Connector 26"/>
          <p:cNvCxnSpPr/>
          <p:nvPr/>
        </p:nvCxnSpPr>
        <p:spPr>
          <a:xfrm>
            <a:off x="5166360" y="3941063"/>
            <a:ext cx="1234440" cy="0"/>
          </a:xfrm>
          <a:prstGeom prst="line">
            <a:avLst/>
          </a:prstGeom>
          <a:ln w="19050">
            <a:solidFill>
              <a:srgbClr val="B91C1C"/>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400800" y="3657600"/>
            <a:ext cx="2560320" cy="566928"/>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  Shift to
Next Day</a:t>
            </a:r>
          </a:p>
        </p:txBody>
      </p:sp>
      <p:sp>
        <p:nvSpPr>
          <p:cNvPr id="29" name="TextBox 28"/>
          <p:cNvSpPr txBox="1"/>
          <p:nvPr/>
        </p:nvSpPr>
        <p:spPr>
          <a:xfrm>
            <a:off x="5212080" y="3767328"/>
            <a:ext cx="1005840" cy="256032"/>
          </a:xfrm>
          <a:prstGeom prst="rect">
            <a:avLst/>
          </a:prstGeom>
          <a:noFill/>
        </p:spPr>
        <p:txBody>
          <a:bodyPr wrap="square">
            <a:spAutoFit/>
          </a:bodyPr>
          <a:lstStyle/>
          <a:p>
            <a:pPr algn="l"/>
            <a:r>
              <a:rPr sz="1100" b="1" i="0">
                <a:solidFill>
                  <a:srgbClr val="B91C1C"/>
                </a:solidFill>
                <a:latin typeface="Calibri"/>
              </a:rPr>
              <a:t>NO →</a:t>
            </a:r>
          </a:p>
        </p:txBody>
      </p:sp>
      <p:cxnSp>
        <p:nvCxnSpPr>
          <p:cNvPr id="30" name="Connector 29"/>
          <p:cNvCxnSpPr/>
          <p:nvPr/>
        </p:nvCxnSpPr>
        <p:spPr>
          <a:xfrm>
            <a:off x="4160520" y="4352544"/>
            <a:ext cx="0" cy="265176"/>
          </a:xfrm>
          <a:prstGeom prst="line">
            <a:avLst/>
          </a:prstGeom>
          <a:ln w="19050">
            <a:solidFill>
              <a:srgbClr val="1A7A4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206240" y="4370832"/>
            <a:ext cx="914400" cy="256032"/>
          </a:xfrm>
          <a:prstGeom prst="rect">
            <a:avLst/>
          </a:prstGeom>
          <a:noFill/>
        </p:spPr>
        <p:txBody>
          <a:bodyPr wrap="square">
            <a:spAutoFit/>
          </a:bodyPr>
          <a:lstStyle/>
          <a:p>
            <a:pPr algn="l"/>
            <a:r>
              <a:rPr sz="1100" b="1" i="0">
                <a:solidFill>
                  <a:srgbClr val="1A7A4A"/>
                </a:solidFill>
                <a:latin typeface="Calibri"/>
              </a:rPr>
              <a:t>YES ↓</a:t>
            </a:r>
          </a:p>
        </p:txBody>
      </p:sp>
      <p:sp>
        <p:nvSpPr>
          <p:cNvPr id="32" name="Rounded Rectangle 31"/>
          <p:cNvSpPr/>
          <p:nvPr/>
        </p:nvSpPr>
        <p:spPr>
          <a:xfrm>
            <a:off x="3154680" y="4617720"/>
            <a:ext cx="2011680" cy="530352"/>
          </a:xfrm>
          <a:prstGeom prst="roundRect">
            <a:avLst>
              <a:gd name="adj" fmla="val 8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Group Same
Color Parts</a:t>
            </a:r>
          </a:p>
        </p:txBody>
      </p:sp>
      <p:cxnSp>
        <p:nvCxnSpPr>
          <p:cNvPr id="33" name="Connector 32"/>
          <p:cNvCxnSpPr/>
          <p:nvPr/>
        </p:nvCxnSpPr>
        <p:spPr>
          <a:xfrm>
            <a:off x="4160520" y="5148072"/>
            <a:ext cx="0" cy="228600"/>
          </a:xfrm>
          <a:prstGeom prst="line">
            <a:avLst/>
          </a:prstGeom>
          <a:ln w="19050">
            <a:solidFill>
              <a:srgbClr val="ED7D31"/>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154680" y="5376672"/>
            <a:ext cx="2011680" cy="475488"/>
          </a:xfrm>
          <a:prstGeom prst="roundRect">
            <a:avLst>
              <a:gd name="adj" fmla="val 8000"/>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Allocate Parts
to Machines</a:t>
            </a:r>
          </a:p>
        </p:txBody>
      </p:sp>
    </p:spTree>
    <p:extLst>
      <p:ext uri="{BB962C8B-B14F-4D97-AF65-F5344CB8AC3E}">
        <p14:creationId xmlns:p14="http://schemas.microsoft.com/office/powerpoint/2010/main" val="2051226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9728"/>
            <a:ext cx="8686800" cy="594360"/>
          </a:xfrm>
          <a:prstGeom prst="rect">
            <a:avLst/>
          </a:prstGeom>
          <a:noFill/>
        </p:spPr>
        <p:txBody>
          <a:bodyPr wrap="square">
            <a:spAutoFit/>
          </a:bodyPr>
          <a:lstStyle/>
          <a:p>
            <a:pPr algn="l"/>
            <a:r>
              <a:rPr sz="2800" b="1" i="0">
                <a:solidFill>
                  <a:srgbClr val="097AE8"/>
                </a:solidFill>
                <a:latin typeface="Calibri"/>
              </a:rPr>
              <a:t>Constraint 6 — Terminal Availability</a:t>
            </a:r>
          </a:p>
        </p:txBody>
      </p:sp>
      <p:sp>
        <p:nvSpPr>
          <p:cNvPr id="3" name="Rectangle 2"/>
          <p:cNvSpPr/>
          <p:nvPr/>
        </p:nvSpPr>
        <p:spPr>
          <a:xfrm>
            <a:off x="0" y="822960"/>
            <a:ext cx="12179808" cy="36576"/>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28600" y="932688"/>
            <a:ext cx="11704320" cy="640080"/>
          </a:xfrm>
          <a:prstGeom prst="roundRect">
            <a:avLst>
              <a:gd name="adj" fmla="val 8000"/>
            </a:avLst>
          </a:prstGeom>
          <a:solidFill>
            <a:srgbClr val="DBEAFE"/>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i="0">
                <a:solidFill>
                  <a:srgbClr val="1A2E4A"/>
                </a:solidFill>
                <a:latin typeface="Calibri"/>
              </a:rPr>
              <a:t>🔌   Parts are scheduled ONLY when ALL required terminals are available — preventing interruptions, bottlenecks &amp; scheduling conflicts.
       If even ONE terminal is unavailable (downtime/overload/maintenance), the part is held until all are active.</a:t>
            </a:r>
          </a:p>
        </p:txBody>
      </p:sp>
      <p:sp>
        <p:nvSpPr>
          <p:cNvPr id="5" name="Rounded Rectangle 4"/>
          <p:cNvSpPr/>
          <p:nvPr/>
        </p:nvSpPr>
        <p:spPr>
          <a:xfrm>
            <a:off x="228600" y="1719072"/>
            <a:ext cx="2834640" cy="749808"/>
          </a:xfrm>
          <a:prstGeom prst="roundRect">
            <a:avLst>
              <a:gd name="adj" fmla="val 8000"/>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Each part
depends on
specific terminals</a:t>
            </a:r>
          </a:p>
        </p:txBody>
      </p:sp>
      <p:sp>
        <p:nvSpPr>
          <p:cNvPr id="6" name="Rounded Rectangle 5"/>
          <p:cNvSpPr/>
          <p:nvPr/>
        </p:nvSpPr>
        <p:spPr>
          <a:xfrm>
            <a:off x="3136392" y="1719072"/>
            <a:ext cx="2834640" cy="749808"/>
          </a:xfrm>
          <a:prstGeom prst="roundRect">
            <a:avLst>
              <a:gd name="adj" fmla="val 8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System checks
availability before
confirming plan</a:t>
            </a:r>
          </a:p>
        </p:txBody>
      </p:sp>
      <p:sp>
        <p:nvSpPr>
          <p:cNvPr id="7" name="Rounded Rectangle 6"/>
          <p:cNvSpPr/>
          <p:nvPr/>
        </p:nvSpPr>
        <p:spPr>
          <a:xfrm>
            <a:off x="6044184" y="1719072"/>
            <a:ext cx="2834640" cy="749808"/>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ONE missing
terminal = part
is NOT scheduled</a:t>
            </a:r>
          </a:p>
        </p:txBody>
      </p:sp>
      <p:sp>
        <p:nvSpPr>
          <p:cNvPr id="8" name="Rounded Rectangle 7"/>
          <p:cNvSpPr/>
          <p:nvPr/>
        </p:nvSpPr>
        <p:spPr>
          <a:xfrm>
            <a:off x="8951976" y="1719072"/>
            <a:ext cx="2834640" cy="749808"/>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Prevents errors,
bottlenecks &amp;
delays</a:t>
            </a:r>
          </a:p>
        </p:txBody>
      </p:sp>
      <p:sp>
        <p:nvSpPr>
          <p:cNvPr id="9" name="TextBox 8"/>
          <p:cNvSpPr txBox="1"/>
          <p:nvPr/>
        </p:nvSpPr>
        <p:spPr>
          <a:xfrm>
            <a:off x="228600" y="2606040"/>
            <a:ext cx="8229600" cy="320040"/>
          </a:xfrm>
          <a:prstGeom prst="rect">
            <a:avLst/>
          </a:prstGeom>
          <a:noFill/>
        </p:spPr>
        <p:txBody>
          <a:bodyPr wrap="square">
            <a:spAutoFit/>
          </a:bodyPr>
          <a:lstStyle/>
          <a:p>
            <a:pPr algn="l"/>
            <a:r>
              <a:rPr sz="1300" b="1" i="0">
                <a:solidFill>
                  <a:srgbClr val="1A2E4A"/>
                </a:solidFill>
                <a:latin typeface="Calibri"/>
              </a:rPr>
              <a:t>TERMINAL AVAILABILITY CHECK LOGIC</a:t>
            </a:r>
          </a:p>
        </p:txBody>
      </p:sp>
      <p:sp>
        <p:nvSpPr>
          <p:cNvPr id="10" name="Rounded Rectangle 9"/>
          <p:cNvSpPr/>
          <p:nvPr/>
        </p:nvSpPr>
        <p:spPr>
          <a:xfrm>
            <a:off x="4663440" y="2971800"/>
            <a:ext cx="2834640" cy="530352"/>
          </a:xfrm>
          <a:prstGeom prst="roundRect">
            <a:avLst>
              <a:gd name="adj" fmla="val 8000"/>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  Terminals Required
For a Part</a:t>
            </a:r>
          </a:p>
        </p:txBody>
      </p:sp>
      <p:cxnSp>
        <p:nvCxnSpPr>
          <p:cNvPr id="11" name="Connector 10"/>
          <p:cNvCxnSpPr/>
          <p:nvPr/>
        </p:nvCxnSpPr>
        <p:spPr>
          <a:xfrm>
            <a:off x="6080760" y="3502152"/>
            <a:ext cx="0" cy="246887"/>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4663440" y="3749039"/>
            <a:ext cx="2834640" cy="822960"/>
          </a:xfrm>
          <a:prstGeom prst="diamond">
            <a:avLst/>
          </a:prstGeom>
          <a:solidFill>
            <a:srgbClr val="0062B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All Terminals
Available?</a:t>
            </a:r>
          </a:p>
        </p:txBody>
      </p:sp>
      <p:cxnSp>
        <p:nvCxnSpPr>
          <p:cNvPr id="13" name="Connector 12"/>
          <p:cNvCxnSpPr/>
          <p:nvPr/>
        </p:nvCxnSpPr>
        <p:spPr>
          <a:xfrm>
            <a:off x="7498079" y="4160520"/>
            <a:ext cx="1828801" cy="0"/>
          </a:xfrm>
          <a:prstGeom prst="line">
            <a:avLst/>
          </a:prstGeom>
          <a:ln w="19050">
            <a:solidFill>
              <a:srgbClr val="1A7A4A"/>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326880" y="3858768"/>
            <a:ext cx="2468880" cy="621792"/>
          </a:xfrm>
          <a:prstGeom prst="roundRect">
            <a:avLst>
              <a:gd name="adj" fmla="val 8000"/>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Plan This Part
(Schedule Confirmed)</a:t>
            </a:r>
          </a:p>
        </p:txBody>
      </p:sp>
      <p:sp>
        <p:nvSpPr>
          <p:cNvPr id="15" name="TextBox 14"/>
          <p:cNvSpPr txBox="1"/>
          <p:nvPr/>
        </p:nvSpPr>
        <p:spPr>
          <a:xfrm>
            <a:off x="7589520" y="3977639"/>
            <a:ext cx="1097280" cy="256032"/>
          </a:xfrm>
          <a:prstGeom prst="rect">
            <a:avLst/>
          </a:prstGeom>
          <a:noFill/>
        </p:spPr>
        <p:txBody>
          <a:bodyPr wrap="square">
            <a:spAutoFit/>
          </a:bodyPr>
          <a:lstStyle/>
          <a:p>
            <a:pPr algn="l"/>
            <a:r>
              <a:rPr sz="1200" b="1" i="0">
                <a:solidFill>
                  <a:srgbClr val="1A7A4A"/>
                </a:solidFill>
                <a:latin typeface="Calibri"/>
              </a:rPr>
              <a:t>YES →</a:t>
            </a:r>
          </a:p>
        </p:txBody>
      </p:sp>
      <p:cxnSp>
        <p:nvCxnSpPr>
          <p:cNvPr id="16" name="Connector 15"/>
          <p:cNvCxnSpPr/>
          <p:nvPr/>
        </p:nvCxnSpPr>
        <p:spPr>
          <a:xfrm>
            <a:off x="6080760" y="4572000"/>
            <a:ext cx="0" cy="256032"/>
          </a:xfrm>
          <a:prstGeom prst="line">
            <a:avLst/>
          </a:prstGeom>
          <a:ln w="19050">
            <a:solidFill>
              <a:srgbClr val="B91C1C"/>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663440" y="4828032"/>
            <a:ext cx="2834640" cy="566928"/>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  Skip to Other Parts
(Re-check Later)</a:t>
            </a:r>
          </a:p>
        </p:txBody>
      </p:sp>
      <p:sp>
        <p:nvSpPr>
          <p:cNvPr id="18" name="TextBox 17"/>
          <p:cNvSpPr txBox="1"/>
          <p:nvPr/>
        </p:nvSpPr>
        <p:spPr>
          <a:xfrm>
            <a:off x="6199632" y="4617720"/>
            <a:ext cx="731520" cy="256032"/>
          </a:xfrm>
          <a:prstGeom prst="rect">
            <a:avLst/>
          </a:prstGeom>
          <a:noFill/>
        </p:spPr>
        <p:txBody>
          <a:bodyPr wrap="square">
            <a:spAutoFit/>
          </a:bodyPr>
          <a:lstStyle/>
          <a:p>
            <a:pPr algn="l"/>
            <a:r>
              <a:rPr sz="1200" b="1" i="0">
                <a:solidFill>
                  <a:srgbClr val="B91C1C"/>
                </a:solidFill>
                <a:latin typeface="Calibri"/>
              </a:rPr>
              <a:t>NO ↓</a:t>
            </a:r>
          </a:p>
        </p:txBody>
      </p:sp>
      <p:sp>
        <p:nvSpPr>
          <p:cNvPr id="19" name="TextBox 18"/>
          <p:cNvSpPr txBox="1"/>
          <p:nvPr/>
        </p:nvSpPr>
        <p:spPr>
          <a:xfrm>
            <a:off x="4663440" y="5440680"/>
            <a:ext cx="4572000" cy="274320"/>
          </a:xfrm>
          <a:prstGeom prst="rect">
            <a:avLst/>
          </a:prstGeom>
          <a:noFill/>
        </p:spPr>
        <p:txBody>
          <a:bodyPr wrap="square">
            <a:spAutoFit/>
          </a:bodyPr>
          <a:lstStyle/>
          <a:p>
            <a:pPr algn="l"/>
            <a:r>
              <a:rPr sz="1100" b="0" i="1">
                <a:solidFill>
                  <a:srgbClr val="64748B"/>
                </a:solidFill>
                <a:latin typeface="Calibri"/>
              </a:rPr>
              <a:t>↺  Hold until all terminals are active</a:t>
            </a:r>
          </a:p>
        </p:txBody>
      </p:sp>
    </p:spTree>
    <p:extLst>
      <p:ext uri="{BB962C8B-B14F-4D97-AF65-F5344CB8AC3E}">
        <p14:creationId xmlns:p14="http://schemas.microsoft.com/office/powerpoint/2010/main" val="1315865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4561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98663"/>
            <a:ext cx="12148852" cy="255765"/>
          </a:xfrm>
          <a:prstGeom prst="rect">
            <a:avLst/>
          </a:prstGeom>
          <a:solidFill>
            <a:srgbClr val="1A2E4A"/>
          </a:solidFill>
          <a:ln w="12700">
            <a:solidFill>
              <a:srgbClr val="1A2E4A"/>
            </a:solidFill>
            <a:prstDash val="solid"/>
          </a:ln>
        </p:spPr>
      </p:sp>
      <p:sp>
        <p:nvSpPr>
          <p:cNvPr id="3" name="Text 1"/>
          <p:cNvSpPr/>
          <p:nvPr/>
        </p:nvSpPr>
        <p:spPr>
          <a:xfrm>
            <a:off x="274034" y="6616932"/>
            <a:ext cx="11600783" cy="200958"/>
          </a:xfrm>
          <a:prstGeom prst="rect">
            <a:avLst/>
          </a:prstGeom>
          <a:noFill/>
          <a:ln/>
        </p:spPr>
        <p:txBody>
          <a:bodyPr wrap="square" lIns="0" tIns="0" rIns="0" bIns="0" rtlCol="0" anchor="ctr"/>
          <a:lstStyle/>
          <a:p>
            <a:pPr algn="ctr"/>
            <a:r>
              <a:rPr lang="en-US" sz="799" dirty="0">
                <a:solidFill>
                  <a:srgbClr val="F0F4F8"/>
                </a:solidFill>
              </a:rPr>
              <a:t>Smart APS V9  |  Uno Minda Rika Private Limited  |  Injection Moulding Division</a:t>
            </a:r>
            <a:endParaRPr lang="en-US" sz="799" dirty="0"/>
          </a:p>
        </p:txBody>
      </p:sp>
      <p:sp>
        <p:nvSpPr>
          <p:cNvPr id="4" name="Shape 2"/>
          <p:cNvSpPr/>
          <p:nvPr/>
        </p:nvSpPr>
        <p:spPr>
          <a:xfrm>
            <a:off x="0" y="3572"/>
            <a:ext cx="12148852" cy="1233154"/>
          </a:xfrm>
          <a:prstGeom prst="rect">
            <a:avLst/>
          </a:prstGeom>
          <a:solidFill>
            <a:srgbClr val="1A2E4A"/>
          </a:solidFill>
          <a:ln w="12700">
            <a:solidFill>
              <a:srgbClr val="1A2E4A"/>
            </a:solidFill>
            <a:prstDash val="solid"/>
          </a:ln>
        </p:spPr>
      </p:sp>
      <p:sp>
        <p:nvSpPr>
          <p:cNvPr id="5" name="Text 3"/>
          <p:cNvSpPr/>
          <p:nvPr/>
        </p:nvSpPr>
        <p:spPr>
          <a:xfrm>
            <a:off x="365379" y="94917"/>
            <a:ext cx="11418094" cy="502396"/>
          </a:xfrm>
          <a:prstGeom prst="rect">
            <a:avLst/>
          </a:prstGeom>
          <a:noFill/>
          <a:ln/>
        </p:spPr>
        <p:txBody>
          <a:bodyPr wrap="square" lIns="0" tIns="0" rIns="0" bIns="0" rtlCol="0" anchor="ctr"/>
          <a:lstStyle/>
          <a:p>
            <a:r>
              <a:rPr lang="en-US" sz="2198" b="1" kern="0" spc="200" dirty="0">
                <a:solidFill>
                  <a:srgbClr val="FFFFFF"/>
                </a:solidFill>
              </a:rPr>
              <a:t>WHAT THIS PRESENTATION COVERS</a:t>
            </a:r>
            <a:endParaRPr lang="en-US" sz="2198" dirty="0"/>
          </a:p>
        </p:txBody>
      </p:sp>
      <p:sp>
        <p:nvSpPr>
          <p:cNvPr id="6" name="Text 4"/>
          <p:cNvSpPr/>
          <p:nvPr/>
        </p:nvSpPr>
        <p:spPr>
          <a:xfrm>
            <a:off x="365379" y="597313"/>
            <a:ext cx="11418094" cy="502396"/>
          </a:xfrm>
          <a:prstGeom prst="rect">
            <a:avLst/>
          </a:prstGeom>
          <a:noFill/>
          <a:ln/>
        </p:spPr>
        <p:txBody>
          <a:bodyPr wrap="square" lIns="0" tIns="0" rIns="0" bIns="0" rtlCol="0" anchor="ctr"/>
          <a:lstStyle/>
          <a:p>
            <a:r>
              <a:rPr lang="en-US" sz="1199" i="1" dirty="0">
                <a:solidFill>
                  <a:srgbClr val="A0C4D8"/>
                </a:solidFill>
              </a:rPr>
              <a:t>10 constraints — each explained with the problem it solves, the mechanism, and the flowchart</a:t>
            </a:r>
            <a:endParaRPr lang="en-US" sz="1199" dirty="0"/>
          </a:p>
        </p:txBody>
      </p:sp>
      <p:sp>
        <p:nvSpPr>
          <p:cNvPr id="7" name="Shape 5"/>
          <p:cNvSpPr/>
          <p:nvPr/>
        </p:nvSpPr>
        <p:spPr>
          <a:xfrm>
            <a:off x="319707" y="1465088"/>
            <a:ext cx="639413" cy="566337"/>
          </a:xfrm>
          <a:prstGeom prst="rect">
            <a:avLst/>
          </a:prstGeom>
          <a:solidFill>
            <a:srgbClr val="0D7377"/>
          </a:solidFill>
          <a:ln w="12700">
            <a:solidFill>
              <a:srgbClr val="0D7377"/>
            </a:solidFill>
            <a:prstDash val="solid"/>
          </a:ln>
        </p:spPr>
      </p:sp>
      <p:sp>
        <p:nvSpPr>
          <p:cNvPr id="8" name="Text 6"/>
          <p:cNvSpPr/>
          <p:nvPr/>
        </p:nvSpPr>
        <p:spPr>
          <a:xfrm>
            <a:off x="319707" y="1465088"/>
            <a:ext cx="639413" cy="566337"/>
          </a:xfrm>
          <a:prstGeom prst="rect">
            <a:avLst/>
          </a:prstGeom>
          <a:noFill/>
          <a:ln/>
        </p:spPr>
        <p:txBody>
          <a:bodyPr wrap="square" lIns="0" tIns="0" rIns="0" bIns="0" rtlCol="0" anchor="ctr"/>
          <a:lstStyle/>
          <a:p>
            <a:pPr algn="ctr"/>
            <a:r>
              <a:rPr lang="en-US" sz="1099" b="1" dirty="0">
                <a:solidFill>
                  <a:srgbClr val="FFFFFF"/>
                </a:solidFill>
              </a:rPr>
              <a:t>C1</a:t>
            </a:r>
            <a:endParaRPr lang="en-US" sz="1099" dirty="0"/>
          </a:p>
        </p:txBody>
      </p:sp>
      <p:sp>
        <p:nvSpPr>
          <p:cNvPr id="9" name="Shape 7"/>
          <p:cNvSpPr/>
          <p:nvPr/>
        </p:nvSpPr>
        <p:spPr>
          <a:xfrm>
            <a:off x="959120" y="1465088"/>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0" name="Text 8"/>
          <p:cNvSpPr/>
          <p:nvPr/>
        </p:nvSpPr>
        <p:spPr>
          <a:xfrm>
            <a:off x="1068734" y="1501626"/>
            <a:ext cx="5023961" cy="255765"/>
          </a:xfrm>
          <a:prstGeom prst="rect">
            <a:avLst/>
          </a:prstGeom>
          <a:noFill/>
          <a:ln/>
        </p:spPr>
        <p:txBody>
          <a:bodyPr wrap="square" lIns="0" tIns="0" rIns="0" bIns="0" rtlCol="0" anchor="ctr"/>
          <a:lstStyle/>
          <a:p>
            <a:r>
              <a:rPr lang="en-US" sz="1099" b="1" dirty="0">
                <a:solidFill>
                  <a:srgbClr val="1A2E4A"/>
                </a:solidFill>
              </a:rPr>
              <a:t>Inventory Health</a:t>
            </a:r>
            <a:endParaRPr lang="en-US" sz="1099" dirty="0"/>
          </a:p>
        </p:txBody>
      </p:sp>
      <p:sp>
        <p:nvSpPr>
          <p:cNvPr id="11" name="Text 9"/>
          <p:cNvSpPr/>
          <p:nvPr/>
        </p:nvSpPr>
        <p:spPr>
          <a:xfrm>
            <a:off x="1068734" y="1766525"/>
            <a:ext cx="5023961" cy="228362"/>
          </a:xfrm>
          <a:prstGeom prst="rect">
            <a:avLst/>
          </a:prstGeom>
          <a:noFill/>
          <a:ln/>
        </p:spPr>
        <p:txBody>
          <a:bodyPr wrap="square" lIns="0" tIns="0" rIns="0" bIns="0" rtlCol="0" anchor="ctr"/>
          <a:lstStyle/>
          <a:p>
            <a:r>
              <a:rPr lang="en-US" sz="849" dirty="0">
                <a:solidFill>
                  <a:srgbClr val="64748B"/>
                </a:solidFill>
              </a:rPr>
              <a:t>5-Day target with safety floor &amp; ceiling</a:t>
            </a:r>
            <a:endParaRPr lang="en-US" sz="849" dirty="0"/>
          </a:p>
        </p:txBody>
      </p:sp>
      <p:sp>
        <p:nvSpPr>
          <p:cNvPr id="12" name="Shape 10"/>
          <p:cNvSpPr/>
          <p:nvPr/>
        </p:nvSpPr>
        <p:spPr>
          <a:xfrm>
            <a:off x="319707" y="2488149"/>
            <a:ext cx="639413" cy="566337"/>
          </a:xfrm>
          <a:prstGeom prst="rect">
            <a:avLst/>
          </a:prstGeom>
          <a:solidFill>
            <a:srgbClr val="14A3A8"/>
          </a:solidFill>
          <a:ln w="12700">
            <a:solidFill>
              <a:srgbClr val="14A3A8"/>
            </a:solidFill>
            <a:prstDash val="solid"/>
          </a:ln>
        </p:spPr>
      </p:sp>
      <p:sp>
        <p:nvSpPr>
          <p:cNvPr id="13" name="Text 11"/>
          <p:cNvSpPr/>
          <p:nvPr/>
        </p:nvSpPr>
        <p:spPr>
          <a:xfrm>
            <a:off x="319707" y="2488149"/>
            <a:ext cx="639413" cy="566337"/>
          </a:xfrm>
          <a:prstGeom prst="rect">
            <a:avLst/>
          </a:prstGeom>
          <a:noFill/>
          <a:ln/>
        </p:spPr>
        <p:txBody>
          <a:bodyPr wrap="square" lIns="0" tIns="0" rIns="0" bIns="0" rtlCol="0" anchor="ctr"/>
          <a:lstStyle/>
          <a:p>
            <a:pPr algn="ctr"/>
            <a:r>
              <a:rPr lang="en-US" sz="1099" b="1" dirty="0">
                <a:solidFill>
                  <a:srgbClr val="FFFFFF"/>
                </a:solidFill>
              </a:rPr>
              <a:t>C2</a:t>
            </a:r>
            <a:endParaRPr lang="en-US" sz="1099" dirty="0"/>
          </a:p>
        </p:txBody>
      </p:sp>
      <p:sp>
        <p:nvSpPr>
          <p:cNvPr id="14" name="Shape 12"/>
          <p:cNvSpPr/>
          <p:nvPr/>
        </p:nvSpPr>
        <p:spPr>
          <a:xfrm>
            <a:off x="959120" y="2488149"/>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5" name="Text 13"/>
          <p:cNvSpPr/>
          <p:nvPr/>
        </p:nvSpPr>
        <p:spPr>
          <a:xfrm>
            <a:off x="1068734" y="2524687"/>
            <a:ext cx="5023961" cy="255765"/>
          </a:xfrm>
          <a:prstGeom prst="rect">
            <a:avLst/>
          </a:prstGeom>
          <a:noFill/>
          <a:ln/>
        </p:spPr>
        <p:txBody>
          <a:bodyPr wrap="square" lIns="0" tIns="0" rIns="0" bIns="0" rtlCol="0" anchor="ctr"/>
          <a:lstStyle/>
          <a:p>
            <a:r>
              <a:rPr lang="en-US" sz="1099" b="1" dirty="0">
                <a:solidFill>
                  <a:srgbClr val="1A2E4A"/>
                </a:solidFill>
              </a:rPr>
              <a:t>Priority Scoring</a:t>
            </a:r>
            <a:endParaRPr lang="en-US" sz="1099" dirty="0"/>
          </a:p>
        </p:txBody>
      </p:sp>
      <p:sp>
        <p:nvSpPr>
          <p:cNvPr id="16" name="Text 14"/>
          <p:cNvSpPr/>
          <p:nvPr/>
        </p:nvSpPr>
        <p:spPr>
          <a:xfrm>
            <a:off x="1068734" y="2789587"/>
            <a:ext cx="5023961" cy="228362"/>
          </a:xfrm>
          <a:prstGeom prst="rect">
            <a:avLst/>
          </a:prstGeom>
          <a:noFill/>
          <a:ln/>
        </p:spPr>
        <p:txBody>
          <a:bodyPr wrap="square" lIns="0" tIns="0" rIns="0" bIns="0" rtlCol="0" anchor="ctr"/>
          <a:lstStyle/>
          <a:p>
            <a:r>
              <a:rPr lang="en-US" sz="849" dirty="0">
                <a:solidFill>
                  <a:srgbClr val="64748B"/>
                </a:solidFill>
              </a:rPr>
              <a:t>Urgency-first assignment, displacement pass</a:t>
            </a:r>
            <a:endParaRPr lang="en-US" sz="849" dirty="0"/>
          </a:p>
        </p:txBody>
      </p:sp>
      <p:sp>
        <p:nvSpPr>
          <p:cNvPr id="17" name="Shape 15"/>
          <p:cNvSpPr/>
          <p:nvPr/>
        </p:nvSpPr>
        <p:spPr>
          <a:xfrm>
            <a:off x="319707" y="3511211"/>
            <a:ext cx="639413" cy="566337"/>
          </a:xfrm>
          <a:prstGeom prst="rect">
            <a:avLst/>
          </a:prstGeom>
          <a:solidFill>
            <a:srgbClr val="1D6FA4"/>
          </a:solidFill>
          <a:ln w="12700">
            <a:solidFill>
              <a:srgbClr val="1D6FA4"/>
            </a:solidFill>
            <a:prstDash val="solid"/>
          </a:ln>
        </p:spPr>
      </p:sp>
      <p:sp>
        <p:nvSpPr>
          <p:cNvPr id="18" name="Text 16"/>
          <p:cNvSpPr/>
          <p:nvPr/>
        </p:nvSpPr>
        <p:spPr>
          <a:xfrm>
            <a:off x="319707" y="3511211"/>
            <a:ext cx="639413" cy="566337"/>
          </a:xfrm>
          <a:prstGeom prst="rect">
            <a:avLst/>
          </a:prstGeom>
          <a:noFill/>
          <a:ln/>
        </p:spPr>
        <p:txBody>
          <a:bodyPr wrap="square" lIns="0" tIns="0" rIns="0" bIns="0" rtlCol="0" anchor="ctr"/>
          <a:lstStyle/>
          <a:p>
            <a:pPr algn="ctr"/>
            <a:r>
              <a:rPr lang="en-US" sz="1099" b="1" dirty="0">
                <a:solidFill>
                  <a:srgbClr val="FFFFFF"/>
                </a:solidFill>
              </a:rPr>
              <a:t>C3</a:t>
            </a:r>
            <a:endParaRPr lang="en-US" sz="1099" dirty="0"/>
          </a:p>
        </p:txBody>
      </p:sp>
      <p:sp>
        <p:nvSpPr>
          <p:cNvPr id="19" name="Shape 17"/>
          <p:cNvSpPr/>
          <p:nvPr/>
        </p:nvSpPr>
        <p:spPr>
          <a:xfrm>
            <a:off x="959120" y="3511211"/>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20" name="Text 18"/>
          <p:cNvSpPr/>
          <p:nvPr/>
        </p:nvSpPr>
        <p:spPr>
          <a:xfrm>
            <a:off x="1068734" y="3547748"/>
            <a:ext cx="5023961" cy="255765"/>
          </a:xfrm>
          <a:prstGeom prst="rect">
            <a:avLst/>
          </a:prstGeom>
          <a:noFill/>
          <a:ln/>
        </p:spPr>
        <p:txBody>
          <a:bodyPr wrap="square" lIns="0" tIns="0" rIns="0" bIns="0" rtlCol="0" anchor="ctr"/>
          <a:lstStyle/>
          <a:p>
            <a:r>
              <a:rPr lang="en-US" sz="1099" b="1" dirty="0">
                <a:solidFill>
                  <a:srgbClr val="1A2E4A"/>
                </a:solidFill>
              </a:rPr>
              <a:t>22-Hour Rule</a:t>
            </a:r>
            <a:endParaRPr lang="en-US" sz="1099" dirty="0"/>
          </a:p>
        </p:txBody>
      </p:sp>
      <p:sp>
        <p:nvSpPr>
          <p:cNvPr id="21" name="Text 19"/>
          <p:cNvSpPr/>
          <p:nvPr/>
        </p:nvSpPr>
        <p:spPr>
          <a:xfrm>
            <a:off x="1068734" y="3812648"/>
            <a:ext cx="5023961" cy="228362"/>
          </a:xfrm>
          <a:prstGeom prst="rect">
            <a:avLst/>
          </a:prstGeom>
          <a:noFill/>
          <a:ln/>
        </p:spPr>
        <p:txBody>
          <a:bodyPr wrap="square" lIns="0" tIns="0" rIns="0" bIns="0" rtlCol="0" anchor="ctr"/>
          <a:lstStyle/>
          <a:p>
            <a:r>
              <a:rPr lang="en-US" sz="849" dirty="0">
                <a:solidFill>
                  <a:srgbClr val="64748B"/>
                </a:solidFill>
              </a:rPr>
              <a:t>Two-shift planning with hard ceiling</a:t>
            </a:r>
            <a:endParaRPr lang="en-US" sz="849" dirty="0"/>
          </a:p>
        </p:txBody>
      </p:sp>
      <p:sp>
        <p:nvSpPr>
          <p:cNvPr id="22" name="Shape 20"/>
          <p:cNvSpPr/>
          <p:nvPr/>
        </p:nvSpPr>
        <p:spPr>
          <a:xfrm>
            <a:off x="319707" y="4534272"/>
            <a:ext cx="639413" cy="566337"/>
          </a:xfrm>
          <a:prstGeom prst="rect">
            <a:avLst/>
          </a:prstGeom>
          <a:solidFill>
            <a:srgbClr val="7C3AED"/>
          </a:solidFill>
          <a:ln w="12700">
            <a:solidFill>
              <a:srgbClr val="7C3AED"/>
            </a:solidFill>
            <a:prstDash val="solid"/>
          </a:ln>
        </p:spPr>
      </p:sp>
      <p:sp>
        <p:nvSpPr>
          <p:cNvPr id="23" name="Text 21"/>
          <p:cNvSpPr/>
          <p:nvPr/>
        </p:nvSpPr>
        <p:spPr>
          <a:xfrm>
            <a:off x="319707" y="4534272"/>
            <a:ext cx="639413" cy="566337"/>
          </a:xfrm>
          <a:prstGeom prst="rect">
            <a:avLst/>
          </a:prstGeom>
          <a:noFill/>
          <a:ln/>
        </p:spPr>
        <p:txBody>
          <a:bodyPr wrap="square" lIns="0" tIns="0" rIns="0" bIns="0" rtlCol="0" anchor="ctr"/>
          <a:lstStyle/>
          <a:p>
            <a:pPr algn="ctr"/>
            <a:r>
              <a:rPr lang="en-US" sz="1099" b="1" dirty="0">
                <a:solidFill>
                  <a:srgbClr val="FFFFFF"/>
                </a:solidFill>
              </a:rPr>
              <a:t>C4</a:t>
            </a:r>
            <a:endParaRPr lang="en-US" sz="1099" dirty="0"/>
          </a:p>
        </p:txBody>
      </p:sp>
      <p:sp>
        <p:nvSpPr>
          <p:cNvPr id="24" name="Shape 22"/>
          <p:cNvSpPr/>
          <p:nvPr/>
        </p:nvSpPr>
        <p:spPr>
          <a:xfrm>
            <a:off x="959120" y="4534272"/>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25" name="Text 23"/>
          <p:cNvSpPr/>
          <p:nvPr/>
        </p:nvSpPr>
        <p:spPr>
          <a:xfrm>
            <a:off x="1068734" y="4570810"/>
            <a:ext cx="5023961" cy="255765"/>
          </a:xfrm>
          <a:prstGeom prst="rect">
            <a:avLst/>
          </a:prstGeom>
          <a:noFill/>
          <a:ln/>
        </p:spPr>
        <p:txBody>
          <a:bodyPr wrap="square" lIns="0" tIns="0" rIns="0" bIns="0" rtlCol="0" anchor="ctr"/>
          <a:lstStyle/>
          <a:p>
            <a:r>
              <a:rPr lang="en-US" sz="1099" b="1" dirty="0">
                <a:solidFill>
                  <a:srgbClr val="1A2E4A"/>
                </a:solidFill>
              </a:rPr>
              <a:t>Specialised Machines</a:t>
            </a:r>
            <a:endParaRPr lang="en-US" sz="1099" dirty="0"/>
          </a:p>
        </p:txBody>
      </p:sp>
      <p:sp>
        <p:nvSpPr>
          <p:cNvPr id="26" name="Text 24"/>
          <p:cNvSpPr/>
          <p:nvPr/>
        </p:nvSpPr>
        <p:spPr>
          <a:xfrm>
            <a:off x="1068734" y="4835709"/>
            <a:ext cx="5023961" cy="228362"/>
          </a:xfrm>
          <a:prstGeom prst="rect">
            <a:avLst/>
          </a:prstGeom>
          <a:noFill/>
          <a:ln/>
        </p:spPr>
        <p:txBody>
          <a:bodyPr wrap="square" lIns="0" tIns="0" rIns="0" bIns="0" rtlCol="0" anchor="ctr"/>
          <a:lstStyle/>
          <a:p>
            <a:r>
              <a:rPr lang="en-US" sz="849" dirty="0">
                <a:solidFill>
                  <a:srgbClr val="64748B"/>
                </a:solidFill>
              </a:rPr>
              <a:t>Part-count based machine ranking</a:t>
            </a:r>
            <a:endParaRPr lang="en-US" sz="849" dirty="0"/>
          </a:p>
        </p:txBody>
      </p:sp>
      <p:sp>
        <p:nvSpPr>
          <p:cNvPr id="27" name="Shape 25"/>
          <p:cNvSpPr/>
          <p:nvPr/>
        </p:nvSpPr>
        <p:spPr>
          <a:xfrm>
            <a:off x="319707" y="5557333"/>
            <a:ext cx="639413" cy="566337"/>
          </a:xfrm>
          <a:prstGeom prst="rect">
            <a:avLst/>
          </a:prstGeom>
          <a:solidFill>
            <a:srgbClr val="0F766E"/>
          </a:solidFill>
          <a:ln w="12700">
            <a:solidFill>
              <a:srgbClr val="0F766E"/>
            </a:solidFill>
            <a:prstDash val="solid"/>
          </a:ln>
        </p:spPr>
      </p:sp>
      <p:sp>
        <p:nvSpPr>
          <p:cNvPr id="28" name="Text 26"/>
          <p:cNvSpPr/>
          <p:nvPr/>
        </p:nvSpPr>
        <p:spPr>
          <a:xfrm>
            <a:off x="319707" y="5557333"/>
            <a:ext cx="639413" cy="566337"/>
          </a:xfrm>
          <a:prstGeom prst="rect">
            <a:avLst/>
          </a:prstGeom>
          <a:noFill/>
          <a:ln/>
        </p:spPr>
        <p:txBody>
          <a:bodyPr wrap="square" lIns="0" tIns="0" rIns="0" bIns="0" rtlCol="0" anchor="ctr"/>
          <a:lstStyle/>
          <a:p>
            <a:pPr algn="ctr"/>
            <a:r>
              <a:rPr lang="en-US" sz="1099" b="1" dirty="0">
                <a:solidFill>
                  <a:srgbClr val="FFFFFF"/>
                </a:solidFill>
              </a:rPr>
              <a:t>C5</a:t>
            </a:r>
            <a:endParaRPr lang="en-US" sz="1099" dirty="0"/>
          </a:p>
        </p:txBody>
      </p:sp>
      <p:sp>
        <p:nvSpPr>
          <p:cNvPr id="29" name="Shape 27"/>
          <p:cNvSpPr/>
          <p:nvPr/>
        </p:nvSpPr>
        <p:spPr>
          <a:xfrm>
            <a:off x="959120" y="5557333"/>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30" name="Text 28"/>
          <p:cNvSpPr/>
          <p:nvPr/>
        </p:nvSpPr>
        <p:spPr>
          <a:xfrm>
            <a:off x="1068734" y="5593871"/>
            <a:ext cx="5023961" cy="255765"/>
          </a:xfrm>
          <a:prstGeom prst="rect">
            <a:avLst/>
          </a:prstGeom>
          <a:noFill/>
          <a:ln/>
        </p:spPr>
        <p:txBody>
          <a:bodyPr wrap="square" lIns="0" tIns="0" rIns="0" bIns="0" rtlCol="0" anchor="ctr"/>
          <a:lstStyle/>
          <a:p>
            <a:r>
              <a:rPr lang="en-US" sz="1099" b="1" dirty="0">
                <a:solidFill>
                  <a:srgbClr val="1A2E4A"/>
                </a:solidFill>
              </a:rPr>
              <a:t>Same-Part Continuation</a:t>
            </a:r>
            <a:endParaRPr lang="en-US" sz="1099" dirty="0"/>
          </a:p>
        </p:txBody>
      </p:sp>
      <p:sp>
        <p:nvSpPr>
          <p:cNvPr id="31" name="Text 29"/>
          <p:cNvSpPr/>
          <p:nvPr/>
        </p:nvSpPr>
        <p:spPr>
          <a:xfrm>
            <a:off x="1068734" y="5858770"/>
            <a:ext cx="5023961" cy="228362"/>
          </a:xfrm>
          <a:prstGeom prst="rect">
            <a:avLst/>
          </a:prstGeom>
          <a:noFill/>
          <a:ln/>
        </p:spPr>
        <p:txBody>
          <a:bodyPr wrap="square" lIns="0" tIns="0" rIns="0" bIns="0" rtlCol="0" anchor="ctr"/>
          <a:lstStyle/>
          <a:p>
            <a:r>
              <a:rPr lang="en-US" sz="849" dirty="0">
                <a:solidFill>
                  <a:srgbClr val="64748B"/>
                </a:solidFill>
              </a:rPr>
              <a:t>Changeover minimisation &amp; queue stagger</a:t>
            </a:r>
            <a:endParaRPr lang="en-US" sz="849" dirty="0"/>
          </a:p>
        </p:txBody>
      </p:sp>
      <p:sp>
        <p:nvSpPr>
          <p:cNvPr id="32" name="Shape 30"/>
          <p:cNvSpPr/>
          <p:nvPr/>
        </p:nvSpPr>
        <p:spPr>
          <a:xfrm>
            <a:off x="6257116" y="1465088"/>
            <a:ext cx="639413" cy="566337"/>
          </a:xfrm>
          <a:prstGeom prst="rect">
            <a:avLst/>
          </a:prstGeom>
          <a:solidFill>
            <a:srgbClr val="B45309"/>
          </a:solidFill>
          <a:ln w="12700">
            <a:solidFill>
              <a:srgbClr val="B45309"/>
            </a:solidFill>
            <a:prstDash val="solid"/>
          </a:ln>
        </p:spPr>
      </p:sp>
      <p:sp>
        <p:nvSpPr>
          <p:cNvPr id="33" name="Text 31"/>
          <p:cNvSpPr/>
          <p:nvPr/>
        </p:nvSpPr>
        <p:spPr>
          <a:xfrm>
            <a:off x="6257116" y="1465088"/>
            <a:ext cx="639413" cy="566337"/>
          </a:xfrm>
          <a:prstGeom prst="rect">
            <a:avLst/>
          </a:prstGeom>
          <a:noFill/>
          <a:ln/>
        </p:spPr>
        <p:txBody>
          <a:bodyPr wrap="square" lIns="0" tIns="0" rIns="0" bIns="0" rtlCol="0" anchor="ctr"/>
          <a:lstStyle/>
          <a:p>
            <a:pPr algn="ctr"/>
            <a:r>
              <a:rPr lang="en-US" sz="1099" b="1" dirty="0">
                <a:solidFill>
                  <a:srgbClr val="FFFFFF"/>
                </a:solidFill>
              </a:rPr>
              <a:t>C6</a:t>
            </a:r>
            <a:endParaRPr lang="en-US" sz="1099" dirty="0"/>
          </a:p>
        </p:txBody>
      </p:sp>
      <p:sp>
        <p:nvSpPr>
          <p:cNvPr id="34" name="Shape 32"/>
          <p:cNvSpPr/>
          <p:nvPr/>
        </p:nvSpPr>
        <p:spPr>
          <a:xfrm>
            <a:off x="6896529" y="1465088"/>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35" name="Text 33"/>
          <p:cNvSpPr/>
          <p:nvPr/>
        </p:nvSpPr>
        <p:spPr>
          <a:xfrm>
            <a:off x="7006142" y="1501626"/>
            <a:ext cx="5023961" cy="255765"/>
          </a:xfrm>
          <a:prstGeom prst="rect">
            <a:avLst/>
          </a:prstGeom>
          <a:noFill/>
          <a:ln/>
        </p:spPr>
        <p:txBody>
          <a:bodyPr wrap="square" lIns="0" tIns="0" rIns="0" bIns="0" rtlCol="0" anchor="ctr"/>
          <a:lstStyle/>
          <a:p>
            <a:r>
              <a:rPr lang="en-US" sz="1099" b="1" dirty="0">
                <a:solidFill>
                  <a:srgbClr val="1A2E4A"/>
                </a:solidFill>
              </a:rPr>
              <a:t>Minimum Tools</a:t>
            </a:r>
            <a:endParaRPr lang="en-US" sz="1099" dirty="0"/>
          </a:p>
        </p:txBody>
      </p:sp>
      <p:sp>
        <p:nvSpPr>
          <p:cNvPr id="36" name="Text 34"/>
          <p:cNvSpPr/>
          <p:nvPr/>
        </p:nvSpPr>
        <p:spPr>
          <a:xfrm>
            <a:off x="7006142" y="1766525"/>
            <a:ext cx="5023961" cy="228362"/>
          </a:xfrm>
          <a:prstGeom prst="rect">
            <a:avLst/>
          </a:prstGeom>
          <a:noFill/>
          <a:ln/>
        </p:spPr>
        <p:txBody>
          <a:bodyPr wrap="square" lIns="0" tIns="0" rIns="0" bIns="0" rtlCol="0" anchor="ctr"/>
          <a:lstStyle/>
          <a:p>
            <a:r>
              <a:rPr lang="en-US" sz="849" dirty="0">
                <a:solidFill>
                  <a:srgbClr val="64748B"/>
                </a:solidFill>
              </a:rPr>
              <a:t>1→2→3 tool escalation logic</a:t>
            </a:r>
            <a:endParaRPr lang="en-US" sz="849" dirty="0"/>
          </a:p>
        </p:txBody>
      </p:sp>
      <p:sp>
        <p:nvSpPr>
          <p:cNvPr id="37" name="Shape 35"/>
          <p:cNvSpPr/>
          <p:nvPr/>
        </p:nvSpPr>
        <p:spPr>
          <a:xfrm>
            <a:off x="6257116" y="2488149"/>
            <a:ext cx="639413" cy="566337"/>
          </a:xfrm>
          <a:prstGeom prst="rect">
            <a:avLst/>
          </a:prstGeom>
          <a:solidFill>
            <a:srgbClr val="B91C1C"/>
          </a:solidFill>
          <a:ln w="12700">
            <a:solidFill>
              <a:srgbClr val="B91C1C"/>
            </a:solidFill>
            <a:prstDash val="solid"/>
          </a:ln>
        </p:spPr>
      </p:sp>
      <p:sp>
        <p:nvSpPr>
          <p:cNvPr id="38" name="Text 36"/>
          <p:cNvSpPr/>
          <p:nvPr/>
        </p:nvSpPr>
        <p:spPr>
          <a:xfrm>
            <a:off x="6257116" y="2488149"/>
            <a:ext cx="639413" cy="566337"/>
          </a:xfrm>
          <a:prstGeom prst="rect">
            <a:avLst/>
          </a:prstGeom>
          <a:noFill/>
          <a:ln/>
        </p:spPr>
        <p:txBody>
          <a:bodyPr wrap="square" lIns="0" tIns="0" rIns="0" bIns="0" rtlCol="0" anchor="ctr"/>
          <a:lstStyle/>
          <a:p>
            <a:pPr algn="ctr"/>
            <a:r>
              <a:rPr lang="en-US" sz="1099" b="1" dirty="0">
                <a:solidFill>
                  <a:srgbClr val="FFFFFF"/>
                </a:solidFill>
              </a:rPr>
              <a:t>C7</a:t>
            </a:r>
            <a:endParaRPr lang="en-US" sz="1099" dirty="0"/>
          </a:p>
        </p:txBody>
      </p:sp>
      <p:sp>
        <p:nvSpPr>
          <p:cNvPr id="39" name="Shape 37"/>
          <p:cNvSpPr/>
          <p:nvPr/>
        </p:nvSpPr>
        <p:spPr>
          <a:xfrm>
            <a:off x="6896529" y="2488149"/>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40" name="Text 38"/>
          <p:cNvSpPr/>
          <p:nvPr/>
        </p:nvSpPr>
        <p:spPr>
          <a:xfrm>
            <a:off x="7006142" y="2524687"/>
            <a:ext cx="5023961" cy="255765"/>
          </a:xfrm>
          <a:prstGeom prst="rect">
            <a:avLst/>
          </a:prstGeom>
          <a:noFill/>
          <a:ln/>
        </p:spPr>
        <p:txBody>
          <a:bodyPr wrap="square" lIns="0" tIns="0" rIns="0" bIns="0" rtlCol="0" anchor="ctr"/>
          <a:lstStyle/>
          <a:p>
            <a:r>
              <a:rPr lang="en-US" sz="1099" b="1" dirty="0">
                <a:solidFill>
                  <a:srgbClr val="1A2E4A"/>
                </a:solidFill>
              </a:rPr>
              <a:t>Serial Tool-Changer</a:t>
            </a:r>
            <a:endParaRPr lang="en-US" sz="1099" dirty="0"/>
          </a:p>
        </p:txBody>
      </p:sp>
      <p:sp>
        <p:nvSpPr>
          <p:cNvPr id="41" name="Text 39"/>
          <p:cNvSpPr/>
          <p:nvPr/>
        </p:nvSpPr>
        <p:spPr>
          <a:xfrm>
            <a:off x="7006142" y="2789587"/>
            <a:ext cx="5023961" cy="228362"/>
          </a:xfrm>
          <a:prstGeom prst="rect">
            <a:avLst/>
          </a:prstGeom>
          <a:noFill/>
          <a:ln/>
        </p:spPr>
        <p:txBody>
          <a:bodyPr wrap="square" lIns="0" tIns="0" rIns="0" bIns="0" rtlCol="0" anchor="ctr"/>
          <a:lstStyle/>
          <a:p>
            <a:r>
              <a:rPr lang="en-US" sz="849" dirty="0">
                <a:solidFill>
                  <a:srgbClr val="64748B"/>
                </a:solidFill>
              </a:rPr>
              <a:t>Structural no-overlap guarantee</a:t>
            </a:r>
            <a:endParaRPr lang="en-US" sz="849" dirty="0"/>
          </a:p>
        </p:txBody>
      </p:sp>
      <p:sp>
        <p:nvSpPr>
          <p:cNvPr id="42" name="Shape 40"/>
          <p:cNvSpPr/>
          <p:nvPr/>
        </p:nvSpPr>
        <p:spPr>
          <a:xfrm>
            <a:off x="6257116" y="3511211"/>
            <a:ext cx="639413" cy="566337"/>
          </a:xfrm>
          <a:prstGeom prst="rect">
            <a:avLst/>
          </a:prstGeom>
          <a:solidFill>
            <a:srgbClr val="1A7A4A"/>
          </a:solidFill>
          <a:ln w="12700">
            <a:solidFill>
              <a:srgbClr val="1A7A4A"/>
            </a:solidFill>
            <a:prstDash val="solid"/>
          </a:ln>
        </p:spPr>
      </p:sp>
      <p:sp>
        <p:nvSpPr>
          <p:cNvPr id="43" name="Text 41"/>
          <p:cNvSpPr/>
          <p:nvPr/>
        </p:nvSpPr>
        <p:spPr>
          <a:xfrm>
            <a:off x="6257116" y="3511211"/>
            <a:ext cx="639413" cy="566337"/>
          </a:xfrm>
          <a:prstGeom prst="rect">
            <a:avLst/>
          </a:prstGeom>
          <a:noFill/>
          <a:ln/>
        </p:spPr>
        <p:txBody>
          <a:bodyPr wrap="square" lIns="0" tIns="0" rIns="0" bIns="0" rtlCol="0" anchor="ctr"/>
          <a:lstStyle/>
          <a:p>
            <a:pPr algn="ctr"/>
            <a:r>
              <a:rPr lang="en-US" sz="1099" b="1" dirty="0">
                <a:solidFill>
                  <a:srgbClr val="FFFFFF"/>
                </a:solidFill>
              </a:rPr>
              <a:t>C8</a:t>
            </a:r>
            <a:endParaRPr lang="en-US" sz="1099" dirty="0"/>
          </a:p>
        </p:txBody>
      </p:sp>
      <p:sp>
        <p:nvSpPr>
          <p:cNvPr id="44" name="Shape 42"/>
          <p:cNvSpPr/>
          <p:nvPr/>
        </p:nvSpPr>
        <p:spPr>
          <a:xfrm>
            <a:off x="6896529" y="3511211"/>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45" name="Text 43"/>
          <p:cNvSpPr/>
          <p:nvPr/>
        </p:nvSpPr>
        <p:spPr>
          <a:xfrm>
            <a:off x="7006142" y="3547748"/>
            <a:ext cx="5023961" cy="255765"/>
          </a:xfrm>
          <a:prstGeom prst="rect">
            <a:avLst/>
          </a:prstGeom>
          <a:noFill/>
          <a:ln/>
        </p:spPr>
        <p:txBody>
          <a:bodyPr wrap="square" lIns="0" tIns="0" rIns="0" bIns="0" rtlCol="0" anchor="ctr"/>
          <a:lstStyle/>
          <a:p>
            <a:r>
              <a:rPr lang="en-US" sz="1099" b="1" dirty="0">
                <a:solidFill>
                  <a:srgbClr val="1A2E4A"/>
                </a:solidFill>
              </a:rPr>
              <a:t>Minimum Run Block</a:t>
            </a:r>
            <a:endParaRPr lang="en-US" sz="1099" dirty="0"/>
          </a:p>
        </p:txBody>
      </p:sp>
      <p:sp>
        <p:nvSpPr>
          <p:cNvPr id="46" name="Text 44"/>
          <p:cNvSpPr/>
          <p:nvPr/>
        </p:nvSpPr>
        <p:spPr>
          <a:xfrm>
            <a:off x="7006142" y="3812648"/>
            <a:ext cx="5023961" cy="228362"/>
          </a:xfrm>
          <a:prstGeom prst="rect">
            <a:avLst/>
          </a:prstGeom>
          <a:noFill/>
          <a:ln/>
        </p:spPr>
        <p:txBody>
          <a:bodyPr wrap="square" lIns="0" tIns="0" rIns="0" bIns="0" rtlCol="0" anchor="ctr"/>
          <a:lstStyle/>
          <a:p>
            <a:r>
              <a:rPr lang="en-US" sz="849" dirty="0">
                <a:solidFill>
                  <a:srgbClr val="64748B"/>
                </a:solidFill>
              </a:rPr>
              <a:t>4-hour effective production floor</a:t>
            </a:r>
            <a:endParaRPr lang="en-US" sz="849" dirty="0"/>
          </a:p>
        </p:txBody>
      </p:sp>
      <p:sp>
        <p:nvSpPr>
          <p:cNvPr id="47" name="Shape 45"/>
          <p:cNvSpPr/>
          <p:nvPr/>
        </p:nvSpPr>
        <p:spPr>
          <a:xfrm>
            <a:off x="6257116" y="4534272"/>
            <a:ext cx="639413" cy="566337"/>
          </a:xfrm>
          <a:prstGeom prst="rect">
            <a:avLst/>
          </a:prstGeom>
          <a:solidFill>
            <a:srgbClr val="6B21A8"/>
          </a:solidFill>
          <a:ln w="12700">
            <a:solidFill>
              <a:srgbClr val="6B21A8"/>
            </a:solidFill>
            <a:prstDash val="solid"/>
          </a:ln>
        </p:spPr>
      </p:sp>
      <p:sp>
        <p:nvSpPr>
          <p:cNvPr id="48" name="Text 46"/>
          <p:cNvSpPr/>
          <p:nvPr/>
        </p:nvSpPr>
        <p:spPr>
          <a:xfrm>
            <a:off x="6257116" y="4534272"/>
            <a:ext cx="639413" cy="566337"/>
          </a:xfrm>
          <a:prstGeom prst="rect">
            <a:avLst/>
          </a:prstGeom>
          <a:noFill/>
          <a:ln/>
        </p:spPr>
        <p:txBody>
          <a:bodyPr wrap="square" lIns="0" tIns="0" rIns="0" bIns="0" rtlCol="0" anchor="ctr"/>
          <a:lstStyle/>
          <a:p>
            <a:pPr algn="ctr"/>
            <a:r>
              <a:rPr lang="en-US" sz="1099" b="1" dirty="0">
                <a:solidFill>
                  <a:srgbClr val="FFFFFF"/>
                </a:solidFill>
              </a:rPr>
              <a:t>C9</a:t>
            </a:r>
            <a:endParaRPr lang="en-US" sz="1099" dirty="0"/>
          </a:p>
        </p:txBody>
      </p:sp>
      <p:sp>
        <p:nvSpPr>
          <p:cNvPr id="49" name="Shape 47"/>
          <p:cNvSpPr/>
          <p:nvPr/>
        </p:nvSpPr>
        <p:spPr>
          <a:xfrm>
            <a:off x="6896529" y="4534272"/>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0" name="Text 48"/>
          <p:cNvSpPr/>
          <p:nvPr/>
        </p:nvSpPr>
        <p:spPr>
          <a:xfrm>
            <a:off x="7006142" y="4570810"/>
            <a:ext cx="5023961" cy="255765"/>
          </a:xfrm>
          <a:prstGeom prst="rect">
            <a:avLst/>
          </a:prstGeom>
          <a:noFill/>
          <a:ln/>
        </p:spPr>
        <p:txBody>
          <a:bodyPr wrap="square" lIns="0" tIns="0" rIns="0" bIns="0" rtlCol="0" anchor="ctr"/>
          <a:lstStyle/>
          <a:p>
            <a:r>
              <a:rPr lang="en-US" sz="1099" b="1" dirty="0">
                <a:solidFill>
                  <a:srgbClr val="1A2E4A"/>
                </a:solidFill>
              </a:rPr>
              <a:t>No Machine Idle</a:t>
            </a:r>
            <a:endParaRPr lang="en-US" sz="1099" dirty="0"/>
          </a:p>
        </p:txBody>
      </p:sp>
      <p:sp>
        <p:nvSpPr>
          <p:cNvPr id="51" name="Text 49"/>
          <p:cNvSpPr/>
          <p:nvPr/>
        </p:nvSpPr>
        <p:spPr>
          <a:xfrm>
            <a:off x="7006142" y="4835709"/>
            <a:ext cx="5023961" cy="228362"/>
          </a:xfrm>
          <a:prstGeom prst="rect">
            <a:avLst/>
          </a:prstGeom>
          <a:noFill/>
          <a:ln/>
        </p:spPr>
        <p:txBody>
          <a:bodyPr wrap="square" lIns="0" tIns="0" rIns="0" bIns="0" rtlCol="0" anchor="ctr"/>
          <a:lstStyle/>
          <a:p>
            <a:r>
              <a:rPr lang="en-US" sz="849" dirty="0">
                <a:solidFill>
                  <a:srgbClr val="64748B"/>
                </a:solidFill>
              </a:rPr>
              <a:t>90% utilisation enforcer — uncapped extension</a:t>
            </a:r>
            <a:endParaRPr lang="en-US" sz="849" dirty="0"/>
          </a:p>
        </p:txBody>
      </p:sp>
      <p:sp>
        <p:nvSpPr>
          <p:cNvPr id="52" name="Shape 50"/>
          <p:cNvSpPr/>
          <p:nvPr/>
        </p:nvSpPr>
        <p:spPr>
          <a:xfrm>
            <a:off x="6257116" y="5557333"/>
            <a:ext cx="639413" cy="566337"/>
          </a:xfrm>
          <a:prstGeom prst="rect">
            <a:avLst/>
          </a:prstGeom>
          <a:solidFill>
            <a:srgbClr val="9A3412"/>
          </a:solidFill>
          <a:ln w="12700">
            <a:solidFill>
              <a:srgbClr val="9A3412"/>
            </a:solidFill>
            <a:prstDash val="solid"/>
          </a:ln>
        </p:spPr>
      </p:sp>
      <p:sp>
        <p:nvSpPr>
          <p:cNvPr id="53" name="Text 51"/>
          <p:cNvSpPr/>
          <p:nvPr/>
        </p:nvSpPr>
        <p:spPr>
          <a:xfrm>
            <a:off x="6257116" y="5557333"/>
            <a:ext cx="639413" cy="566337"/>
          </a:xfrm>
          <a:prstGeom prst="rect">
            <a:avLst/>
          </a:prstGeom>
          <a:noFill/>
          <a:ln/>
        </p:spPr>
        <p:txBody>
          <a:bodyPr wrap="square" lIns="0" tIns="0" rIns="0" bIns="0" rtlCol="0" anchor="ctr"/>
          <a:lstStyle/>
          <a:p>
            <a:pPr algn="ctr"/>
            <a:r>
              <a:rPr lang="en-US" sz="1099" b="1" dirty="0">
                <a:solidFill>
                  <a:srgbClr val="FFFFFF"/>
                </a:solidFill>
              </a:rPr>
              <a:t>C10</a:t>
            </a:r>
            <a:endParaRPr lang="en-US" sz="1099" dirty="0"/>
          </a:p>
        </p:txBody>
      </p:sp>
      <p:sp>
        <p:nvSpPr>
          <p:cNvPr id="54" name="Shape 52"/>
          <p:cNvSpPr/>
          <p:nvPr/>
        </p:nvSpPr>
        <p:spPr>
          <a:xfrm>
            <a:off x="6896529" y="5557333"/>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5" name="Text 53"/>
          <p:cNvSpPr/>
          <p:nvPr/>
        </p:nvSpPr>
        <p:spPr>
          <a:xfrm>
            <a:off x="7006142" y="5593871"/>
            <a:ext cx="5023961" cy="255765"/>
          </a:xfrm>
          <a:prstGeom prst="rect">
            <a:avLst/>
          </a:prstGeom>
          <a:noFill/>
          <a:ln/>
        </p:spPr>
        <p:txBody>
          <a:bodyPr wrap="square" lIns="0" tIns="0" rIns="0" bIns="0" rtlCol="0" anchor="ctr"/>
          <a:lstStyle/>
          <a:p>
            <a:r>
              <a:rPr lang="en-US" sz="1099" b="1" dirty="0">
                <a:solidFill>
                  <a:srgbClr val="1A2E4A"/>
                </a:solidFill>
              </a:rPr>
              <a:t>Colour Grouping</a:t>
            </a:r>
            <a:endParaRPr lang="en-US" sz="1099" dirty="0"/>
          </a:p>
        </p:txBody>
      </p:sp>
      <p:sp>
        <p:nvSpPr>
          <p:cNvPr id="56" name="Text 54"/>
          <p:cNvSpPr/>
          <p:nvPr/>
        </p:nvSpPr>
        <p:spPr>
          <a:xfrm>
            <a:off x="7006142" y="5858770"/>
            <a:ext cx="5023961" cy="228362"/>
          </a:xfrm>
          <a:prstGeom prst="rect">
            <a:avLst/>
          </a:prstGeom>
          <a:noFill/>
          <a:ln/>
        </p:spPr>
        <p:txBody>
          <a:bodyPr wrap="square" lIns="0" tIns="0" rIns="0" bIns="0" rtlCol="0" anchor="ctr"/>
          <a:lstStyle/>
          <a:p>
            <a:r>
              <a:rPr lang="en-US" sz="849" dirty="0">
                <a:solidFill>
                  <a:srgbClr val="64748B"/>
                </a:solidFill>
              </a:rPr>
              <a:t>10-min purge penalty &amp; colour-aware ranking</a:t>
            </a:r>
            <a:endParaRPr lang="en-US" sz="849" dirty="0"/>
          </a:p>
        </p:txBody>
      </p:sp>
      <p:sp>
        <p:nvSpPr>
          <p:cNvPr id="57" name="GTBClassificationF1651584118">
            <a:extLst>
              <a:ext uri="{FF2B5EF4-FFF2-40B4-BE49-F238E27FC236}">
                <a16:creationId xmlns:a16="http://schemas.microsoft.com/office/drawing/2014/main" id="{0603CF50-40CC-4DF1-B464-50F5D9E80AB0}"/>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
        <p:nvSpPr>
          <p:cNvPr id="9001" name="PageNumber"/>
          <p:cNvSpPr txBox="1">
            <a:spLocks/>
          </p:cNvSpPr>
          <p:nvPr/>
        </p:nvSpPr>
        <p:spPr>
          <a:xfrm>
            <a:off x="11432516" y="6391175"/>
            <a:ext cx="669862" cy="279133"/>
          </a:xfrm>
          <a:prstGeom prst="rect">
            <a:avLst/>
          </a:prstGeom>
        </p:spPr>
        <p:txBody>
          <a:bodyPr vert="horz" lIns="91345" tIns="45672" rIns="91345" bIns="45672" rtlCol="0" anchor="ctr"/>
          <a:lstStyle/>
          <a:p>
            <a:fld id="{D36E95A1-262F-4E3E-9B30-207FF0616F94}" type="slidenum">
              <a:rPr lang="en-US" sz="1399" smtClean="0">
                <a:solidFill>
                  <a:srgbClr val="0070C0"/>
                </a:solidFill>
              </a:rPr>
              <a:t>‹#›</a:t>
            </a:fld>
            <a:r>
              <a:rPr lang="en-US" sz="1399" dirty="0">
                <a:solidFill>
                  <a:srgbClr val="0070C0"/>
                </a:solidFill>
              </a:rPr>
              <a:t>/19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10BE3B4B-1ADE-474C-8E64-A75DC30A2957}"/>
              </a:ext>
            </a:extLst>
          </p:cNvPr>
          <p:cNvSpPr txBox="1"/>
          <p:nvPr/>
        </p:nvSpPr>
        <p:spPr>
          <a:xfrm>
            <a:off x="253490" y="76200"/>
            <a:ext cx="7741160" cy="506549"/>
          </a:xfrm>
          <a:prstGeom prst="rect">
            <a:avLst/>
          </a:prstGeom>
        </p:spPr>
        <p:txBody>
          <a:bodyPr vert="horz" wrap="square" lIns="0" tIns="13970" rIns="0" bIns="0" rtlCol="0">
            <a:spAutoFit/>
          </a:bodyPr>
          <a:lstStyle>
            <a:lvl1pPr marL="12700">
              <a:lnSpc>
                <a:spcPct val="100000"/>
              </a:lnSpc>
              <a:spcBef>
                <a:spcPts val="110"/>
              </a:spcBef>
              <a:defRPr sz="3050" b="1" i="0">
                <a:solidFill>
                  <a:schemeClr val="tx2"/>
                </a:solidFill>
                <a:latin typeface="Trebuchet MS"/>
                <a:ea typeface="+mj-ea"/>
                <a:cs typeface="Trebuchet MS"/>
              </a:defRPr>
            </a:lvl1pPr>
          </a:lstStyle>
          <a:p>
            <a:r>
              <a:rPr lang="en-IN" sz="3200" dirty="0">
                <a:solidFill>
                  <a:srgbClr val="097AE8"/>
                </a:solidFill>
                <a:latin typeface="+mn-lt"/>
                <a:cs typeface="Arial" pitchFamily="34" charset="0"/>
              </a:rPr>
              <a:t xml:space="preserve">14SW210301-00004X1 KNOB PWS CP   </a:t>
            </a:r>
          </a:p>
        </p:txBody>
      </p:sp>
      <p:pic>
        <p:nvPicPr>
          <p:cNvPr id="5" name="Picture 4">
            <a:extLst>
              <a:ext uri="{FF2B5EF4-FFF2-40B4-BE49-F238E27FC236}">
                <a16:creationId xmlns:a16="http://schemas.microsoft.com/office/drawing/2014/main" id="{04336464-269E-494F-A8F2-BBBB7764FE85}"/>
              </a:ext>
            </a:extLst>
          </p:cNvPr>
          <p:cNvPicPr>
            <a:picLocks noChangeAspect="1"/>
          </p:cNvPicPr>
          <p:nvPr/>
        </p:nvPicPr>
        <p:blipFill>
          <a:blip r:embed="rId2"/>
          <a:stretch>
            <a:fillRect/>
          </a:stretch>
        </p:blipFill>
        <p:spPr>
          <a:xfrm>
            <a:off x="984250" y="1606550"/>
            <a:ext cx="2759977" cy="3848298"/>
          </a:xfrm>
          <a:prstGeom prst="rect">
            <a:avLst/>
          </a:prstGeom>
        </p:spPr>
      </p:pic>
      <p:pic>
        <p:nvPicPr>
          <p:cNvPr id="7" name="Picture 6">
            <a:extLst>
              <a:ext uri="{FF2B5EF4-FFF2-40B4-BE49-F238E27FC236}">
                <a16:creationId xmlns:a16="http://schemas.microsoft.com/office/drawing/2014/main" id="{580DFB98-2BD5-4910-8529-4D61DB7A7588}"/>
              </a:ext>
            </a:extLst>
          </p:cNvPr>
          <p:cNvPicPr>
            <a:picLocks noChangeAspect="1"/>
          </p:cNvPicPr>
          <p:nvPr/>
        </p:nvPicPr>
        <p:blipFill>
          <a:blip r:embed="rId3"/>
          <a:stretch>
            <a:fillRect/>
          </a:stretch>
        </p:blipFill>
        <p:spPr>
          <a:xfrm>
            <a:off x="4695754" y="1642645"/>
            <a:ext cx="2762392" cy="3848298"/>
          </a:xfrm>
          <a:prstGeom prst="rect">
            <a:avLst/>
          </a:prstGeom>
        </p:spPr>
      </p:pic>
      <p:pic>
        <p:nvPicPr>
          <p:cNvPr id="9" name="Picture 8">
            <a:extLst>
              <a:ext uri="{FF2B5EF4-FFF2-40B4-BE49-F238E27FC236}">
                <a16:creationId xmlns:a16="http://schemas.microsoft.com/office/drawing/2014/main" id="{86569D91-8CFC-4B99-8DD2-2ABD274BA5E3}"/>
              </a:ext>
            </a:extLst>
          </p:cNvPr>
          <p:cNvPicPr>
            <a:picLocks noChangeAspect="1"/>
          </p:cNvPicPr>
          <p:nvPr/>
        </p:nvPicPr>
        <p:blipFill>
          <a:blip r:embed="rId4"/>
          <a:stretch>
            <a:fillRect/>
          </a:stretch>
        </p:blipFill>
        <p:spPr>
          <a:xfrm>
            <a:off x="8223250" y="1642645"/>
            <a:ext cx="2743200" cy="3854648"/>
          </a:xfrm>
          <a:prstGeom prst="rect">
            <a:avLst/>
          </a:prstGeom>
        </p:spPr>
      </p:pic>
      <p:sp>
        <p:nvSpPr>
          <p:cNvPr id="10" name="Rectangle 9">
            <a:extLst>
              <a:ext uri="{FF2B5EF4-FFF2-40B4-BE49-F238E27FC236}">
                <a16:creationId xmlns:a16="http://schemas.microsoft.com/office/drawing/2014/main" id="{C71EEF11-D2C7-41BE-A8D6-2DA27CED5BD5}"/>
              </a:ext>
            </a:extLst>
          </p:cNvPr>
          <p:cNvSpPr/>
          <p:nvPr/>
        </p:nvSpPr>
        <p:spPr>
          <a:xfrm>
            <a:off x="1001027" y="762000"/>
            <a:ext cx="2726423"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RTPABSBKG0027Y</a:t>
            </a:r>
          </a:p>
          <a:p>
            <a:pPr algn="ctr"/>
            <a:r>
              <a:rPr lang="en-US" dirty="0"/>
              <a:t>ABS XR-409H (BLACK) OF LG</a:t>
            </a:r>
            <a:endParaRPr lang="en-IN" dirty="0"/>
          </a:p>
        </p:txBody>
      </p:sp>
      <p:sp>
        <p:nvSpPr>
          <p:cNvPr id="11" name="Rectangle 10">
            <a:extLst>
              <a:ext uri="{FF2B5EF4-FFF2-40B4-BE49-F238E27FC236}">
                <a16:creationId xmlns:a16="http://schemas.microsoft.com/office/drawing/2014/main" id="{5EE41485-8E4D-41C5-903C-529CB62EC31B}"/>
              </a:ext>
            </a:extLst>
          </p:cNvPr>
          <p:cNvSpPr/>
          <p:nvPr/>
        </p:nvSpPr>
        <p:spPr>
          <a:xfrm>
            <a:off x="4695754" y="789848"/>
            <a:ext cx="2726423" cy="7341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RTPPOCWHG0012Y</a:t>
            </a:r>
          </a:p>
          <a:p>
            <a:pPr algn="ctr"/>
            <a:r>
              <a:rPr lang="en-US" dirty="0"/>
              <a:t>PC-TRIREX 3025U(WHITE) OF SAMYANG</a:t>
            </a:r>
            <a:endParaRPr lang="en-IN" dirty="0"/>
          </a:p>
        </p:txBody>
      </p:sp>
      <p:sp>
        <p:nvSpPr>
          <p:cNvPr id="12" name="Rectangle 11">
            <a:extLst>
              <a:ext uri="{FF2B5EF4-FFF2-40B4-BE49-F238E27FC236}">
                <a16:creationId xmlns:a16="http://schemas.microsoft.com/office/drawing/2014/main" id="{2C7645BF-C2CC-4006-888A-EF012E228AAB}"/>
              </a:ext>
            </a:extLst>
          </p:cNvPr>
          <p:cNvSpPr/>
          <p:nvPr/>
        </p:nvSpPr>
        <p:spPr>
          <a:xfrm>
            <a:off x="8209681" y="809368"/>
            <a:ext cx="2726423" cy="761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RTPACRTRG0012Y</a:t>
            </a:r>
          </a:p>
          <a:p>
            <a:pPr algn="ctr"/>
            <a:r>
              <a:rPr lang="en-US" dirty="0"/>
              <a:t>PMMA I.G. 840 OF L.G. (TRANS)</a:t>
            </a:r>
            <a:endParaRPr lang="en-IN" dirty="0"/>
          </a:p>
        </p:txBody>
      </p:sp>
      <p:sp>
        <p:nvSpPr>
          <p:cNvPr id="3" name="GTBClassificationF1914957712">
            <a:extLst>
              <a:ext uri="{FF2B5EF4-FFF2-40B4-BE49-F238E27FC236}">
                <a16:creationId xmlns:a16="http://schemas.microsoft.com/office/drawing/2014/main" id="{A8D27E7A-B037-4A91-90D8-7F9EC40D603C}"/>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
        <p:nvSpPr>
          <p:cNvPr id="9001" name="PageNumber"/>
          <p:cNvSpPr txBox="1">
            <a:spLocks/>
          </p:cNvSpPr>
          <p:nvPr/>
        </p:nvSpPr>
        <p:spPr>
          <a:xfrm>
            <a:off x="11432516" y="6391175"/>
            <a:ext cx="669862" cy="279133"/>
          </a:xfrm>
          <a:prstGeom prst="rect">
            <a:avLst/>
          </a:prstGeom>
        </p:spPr>
        <p:txBody>
          <a:bodyPr vert="horz" lIns="91345" tIns="45672" rIns="91345" bIns="45672" rtlCol="0" anchor="ctr"/>
          <a:lstStyle/>
          <a:p>
            <a:fld id="{D36E95A1-262F-4E3E-9B30-207FF0616F94}" type="slidenum">
              <a:rPr lang="en-US" sz="1399" smtClean="0">
                <a:solidFill>
                  <a:srgbClr val="0070C0"/>
                </a:solidFill>
              </a:rPr>
              <a:t>‹#›</a:t>
            </a:fld>
            <a:r>
              <a:rPr lang="en-US" sz="1399" dirty="0">
                <a:solidFill>
                  <a:srgbClr val="0070C0"/>
                </a:solidFill>
              </a:rPr>
              <a:t>/19</a:t>
            </a:r>
          </a:p>
        </p:txBody>
      </p:sp>
    </p:spTree>
    <p:extLst>
      <p:ext uri="{BB962C8B-B14F-4D97-AF65-F5344CB8AC3E}">
        <p14:creationId xmlns:p14="http://schemas.microsoft.com/office/powerpoint/2010/main" val="3838420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1695" y="1249852"/>
            <a:ext cx="7833815" cy="3908762"/>
          </a:xfrm>
          <a:prstGeom prst="rect">
            <a:avLst/>
          </a:prstGeom>
        </p:spPr>
        <p:txBody>
          <a:bodyPr wrap="square">
            <a:spAutoFit/>
          </a:bodyPr>
          <a:lstStyle/>
          <a:p>
            <a:r>
              <a:rPr lang="en-IN" sz="2800" b="1" dirty="0">
                <a:cs typeface="Arial" panose="020B0604020202020204" pitchFamily="34" charset="0"/>
              </a:rPr>
              <a:t>Heading….. (32, Calibri, Black, Bold)</a:t>
            </a:r>
          </a:p>
          <a:p>
            <a:r>
              <a:rPr lang="en-IN" sz="2800" dirty="0">
                <a:cs typeface="Arial" panose="020B0604020202020204" pitchFamily="34" charset="0"/>
              </a:rPr>
              <a:t>Sub Heading…. (28, Calibri, Black)</a:t>
            </a:r>
          </a:p>
          <a:p>
            <a:r>
              <a:rPr lang="en-IN" sz="2000" dirty="0">
                <a:solidFill>
                  <a:schemeClr val="tx1"/>
                </a:solidFill>
                <a:cs typeface="Arial" panose="020B0604020202020204" pitchFamily="34" charset="0"/>
              </a:rPr>
              <a:t xml:space="preserve">Contents…. (minimum 18 - 24, Calibri, Black) : </a:t>
            </a:r>
          </a:p>
          <a:p>
            <a:endParaRPr lang="en-IN" sz="1400" dirty="0">
              <a:solidFill>
                <a:schemeClr val="tx1"/>
              </a:solidFill>
              <a:cs typeface="Arial" panose="020B0604020202020204" pitchFamily="34" charset="0"/>
            </a:endParaRPr>
          </a:p>
          <a:p>
            <a:endParaRPr lang="en-IN" sz="1400" dirty="0">
              <a:solidFill>
                <a:schemeClr val="tx1"/>
              </a:solidFill>
              <a:cs typeface="Arial" panose="020B0604020202020204" pitchFamily="34" charset="0"/>
            </a:endParaRPr>
          </a:p>
          <a:p>
            <a:endParaRPr lang="en-IN" dirty="0">
              <a:solidFill>
                <a:schemeClr val="tx1"/>
              </a:solidFill>
              <a:cs typeface="Arial" panose="020B0604020202020204" pitchFamily="34" charset="0"/>
            </a:endParaRPr>
          </a:p>
          <a:p>
            <a:endParaRPr lang="en-IN" dirty="0">
              <a:cs typeface="Arial" panose="020B0604020202020204" pitchFamily="34" charset="0"/>
            </a:endParaRPr>
          </a:p>
          <a:p>
            <a:endParaRPr lang="en-IN" b="1" dirty="0">
              <a:cs typeface="Arial" panose="020B0604020202020204" pitchFamily="34" charset="0"/>
            </a:endParaRPr>
          </a:p>
          <a:p>
            <a:endParaRPr lang="en-IN" b="1" dirty="0">
              <a:solidFill>
                <a:srgbClr val="002060"/>
              </a:solidFill>
              <a:cs typeface="Arial" panose="020B0604020202020204" pitchFamily="34" charset="0"/>
            </a:endParaRPr>
          </a:p>
          <a:p>
            <a:endParaRPr lang="en-IN" dirty="0">
              <a:cs typeface="Arial" panose="020B0604020202020204" pitchFamily="34" charset="0"/>
            </a:endParaRPr>
          </a:p>
          <a:p>
            <a:endParaRPr lang="en-IN" dirty="0">
              <a:cs typeface="Arial" panose="020B0604020202020204" pitchFamily="34" charset="0"/>
            </a:endParaRPr>
          </a:p>
          <a:p>
            <a:endParaRPr lang="en-IN" dirty="0">
              <a:cs typeface="Arial" panose="020B0604020202020204" pitchFamily="34" charset="0"/>
            </a:endParaRPr>
          </a:p>
          <a:p>
            <a:endParaRPr lang="en-IN" sz="2000" b="1" dirty="0">
              <a:solidFill>
                <a:schemeClr val="tx1"/>
              </a:solidFill>
              <a:cs typeface="Arial" panose="020B0604020202020204" pitchFamily="34" charset="0"/>
            </a:endParaRPr>
          </a:p>
        </p:txBody>
      </p:sp>
      <p:sp>
        <p:nvSpPr>
          <p:cNvPr id="3" name="object 4">
            <a:extLst>
              <a:ext uri="{FF2B5EF4-FFF2-40B4-BE49-F238E27FC236}">
                <a16:creationId xmlns:a16="http://schemas.microsoft.com/office/drawing/2014/main" id="{10BE3B4B-1ADE-474C-8E64-A75DC30A2957}"/>
              </a:ext>
            </a:extLst>
          </p:cNvPr>
          <p:cNvSpPr txBox="1"/>
          <p:nvPr/>
        </p:nvSpPr>
        <p:spPr>
          <a:xfrm>
            <a:off x="253490" y="76200"/>
            <a:ext cx="7741160" cy="506549"/>
          </a:xfrm>
          <a:prstGeom prst="rect">
            <a:avLst/>
          </a:prstGeom>
        </p:spPr>
        <p:txBody>
          <a:bodyPr vert="horz" wrap="square" lIns="0" tIns="13970" rIns="0" bIns="0" rtlCol="0">
            <a:spAutoFit/>
          </a:bodyPr>
          <a:lstStyle>
            <a:lvl1pPr marL="12700">
              <a:lnSpc>
                <a:spcPct val="100000"/>
              </a:lnSpc>
              <a:spcBef>
                <a:spcPts val="110"/>
              </a:spcBef>
              <a:defRPr sz="3050" b="1" i="0">
                <a:solidFill>
                  <a:schemeClr val="tx2"/>
                </a:solidFill>
                <a:latin typeface="Trebuchet MS"/>
                <a:ea typeface="+mj-ea"/>
                <a:cs typeface="Trebuchet MS"/>
              </a:defRPr>
            </a:lvl1pPr>
          </a:lstStyle>
          <a:p>
            <a:r>
              <a:rPr lang="en-IN" sz="3200" dirty="0">
                <a:solidFill>
                  <a:srgbClr val="097AE8"/>
                </a:solidFill>
                <a:latin typeface="+mn-lt"/>
                <a:cs typeface="Arial" pitchFamily="34" charset="0"/>
              </a:rPr>
              <a:t>Font Specification</a:t>
            </a:r>
          </a:p>
        </p:txBody>
      </p:sp>
      <p:sp>
        <p:nvSpPr>
          <p:cNvPr id="4" name="GTBClassificationF1851279126">
            <a:extLst>
              <a:ext uri="{FF2B5EF4-FFF2-40B4-BE49-F238E27FC236}">
                <a16:creationId xmlns:a16="http://schemas.microsoft.com/office/drawing/2014/main" id="{93139B00-299E-4DA4-A756-5B3FEF6384F6}"/>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
        <p:nvSpPr>
          <p:cNvPr id="9001" name="PageNumber"/>
          <p:cNvSpPr txBox="1">
            <a:spLocks/>
          </p:cNvSpPr>
          <p:nvPr/>
        </p:nvSpPr>
        <p:spPr>
          <a:xfrm>
            <a:off x="11432516" y="6391175"/>
            <a:ext cx="669862" cy="279133"/>
          </a:xfrm>
          <a:prstGeom prst="rect">
            <a:avLst/>
          </a:prstGeom>
        </p:spPr>
        <p:txBody>
          <a:bodyPr vert="horz" lIns="91345" tIns="45672" rIns="91345" bIns="45672" rtlCol="0" anchor="ctr"/>
          <a:lstStyle/>
          <a:p>
            <a:fld id="{D36E95A1-262F-4E3E-9B30-207FF0616F94}" type="slidenum">
              <a:rPr lang="en-US" sz="1399" smtClean="0">
                <a:solidFill>
                  <a:srgbClr val="0070C0"/>
                </a:solidFill>
              </a:rPr>
              <a:t>‹#›</a:t>
            </a:fld>
            <a:r>
              <a:rPr lang="en-US" sz="1399" dirty="0">
                <a:solidFill>
                  <a:srgbClr val="0070C0"/>
                </a:solidFill>
              </a:rPr>
              <a:t>/19</a:t>
            </a:r>
          </a:p>
        </p:txBody>
      </p:sp>
    </p:spTree>
    <p:extLst>
      <p:ext uri="{BB962C8B-B14F-4D97-AF65-F5344CB8AC3E}">
        <p14:creationId xmlns:p14="http://schemas.microsoft.com/office/powerpoint/2010/main" val="2794131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Group 4"/>
          <p:cNvGrpSpPr/>
          <p:nvPr/>
        </p:nvGrpSpPr>
        <p:grpSpPr>
          <a:xfrm>
            <a:off x="5977063" y="1541194"/>
            <a:ext cx="5994099" cy="3971419"/>
            <a:chOff x="5977063" y="1541194"/>
            <a:chExt cx="5994099" cy="3971419"/>
          </a:xfrm>
        </p:grpSpPr>
        <p:sp>
          <p:nvSpPr>
            <p:cNvPr id="30" name="object 12"/>
            <p:cNvSpPr/>
            <p:nvPr/>
          </p:nvSpPr>
          <p:spPr>
            <a:xfrm>
              <a:off x="5977063" y="1612469"/>
              <a:ext cx="45719" cy="3900144"/>
            </a:xfrm>
            <a:custGeom>
              <a:avLst/>
              <a:gdLst/>
              <a:ahLst/>
              <a:cxnLst/>
              <a:rect l="l" t="t" r="r" b="b"/>
              <a:pathLst>
                <a:path h="3200400">
                  <a:moveTo>
                    <a:pt x="0" y="0"/>
                  </a:moveTo>
                  <a:lnTo>
                    <a:pt x="0" y="3200400"/>
                  </a:lnTo>
                </a:path>
              </a:pathLst>
            </a:custGeom>
            <a:ln w="45720">
              <a:solidFill>
                <a:srgbClr val="555555"/>
              </a:solidFill>
            </a:ln>
          </p:spPr>
          <p:txBody>
            <a:bodyPr wrap="square" lIns="0" tIns="0" rIns="0" bIns="0" rtlCol="0"/>
            <a:lstStyle/>
            <a:p>
              <a:endParaRPr dirty="0"/>
            </a:p>
          </p:txBody>
        </p:sp>
        <p:pic>
          <p:nvPicPr>
            <p:cNvPr id="32" name="Picture 25" descr="fb.png">
              <a:hlinkClick r:id="rId3"/>
            </p:cNvPr>
            <p:cNvPicPr>
              <a:picLocks noChangeAspect="1"/>
            </p:cNvPicPr>
            <p:nvPr/>
          </p:nvPicPr>
          <p:blipFill>
            <a:blip r:embed="rId4" cstate="print"/>
            <a:srcRect/>
            <a:stretch>
              <a:fillRect/>
            </a:stretch>
          </p:blipFill>
          <p:spPr bwMode="auto">
            <a:xfrm>
              <a:off x="6313576" y="4762462"/>
              <a:ext cx="660314" cy="495415"/>
            </a:xfrm>
            <a:prstGeom prst="rect">
              <a:avLst/>
            </a:prstGeom>
            <a:noFill/>
            <a:ln w="9525">
              <a:noFill/>
              <a:miter lim="800000"/>
              <a:headEnd/>
              <a:tailEnd/>
            </a:ln>
          </p:spPr>
        </p:pic>
        <p:pic>
          <p:nvPicPr>
            <p:cNvPr id="33" name="Picture 26" descr="linkedin.png">
              <a:hlinkClick r:id="rId5"/>
            </p:cNvPr>
            <p:cNvPicPr>
              <a:picLocks noChangeAspect="1"/>
            </p:cNvPicPr>
            <p:nvPr/>
          </p:nvPicPr>
          <p:blipFill>
            <a:blip r:embed="rId6" cstate="print">
              <a:extLst>
                <a:ext uri="{28A0092B-C50C-407E-A947-70E740481C1C}">
                  <a14:useLocalDpi xmlns:a14="http://schemas.microsoft.com/office/drawing/2010/main"/>
                </a:ext>
              </a:extLst>
            </a:blip>
            <a:srcRect/>
            <a:stretch>
              <a:fillRect/>
            </a:stretch>
          </p:blipFill>
          <p:spPr bwMode="auto">
            <a:xfrm>
              <a:off x="7766050" y="4781516"/>
              <a:ext cx="609521" cy="457306"/>
            </a:xfrm>
            <a:prstGeom prst="rect">
              <a:avLst/>
            </a:prstGeom>
            <a:noFill/>
            <a:ln w="9525">
              <a:noFill/>
              <a:miter lim="800000"/>
              <a:headEnd/>
              <a:tailEnd/>
            </a:ln>
          </p:spPr>
        </p:pic>
        <p:sp>
          <p:nvSpPr>
            <p:cNvPr id="36" name="Title 1"/>
            <p:cNvSpPr txBox="1">
              <a:spLocks/>
            </p:cNvSpPr>
            <p:nvPr/>
          </p:nvSpPr>
          <p:spPr bwMode="auto">
            <a:xfrm>
              <a:off x="6200398" y="1541194"/>
              <a:ext cx="4741023" cy="1047695"/>
            </a:xfrm>
            <a:prstGeom prst="rect">
              <a:avLst/>
            </a:prstGeom>
            <a:noFill/>
            <a:ln w="9525">
              <a:noFill/>
              <a:miter lim="800000"/>
              <a:headEnd/>
              <a:tailEnd/>
            </a:ln>
          </p:spPr>
          <p:txBody>
            <a:bodyPr vert="horz" wrap="square" lIns="108830" tIns="54416" rIns="108830" bIns="54416" numCol="1" anchor="ctr" anchorCtr="0" compatLnSpc="1">
              <a:prstTxWarp prst="textNoShape">
                <a:avLst/>
              </a:prstTxWarp>
            </a:bodyPr>
            <a:lstStyle>
              <a:lvl1pPr algn="ctr" rtl="0" fontAlgn="base">
                <a:spcBef>
                  <a:spcPct val="0"/>
                </a:spcBef>
                <a:spcAft>
                  <a:spcPct val="0"/>
                </a:spcAft>
                <a:defRPr sz="5200" kern="1200">
                  <a:solidFill>
                    <a:schemeClr val="tx1"/>
                  </a:solidFill>
                  <a:latin typeface="+mj-lt"/>
                  <a:ea typeface="+mj-ea"/>
                  <a:cs typeface="+mj-cs"/>
                </a:defRPr>
              </a:lvl1pPr>
              <a:lvl2pPr algn="ctr" rtl="0" fontAlgn="base">
                <a:spcBef>
                  <a:spcPct val="0"/>
                </a:spcBef>
                <a:spcAft>
                  <a:spcPct val="0"/>
                </a:spcAft>
                <a:defRPr sz="5200">
                  <a:solidFill>
                    <a:schemeClr val="tx1"/>
                  </a:solidFill>
                  <a:latin typeface="Calibri" pitchFamily="34" charset="0"/>
                </a:defRPr>
              </a:lvl2pPr>
              <a:lvl3pPr algn="ctr" rtl="0" fontAlgn="base">
                <a:spcBef>
                  <a:spcPct val="0"/>
                </a:spcBef>
                <a:spcAft>
                  <a:spcPct val="0"/>
                </a:spcAft>
                <a:defRPr sz="5200">
                  <a:solidFill>
                    <a:schemeClr val="tx1"/>
                  </a:solidFill>
                  <a:latin typeface="Calibri" pitchFamily="34" charset="0"/>
                </a:defRPr>
              </a:lvl3pPr>
              <a:lvl4pPr algn="ctr" rtl="0" fontAlgn="base">
                <a:spcBef>
                  <a:spcPct val="0"/>
                </a:spcBef>
                <a:spcAft>
                  <a:spcPct val="0"/>
                </a:spcAft>
                <a:defRPr sz="5200">
                  <a:solidFill>
                    <a:schemeClr val="tx1"/>
                  </a:solidFill>
                  <a:latin typeface="Calibri" pitchFamily="34" charset="0"/>
                </a:defRPr>
              </a:lvl4pPr>
              <a:lvl5pPr algn="ctr" rtl="0" fontAlgn="base">
                <a:spcBef>
                  <a:spcPct val="0"/>
                </a:spcBef>
                <a:spcAft>
                  <a:spcPct val="0"/>
                </a:spcAft>
                <a:defRPr sz="5200">
                  <a:solidFill>
                    <a:schemeClr val="tx1"/>
                  </a:solidFill>
                  <a:latin typeface="Calibri" pitchFamily="34" charset="0"/>
                </a:defRPr>
              </a:lvl5pPr>
              <a:lvl6pPr marL="544216" algn="ctr" rtl="0" fontAlgn="base">
                <a:spcBef>
                  <a:spcPct val="0"/>
                </a:spcBef>
                <a:spcAft>
                  <a:spcPct val="0"/>
                </a:spcAft>
                <a:defRPr sz="5200">
                  <a:solidFill>
                    <a:schemeClr val="tx1"/>
                  </a:solidFill>
                  <a:latin typeface="Calibri" pitchFamily="34" charset="0"/>
                </a:defRPr>
              </a:lvl6pPr>
              <a:lvl7pPr marL="1088433" algn="ctr" rtl="0" fontAlgn="base">
                <a:spcBef>
                  <a:spcPct val="0"/>
                </a:spcBef>
                <a:spcAft>
                  <a:spcPct val="0"/>
                </a:spcAft>
                <a:defRPr sz="5200">
                  <a:solidFill>
                    <a:schemeClr val="tx1"/>
                  </a:solidFill>
                  <a:latin typeface="Calibri" pitchFamily="34" charset="0"/>
                </a:defRPr>
              </a:lvl7pPr>
              <a:lvl8pPr marL="1632649" algn="ctr" rtl="0" fontAlgn="base">
                <a:spcBef>
                  <a:spcPct val="0"/>
                </a:spcBef>
                <a:spcAft>
                  <a:spcPct val="0"/>
                </a:spcAft>
                <a:defRPr sz="5200">
                  <a:solidFill>
                    <a:schemeClr val="tx1"/>
                  </a:solidFill>
                  <a:latin typeface="Calibri" pitchFamily="34" charset="0"/>
                </a:defRPr>
              </a:lvl8pPr>
              <a:lvl9pPr marL="2176864" algn="ctr" rtl="0" fontAlgn="base">
                <a:spcBef>
                  <a:spcPct val="0"/>
                </a:spcBef>
                <a:spcAft>
                  <a:spcPct val="0"/>
                </a:spcAft>
                <a:defRPr sz="5200">
                  <a:solidFill>
                    <a:schemeClr val="tx1"/>
                  </a:solidFill>
                  <a:latin typeface="Calibri" pitchFamily="34" charset="0"/>
                </a:defRPr>
              </a:lvl9pPr>
            </a:lstStyle>
            <a:p>
              <a:pPr algn="l"/>
              <a:r>
                <a:rPr lang="en-US" sz="4800" dirty="0">
                  <a:solidFill>
                    <a:schemeClr val="tx1">
                      <a:lumMod val="65000"/>
                      <a:lumOff val="35000"/>
                    </a:schemeClr>
                  </a:solidFill>
                  <a:latin typeface="Arial" panose="020B0604020202020204" pitchFamily="34" charset="0"/>
                  <a:cs typeface="Arial" panose="020B0604020202020204" pitchFamily="34" charset="0"/>
                </a:rPr>
                <a:t>Thank You</a:t>
              </a:r>
            </a:p>
          </p:txBody>
        </p:sp>
        <p:sp>
          <p:nvSpPr>
            <p:cNvPr id="37" name="TextBox 24"/>
            <p:cNvSpPr txBox="1">
              <a:spLocks noChangeArrowheads="1"/>
            </p:cNvSpPr>
            <p:nvPr/>
          </p:nvSpPr>
          <p:spPr bwMode="auto">
            <a:xfrm>
              <a:off x="6239539" y="2604752"/>
              <a:ext cx="5731623" cy="1618000"/>
            </a:xfrm>
            <a:prstGeom prst="rect">
              <a:avLst/>
            </a:prstGeom>
            <a:noFill/>
            <a:ln w="9525">
              <a:noFill/>
              <a:miter lim="800000"/>
              <a:headEnd/>
              <a:tailEnd/>
            </a:ln>
          </p:spPr>
          <p:txBody>
            <a:bodyPr wrap="square" lIns="108830" tIns="54416" rIns="108830" bIns="54416">
              <a:spAutoFit/>
            </a:bodyPr>
            <a:lstStyle/>
            <a:p>
              <a:r>
                <a:rPr lang="en-US" sz="1400" b="1" dirty="0">
                  <a:latin typeface="Arial" panose="020B0604020202020204" pitchFamily="34" charset="0"/>
                  <a:cs typeface="Arial" panose="020B0604020202020204" pitchFamily="34" charset="0"/>
                </a:rPr>
                <a:t>Corporate Office</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Address</a:t>
              </a:r>
              <a:r>
                <a:rPr lang="en-US" sz="1400" b="1" dirty="0">
                  <a:solidFill>
                    <a:schemeClr val="tx1">
                      <a:lumMod val="75000"/>
                      <a:lumOff val="25000"/>
                    </a:schemeClr>
                  </a:solidFill>
                  <a:latin typeface="Arial" panose="020B0604020202020204" pitchFamily="34" charset="0"/>
                  <a:cs typeface="Arial" panose="020B0604020202020204" pitchFamily="34" charset="0"/>
                </a:rPr>
                <a:t xml:space="preserve">: </a:t>
              </a:r>
              <a:r>
                <a:rPr lang="en-US" sz="1400" dirty="0">
                  <a:solidFill>
                    <a:schemeClr val="tx1">
                      <a:lumMod val="75000"/>
                      <a:lumOff val="25000"/>
                    </a:schemeClr>
                  </a:solidFill>
                  <a:latin typeface="Arial" panose="020B0604020202020204" pitchFamily="34" charset="0"/>
                  <a:cs typeface="Arial" panose="020B0604020202020204" pitchFamily="34" charset="0"/>
                </a:rPr>
                <a:t xml:space="preserve">Village Nawada  Fatehpur, </a:t>
              </a:r>
            </a:p>
            <a:p>
              <a:r>
                <a:rPr lang="en-US" sz="1400" dirty="0">
                  <a:solidFill>
                    <a:schemeClr val="tx1">
                      <a:lumMod val="75000"/>
                      <a:lumOff val="25000"/>
                    </a:schemeClr>
                  </a:solidFill>
                  <a:latin typeface="Arial" panose="020B0604020202020204" pitchFamily="34" charset="0"/>
                  <a:cs typeface="Arial" panose="020B0604020202020204" pitchFamily="34" charset="0"/>
                </a:rPr>
                <a:t xml:space="preserve">P.O. Sikanderpur  Badda, Manesar, </a:t>
              </a:r>
            </a:p>
            <a:p>
              <a:r>
                <a:rPr lang="en-US" sz="1400" dirty="0">
                  <a:solidFill>
                    <a:schemeClr val="tx1">
                      <a:lumMod val="75000"/>
                      <a:lumOff val="25000"/>
                    </a:schemeClr>
                  </a:solidFill>
                  <a:latin typeface="Arial" panose="020B0604020202020204" pitchFamily="34" charset="0"/>
                  <a:cs typeface="Arial" panose="020B0604020202020204" pitchFamily="34" charset="0"/>
                </a:rPr>
                <a:t>Gurgaon – 122004, India.</a:t>
              </a:r>
            </a:p>
            <a:p>
              <a:r>
                <a:rPr lang="en-US" sz="1400" b="1" dirty="0">
                  <a:latin typeface="Arial" panose="020B0604020202020204" pitchFamily="34" charset="0"/>
                  <a:cs typeface="Arial" panose="020B0604020202020204" pitchFamily="34" charset="0"/>
                </a:rPr>
                <a:t xml:space="preserve">Website: </a:t>
              </a:r>
              <a:r>
                <a:rPr lang="en-US" sz="1400" dirty="0">
                  <a:solidFill>
                    <a:srgbClr val="009EDB"/>
                  </a:solidFill>
                  <a:latin typeface="Arial" panose="020B0604020202020204" pitchFamily="34" charset="0"/>
                  <a:cs typeface="Arial" panose="020B0604020202020204" pitchFamily="34" charset="0"/>
                </a:rPr>
                <a:t>www.unominda.com</a:t>
              </a:r>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Email ID</a:t>
              </a:r>
              <a:r>
                <a:rPr lang="en-US" sz="1400" dirty="0">
                  <a:latin typeface="Arial" panose="020B0604020202020204" pitchFamily="34" charset="0"/>
                  <a:cs typeface="Arial" panose="020B0604020202020204" pitchFamily="34" charset="0"/>
                </a:rPr>
                <a:t xml:space="preserve">: </a:t>
              </a:r>
              <a:r>
                <a:rPr lang="en-US" sz="1400" dirty="0">
                  <a:solidFill>
                    <a:srgbClr val="009EDB"/>
                  </a:solidFill>
                  <a:latin typeface="Arial" panose="020B0604020202020204" pitchFamily="34" charset="0"/>
                  <a:cs typeface="Arial" panose="020B0604020202020204" pitchFamily="34" charset="0"/>
                </a:rPr>
                <a:t>xxxx@unominda.com</a:t>
              </a:r>
            </a:p>
          </p:txBody>
        </p:sp>
        <p:pic>
          <p:nvPicPr>
            <p:cNvPr id="1030" name="Picture 6" descr="instagram.jpg — midpointmall.com">
              <a:hlinkClick r:id="rId7"/>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643939" y="4507725"/>
              <a:ext cx="1674813" cy="100488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7" descr="youtube.jpeg">
              <a:hlinkClick r:id="rId9"/>
            </p:cNvPr>
            <p:cNvPicPr>
              <a:picLocks noChangeAspect="1"/>
            </p:cNvPicPr>
            <p:nvPr/>
          </p:nvPicPr>
          <p:blipFill>
            <a:blip r:embed="rId10" cstate="print"/>
            <a:srcRect/>
            <a:stretch>
              <a:fillRect/>
            </a:stretch>
          </p:blipFill>
          <p:spPr bwMode="auto">
            <a:xfrm>
              <a:off x="8528050" y="4781516"/>
              <a:ext cx="541821" cy="457306"/>
            </a:xfrm>
            <a:prstGeom prst="rect">
              <a:avLst/>
            </a:prstGeom>
            <a:noFill/>
            <a:ln w="9525">
              <a:noFill/>
              <a:miter lim="800000"/>
              <a:headEnd/>
              <a:tailEnd/>
            </a:ln>
          </p:spPr>
        </p:pic>
      </p:grpSp>
      <p:sp>
        <p:nvSpPr>
          <p:cNvPr id="4" name="TextBox 3"/>
          <p:cNvSpPr txBox="1"/>
          <p:nvPr/>
        </p:nvSpPr>
        <p:spPr>
          <a:xfrm>
            <a:off x="6239539" y="4238615"/>
            <a:ext cx="3810000" cy="369332"/>
          </a:xfrm>
          <a:prstGeom prst="rect">
            <a:avLst/>
          </a:prstGeom>
          <a:noFill/>
        </p:spPr>
        <p:txBody>
          <a:bodyPr wrap="square" rtlCol="0">
            <a:spAutoFit/>
          </a:bodyPr>
          <a:lstStyle/>
          <a:p>
            <a:r>
              <a:rPr lang="en-US" dirty="0"/>
              <a:t>Follow us on social media. Links below</a:t>
            </a:r>
            <a:endParaRPr lang="en-IN" dirty="0"/>
          </a:p>
        </p:txBody>
      </p:sp>
      <p:pic>
        <p:nvPicPr>
          <p:cNvPr id="13" name="Picture 12">
            <a:extLst>
              <a:ext uri="{FF2B5EF4-FFF2-40B4-BE49-F238E27FC236}">
                <a16:creationId xmlns:a16="http://schemas.microsoft.com/office/drawing/2014/main" id="{CA047C07-817C-47E3-B2AB-849B5D0A547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38239" y="2453434"/>
            <a:ext cx="4441344" cy="2328081"/>
          </a:xfrm>
          <a:prstGeom prst="rect">
            <a:avLst/>
          </a:prstGeom>
        </p:spPr>
      </p:pic>
      <p:pic>
        <p:nvPicPr>
          <p:cNvPr id="14" name="Picture 13">
            <a:hlinkClick r:id="rId12"/>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156450" y="4800565"/>
            <a:ext cx="481825" cy="424709"/>
          </a:xfrm>
          <a:prstGeom prst="rect">
            <a:avLst/>
          </a:prstGeom>
        </p:spPr>
      </p:pic>
      <p:sp>
        <p:nvSpPr>
          <p:cNvPr id="2" name="GTBClassificationF566298952">
            <a:extLst>
              <a:ext uri="{FF2B5EF4-FFF2-40B4-BE49-F238E27FC236}">
                <a16:creationId xmlns:a16="http://schemas.microsoft.com/office/drawing/2014/main" id="{8D5384AE-B944-4B9B-A566-B32C2C36D96C}"/>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xml:space="preserve"> </a:t>
            </a:r>
            <a:r>
              <a:rPr lang="en-IN" sz="900" b="1">
                <a:solidFill>
                  <a:srgbClr val="0062B1">
                    <a:alpha val="70000"/>
                  </a:srgbClr>
                </a:solidFill>
                <a:latin typeface="arial" panose="020B0604020202020204" pitchFamily="34" charset="0"/>
              </a:rPr>
              <a:t>Internal</a:t>
            </a:r>
          </a:p>
        </p:txBody>
      </p:sp>
      <p:sp>
        <p:nvSpPr>
          <p:cNvPr id="9001" name="PageNumber"/>
          <p:cNvSpPr txBox="1">
            <a:spLocks/>
          </p:cNvSpPr>
          <p:nvPr/>
        </p:nvSpPr>
        <p:spPr>
          <a:xfrm>
            <a:off x="11432516" y="6391175"/>
            <a:ext cx="669862" cy="279133"/>
          </a:xfrm>
          <a:prstGeom prst="rect">
            <a:avLst/>
          </a:prstGeom>
        </p:spPr>
        <p:txBody>
          <a:bodyPr vert="horz" lIns="91345" tIns="45672" rIns="91345" bIns="45672" rtlCol="0" anchor="ctr"/>
          <a:lstStyle/>
          <a:p>
            <a:fld id="{D36E95A1-262F-4E3E-9B30-207FF0616F94}" type="slidenum">
              <a:rPr lang="en-US" sz="1399" smtClean="0">
                <a:solidFill>
                  <a:srgbClr val="0070C0"/>
                </a:solidFill>
              </a:rPr>
              <a:t>‹#›</a:t>
            </a:fld>
            <a:r>
              <a:rPr lang="en-US" sz="1399" dirty="0">
                <a:solidFill>
                  <a:srgbClr val="0070C0"/>
                </a:solidFill>
              </a:rPr>
              <a:t>/19</a:t>
            </a:r>
          </a:p>
        </p:txBody>
      </p:sp>
    </p:spTree>
    <p:extLst>
      <p:ext uri="{BB962C8B-B14F-4D97-AF65-F5344CB8AC3E}">
        <p14:creationId xmlns:p14="http://schemas.microsoft.com/office/powerpoint/2010/main" val="148306194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GTBClassification>
  <attrValue xml:space="preserve">Internal</attrValue>
  <customPropName>Classification</customPropName>
  <timestamp>4/21/2026 5:58:48 PM</timestamp>
  <userName>UNOMINDA\Ex0164</userName>
  <computerName>1401-DW-0038.UNOMINDA.COM</computerName>
  <guid>{e0cd1961-bdb1-42d2-8cc7-b1d42ef57c93}</guid>
  <ftr>
    <r>
      <fontName>arial</fontName>
      <fontColor>000000</fontColor>
      <fontSize>9</fontSize>
      <b/>
      <text xml:space="preserve">Classification:</text>
    </r>
    <r>
      <fontName>arial</fontName>
      <fontColor>000000</fontColor>
      <fontSize>9</fontSize>
      <text xml:space="preserve"/>
    </r>
    <r>
      <fontName>arial</fontName>
      <fontColor>0062B1</fontColor>
      <fontSize>9</fontSize>
      <b/>
      <text xml:space="preserve">Internal</text>
    </r>
  </ftr>
</GTBClassification>
</file>

<file path=customXml/itemProps1.xml><?xml version="1.0" encoding="utf-8"?>
<ds:datastoreItem xmlns:ds="http://schemas.openxmlformats.org/officeDocument/2006/customXml" ds:itemID="{649066E8-34BE-4FA4-A13F-5EE3AE4A384B}">
  <ds:schemaRefs/>
</ds:datastoreItem>
</file>

<file path=docProps/app.xml><?xml version="1.0" encoding="utf-8"?>
<Properties xmlns="http://schemas.openxmlformats.org/officeDocument/2006/extended-properties" xmlns:vt="http://schemas.openxmlformats.org/officeDocument/2006/docPropsVTypes">
  <Template/>
  <TotalTime>31323</TotalTime>
  <Words>1688</Words>
  <Application>Microsoft Office PowerPoint</Application>
  <PresentationFormat>Custom</PresentationFormat>
  <Paragraphs>335</Paragraphs>
  <Slides>19</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Arial</vt:lpstr>
      <vt:lpstr>Calibri</vt:lpstr>
      <vt:lpstr>Calibri Light</vt:lpstr>
      <vt:lpstr>Gotham Medium</vt:lpstr>
      <vt:lpstr>Times New Roman</vt:lpstr>
      <vt:lpstr>Custom Design</vt:lpstr>
      <vt:lpstr>1_Custom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2018.cdr</dc:title>
  <dc:creator>dalipvijh</dc:creator>
  <cp:keywords>ClassificationData:&lt;Classification:Internal&gt;</cp:keywords>
  <cp:lastModifiedBy>Intern (Int)/MRPL/HRM/MNSR</cp:lastModifiedBy>
  <cp:revision>1222</cp:revision>
  <dcterms:created xsi:type="dcterms:W3CDTF">2018-05-23T10:15:22Z</dcterms:created>
  <dcterms:modified xsi:type="dcterms:W3CDTF">2026-04-22T11:33:20Z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2018-05-23T00:00:00Z</vt:filetime>
  </property>
  <property fmtid="{D5CDD505-2E9C-101B-9397-08002B2CF9AE}" pid="3" name="Creator">
    <vt:lpwstr>CorelDRAW X7</vt:lpwstr>
  </property>
  <property fmtid="{D5CDD505-2E9C-101B-9397-08002B2CF9AE}" pid="4" name="LastSaved">
    <vt:filetime>2018-05-23T00:00:00Z</vt:filetime>
  </property>
  <property fmtid="{D5CDD505-2E9C-101B-9397-08002B2CF9AE}" pid="5" name="Classification">
    <vt:lpwstr>Internal</vt:lpwstr>
  </property>
  <property fmtid="{D5CDD505-2E9C-101B-9397-08002B2CF9AE}" pid="6" name="ClassifiedBy">
    <vt:lpwstr>UNOMINDA\Ex0164</vt:lpwstr>
  </property>
  <property fmtid="{D5CDD505-2E9C-101B-9397-08002B2CF9AE}" pid="7" name="ClassificationHost">
    <vt:lpwstr>1401-DW-0038.UNOMINDA.COM</vt:lpwstr>
  </property>
  <property fmtid="{D5CDD505-2E9C-101B-9397-08002B2CF9AE}" pid="8" name="ClassificationDate">
    <vt:lpwstr>4/21/2026 5:58:48 PM</vt:lpwstr>
  </property>
  <property fmtid="{D5CDD505-2E9C-101B-9397-08002B2CF9AE}" pid="9" name="ClassificationGUID">
    <vt:lpwstr>{e0cd1961-bdb1-42d2-8cc7-b1d42ef57c93}</vt:lpwstr>
  </property>
</Properties>
</file>