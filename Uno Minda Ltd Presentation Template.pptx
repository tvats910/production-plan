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8" r:id="rId2"/>
    <p:sldMasterId id="2147483671" r:id="rId3"/>
  </p:sldMasterIdLst>
  <p:notesMasterIdLst>
    <p:notesMasterId r:id="rId23"/>
  </p:notesMasterIdLst>
  <p:handoutMasterIdLst>
    <p:handoutMasterId r:id="rId24"/>
  </p:handoutMasterIdLst>
  <p:sldIdLst>
    <p:sldId id="395" r:id="rId4"/>
    <p:sldId id="469" r:id="rId5"/>
    <p:sldId id="470" r:id="rId6"/>
    <p:sldId id="471" r:id="rId7"/>
    <p:sldId id="472" r:id="rId8"/>
    <p:sldId id="473" r:id="rId9"/>
    <p:sldId id="466" r:id="rId10"/>
    <p:sldId id="474" r:id="rId11"/>
    <p:sldId id="475" r:id="rId12"/>
    <p:sldId id="476" r:id="rId13"/>
    <p:sldId id="477" r:id="rId14"/>
    <p:sldId id="478" r:id="rId15"/>
    <p:sldId id="479" r:id="rId16"/>
    <p:sldId id="480" r:id="rId17"/>
    <p:sldId id="481" r:id="rId18"/>
    <p:sldId id="257" r:id="rId19"/>
    <p:sldId id="467" r:id="rId20"/>
    <p:sldId id="468" r:id="rId21"/>
    <p:sldId id="354" r:id="rId22"/>
  </p:sldIdLst>
  <p:sldSz cx="12179300" cy="6858000"/>
  <p:notesSz cx="9866313" cy="67357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ntern (Int)/MRPL/HRM/MNSR" initials="I(" lastIdx="1" clrIdx="0">
    <p:extLst>
      <p:ext uri="{19B8F6BF-5375-455C-9EA6-DF929625EA0E}">
        <p15:presenceInfo xmlns:p15="http://schemas.microsoft.com/office/powerpoint/2012/main" userId="S-1-5-21-2493176086-1615525218-267138467-889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DA"/>
    <a:srgbClr val="578537"/>
    <a:srgbClr val="009900"/>
    <a:srgbClr val="FF9801"/>
    <a:srgbClr val="FF9900"/>
    <a:srgbClr val="2F5597"/>
    <a:srgbClr val="FF4B4B"/>
    <a:srgbClr val="FF1515"/>
    <a:srgbClr val="FF1111"/>
    <a:srgbClr val="D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26" autoAdjust="0"/>
    <p:restoredTop sz="94364" autoAdjust="0"/>
  </p:normalViewPr>
  <p:slideViewPr>
    <p:cSldViewPr>
      <p:cViewPr varScale="1">
        <p:scale>
          <a:sx n="130" d="100"/>
          <a:sy n="130" d="100"/>
        </p:scale>
        <p:origin x="420" y="126"/>
      </p:cViewPr>
      <p:guideLst>
        <p:guide orient="horz" pos="2160"/>
        <p:guide pos="3836"/>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171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il Kajal/MRPL/MFG/MNSR" userId="86c03b95-eb12-4d52-98df-e2ae432bd47e" providerId="ADAL" clId="{C6304F64-A165-4FC2-91D6-2D558C5B18BD}"/>
    <pc:docChg chg="undo custSel modSld">
      <pc:chgData name="Sunil Kajal/MRPL/MFG/MNSR" userId="86c03b95-eb12-4d52-98df-e2ae432bd47e" providerId="ADAL" clId="{C6304F64-A165-4FC2-91D6-2D558C5B18BD}" dt="2025-12-16T09:57:39.292" v="51" actId="108"/>
      <pc:docMkLst>
        <pc:docMk/>
      </pc:docMkLst>
      <pc:sldChg chg="addSp delSp modSp mod">
        <pc:chgData name="Sunil Kajal/MRPL/MFG/MNSR" userId="86c03b95-eb12-4d52-98df-e2ae432bd47e" providerId="ADAL" clId="{C6304F64-A165-4FC2-91D6-2D558C5B18BD}" dt="2025-12-16T09:57:39.292" v="51" actId="108"/>
        <pc:sldMkLst>
          <pc:docMk/>
          <pc:sldMk cId="3838420264" sldId="467"/>
        </pc:sldMkLst>
        <pc:spChg chg="mod">
          <ac:chgData name="Sunil Kajal/MRPL/MFG/MNSR" userId="86c03b95-eb12-4d52-98df-e2ae432bd47e" providerId="ADAL" clId="{C6304F64-A165-4FC2-91D6-2D558C5B18BD}" dt="2025-12-16T09:57:39.292" v="51" actId="108"/>
          <ac:spMkLst>
            <pc:docMk/>
            <pc:sldMk cId="3838420264" sldId="467"/>
            <ac:spMk id="2" creationId="{10BE3B4B-1ADE-474C-8E64-A75DC30A2957}"/>
          </ac:spMkLst>
        </pc:spChg>
        <pc:spChg chg="del mod">
          <ac:chgData name="Sunil Kajal/MRPL/MFG/MNSR" userId="86c03b95-eb12-4d52-98df-e2ae432bd47e" providerId="ADAL" clId="{C6304F64-A165-4FC2-91D6-2D558C5B18BD}" dt="2025-12-16T09:51:49.830" v="1" actId="478"/>
          <ac:spMkLst>
            <pc:docMk/>
            <pc:sldMk cId="3838420264" sldId="467"/>
            <ac:spMk id="3" creationId="{00000000-0000-0000-0000-000000000000}"/>
          </ac:spMkLst>
        </pc:spChg>
        <pc:spChg chg="add mod">
          <ac:chgData name="Sunil Kajal/MRPL/MFG/MNSR" userId="86c03b95-eb12-4d52-98df-e2ae432bd47e" providerId="ADAL" clId="{C6304F64-A165-4FC2-91D6-2D558C5B18BD}" dt="2025-12-16T09:55:38.840" v="24" actId="14100"/>
          <ac:spMkLst>
            <pc:docMk/>
            <pc:sldMk cId="3838420264" sldId="467"/>
            <ac:spMk id="10" creationId="{C71EEF11-D2C7-41BE-A8D6-2DA27CED5BD5}"/>
          </ac:spMkLst>
        </pc:spChg>
        <pc:spChg chg="add del mod">
          <ac:chgData name="Sunil Kajal/MRPL/MFG/MNSR" userId="86c03b95-eb12-4d52-98df-e2ae432bd47e" providerId="ADAL" clId="{C6304F64-A165-4FC2-91D6-2D558C5B18BD}" dt="2025-12-16T09:56:35.445" v="38" actId="14100"/>
          <ac:spMkLst>
            <pc:docMk/>
            <pc:sldMk cId="3838420264" sldId="467"/>
            <ac:spMk id="11" creationId="{5EE41485-8E4D-41C5-903C-529CB62EC31B}"/>
          </ac:spMkLst>
        </pc:spChg>
        <pc:spChg chg="add mod">
          <ac:chgData name="Sunil Kajal/MRPL/MFG/MNSR" userId="86c03b95-eb12-4d52-98df-e2ae432bd47e" providerId="ADAL" clId="{C6304F64-A165-4FC2-91D6-2D558C5B18BD}" dt="2025-12-16T09:56:05.771" v="30" actId="14100"/>
          <ac:spMkLst>
            <pc:docMk/>
            <pc:sldMk cId="3838420264" sldId="467"/>
            <ac:spMk id="12" creationId="{2C7645BF-C2CC-4006-888A-EF012E228AAB}"/>
          </ac:spMkLst>
        </pc:spChg>
        <pc:picChg chg="add mod">
          <ac:chgData name="Sunil Kajal/MRPL/MFG/MNSR" userId="86c03b95-eb12-4d52-98df-e2ae432bd47e" providerId="ADAL" clId="{C6304F64-A165-4FC2-91D6-2D558C5B18BD}" dt="2025-12-16T09:53:02.743" v="11" actId="14100"/>
          <ac:picMkLst>
            <pc:docMk/>
            <pc:sldMk cId="3838420264" sldId="467"/>
            <ac:picMk id="5" creationId="{04336464-269E-494F-A8F2-BBBB7764FE85}"/>
          </ac:picMkLst>
        </pc:picChg>
        <pc:picChg chg="add mod">
          <ac:chgData name="Sunil Kajal/MRPL/MFG/MNSR" userId="86c03b95-eb12-4d52-98df-e2ae432bd47e" providerId="ADAL" clId="{C6304F64-A165-4FC2-91D6-2D558C5B18BD}" dt="2025-12-16T09:52:57.271" v="9" actId="14100"/>
          <ac:picMkLst>
            <pc:docMk/>
            <pc:sldMk cId="3838420264" sldId="467"/>
            <ac:picMk id="7" creationId="{580DFB98-2BD5-4910-8529-4D61DB7A7588}"/>
          </ac:picMkLst>
        </pc:picChg>
        <pc:picChg chg="add mod">
          <ac:chgData name="Sunil Kajal/MRPL/MFG/MNSR" userId="86c03b95-eb12-4d52-98df-e2ae432bd47e" providerId="ADAL" clId="{C6304F64-A165-4FC2-91D6-2D558C5B18BD}" dt="2025-12-16T09:52:54.458" v="8" actId="14100"/>
          <ac:picMkLst>
            <pc:docMk/>
            <pc:sldMk cId="3838420264" sldId="467"/>
            <ac:picMk id="9" creationId="{86569D91-8CFC-4B99-8DD2-2ABD274BA5E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FAD2DB-704D-499D-A9F0-A6A1AE7B5B46}" type="doc">
      <dgm:prSet loTypeId="urn:microsoft.com/office/officeart/2005/8/layout/hList1" loCatId="list" qsTypeId="urn:microsoft.com/office/officeart/2005/8/quickstyle/3d2" qsCatId="3D" csTypeId="urn:microsoft.com/office/officeart/2005/8/colors/colorful5" csCatId="colorful" phldr="1"/>
      <dgm:spPr/>
      <dgm:t>
        <a:bodyPr/>
        <a:lstStyle/>
        <a:p>
          <a:endParaRPr lang="en-IN"/>
        </a:p>
      </dgm:t>
    </dgm:pt>
    <dgm:pt modelId="{2FBD262F-C709-4B77-89B1-32E3B6A46CAB}">
      <dgm:prSet phldrT="[Text]"/>
      <dgm:spPr/>
      <dgm:t>
        <a:bodyPr/>
        <a:lstStyle/>
        <a:p>
          <a:r>
            <a:rPr lang="en-US" dirty="0"/>
            <a:t>Current Scenario</a:t>
          </a:r>
          <a:endParaRPr lang="en-IN" dirty="0"/>
        </a:p>
      </dgm:t>
    </dgm:pt>
    <dgm:pt modelId="{AD114B3C-0F2C-4A1C-B399-7BD04D21F653}" type="parTrans" cxnId="{74915ECC-C642-4E71-847F-56B6DF0D7A13}">
      <dgm:prSet/>
      <dgm:spPr/>
      <dgm:t>
        <a:bodyPr/>
        <a:lstStyle/>
        <a:p>
          <a:endParaRPr lang="en-IN"/>
        </a:p>
      </dgm:t>
    </dgm:pt>
    <dgm:pt modelId="{E47BFCB2-BD1C-451A-9134-8624FA1EEF68}" type="sibTrans" cxnId="{74915ECC-C642-4E71-847F-56B6DF0D7A13}">
      <dgm:prSet/>
      <dgm:spPr/>
      <dgm:t>
        <a:bodyPr/>
        <a:lstStyle/>
        <a:p>
          <a:endParaRPr lang="en-IN"/>
        </a:p>
      </dgm:t>
    </dgm:pt>
    <dgm:pt modelId="{4921D84D-1223-4A00-80C0-AA716B3270F0}">
      <dgm:prSet phldrT="[Text]" custT="1"/>
      <dgm:spPr/>
      <dgm:t>
        <a:bodyPr/>
        <a:lstStyle/>
        <a:p>
          <a:r>
            <a:rPr lang="en-US" sz="2000" dirty="0"/>
            <a:t>Manual Planning</a:t>
          </a:r>
          <a:endParaRPr lang="en-IN" sz="2000" dirty="0"/>
        </a:p>
      </dgm:t>
    </dgm:pt>
    <dgm:pt modelId="{F5AAB38B-C4DD-4CFD-853A-4DE8B69409C2}" type="parTrans" cxnId="{96A8674B-4A6B-4C33-B5FE-957F613830D2}">
      <dgm:prSet/>
      <dgm:spPr/>
      <dgm:t>
        <a:bodyPr/>
        <a:lstStyle/>
        <a:p>
          <a:endParaRPr lang="en-IN"/>
        </a:p>
      </dgm:t>
    </dgm:pt>
    <dgm:pt modelId="{28B63696-1DF5-4FE8-9E92-4858F5AD0BEF}" type="sibTrans" cxnId="{96A8674B-4A6B-4C33-B5FE-957F613830D2}">
      <dgm:prSet/>
      <dgm:spPr/>
      <dgm:t>
        <a:bodyPr/>
        <a:lstStyle/>
        <a:p>
          <a:endParaRPr lang="en-IN"/>
        </a:p>
      </dgm:t>
    </dgm:pt>
    <dgm:pt modelId="{221D8438-CAF0-46CE-8DDB-FA74C96F5E32}">
      <dgm:prSet phldrT="[Text]" custT="1"/>
      <dgm:spPr/>
      <dgm:t>
        <a:bodyPr/>
        <a:lstStyle/>
        <a:p>
          <a:r>
            <a:rPr lang="en-US" sz="2000" dirty="0"/>
            <a:t>Inventory Management</a:t>
          </a:r>
          <a:endParaRPr lang="en-IN" sz="2000" dirty="0"/>
        </a:p>
      </dgm:t>
    </dgm:pt>
    <dgm:pt modelId="{0C354543-E718-4D58-8361-F647314BA94B}" type="parTrans" cxnId="{967C82C2-0B37-41D4-BAC0-4291D24BA750}">
      <dgm:prSet/>
      <dgm:spPr/>
      <dgm:t>
        <a:bodyPr/>
        <a:lstStyle/>
        <a:p>
          <a:endParaRPr lang="en-IN"/>
        </a:p>
      </dgm:t>
    </dgm:pt>
    <dgm:pt modelId="{12F4918C-9593-46DA-B3DA-95B07FF698F3}" type="sibTrans" cxnId="{967C82C2-0B37-41D4-BAC0-4291D24BA750}">
      <dgm:prSet/>
      <dgm:spPr/>
      <dgm:t>
        <a:bodyPr/>
        <a:lstStyle/>
        <a:p>
          <a:endParaRPr lang="en-IN"/>
        </a:p>
      </dgm:t>
    </dgm:pt>
    <dgm:pt modelId="{5C24AE22-85FD-4EBA-8CCD-738BF825DEA7}">
      <dgm:prSet phldrT="[Text]"/>
      <dgm:spPr/>
      <dgm:t>
        <a:bodyPr/>
        <a:lstStyle/>
        <a:p>
          <a:r>
            <a:rPr lang="en-US" dirty="0"/>
            <a:t>Gap</a:t>
          </a:r>
          <a:endParaRPr lang="en-IN" dirty="0"/>
        </a:p>
      </dgm:t>
    </dgm:pt>
    <dgm:pt modelId="{C7CBCD68-0A31-4522-9AEB-97F190E9D41D}" type="parTrans" cxnId="{1530919D-3492-4D12-B926-5780C32D0743}">
      <dgm:prSet/>
      <dgm:spPr/>
      <dgm:t>
        <a:bodyPr/>
        <a:lstStyle/>
        <a:p>
          <a:endParaRPr lang="en-IN"/>
        </a:p>
      </dgm:t>
    </dgm:pt>
    <dgm:pt modelId="{CE4F56D3-B3B3-47D9-8AA9-C3312CEE1A8B}" type="sibTrans" cxnId="{1530919D-3492-4D12-B926-5780C32D0743}">
      <dgm:prSet/>
      <dgm:spPr/>
      <dgm:t>
        <a:bodyPr/>
        <a:lstStyle/>
        <a:p>
          <a:endParaRPr lang="en-IN"/>
        </a:p>
      </dgm:t>
    </dgm:pt>
    <dgm:pt modelId="{888CEEE1-F231-4C27-9D5C-CBC975332A57}">
      <dgm:prSet phldrT="[Text]" custT="1"/>
      <dgm:spPr/>
      <dgm:t>
        <a:bodyPr/>
        <a:lstStyle/>
        <a:p>
          <a:r>
            <a:rPr lang="en-US" sz="2000" dirty="0"/>
            <a:t>Involves 2 – 3 peoples and is time consuming</a:t>
          </a:r>
          <a:endParaRPr lang="en-IN" sz="2000" dirty="0"/>
        </a:p>
      </dgm:t>
    </dgm:pt>
    <dgm:pt modelId="{CC1F013E-C3F2-43C1-8BB5-9B4A4C412DF9}" type="parTrans" cxnId="{9079F516-6A08-4C32-A710-7EB87E0F7D0F}">
      <dgm:prSet/>
      <dgm:spPr/>
      <dgm:t>
        <a:bodyPr/>
        <a:lstStyle/>
        <a:p>
          <a:endParaRPr lang="en-IN"/>
        </a:p>
      </dgm:t>
    </dgm:pt>
    <dgm:pt modelId="{EBFD1B68-1C5C-455B-A834-347045CE89C0}" type="sibTrans" cxnId="{9079F516-6A08-4C32-A710-7EB87E0F7D0F}">
      <dgm:prSet/>
      <dgm:spPr/>
      <dgm:t>
        <a:bodyPr/>
        <a:lstStyle/>
        <a:p>
          <a:endParaRPr lang="en-IN"/>
        </a:p>
      </dgm:t>
    </dgm:pt>
    <dgm:pt modelId="{E55AC09C-A436-4EE6-98E1-4E0F5E56056C}">
      <dgm:prSet phldrT="[Text]" custT="1"/>
      <dgm:spPr/>
      <dgm:t>
        <a:bodyPr/>
        <a:lstStyle/>
        <a:p>
          <a:r>
            <a:rPr lang="en-US" sz="2000" dirty="0"/>
            <a:t>Some Parts are overproduced/ some may have shortage</a:t>
          </a:r>
          <a:endParaRPr lang="en-IN" sz="2000" dirty="0"/>
        </a:p>
      </dgm:t>
    </dgm:pt>
    <dgm:pt modelId="{33F8411A-B7CE-40E8-8500-0B9F2A7A789E}" type="parTrans" cxnId="{493449E8-33AE-4A89-9E1A-A54E39476B2C}">
      <dgm:prSet/>
      <dgm:spPr/>
      <dgm:t>
        <a:bodyPr/>
        <a:lstStyle/>
        <a:p>
          <a:endParaRPr lang="en-IN"/>
        </a:p>
      </dgm:t>
    </dgm:pt>
    <dgm:pt modelId="{70F11D6A-833F-4A15-AAB1-709F42B34EBB}" type="sibTrans" cxnId="{493449E8-33AE-4A89-9E1A-A54E39476B2C}">
      <dgm:prSet/>
      <dgm:spPr/>
      <dgm:t>
        <a:bodyPr/>
        <a:lstStyle/>
        <a:p>
          <a:endParaRPr lang="en-IN"/>
        </a:p>
      </dgm:t>
    </dgm:pt>
    <dgm:pt modelId="{A1B6EFA5-2B77-4623-8E87-F0AC19F854ED}">
      <dgm:prSet phldrT="[Text]"/>
      <dgm:spPr/>
      <dgm:t>
        <a:bodyPr/>
        <a:lstStyle/>
        <a:p>
          <a:r>
            <a:rPr lang="en-US" dirty="0"/>
            <a:t>To Be</a:t>
          </a:r>
          <a:endParaRPr lang="en-IN" dirty="0"/>
        </a:p>
      </dgm:t>
    </dgm:pt>
    <dgm:pt modelId="{27D8F466-342B-41C6-9ECA-C385D87C4C60}" type="parTrans" cxnId="{6085A4F9-EA19-4650-A3D9-654DDDE71D73}">
      <dgm:prSet/>
      <dgm:spPr/>
      <dgm:t>
        <a:bodyPr/>
        <a:lstStyle/>
        <a:p>
          <a:endParaRPr lang="en-IN"/>
        </a:p>
      </dgm:t>
    </dgm:pt>
    <dgm:pt modelId="{911BE730-BF42-4B21-BB4F-D4123089D97D}" type="sibTrans" cxnId="{6085A4F9-EA19-4650-A3D9-654DDDE71D73}">
      <dgm:prSet/>
      <dgm:spPr/>
      <dgm:t>
        <a:bodyPr/>
        <a:lstStyle/>
        <a:p>
          <a:endParaRPr lang="en-IN"/>
        </a:p>
      </dgm:t>
    </dgm:pt>
    <dgm:pt modelId="{9AFD8125-50B4-4FD9-9D5B-C79494DA7593}">
      <dgm:prSet phldrT="[Text]" custT="1"/>
      <dgm:spPr/>
      <dgm:t>
        <a:bodyPr/>
        <a:lstStyle/>
        <a:p>
          <a:r>
            <a:rPr lang="en-US" sz="2000" dirty="0"/>
            <a:t>Automated</a:t>
          </a:r>
          <a:endParaRPr lang="en-IN" sz="2000" dirty="0"/>
        </a:p>
      </dgm:t>
    </dgm:pt>
    <dgm:pt modelId="{B7E13DF9-D862-4A86-A096-0ECBA98D87F8}" type="parTrans" cxnId="{1D850130-9652-45F1-B97F-D5091163F406}">
      <dgm:prSet/>
      <dgm:spPr/>
      <dgm:t>
        <a:bodyPr/>
        <a:lstStyle/>
        <a:p>
          <a:endParaRPr lang="en-IN"/>
        </a:p>
      </dgm:t>
    </dgm:pt>
    <dgm:pt modelId="{0B97DA04-88F7-4532-B8C9-DF1B9065030C}" type="sibTrans" cxnId="{1D850130-9652-45F1-B97F-D5091163F406}">
      <dgm:prSet/>
      <dgm:spPr/>
      <dgm:t>
        <a:bodyPr/>
        <a:lstStyle/>
        <a:p>
          <a:endParaRPr lang="en-IN"/>
        </a:p>
      </dgm:t>
    </dgm:pt>
    <dgm:pt modelId="{713DF175-A214-4DBD-8B7B-C3EC8D379AF7}">
      <dgm:prSet phldrT="[Text]" custT="1"/>
      <dgm:spPr/>
      <dgm:t>
        <a:bodyPr/>
        <a:lstStyle/>
        <a:p>
          <a:r>
            <a:rPr lang="en-US" sz="2000" dirty="0"/>
            <a:t>Maintain 3 day safety stock</a:t>
          </a:r>
          <a:endParaRPr lang="en-IN" sz="2000" dirty="0"/>
        </a:p>
      </dgm:t>
    </dgm:pt>
    <dgm:pt modelId="{3763C528-681E-4BD6-9C37-5D12FE11AE37}" type="parTrans" cxnId="{9B402EFF-DCF5-4A80-BFF5-91B28495AE2A}">
      <dgm:prSet/>
      <dgm:spPr/>
      <dgm:t>
        <a:bodyPr/>
        <a:lstStyle/>
        <a:p>
          <a:endParaRPr lang="en-IN"/>
        </a:p>
      </dgm:t>
    </dgm:pt>
    <dgm:pt modelId="{3D1778DF-F901-4FC2-91B4-74C9D7D36C37}" type="sibTrans" cxnId="{9B402EFF-DCF5-4A80-BFF5-91B28495AE2A}">
      <dgm:prSet/>
      <dgm:spPr/>
      <dgm:t>
        <a:bodyPr/>
        <a:lstStyle/>
        <a:p>
          <a:endParaRPr lang="en-IN"/>
        </a:p>
      </dgm:t>
    </dgm:pt>
    <dgm:pt modelId="{6881B322-C3BA-49CC-BF3C-B46C6087C32C}">
      <dgm:prSet phldrT="[Text]" custT="1"/>
      <dgm:spPr/>
      <dgm:t>
        <a:bodyPr/>
        <a:lstStyle/>
        <a:p>
          <a:r>
            <a:rPr lang="en-US" sz="2000" dirty="0"/>
            <a:t>Machine Utilization</a:t>
          </a:r>
          <a:endParaRPr lang="en-IN" sz="2000" dirty="0"/>
        </a:p>
      </dgm:t>
    </dgm:pt>
    <dgm:pt modelId="{6F2921D1-698F-463C-B3B2-CFB25780EC3F}" type="parTrans" cxnId="{9023A22F-B812-4727-94E0-E2BD7050BC1F}">
      <dgm:prSet/>
      <dgm:spPr/>
      <dgm:t>
        <a:bodyPr/>
        <a:lstStyle/>
        <a:p>
          <a:endParaRPr lang="en-IN"/>
        </a:p>
      </dgm:t>
    </dgm:pt>
    <dgm:pt modelId="{BC6B7725-2AA9-4C65-AE00-6DC170C16F4B}" type="sibTrans" cxnId="{9023A22F-B812-4727-94E0-E2BD7050BC1F}">
      <dgm:prSet/>
      <dgm:spPr/>
      <dgm:t>
        <a:bodyPr/>
        <a:lstStyle/>
        <a:p>
          <a:endParaRPr lang="en-IN"/>
        </a:p>
      </dgm:t>
    </dgm:pt>
    <dgm:pt modelId="{BFFC14D2-C9C3-4CB5-B055-2836F3D233F8}">
      <dgm:prSet phldrT="[Text]" custT="1"/>
      <dgm:spPr/>
      <dgm:t>
        <a:bodyPr/>
        <a:lstStyle/>
        <a:p>
          <a:r>
            <a:rPr lang="en-US" sz="2000" dirty="0"/>
            <a:t>No proper track of machine utilization, while some machines are on PDT</a:t>
          </a:r>
          <a:endParaRPr lang="en-IN" sz="2000" dirty="0"/>
        </a:p>
      </dgm:t>
    </dgm:pt>
    <dgm:pt modelId="{127F3325-2F54-4ECA-A079-0C3813FFFEE5}" type="parTrans" cxnId="{4AF93A36-7F30-4190-953B-34CE3C99DBCB}">
      <dgm:prSet/>
      <dgm:spPr/>
      <dgm:t>
        <a:bodyPr/>
        <a:lstStyle/>
        <a:p>
          <a:endParaRPr lang="en-IN"/>
        </a:p>
      </dgm:t>
    </dgm:pt>
    <dgm:pt modelId="{675221AD-EE48-4704-BF35-DC2A5C22CD01}" type="sibTrans" cxnId="{4AF93A36-7F30-4190-953B-34CE3C99DBCB}">
      <dgm:prSet/>
      <dgm:spPr/>
      <dgm:t>
        <a:bodyPr/>
        <a:lstStyle/>
        <a:p>
          <a:endParaRPr lang="en-IN"/>
        </a:p>
      </dgm:t>
    </dgm:pt>
    <dgm:pt modelId="{480CACA1-3B61-4C25-951C-698CE30F45DB}">
      <dgm:prSet phldrT="[Text]" custT="1"/>
      <dgm:spPr/>
      <dgm:t>
        <a:bodyPr/>
        <a:lstStyle/>
        <a:p>
          <a:r>
            <a:rPr lang="en-US" sz="2000" dirty="0"/>
            <a:t>As per production scheduling</a:t>
          </a:r>
          <a:endParaRPr lang="en-IN" sz="2000" dirty="0"/>
        </a:p>
      </dgm:t>
    </dgm:pt>
    <dgm:pt modelId="{25197A65-EDCC-46AB-9EAA-9E7A99D63E2F}" type="parTrans" cxnId="{CE4FF847-B822-4B05-BA96-393869FE939A}">
      <dgm:prSet/>
      <dgm:spPr/>
      <dgm:t>
        <a:bodyPr/>
        <a:lstStyle/>
        <a:p>
          <a:endParaRPr lang="en-IN"/>
        </a:p>
      </dgm:t>
    </dgm:pt>
    <dgm:pt modelId="{0E391773-1349-44E1-9703-93899675993B}" type="sibTrans" cxnId="{CE4FF847-B822-4B05-BA96-393869FE939A}">
      <dgm:prSet/>
      <dgm:spPr/>
      <dgm:t>
        <a:bodyPr/>
        <a:lstStyle/>
        <a:p>
          <a:endParaRPr lang="en-IN"/>
        </a:p>
      </dgm:t>
    </dgm:pt>
    <dgm:pt modelId="{7DF86785-1D59-40A2-B01B-299564350599}" type="pres">
      <dgm:prSet presAssocID="{81FAD2DB-704D-499D-A9F0-A6A1AE7B5B46}" presName="Name0" presStyleCnt="0">
        <dgm:presLayoutVars>
          <dgm:dir/>
          <dgm:animLvl val="lvl"/>
          <dgm:resizeHandles val="exact"/>
        </dgm:presLayoutVars>
      </dgm:prSet>
      <dgm:spPr/>
    </dgm:pt>
    <dgm:pt modelId="{4BD6DD94-673D-4DC2-A01A-1B9A61989FE4}" type="pres">
      <dgm:prSet presAssocID="{2FBD262F-C709-4B77-89B1-32E3B6A46CAB}" presName="composite" presStyleCnt="0"/>
      <dgm:spPr/>
    </dgm:pt>
    <dgm:pt modelId="{70BEDE65-E973-45EA-B85D-1EE0D0931FA8}" type="pres">
      <dgm:prSet presAssocID="{2FBD262F-C709-4B77-89B1-32E3B6A46CAB}" presName="parTx" presStyleLbl="alignNode1" presStyleIdx="0" presStyleCnt="3">
        <dgm:presLayoutVars>
          <dgm:chMax val="0"/>
          <dgm:chPref val="0"/>
          <dgm:bulletEnabled val="1"/>
        </dgm:presLayoutVars>
      </dgm:prSet>
      <dgm:spPr/>
    </dgm:pt>
    <dgm:pt modelId="{E9DD3F9B-E682-41E8-8AC7-23FD3997923C}" type="pres">
      <dgm:prSet presAssocID="{2FBD262F-C709-4B77-89B1-32E3B6A46CAB}" presName="desTx" presStyleLbl="alignAccFollowNode1" presStyleIdx="0" presStyleCnt="3">
        <dgm:presLayoutVars>
          <dgm:bulletEnabled val="1"/>
        </dgm:presLayoutVars>
      </dgm:prSet>
      <dgm:spPr/>
    </dgm:pt>
    <dgm:pt modelId="{8485532B-E20A-459D-AB22-125BFBA41FEC}" type="pres">
      <dgm:prSet presAssocID="{E47BFCB2-BD1C-451A-9134-8624FA1EEF68}" presName="space" presStyleCnt="0"/>
      <dgm:spPr/>
    </dgm:pt>
    <dgm:pt modelId="{54A58E19-F631-41B2-AF78-5A5F13E13B67}" type="pres">
      <dgm:prSet presAssocID="{5C24AE22-85FD-4EBA-8CCD-738BF825DEA7}" presName="composite" presStyleCnt="0"/>
      <dgm:spPr/>
    </dgm:pt>
    <dgm:pt modelId="{D2DC684B-B30B-4CED-9492-DF6BC6D06EF9}" type="pres">
      <dgm:prSet presAssocID="{5C24AE22-85FD-4EBA-8CCD-738BF825DEA7}" presName="parTx" presStyleLbl="alignNode1" presStyleIdx="1" presStyleCnt="3">
        <dgm:presLayoutVars>
          <dgm:chMax val="0"/>
          <dgm:chPref val="0"/>
          <dgm:bulletEnabled val="1"/>
        </dgm:presLayoutVars>
      </dgm:prSet>
      <dgm:spPr/>
    </dgm:pt>
    <dgm:pt modelId="{A00964F0-C12F-4589-B5A7-C354E12F5488}" type="pres">
      <dgm:prSet presAssocID="{5C24AE22-85FD-4EBA-8CCD-738BF825DEA7}" presName="desTx" presStyleLbl="alignAccFollowNode1" presStyleIdx="1" presStyleCnt="3">
        <dgm:presLayoutVars>
          <dgm:bulletEnabled val="1"/>
        </dgm:presLayoutVars>
      </dgm:prSet>
      <dgm:spPr/>
    </dgm:pt>
    <dgm:pt modelId="{CEB452C0-C8A9-4036-BC14-AB4021E2DF61}" type="pres">
      <dgm:prSet presAssocID="{CE4F56D3-B3B3-47D9-8AA9-C3312CEE1A8B}" presName="space" presStyleCnt="0"/>
      <dgm:spPr/>
    </dgm:pt>
    <dgm:pt modelId="{1708D5C3-4683-4149-92E0-FB92EE563491}" type="pres">
      <dgm:prSet presAssocID="{A1B6EFA5-2B77-4623-8E87-F0AC19F854ED}" presName="composite" presStyleCnt="0"/>
      <dgm:spPr/>
    </dgm:pt>
    <dgm:pt modelId="{40E663B8-BFF6-4AFF-A637-D4A560B27D7E}" type="pres">
      <dgm:prSet presAssocID="{A1B6EFA5-2B77-4623-8E87-F0AC19F854ED}" presName="parTx" presStyleLbl="alignNode1" presStyleIdx="2" presStyleCnt="3">
        <dgm:presLayoutVars>
          <dgm:chMax val="0"/>
          <dgm:chPref val="0"/>
          <dgm:bulletEnabled val="1"/>
        </dgm:presLayoutVars>
      </dgm:prSet>
      <dgm:spPr/>
    </dgm:pt>
    <dgm:pt modelId="{6C6B46D2-EED8-4FA7-B64F-34BDAD7199AF}" type="pres">
      <dgm:prSet presAssocID="{A1B6EFA5-2B77-4623-8E87-F0AC19F854ED}" presName="desTx" presStyleLbl="alignAccFollowNode1" presStyleIdx="2" presStyleCnt="3">
        <dgm:presLayoutVars>
          <dgm:bulletEnabled val="1"/>
        </dgm:presLayoutVars>
      </dgm:prSet>
      <dgm:spPr/>
    </dgm:pt>
  </dgm:ptLst>
  <dgm:cxnLst>
    <dgm:cxn modelId="{D0804301-66B2-4706-8FA5-7BF18267ABBC}" type="presOf" srcId="{6881B322-C3BA-49CC-BF3C-B46C6087C32C}" destId="{E9DD3F9B-E682-41E8-8AC7-23FD3997923C}" srcOrd="0" destOrd="2" presId="urn:microsoft.com/office/officeart/2005/8/layout/hList1"/>
    <dgm:cxn modelId="{9079F516-6A08-4C32-A710-7EB87E0F7D0F}" srcId="{5C24AE22-85FD-4EBA-8CCD-738BF825DEA7}" destId="{888CEEE1-F231-4C27-9D5C-CBC975332A57}" srcOrd="0" destOrd="0" parTransId="{CC1F013E-C3F2-43C1-8BB5-9B4A4C412DF9}" sibTransId="{EBFD1B68-1C5C-455B-A834-347045CE89C0}"/>
    <dgm:cxn modelId="{FF1D1B21-48FA-48A4-8B6E-67F1B4B0CC6C}" type="presOf" srcId="{E55AC09C-A436-4EE6-98E1-4E0F5E56056C}" destId="{A00964F0-C12F-4589-B5A7-C354E12F5488}" srcOrd="0" destOrd="1" presId="urn:microsoft.com/office/officeart/2005/8/layout/hList1"/>
    <dgm:cxn modelId="{4D466524-9D4C-411C-8BA7-B61A1CCC12C7}" type="presOf" srcId="{BFFC14D2-C9C3-4CB5-B055-2836F3D233F8}" destId="{A00964F0-C12F-4589-B5A7-C354E12F5488}" srcOrd="0" destOrd="2" presId="urn:microsoft.com/office/officeart/2005/8/layout/hList1"/>
    <dgm:cxn modelId="{9023A22F-B812-4727-94E0-E2BD7050BC1F}" srcId="{2FBD262F-C709-4B77-89B1-32E3B6A46CAB}" destId="{6881B322-C3BA-49CC-BF3C-B46C6087C32C}" srcOrd="2" destOrd="0" parTransId="{6F2921D1-698F-463C-B3B2-CFB25780EC3F}" sibTransId="{BC6B7725-2AA9-4C65-AE00-6DC170C16F4B}"/>
    <dgm:cxn modelId="{1D850130-9652-45F1-B97F-D5091163F406}" srcId="{A1B6EFA5-2B77-4623-8E87-F0AC19F854ED}" destId="{9AFD8125-50B4-4FD9-9D5B-C79494DA7593}" srcOrd="0" destOrd="0" parTransId="{B7E13DF9-D862-4A86-A096-0ECBA98D87F8}" sibTransId="{0B97DA04-88F7-4532-B8C9-DF1B9065030C}"/>
    <dgm:cxn modelId="{4AF93A36-7F30-4190-953B-34CE3C99DBCB}" srcId="{5C24AE22-85FD-4EBA-8CCD-738BF825DEA7}" destId="{BFFC14D2-C9C3-4CB5-B055-2836F3D233F8}" srcOrd="2" destOrd="0" parTransId="{127F3325-2F54-4ECA-A079-0C3813FFFEE5}" sibTransId="{675221AD-EE48-4704-BF35-DC2A5C22CD01}"/>
    <dgm:cxn modelId="{C723DF3E-EED4-4229-B1E8-080E7F6E5353}" type="presOf" srcId="{A1B6EFA5-2B77-4623-8E87-F0AC19F854ED}" destId="{40E663B8-BFF6-4AFF-A637-D4A560B27D7E}" srcOrd="0" destOrd="0" presId="urn:microsoft.com/office/officeart/2005/8/layout/hList1"/>
    <dgm:cxn modelId="{8DF64C5C-C207-46D5-B81E-A3E7C930577A}" type="presOf" srcId="{713DF175-A214-4DBD-8B7B-C3EC8D379AF7}" destId="{6C6B46D2-EED8-4FA7-B64F-34BDAD7199AF}" srcOrd="0" destOrd="1" presId="urn:microsoft.com/office/officeart/2005/8/layout/hList1"/>
    <dgm:cxn modelId="{89B85F65-7D2D-4552-AFF4-C0168C3DF1EF}" type="presOf" srcId="{480CACA1-3B61-4C25-951C-698CE30F45DB}" destId="{6C6B46D2-EED8-4FA7-B64F-34BDAD7199AF}" srcOrd="0" destOrd="2" presId="urn:microsoft.com/office/officeart/2005/8/layout/hList1"/>
    <dgm:cxn modelId="{CE4FF847-B822-4B05-BA96-393869FE939A}" srcId="{A1B6EFA5-2B77-4623-8E87-F0AC19F854ED}" destId="{480CACA1-3B61-4C25-951C-698CE30F45DB}" srcOrd="2" destOrd="0" parTransId="{25197A65-EDCC-46AB-9EAA-9E7A99D63E2F}" sibTransId="{0E391773-1349-44E1-9703-93899675993B}"/>
    <dgm:cxn modelId="{96A8674B-4A6B-4C33-B5FE-957F613830D2}" srcId="{2FBD262F-C709-4B77-89B1-32E3B6A46CAB}" destId="{4921D84D-1223-4A00-80C0-AA716B3270F0}" srcOrd="0" destOrd="0" parTransId="{F5AAB38B-C4DD-4CFD-853A-4DE8B69409C2}" sibTransId="{28B63696-1DF5-4FE8-9E92-4858F5AD0BEF}"/>
    <dgm:cxn modelId="{E248548D-F37C-4E64-9CD2-5B21D5D52CD2}" type="presOf" srcId="{5C24AE22-85FD-4EBA-8CCD-738BF825DEA7}" destId="{D2DC684B-B30B-4CED-9492-DF6BC6D06EF9}" srcOrd="0" destOrd="0" presId="urn:microsoft.com/office/officeart/2005/8/layout/hList1"/>
    <dgm:cxn modelId="{1530919D-3492-4D12-B926-5780C32D0743}" srcId="{81FAD2DB-704D-499D-A9F0-A6A1AE7B5B46}" destId="{5C24AE22-85FD-4EBA-8CCD-738BF825DEA7}" srcOrd="1" destOrd="0" parTransId="{C7CBCD68-0A31-4522-9AEB-97F190E9D41D}" sibTransId="{CE4F56D3-B3B3-47D9-8AA9-C3312CEE1A8B}"/>
    <dgm:cxn modelId="{967C82C2-0B37-41D4-BAC0-4291D24BA750}" srcId="{2FBD262F-C709-4B77-89B1-32E3B6A46CAB}" destId="{221D8438-CAF0-46CE-8DDB-FA74C96F5E32}" srcOrd="1" destOrd="0" parTransId="{0C354543-E718-4D58-8361-F647314BA94B}" sibTransId="{12F4918C-9593-46DA-B3DA-95B07FF698F3}"/>
    <dgm:cxn modelId="{74915ECC-C642-4E71-847F-56B6DF0D7A13}" srcId="{81FAD2DB-704D-499D-A9F0-A6A1AE7B5B46}" destId="{2FBD262F-C709-4B77-89B1-32E3B6A46CAB}" srcOrd="0" destOrd="0" parTransId="{AD114B3C-0F2C-4A1C-B399-7BD04D21F653}" sibTransId="{E47BFCB2-BD1C-451A-9134-8624FA1EEF68}"/>
    <dgm:cxn modelId="{93E540D9-3A96-4205-83DE-19114DCF08A9}" type="presOf" srcId="{81FAD2DB-704D-499D-A9F0-A6A1AE7B5B46}" destId="{7DF86785-1D59-40A2-B01B-299564350599}" srcOrd="0" destOrd="0" presId="urn:microsoft.com/office/officeart/2005/8/layout/hList1"/>
    <dgm:cxn modelId="{670E93E1-E4F0-46CB-A699-04A128400F19}" type="presOf" srcId="{4921D84D-1223-4A00-80C0-AA716B3270F0}" destId="{E9DD3F9B-E682-41E8-8AC7-23FD3997923C}" srcOrd="0" destOrd="0" presId="urn:microsoft.com/office/officeart/2005/8/layout/hList1"/>
    <dgm:cxn modelId="{D3A3B9E1-A419-44C4-9B90-1191CF4A856A}" type="presOf" srcId="{9AFD8125-50B4-4FD9-9D5B-C79494DA7593}" destId="{6C6B46D2-EED8-4FA7-B64F-34BDAD7199AF}" srcOrd="0" destOrd="0" presId="urn:microsoft.com/office/officeart/2005/8/layout/hList1"/>
    <dgm:cxn modelId="{D8A663E4-1351-4843-BF54-BD1B7E389139}" type="presOf" srcId="{2FBD262F-C709-4B77-89B1-32E3B6A46CAB}" destId="{70BEDE65-E973-45EA-B85D-1EE0D0931FA8}" srcOrd="0" destOrd="0" presId="urn:microsoft.com/office/officeart/2005/8/layout/hList1"/>
    <dgm:cxn modelId="{493449E8-33AE-4A89-9E1A-A54E39476B2C}" srcId="{5C24AE22-85FD-4EBA-8CCD-738BF825DEA7}" destId="{E55AC09C-A436-4EE6-98E1-4E0F5E56056C}" srcOrd="1" destOrd="0" parTransId="{33F8411A-B7CE-40E8-8500-0B9F2A7A789E}" sibTransId="{70F11D6A-833F-4A15-AAB1-709F42B34EBB}"/>
    <dgm:cxn modelId="{6E853AF3-1464-4701-9317-7E83189D54C8}" type="presOf" srcId="{888CEEE1-F231-4C27-9D5C-CBC975332A57}" destId="{A00964F0-C12F-4589-B5A7-C354E12F5488}" srcOrd="0" destOrd="0" presId="urn:microsoft.com/office/officeart/2005/8/layout/hList1"/>
    <dgm:cxn modelId="{6085A4F9-EA19-4650-A3D9-654DDDE71D73}" srcId="{81FAD2DB-704D-499D-A9F0-A6A1AE7B5B46}" destId="{A1B6EFA5-2B77-4623-8E87-F0AC19F854ED}" srcOrd="2" destOrd="0" parTransId="{27D8F466-342B-41C6-9ECA-C385D87C4C60}" sibTransId="{911BE730-BF42-4B21-BB4F-D4123089D97D}"/>
    <dgm:cxn modelId="{325C3CFE-D21B-4A2B-8249-8853558D705F}" type="presOf" srcId="{221D8438-CAF0-46CE-8DDB-FA74C96F5E32}" destId="{E9DD3F9B-E682-41E8-8AC7-23FD3997923C}" srcOrd="0" destOrd="1" presId="urn:microsoft.com/office/officeart/2005/8/layout/hList1"/>
    <dgm:cxn modelId="{9B402EFF-DCF5-4A80-BFF5-91B28495AE2A}" srcId="{A1B6EFA5-2B77-4623-8E87-F0AC19F854ED}" destId="{713DF175-A214-4DBD-8B7B-C3EC8D379AF7}" srcOrd="1" destOrd="0" parTransId="{3763C528-681E-4BD6-9C37-5D12FE11AE37}" sibTransId="{3D1778DF-F901-4FC2-91B4-74C9D7D36C37}"/>
    <dgm:cxn modelId="{64559645-C800-43C4-BCA5-FAB8CEFCD9D9}" type="presParOf" srcId="{7DF86785-1D59-40A2-B01B-299564350599}" destId="{4BD6DD94-673D-4DC2-A01A-1B9A61989FE4}" srcOrd="0" destOrd="0" presId="urn:microsoft.com/office/officeart/2005/8/layout/hList1"/>
    <dgm:cxn modelId="{A96A271C-2546-4679-811A-86A6CE00060A}" type="presParOf" srcId="{4BD6DD94-673D-4DC2-A01A-1B9A61989FE4}" destId="{70BEDE65-E973-45EA-B85D-1EE0D0931FA8}" srcOrd="0" destOrd="0" presId="urn:microsoft.com/office/officeart/2005/8/layout/hList1"/>
    <dgm:cxn modelId="{A8B28A76-7808-4720-A100-FE52A78F9F07}" type="presParOf" srcId="{4BD6DD94-673D-4DC2-A01A-1B9A61989FE4}" destId="{E9DD3F9B-E682-41E8-8AC7-23FD3997923C}" srcOrd="1" destOrd="0" presId="urn:microsoft.com/office/officeart/2005/8/layout/hList1"/>
    <dgm:cxn modelId="{A29598D9-B06F-48D0-A705-9219F930B4E9}" type="presParOf" srcId="{7DF86785-1D59-40A2-B01B-299564350599}" destId="{8485532B-E20A-459D-AB22-125BFBA41FEC}" srcOrd="1" destOrd="0" presId="urn:microsoft.com/office/officeart/2005/8/layout/hList1"/>
    <dgm:cxn modelId="{EFFDDAE9-7558-41A8-A6E3-1672B12A2062}" type="presParOf" srcId="{7DF86785-1D59-40A2-B01B-299564350599}" destId="{54A58E19-F631-41B2-AF78-5A5F13E13B67}" srcOrd="2" destOrd="0" presId="urn:microsoft.com/office/officeart/2005/8/layout/hList1"/>
    <dgm:cxn modelId="{33E499B5-82AC-4BC1-A847-65652375692A}" type="presParOf" srcId="{54A58E19-F631-41B2-AF78-5A5F13E13B67}" destId="{D2DC684B-B30B-4CED-9492-DF6BC6D06EF9}" srcOrd="0" destOrd="0" presId="urn:microsoft.com/office/officeart/2005/8/layout/hList1"/>
    <dgm:cxn modelId="{A1A091B8-2DAF-4F0A-B562-F8BE0C949647}" type="presParOf" srcId="{54A58E19-F631-41B2-AF78-5A5F13E13B67}" destId="{A00964F0-C12F-4589-B5A7-C354E12F5488}" srcOrd="1" destOrd="0" presId="urn:microsoft.com/office/officeart/2005/8/layout/hList1"/>
    <dgm:cxn modelId="{DA1FD64F-9F19-42CE-97DE-29E60CBCEA0A}" type="presParOf" srcId="{7DF86785-1D59-40A2-B01B-299564350599}" destId="{CEB452C0-C8A9-4036-BC14-AB4021E2DF61}" srcOrd="3" destOrd="0" presId="urn:microsoft.com/office/officeart/2005/8/layout/hList1"/>
    <dgm:cxn modelId="{3377C998-0DA1-432A-BDD7-C1F8671C7A89}" type="presParOf" srcId="{7DF86785-1D59-40A2-B01B-299564350599}" destId="{1708D5C3-4683-4149-92E0-FB92EE563491}" srcOrd="4" destOrd="0" presId="urn:microsoft.com/office/officeart/2005/8/layout/hList1"/>
    <dgm:cxn modelId="{C1689670-5794-460F-931B-D3708807C281}" type="presParOf" srcId="{1708D5C3-4683-4149-92E0-FB92EE563491}" destId="{40E663B8-BFF6-4AFF-A637-D4A560B27D7E}" srcOrd="0" destOrd="0" presId="urn:microsoft.com/office/officeart/2005/8/layout/hList1"/>
    <dgm:cxn modelId="{B44EDAE7-3CF7-47F5-AE8D-BB503D8844B0}" type="presParOf" srcId="{1708D5C3-4683-4149-92E0-FB92EE563491}" destId="{6C6B46D2-EED8-4FA7-B64F-34BDAD7199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0B3969-B887-4D12-A18C-29A340959523}" type="doc">
      <dgm:prSet loTypeId="urn:microsoft.com/office/officeart/2005/8/layout/pyramid2" loCatId="list" qsTypeId="urn:microsoft.com/office/officeart/2005/8/quickstyle/3d7" qsCatId="3D" csTypeId="urn:microsoft.com/office/officeart/2005/8/colors/accent2_4" csCatId="accent2" phldr="1"/>
      <dgm:spPr/>
      <dgm:t>
        <a:bodyPr/>
        <a:lstStyle/>
        <a:p>
          <a:endParaRPr lang="en-IN"/>
        </a:p>
      </dgm:t>
    </dgm:pt>
    <dgm:pt modelId="{56E2ADFB-96C1-40CD-9168-4D5887F38694}">
      <dgm:prSet phldrT="[Text]"/>
      <dgm:spPr/>
      <dgm:t>
        <a:bodyPr/>
        <a:lstStyle/>
        <a:p>
          <a:r>
            <a:rPr lang="en-US" dirty="0"/>
            <a:t>Maintain Safety Stock</a:t>
          </a:r>
          <a:endParaRPr lang="en-IN" dirty="0"/>
        </a:p>
      </dgm:t>
    </dgm:pt>
    <dgm:pt modelId="{61AC8251-9628-497D-BDB3-EFCD8DB59A54}" type="parTrans" cxnId="{1CB6642E-67A2-4E4A-A81E-2B196FE91579}">
      <dgm:prSet/>
      <dgm:spPr/>
      <dgm:t>
        <a:bodyPr/>
        <a:lstStyle/>
        <a:p>
          <a:endParaRPr lang="en-IN"/>
        </a:p>
      </dgm:t>
    </dgm:pt>
    <dgm:pt modelId="{9B558839-CE9F-4ECD-99BA-17C8844B7D65}" type="sibTrans" cxnId="{1CB6642E-67A2-4E4A-A81E-2B196FE91579}">
      <dgm:prSet/>
      <dgm:spPr/>
      <dgm:t>
        <a:bodyPr/>
        <a:lstStyle/>
        <a:p>
          <a:endParaRPr lang="en-IN"/>
        </a:p>
      </dgm:t>
    </dgm:pt>
    <dgm:pt modelId="{6CC3384D-44F2-4E0B-A71B-F31FEC80E96C}">
      <dgm:prSet phldrT="[Text]"/>
      <dgm:spPr/>
      <dgm:t>
        <a:bodyPr/>
        <a:lstStyle/>
        <a:p>
          <a:r>
            <a:rPr lang="en-US" dirty="0"/>
            <a:t>Full Capacity Utilization</a:t>
          </a:r>
          <a:endParaRPr lang="en-IN" dirty="0"/>
        </a:p>
      </dgm:t>
    </dgm:pt>
    <dgm:pt modelId="{D9E4CA85-CE6B-4682-BA10-CDC605DF62DF}" type="parTrans" cxnId="{76957ECE-CB53-4A99-8F32-63085321F2F4}">
      <dgm:prSet/>
      <dgm:spPr/>
      <dgm:t>
        <a:bodyPr/>
        <a:lstStyle/>
        <a:p>
          <a:endParaRPr lang="en-IN"/>
        </a:p>
      </dgm:t>
    </dgm:pt>
    <dgm:pt modelId="{3A969F3B-F725-4F25-800E-82E9C70922B7}" type="sibTrans" cxnId="{76957ECE-CB53-4A99-8F32-63085321F2F4}">
      <dgm:prSet/>
      <dgm:spPr/>
      <dgm:t>
        <a:bodyPr/>
        <a:lstStyle/>
        <a:p>
          <a:endParaRPr lang="en-IN"/>
        </a:p>
      </dgm:t>
    </dgm:pt>
    <dgm:pt modelId="{E2F66D90-4F09-4B83-8E03-9038F253CB1A}">
      <dgm:prSet phldrT="[Text]"/>
      <dgm:spPr/>
      <dgm:t>
        <a:bodyPr/>
        <a:lstStyle/>
        <a:p>
          <a:r>
            <a:rPr lang="en-US" dirty="0"/>
            <a:t>Fixed Machine Allocation</a:t>
          </a:r>
          <a:endParaRPr lang="en-IN" dirty="0"/>
        </a:p>
      </dgm:t>
    </dgm:pt>
    <dgm:pt modelId="{C7F6F0E4-589D-430E-AF5C-6E5496FC439E}" type="parTrans" cxnId="{BC18A914-11F4-4731-A0C8-36FF130089C6}">
      <dgm:prSet/>
      <dgm:spPr/>
      <dgm:t>
        <a:bodyPr/>
        <a:lstStyle/>
        <a:p>
          <a:endParaRPr lang="en-IN"/>
        </a:p>
      </dgm:t>
    </dgm:pt>
    <dgm:pt modelId="{9A869274-A07D-4FB4-B234-368DB38F5F3D}" type="sibTrans" cxnId="{BC18A914-11F4-4731-A0C8-36FF130089C6}">
      <dgm:prSet/>
      <dgm:spPr/>
      <dgm:t>
        <a:bodyPr/>
        <a:lstStyle/>
        <a:p>
          <a:endParaRPr lang="en-IN"/>
        </a:p>
      </dgm:t>
    </dgm:pt>
    <dgm:pt modelId="{954EC961-8168-4B46-9056-5888AEB1884A}">
      <dgm:prSet phldrT="[Text]"/>
      <dgm:spPr/>
      <dgm:t>
        <a:bodyPr/>
        <a:lstStyle/>
        <a:p>
          <a:r>
            <a:rPr lang="en-US" dirty="0"/>
            <a:t>Plan According To Category</a:t>
          </a:r>
          <a:endParaRPr lang="en-IN" dirty="0"/>
        </a:p>
      </dgm:t>
    </dgm:pt>
    <dgm:pt modelId="{A5409670-69A7-411E-950D-92099ACBFD3C}" type="parTrans" cxnId="{B88F8156-02E7-42F7-AED6-7A80F8F6FA8F}">
      <dgm:prSet/>
      <dgm:spPr/>
      <dgm:t>
        <a:bodyPr/>
        <a:lstStyle/>
        <a:p>
          <a:endParaRPr lang="en-IN"/>
        </a:p>
      </dgm:t>
    </dgm:pt>
    <dgm:pt modelId="{B5A7EC7A-C1A8-44F0-9847-1A8FF38DC062}" type="sibTrans" cxnId="{B88F8156-02E7-42F7-AED6-7A80F8F6FA8F}">
      <dgm:prSet/>
      <dgm:spPr/>
      <dgm:t>
        <a:bodyPr/>
        <a:lstStyle/>
        <a:p>
          <a:endParaRPr lang="en-IN"/>
        </a:p>
      </dgm:t>
    </dgm:pt>
    <dgm:pt modelId="{169F3A28-9584-44DA-91AB-FF5C44D48F30}">
      <dgm:prSet phldrT="[Text]"/>
      <dgm:spPr/>
      <dgm:t>
        <a:bodyPr/>
        <a:lstStyle/>
        <a:p>
          <a:r>
            <a:rPr lang="en-US" dirty="0"/>
            <a:t>Minimum Changeover</a:t>
          </a:r>
          <a:endParaRPr lang="en-IN" dirty="0"/>
        </a:p>
      </dgm:t>
    </dgm:pt>
    <dgm:pt modelId="{EE141753-0B64-4108-928D-5EE8161FDF45}" type="parTrans" cxnId="{D4424155-629B-4BCE-8F1E-B9E5C414DF4E}">
      <dgm:prSet/>
      <dgm:spPr/>
      <dgm:t>
        <a:bodyPr/>
        <a:lstStyle/>
        <a:p>
          <a:endParaRPr lang="en-IN"/>
        </a:p>
      </dgm:t>
    </dgm:pt>
    <dgm:pt modelId="{9E4C5FFE-BC55-4476-84D2-E80389AB1B34}" type="sibTrans" cxnId="{D4424155-629B-4BCE-8F1E-B9E5C414DF4E}">
      <dgm:prSet/>
      <dgm:spPr/>
      <dgm:t>
        <a:bodyPr/>
        <a:lstStyle/>
        <a:p>
          <a:endParaRPr lang="en-IN"/>
        </a:p>
      </dgm:t>
    </dgm:pt>
    <dgm:pt modelId="{15732B18-A6B1-4294-B7E9-65AC29872870}">
      <dgm:prSet phldrT="[Text]"/>
      <dgm:spPr/>
      <dgm:t>
        <a:bodyPr/>
        <a:lstStyle/>
        <a:p>
          <a:r>
            <a:rPr lang="en-US" dirty="0"/>
            <a:t>Terminal Availability</a:t>
          </a:r>
          <a:endParaRPr lang="en-IN" dirty="0"/>
        </a:p>
      </dgm:t>
    </dgm:pt>
    <dgm:pt modelId="{098F0D05-FBC8-49CD-818A-1F18D8D18862}" type="parTrans" cxnId="{B2AAC88B-967C-4873-B07C-7859D58135DE}">
      <dgm:prSet/>
      <dgm:spPr/>
      <dgm:t>
        <a:bodyPr/>
        <a:lstStyle/>
        <a:p>
          <a:endParaRPr lang="en-IN"/>
        </a:p>
      </dgm:t>
    </dgm:pt>
    <dgm:pt modelId="{B33EF10F-24B6-43B7-81F4-264791D3926D}" type="sibTrans" cxnId="{B2AAC88B-967C-4873-B07C-7859D58135DE}">
      <dgm:prSet/>
      <dgm:spPr/>
      <dgm:t>
        <a:bodyPr/>
        <a:lstStyle/>
        <a:p>
          <a:endParaRPr lang="en-IN"/>
        </a:p>
      </dgm:t>
    </dgm:pt>
    <dgm:pt modelId="{B35CFFA0-2EE4-4A01-B083-A9B02511D7CB}" type="pres">
      <dgm:prSet presAssocID="{470B3969-B887-4D12-A18C-29A340959523}" presName="compositeShape" presStyleCnt="0">
        <dgm:presLayoutVars>
          <dgm:dir/>
          <dgm:resizeHandles/>
        </dgm:presLayoutVars>
      </dgm:prSet>
      <dgm:spPr/>
    </dgm:pt>
    <dgm:pt modelId="{A5A3E3D0-ED7D-4A48-90C7-18240535CDE4}" type="pres">
      <dgm:prSet presAssocID="{470B3969-B887-4D12-A18C-29A340959523}" presName="pyramid" presStyleLbl="node1" presStyleIdx="0" presStyleCnt="1"/>
      <dgm:spPr/>
    </dgm:pt>
    <dgm:pt modelId="{F17B4B2D-7481-4ACF-9743-7442C2C64384}" type="pres">
      <dgm:prSet presAssocID="{470B3969-B887-4D12-A18C-29A340959523}" presName="theList" presStyleCnt="0"/>
      <dgm:spPr/>
    </dgm:pt>
    <dgm:pt modelId="{66CA5288-C282-45A8-8A02-D756C21A5C8B}" type="pres">
      <dgm:prSet presAssocID="{56E2ADFB-96C1-40CD-9168-4D5887F38694}" presName="aNode" presStyleLbl="fgAcc1" presStyleIdx="0" presStyleCnt="6">
        <dgm:presLayoutVars>
          <dgm:bulletEnabled val="1"/>
        </dgm:presLayoutVars>
      </dgm:prSet>
      <dgm:spPr/>
    </dgm:pt>
    <dgm:pt modelId="{FF55343A-E32A-4CA8-9854-64327352006C}" type="pres">
      <dgm:prSet presAssocID="{56E2ADFB-96C1-40CD-9168-4D5887F38694}" presName="aSpace" presStyleCnt="0"/>
      <dgm:spPr/>
    </dgm:pt>
    <dgm:pt modelId="{742C3397-AE12-46AB-B456-DF4DD37937FE}" type="pres">
      <dgm:prSet presAssocID="{954EC961-8168-4B46-9056-5888AEB1884A}" presName="aNode" presStyleLbl="fgAcc1" presStyleIdx="1" presStyleCnt="6">
        <dgm:presLayoutVars>
          <dgm:bulletEnabled val="1"/>
        </dgm:presLayoutVars>
      </dgm:prSet>
      <dgm:spPr/>
    </dgm:pt>
    <dgm:pt modelId="{8E946E12-1E1F-4C96-B2DA-69A73601F87D}" type="pres">
      <dgm:prSet presAssocID="{954EC961-8168-4B46-9056-5888AEB1884A}" presName="aSpace" presStyleCnt="0"/>
      <dgm:spPr/>
    </dgm:pt>
    <dgm:pt modelId="{3343FE09-2E4A-4219-B2D0-9A2628421F59}" type="pres">
      <dgm:prSet presAssocID="{6CC3384D-44F2-4E0B-A71B-F31FEC80E96C}" presName="aNode" presStyleLbl="fgAcc1" presStyleIdx="2" presStyleCnt="6">
        <dgm:presLayoutVars>
          <dgm:bulletEnabled val="1"/>
        </dgm:presLayoutVars>
      </dgm:prSet>
      <dgm:spPr/>
    </dgm:pt>
    <dgm:pt modelId="{7FEE186B-FFC9-46E8-A5F9-C2B79709A61D}" type="pres">
      <dgm:prSet presAssocID="{6CC3384D-44F2-4E0B-A71B-F31FEC80E96C}" presName="aSpace" presStyleCnt="0"/>
      <dgm:spPr/>
    </dgm:pt>
    <dgm:pt modelId="{E6E85ED3-ED82-487E-8508-AF58749CB752}" type="pres">
      <dgm:prSet presAssocID="{E2F66D90-4F09-4B83-8E03-9038F253CB1A}" presName="aNode" presStyleLbl="fgAcc1" presStyleIdx="3" presStyleCnt="6">
        <dgm:presLayoutVars>
          <dgm:bulletEnabled val="1"/>
        </dgm:presLayoutVars>
      </dgm:prSet>
      <dgm:spPr/>
    </dgm:pt>
    <dgm:pt modelId="{28B3EA2B-1494-40DC-9068-7700C7E161D2}" type="pres">
      <dgm:prSet presAssocID="{E2F66D90-4F09-4B83-8E03-9038F253CB1A}" presName="aSpace" presStyleCnt="0"/>
      <dgm:spPr/>
    </dgm:pt>
    <dgm:pt modelId="{24582A08-86F2-4CFB-B40C-D4624A4ED32F}" type="pres">
      <dgm:prSet presAssocID="{169F3A28-9584-44DA-91AB-FF5C44D48F30}" presName="aNode" presStyleLbl="fgAcc1" presStyleIdx="4" presStyleCnt="6">
        <dgm:presLayoutVars>
          <dgm:bulletEnabled val="1"/>
        </dgm:presLayoutVars>
      </dgm:prSet>
      <dgm:spPr/>
    </dgm:pt>
    <dgm:pt modelId="{5D704E98-CBA6-4C36-9906-50940C7C91C4}" type="pres">
      <dgm:prSet presAssocID="{169F3A28-9584-44DA-91AB-FF5C44D48F30}" presName="aSpace" presStyleCnt="0"/>
      <dgm:spPr/>
    </dgm:pt>
    <dgm:pt modelId="{644E07C9-1C0E-4D0E-916D-B1D5A4F0E663}" type="pres">
      <dgm:prSet presAssocID="{15732B18-A6B1-4294-B7E9-65AC29872870}" presName="aNode" presStyleLbl="fgAcc1" presStyleIdx="5" presStyleCnt="6">
        <dgm:presLayoutVars>
          <dgm:bulletEnabled val="1"/>
        </dgm:presLayoutVars>
      </dgm:prSet>
      <dgm:spPr/>
    </dgm:pt>
    <dgm:pt modelId="{FC21121D-2284-49DA-9AEA-A6C6165B5EED}" type="pres">
      <dgm:prSet presAssocID="{15732B18-A6B1-4294-B7E9-65AC29872870}" presName="aSpace" presStyleCnt="0"/>
      <dgm:spPr/>
    </dgm:pt>
  </dgm:ptLst>
  <dgm:cxnLst>
    <dgm:cxn modelId="{E41D9708-85A8-4CC6-BE18-56C6248ABD8E}" type="presOf" srcId="{6CC3384D-44F2-4E0B-A71B-F31FEC80E96C}" destId="{3343FE09-2E4A-4219-B2D0-9A2628421F59}" srcOrd="0" destOrd="0" presId="urn:microsoft.com/office/officeart/2005/8/layout/pyramid2"/>
    <dgm:cxn modelId="{FA3F120C-E98F-4ED5-8DB5-FAE4D815C918}" type="presOf" srcId="{954EC961-8168-4B46-9056-5888AEB1884A}" destId="{742C3397-AE12-46AB-B456-DF4DD37937FE}" srcOrd="0" destOrd="0" presId="urn:microsoft.com/office/officeart/2005/8/layout/pyramid2"/>
    <dgm:cxn modelId="{BC18A914-11F4-4731-A0C8-36FF130089C6}" srcId="{470B3969-B887-4D12-A18C-29A340959523}" destId="{E2F66D90-4F09-4B83-8E03-9038F253CB1A}" srcOrd="3" destOrd="0" parTransId="{C7F6F0E4-589D-430E-AF5C-6E5496FC439E}" sibTransId="{9A869274-A07D-4FB4-B234-368DB38F5F3D}"/>
    <dgm:cxn modelId="{6D91FB1D-4F2D-4465-ACF7-5C84C9D71919}" type="presOf" srcId="{E2F66D90-4F09-4B83-8E03-9038F253CB1A}" destId="{E6E85ED3-ED82-487E-8508-AF58749CB752}" srcOrd="0" destOrd="0" presId="urn:microsoft.com/office/officeart/2005/8/layout/pyramid2"/>
    <dgm:cxn modelId="{1CB6642E-67A2-4E4A-A81E-2B196FE91579}" srcId="{470B3969-B887-4D12-A18C-29A340959523}" destId="{56E2ADFB-96C1-40CD-9168-4D5887F38694}" srcOrd="0" destOrd="0" parTransId="{61AC8251-9628-497D-BDB3-EFCD8DB59A54}" sibTransId="{9B558839-CE9F-4ECD-99BA-17C8844B7D65}"/>
    <dgm:cxn modelId="{DF9FCE5E-68B5-4FD5-8C49-DD654AEA1CC1}" type="presOf" srcId="{56E2ADFB-96C1-40CD-9168-4D5887F38694}" destId="{66CA5288-C282-45A8-8A02-D756C21A5C8B}" srcOrd="0" destOrd="0" presId="urn:microsoft.com/office/officeart/2005/8/layout/pyramid2"/>
    <dgm:cxn modelId="{D4424155-629B-4BCE-8F1E-B9E5C414DF4E}" srcId="{470B3969-B887-4D12-A18C-29A340959523}" destId="{169F3A28-9584-44DA-91AB-FF5C44D48F30}" srcOrd="4" destOrd="0" parTransId="{EE141753-0B64-4108-928D-5EE8161FDF45}" sibTransId="{9E4C5FFE-BC55-4476-84D2-E80389AB1B34}"/>
    <dgm:cxn modelId="{B88F8156-02E7-42F7-AED6-7A80F8F6FA8F}" srcId="{470B3969-B887-4D12-A18C-29A340959523}" destId="{954EC961-8168-4B46-9056-5888AEB1884A}" srcOrd="1" destOrd="0" parTransId="{A5409670-69A7-411E-950D-92099ACBFD3C}" sibTransId="{B5A7EC7A-C1A8-44F0-9847-1A8FF38DC062}"/>
    <dgm:cxn modelId="{B2AAC88B-967C-4873-B07C-7859D58135DE}" srcId="{470B3969-B887-4D12-A18C-29A340959523}" destId="{15732B18-A6B1-4294-B7E9-65AC29872870}" srcOrd="5" destOrd="0" parTransId="{098F0D05-FBC8-49CD-818A-1F18D8D18862}" sibTransId="{B33EF10F-24B6-43B7-81F4-264791D3926D}"/>
    <dgm:cxn modelId="{B318649C-1255-4FD0-BCB0-51261F4F634E}" type="presOf" srcId="{169F3A28-9584-44DA-91AB-FF5C44D48F30}" destId="{24582A08-86F2-4CFB-B40C-D4624A4ED32F}" srcOrd="0" destOrd="0" presId="urn:microsoft.com/office/officeart/2005/8/layout/pyramid2"/>
    <dgm:cxn modelId="{24D782C4-532A-46BA-99C7-3385556E22F2}" type="presOf" srcId="{470B3969-B887-4D12-A18C-29A340959523}" destId="{B35CFFA0-2EE4-4A01-B083-A9B02511D7CB}" srcOrd="0" destOrd="0" presId="urn:microsoft.com/office/officeart/2005/8/layout/pyramid2"/>
    <dgm:cxn modelId="{76957ECE-CB53-4A99-8F32-63085321F2F4}" srcId="{470B3969-B887-4D12-A18C-29A340959523}" destId="{6CC3384D-44F2-4E0B-A71B-F31FEC80E96C}" srcOrd="2" destOrd="0" parTransId="{D9E4CA85-CE6B-4682-BA10-CDC605DF62DF}" sibTransId="{3A969F3B-F725-4F25-800E-82E9C70922B7}"/>
    <dgm:cxn modelId="{024691EE-9FBA-4FDD-89AF-52F0551CFA6E}" type="presOf" srcId="{15732B18-A6B1-4294-B7E9-65AC29872870}" destId="{644E07C9-1C0E-4D0E-916D-B1D5A4F0E663}" srcOrd="0" destOrd="0" presId="urn:microsoft.com/office/officeart/2005/8/layout/pyramid2"/>
    <dgm:cxn modelId="{A8BD75FB-CB2D-4EDE-BC6D-CDE4F6E047FC}" type="presParOf" srcId="{B35CFFA0-2EE4-4A01-B083-A9B02511D7CB}" destId="{A5A3E3D0-ED7D-4A48-90C7-18240535CDE4}" srcOrd="0" destOrd="0" presId="urn:microsoft.com/office/officeart/2005/8/layout/pyramid2"/>
    <dgm:cxn modelId="{17AF93A4-9FAE-497F-BC3F-6E50514BB54E}" type="presParOf" srcId="{B35CFFA0-2EE4-4A01-B083-A9B02511D7CB}" destId="{F17B4B2D-7481-4ACF-9743-7442C2C64384}" srcOrd="1" destOrd="0" presId="urn:microsoft.com/office/officeart/2005/8/layout/pyramid2"/>
    <dgm:cxn modelId="{D2833511-AC9E-4006-8EDE-F1825D070A93}" type="presParOf" srcId="{F17B4B2D-7481-4ACF-9743-7442C2C64384}" destId="{66CA5288-C282-45A8-8A02-D756C21A5C8B}" srcOrd="0" destOrd="0" presId="urn:microsoft.com/office/officeart/2005/8/layout/pyramid2"/>
    <dgm:cxn modelId="{B74B76CE-5C07-4442-9E2E-FEC6D92EA45E}" type="presParOf" srcId="{F17B4B2D-7481-4ACF-9743-7442C2C64384}" destId="{FF55343A-E32A-4CA8-9854-64327352006C}" srcOrd="1" destOrd="0" presId="urn:microsoft.com/office/officeart/2005/8/layout/pyramid2"/>
    <dgm:cxn modelId="{2CD4103C-5C45-4FED-83A7-2D25DEFABEF9}" type="presParOf" srcId="{F17B4B2D-7481-4ACF-9743-7442C2C64384}" destId="{742C3397-AE12-46AB-B456-DF4DD37937FE}" srcOrd="2" destOrd="0" presId="urn:microsoft.com/office/officeart/2005/8/layout/pyramid2"/>
    <dgm:cxn modelId="{90344677-4D03-4C5B-9AD9-A8E0E4170E77}" type="presParOf" srcId="{F17B4B2D-7481-4ACF-9743-7442C2C64384}" destId="{8E946E12-1E1F-4C96-B2DA-69A73601F87D}" srcOrd="3" destOrd="0" presId="urn:microsoft.com/office/officeart/2005/8/layout/pyramid2"/>
    <dgm:cxn modelId="{544B8FED-B884-4359-B384-FEC3F05A6DD4}" type="presParOf" srcId="{F17B4B2D-7481-4ACF-9743-7442C2C64384}" destId="{3343FE09-2E4A-4219-B2D0-9A2628421F59}" srcOrd="4" destOrd="0" presId="urn:microsoft.com/office/officeart/2005/8/layout/pyramid2"/>
    <dgm:cxn modelId="{ED104B57-62C1-436D-8A23-560F013B7332}" type="presParOf" srcId="{F17B4B2D-7481-4ACF-9743-7442C2C64384}" destId="{7FEE186B-FFC9-46E8-A5F9-C2B79709A61D}" srcOrd="5" destOrd="0" presId="urn:microsoft.com/office/officeart/2005/8/layout/pyramid2"/>
    <dgm:cxn modelId="{2C3B2986-449B-4F7D-8FC5-9D22A840D45A}" type="presParOf" srcId="{F17B4B2D-7481-4ACF-9743-7442C2C64384}" destId="{E6E85ED3-ED82-487E-8508-AF58749CB752}" srcOrd="6" destOrd="0" presId="urn:microsoft.com/office/officeart/2005/8/layout/pyramid2"/>
    <dgm:cxn modelId="{40C1A937-1613-4F91-83C1-711B934F4720}" type="presParOf" srcId="{F17B4B2D-7481-4ACF-9743-7442C2C64384}" destId="{28B3EA2B-1494-40DC-9068-7700C7E161D2}" srcOrd="7" destOrd="0" presId="urn:microsoft.com/office/officeart/2005/8/layout/pyramid2"/>
    <dgm:cxn modelId="{C8298E2B-3070-4924-B12F-8243ACB8820A}" type="presParOf" srcId="{F17B4B2D-7481-4ACF-9743-7442C2C64384}" destId="{24582A08-86F2-4CFB-B40C-D4624A4ED32F}" srcOrd="8" destOrd="0" presId="urn:microsoft.com/office/officeart/2005/8/layout/pyramid2"/>
    <dgm:cxn modelId="{07E000FD-54BB-4BB5-A7A5-E30F433B65F5}" type="presParOf" srcId="{F17B4B2D-7481-4ACF-9743-7442C2C64384}" destId="{5D704E98-CBA6-4C36-9906-50940C7C91C4}" srcOrd="9" destOrd="0" presId="urn:microsoft.com/office/officeart/2005/8/layout/pyramid2"/>
    <dgm:cxn modelId="{EC42694C-05B5-48B6-AA2D-FF51E28B8AD4}" type="presParOf" srcId="{F17B4B2D-7481-4ACF-9743-7442C2C64384}" destId="{644E07C9-1C0E-4D0E-916D-B1D5A4F0E663}" srcOrd="10" destOrd="0" presId="urn:microsoft.com/office/officeart/2005/8/layout/pyramid2"/>
    <dgm:cxn modelId="{B563C13A-55FF-45B3-90D0-3998EE6F565D}" type="presParOf" srcId="{F17B4B2D-7481-4ACF-9743-7442C2C64384}" destId="{FC21121D-2284-49DA-9AEA-A6C6165B5EED}" srcOrd="11"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EDE65-E973-45EA-B85D-1EE0D0931FA8}">
      <dsp:nvSpPr>
        <dsp:cNvPr id="0" name=""/>
        <dsp:cNvSpPr/>
      </dsp:nvSpPr>
      <dsp:spPr>
        <a:xfrm>
          <a:off x="2537" y="328418"/>
          <a:ext cx="2473920" cy="97632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Current Scenario</a:t>
          </a:r>
          <a:endParaRPr lang="en-IN" sz="2700" kern="1200" dirty="0"/>
        </a:p>
      </dsp:txBody>
      <dsp:txXfrm>
        <a:off x="2537" y="328418"/>
        <a:ext cx="2473920" cy="976320"/>
      </dsp:txXfrm>
    </dsp:sp>
    <dsp:sp modelId="{E9DD3F9B-E682-41E8-8AC7-23FD3997923C}">
      <dsp:nvSpPr>
        <dsp:cNvPr id="0" name=""/>
        <dsp:cNvSpPr/>
      </dsp:nvSpPr>
      <dsp:spPr>
        <a:xfrm>
          <a:off x="2537" y="1304738"/>
          <a:ext cx="2473920" cy="3779864"/>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Manual Planning</a:t>
          </a:r>
          <a:endParaRPr lang="en-IN" sz="2000" kern="1200" dirty="0"/>
        </a:p>
        <a:p>
          <a:pPr marL="228600" lvl="1" indent="-228600" algn="l" defTabSz="889000">
            <a:lnSpc>
              <a:spcPct val="90000"/>
            </a:lnSpc>
            <a:spcBef>
              <a:spcPct val="0"/>
            </a:spcBef>
            <a:spcAft>
              <a:spcPct val="15000"/>
            </a:spcAft>
            <a:buChar char="•"/>
          </a:pPr>
          <a:r>
            <a:rPr lang="en-US" sz="2000" kern="1200" dirty="0"/>
            <a:t>Inventory Management</a:t>
          </a:r>
          <a:endParaRPr lang="en-IN" sz="2000" kern="1200" dirty="0"/>
        </a:p>
        <a:p>
          <a:pPr marL="228600" lvl="1" indent="-228600" algn="l" defTabSz="889000">
            <a:lnSpc>
              <a:spcPct val="90000"/>
            </a:lnSpc>
            <a:spcBef>
              <a:spcPct val="0"/>
            </a:spcBef>
            <a:spcAft>
              <a:spcPct val="15000"/>
            </a:spcAft>
            <a:buChar char="•"/>
          </a:pPr>
          <a:r>
            <a:rPr lang="en-US" sz="2000" kern="1200" dirty="0"/>
            <a:t>Machine Utilization</a:t>
          </a:r>
          <a:endParaRPr lang="en-IN" sz="2000" kern="1200" dirty="0"/>
        </a:p>
      </dsp:txBody>
      <dsp:txXfrm>
        <a:off x="2537" y="1304738"/>
        <a:ext cx="2473920" cy="3779864"/>
      </dsp:txXfrm>
    </dsp:sp>
    <dsp:sp modelId="{D2DC684B-B30B-4CED-9492-DF6BC6D06EF9}">
      <dsp:nvSpPr>
        <dsp:cNvPr id="0" name=""/>
        <dsp:cNvSpPr/>
      </dsp:nvSpPr>
      <dsp:spPr>
        <a:xfrm>
          <a:off x="2822806" y="328418"/>
          <a:ext cx="2473920" cy="976320"/>
        </a:xfrm>
        <a:prstGeom prst="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Gap</a:t>
          </a:r>
          <a:endParaRPr lang="en-IN" sz="2700" kern="1200" dirty="0"/>
        </a:p>
      </dsp:txBody>
      <dsp:txXfrm>
        <a:off x="2822806" y="328418"/>
        <a:ext cx="2473920" cy="976320"/>
      </dsp:txXfrm>
    </dsp:sp>
    <dsp:sp modelId="{A00964F0-C12F-4589-B5A7-C354E12F5488}">
      <dsp:nvSpPr>
        <dsp:cNvPr id="0" name=""/>
        <dsp:cNvSpPr/>
      </dsp:nvSpPr>
      <dsp:spPr>
        <a:xfrm>
          <a:off x="2822806" y="1304738"/>
          <a:ext cx="2473920" cy="3779864"/>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Involves 2 – 3 peoples and is time consuming</a:t>
          </a:r>
          <a:endParaRPr lang="en-IN" sz="2000" kern="1200" dirty="0"/>
        </a:p>
        <a:p>
          <a:pPr marL="228600" lvl="1" indent="-228600" algn="l" defTabSz="889000">
            <a:lnSpc>
              <a:spcPct val="90000"/>
            </a:lnSpc>
            <a:spcBef>
              <a:spcPct val="0"/>
            </a:spcBef>
            <a:spcAft>
              <a:spcPct val="15000"/>
            </a:spcAft>
            <a:buChar char="•"/>
          </a:pPr>
          <a:r>
            <a:rPr lang="en-US" sz="2000" kern="1200" dirty="0"/>
            <a:t>Some Parts are overproduced/ some may have shortage</a:t>
          </a:r>
          <a:endParaRPr lang="en-IN" sz="2000" kern="1200" dirty="0"/>
        </a:p>
        <a:p>
          <a:pPr marL="228600" lvl="1" indent="-228600" algn="l" defTabSz="889000">
            <a:lnSpc>
              <a:spcPct val="90000"/>
            </a:lnSpc>
            <a:spcBef>
              <a:spcPct val="0"/>
            </a:spcBef>
            <a:spcAft>
              <a:spcPct val="15000"/>
            </a:spcAft>
            <a:buChar char="•"/>
          </a:pPr>
          <a:r>
            <a:rPr lang="en-US" sz="2000" kern="1200" dirty="0"/>
            <a:t>No proper track of machine utilization, while some machines are on PDT</a:t>
          </a:r>
          <a:endParaRPr lang="en-IN" sz="2000" kern="1200" dirty="0"/>
        </a:p>
      </dsp:txBody>
      <dsp:txXfrm>
        <a:off x="2822806" y="1304738"/>
        <a:ext cx="2473920" cy="3779864"/>
      </dsp:txXfrm>
    </dsp:sp>
    <dsp:sp modelId="{40E663B8-BFF6-4AFF-A637-D4A560B27D7E}">
      <dsp:nvSpPr>
        <dsp:cNvPr id="0" name=""/>
        <dsp:cNvSpPr/>
      </dsp:nvSpPr>
      <dsp:spPr>
        <a:xfrm>
          <a:off x="5643075" y="328418"/>
          <a:ext cx="2473920" cy="976320"/>
        </a:xfrm>
        <a:prstGeom prst="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To Be</a:t>
          </a:r>
          <a:endParaRPr lang="en-IN" sz="2700" kern="1200" dirty="0"/>
        </a:p>
      </dsp:txBody>
      <dsp:txXfrm>
        <a:off x="5643075" y="328418"/>
        <a:ext cx="2473920" cy="976320"/>
      </dsp:txXfrm>
    </dsp:sp>
    <dsp:sp modelId="{6C6B46D2-EED8-4FA7-B64F-34BDAD7199AF}">
      <dsp:nvSpPr>
        <dsp:cNvPr id="0" name=""/>
        <dsp:cNvSpPr/>
      </dsp:nvSpPr>
      <dsp:spPr>
        <a:xfrm>
          <a:off x="5643075" y="1304738"/>
          <a:ext cx="2473920" cy="3779864"/>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Automated</a:t>
          </a:r>
          <a:endParaRPr lang="en-IN" sz="2000" kern="1200" dirty="0"/>
        </a:p>
        <a:p>
          <a:pPr marL="228600" lvl="1" indent="-228600" algn="l" defTabSz="889000">
            <a:lnSpc>
              <a:spcPct val="90000"/>
            </a:lnSpc>
            <a:spcBef>
              <a:spcPct val="0"/>
            </a:spcBef>
            <a:spcAft>
              <a:spcPct val="15000"/>
            </a:spcAft>
            <a:buChar char="•"/>
          </a:pPr>
          <a:r>
            <a:rPr lang="en-US" sz="2000" kern="1200" dirty="0"/>
            <a:t>Maintain 3 day safety stock</a:t>
          </a:r>
          <a:endParaRPr lang="en-IN" sz="2000" kern="1200" dirty="0"/>
        </a:p>
        <a:p>
          <a:pPr marL="228600" lvl="1" indent="-228600" algn="l" defTabSz="889000">
            <a:lnSpc>
              <a:spcPct val="90000"/>
            </a:lnSpc>
            <a:spcBef>
              <a:spcPct val="0"/>
            </a:spcBef>
            <a:spcAft>
              <a:spcPct val="15000"/>
            </a:spcAft>
            <a:buChar char="•"/>
          </a:pPr>
          <a:r>
            <a:rPr lang="en-US" sz="2000" kern="1200" dirty="0"/>
            <a:t>As per production scheduling</a:t>
          </a:r>
          <a:endParaRPr lang="en-IN" sz="2000" kern="1200" dirty="0"/>
        </a:p>
      </dsp:txBody>
      <dsp:txXfrm>
        <a:off x="5643075" y="1304738"/>
        <a:ext cx="2473920" cy="37798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A3E3D0-ED7D-4A48-90C7-18240535CDE4}">
      <dsp:nvSpPr>
        <dsp:cNvPr id="0" name=""/>
        <dsp:cNvSpPr/>
      </dsp:nvSpPr>
      <dsp:spPr>
        <a:xfrm>
          <a:off x="947278" y="0"/>
          <a:ext cx="5413022" cy="5413022"/>
        </a:xfrm>
        <a:prstGeom prst="triangle">
          <a:avLst/>
        </a:prstGeom>
        <a:solidFill>
          <a:schemeClr val="accent2">
            <a:shade val="50000"/>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sp>
    <dsp:sp modelId="{66CA5288-C282-45A8-8A02-D756C21A5C8B}">
      <dsp:nvSpPr>
        <dsp:cNvPr id="0" name=""/>
        <dsp:cNvSpPr/>
      </dsp:nvSpPr>
      <dsp:spPr>
        <a:xfrm>
          <a:off x="3653789" y="544209"/>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0"/>
              <a:satOff val="0"/>
              <a:lumOff val="0"/>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Maintain Safety Stock</a:t>
          </a:r>
          <a:endParaRPr lang="en-IN" sz="2300" kern="1200" dirty="0"/>
        </a:p>
      </dsp:txBody>
      <dsp:txXfrm>
        <a:off x="3685064" y="575484"/>
        <a:ext cx="3455914" cy="578131"/>
      </dsp:txXfrm>
    </dsp:sp>
    <dsp:sp modelId="{742C3397-AE12-46AB-B456-DF4DD37937FE}">
      <dsp:nvSpPr>
        <dsp:cNvPr id="0" name=""/>
        <dsp:cNvSpPr/>
      </dsp:nvSpPr>
      <dsp:spPr>
        <a:xfrm>
          <a:off x="3653789" y="1264976"/>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185330"/>
              <a:satOff val="2886"/>
              <a:lumOff val="14375"/>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Plan According To Category</a:t>
          </a:r>
          <a:endParaRPr lang="en-IN" sz="2300" kern="1200" dirty="0"/>
        </a:p>
      </dsp:txBody>
      <dsp:txXfrm>
        <a:off x="3685064" y="1296251"/>
        <a:ext cx="3455914" cy="578131"/>
      </dsp:txXfrm>
    </dsp:sp>
    <dsp:sp modelId="{3343FE09-2E4A-4219-B2D0-9A2628421F59}">
      <dsp:nvSpPr>
        <dsp:cNvPr id="0" name=""/>
        <dsp:cNvSpPr/>
      </dsp:nvSpPr>
      <dsp:spPr>
        <a:xfrm>
          <a:off x="3653789" y="1985743"/>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370661"/>
              <a:satOff val="5772"/>
              <a:lumOff val="28749"/>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Full Capacity Utilization</a:t>
          </a:r>
          <a:endParaRPr lang="en-IN" sz="2300" kern="1200" dirty="0"/>
        </a:p>
      </dsp:txBody>
      <dsp:txXfrm>
        <a:off x="3685064" y="2017018"/>
        <a:ext cx="3455914" cy="578131"/>
      </dsp:txXfrm>
    </dsp:sp>
    <dsp:sp modelId="{E6E85ED3-ED82-487E-8508-AF58749CB752}">
      <dsp:nvSpPr>
        <dsp:cNvPr id="0" name=""/>
        <dsp:cNvSpPr/>
      </dsp:nvSpPr>
      <dsp:spPr>
        <a:xfrm>
          <a:off x="3653789" y="2706511"/>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555991"/>
              <a:satOff val="8658"/>
              <a:lumOff val="43124"/>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Fixed Machine Allocation</a:t>
          </a:r>
          <a:endParaRPr lang="en-IN" sz="2300" kern="1200" dirty="0"/>
        </a:p>
      </dsp:txBody>
      <dsp:txXfrm>
        <a:off x="3685064" y="2737786"/>
        <a:ext cx="3455914" cy="578131"/>
      </dsp:txXfrm>
    </dsp:sp>
    <dsp:sp modelId="{24582A08-86F2-4CFB-B40C-D4624A4ED32F}">
      <dsp:nvSpPr>
        <dsp:cNvPr id="0" name=""/>
        <dsp:cNvSpPr/>
      </dsp:nvSpPr>
      <dsp:spPr>
        <a:xfrm>
          <a:off x="3653789" y="3427278"/>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370661"/>
              <a:satOff val="5772"/>
              <a:lumOff val="28749"/>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Minimum Changeover</a:t>
          </a:r>
          <a:endParaRPr lang="en-IN" sz="2300" kern="1200" dirty="0"/>
        </a:p>
      </dsp:txBody>
      <dsp:txXfrm>
        <a:off x="3685064" y="3458553"/>
        <a:ext cx="3455914" cy="578131"/>
      </dsp:txXfrm>
    </dsp:sp>
    <dsp:sp modelId="{644E07C9-1C0E-4D0E-916D-B1D5A4F0E663}">
      <dsp:nvSpPr>
        <dsp:cNvPr id="0" name=""/>
        <dsp:cNvSpPr/>
      </dsp:nvSpPr>
      <dsp:spPr>
        <a:xfrm>
          <a:off x="3653789" y="4148045"/>
          <a:ext cx="3518464" cy="640681"/>
        </a:xfrm>
        <a:prstGeom prst="roundRect">
          <a:avLst/>
        </a:prstGeom>
        <a:solidFill>
          <a:schemeClr val="lt1">
            <a:alpha val="90000"/>
            <a:hueOff val="0"/>
            <a:satOff val="0"/>
            <a:lumOff val="0"/>
            <a:alphaOff val="0"/>
          </a:schemeClr>
        </a:solidFill>
        <a:ln w="6350" cap="flat" cmpd="sng" algn="ctr">
          <a:solidFill>
            <a:schemeClr val="accent2">
              <a:shade val="50000"/>
              <a:hueOff val="-185330"/>
              <a:satOff val="2886"/>
              <a:lumOff val="14375"/>
              <a:alphaOff val="0"/>
            </a:schemeClr>
          </a:solidFill>
          <a:prstDash val="solid"/>
          <a:miter lim="800000"/>
        </a:ln>
        <a:effectLst/>
        <a:sp3d z="57200" extrusionH="600" contourW="3000">
          <a:bevelT w="48600" h="18600" prst="relaxedInset"/>
          <a:bevelB w="48600" h="8600" prst="relaxedInse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Terminal Availability</a:t>
          </a:r>
          <a:endParaRPr lang="en-IN" sz="2300" kern="1200" dirty="0"/>
        </a:p>
      </dsp:txBody>
      <dsp:txXfrm>
        <a:off x="3685064" y="4179320"/>
        <a:ext cx="3455914" cy="57813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5138" cy="33813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5588000" y="0"/>
            <a:ext cx="4276725" cy="338138"/>
          </a:xfrm>
          <a:prstGeom prst="rect">
            <a:avLst/>
          </a:prstGeom>
        </p:spPr>
        <p:txBody>
          <a:bodyPr vert="horz" lIns="91440" tIns="45720" rIns="91440" bIns="45720" rtlCol="0"/>
          <a:lstStyle>
            <a:lvl1pPr algn="r">
              <a:defRPr sz="1200"/>
            </a:lvl1pPr>
          </a:lstStyle>
          <a:p>
            <a:fld id="{062D03F9-AA40-4F3A-A210-006EC2BEDAA2}" type="datetimeFigureOut">
              <a:rPr lang="en-IN" smtClean="0"/>
              <a:t>22-04-2026</a:t>
            </a:fld>
            <a:endParaRPr lang="en-IN" dirty="0"/>
          </a:p>
        </p:txBody>
      </p:sp>
      <p:sp>
        <p:nvSpPr>
          <p:cNvPr id="4" name="Footer Placeholder 3"/>
          <p:cNvSpPr>
            <a:spLocks noGrp="1"/>
          </p:cNvSpPr>
          <p:nvPr>
            <p:ph type="ftr" sz="quarter" idx="2"/>
          </p:nvPr>
        </p:nvSpPr>
        <p:spPr>
          <a:xfrm>
            <a:off x="0" y="6397625"/>
            <a:ext cx="4275138" cy="338138"/>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5588000" y="6397625"/>
            <a:ext cx="4276725" cy="338138"/>
          </a:xfrm>
          <a:prstGeom prst="rect">
            <a:avLst/>
          </a:prstGeom>
        </p:spPr>
        <p:txBody>
          <a:bodyPr vert="horz" lIns="91440" tIns="45720" rIns="91440" bIns="45720" rtlCol="0" anchor="b"/>
          <a:lstStyle>
            <a:lvl1pPr algn="r">
              <a:defRPr sz="1200"/>
            </a:lvl1pPr>
          </a:lstStyle>
          <a:p>
            <a:fld id="{18AF49BA-AF7D-4CBD-89D9-630D4AAD3B91}" type="slidenum">
              <a:rPr lang="en-IN" smtClean="0"/>
              <a:t>‹#›</a:t>
            </a:fld>
            <a:endParaRPr lang="en-IN" dirty="0"/>
          </a:p>
        </p:txBody>
      </p:sp>
    </p:spTree>
    <p:extLst>
      <p:ext uri="{BB962C8B-B14F-4D97-AF65-F5344CB8AC3E}">
        <p14:creationId xmlns:p14="http://schemas.microsoft.com/office/powerpoint/2010/main" val="12785313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6003" cy="338348"/>
          </a:xfrm>
          <a:prstGeom prst="rect">
            <a:avLst/>
          </a:prstGeom>
        </p:spPr>
        <p:txBody>
          <a:bodyPr vert="horz" lIns="79736" tIns="39868" rIns="79736" bIns="39868" rtlCol="0"/>
          <a:lstStyle>
            <a:lvl1pPr algn="l">
              <a:defRPr sz="1000"/>
            </a:lvl1pPr>
          </a:lstStyle>
          <a:p>
            <a:endParaRPr lang="en-US" dirty="0"/>
          </a:p>
        </p:txBody>
      </p:sp>
      <p:sp>
        <p:nvSpPr>
          <p:cNvPr id="3" name="Date Placeholder 2"/>
          <p:cNvSpPr>
            <a:spLocks noGrp="1"/>
          </p:cNvSpPr>
          <p:nvPr>
            <p:ph type="dt" idx="1"/>
          </p:nvPr>
        </p:nvSpPr>
        <p:spPr>
          <a:xfrm>
            <a:off x="5589025" y="0"/>
            <a:ext cx="4274716" cy="338348"/>
          </a:xfrm>
          <a:prstGeom prst="rect">
            <a:avLst/>
          </a:prstGeom>
        </p:spPr>
        <p:txBody>
          <a:bodyPr vert="horz" lIns="79736" tIns="39868" rIns="79736" bIns="39868" rtlCol="0"/>
          <a:lstStyle>
            <a:lvl1pPr algn="r">
              <a:defRPr sz="1000"/>
            </a:lvl1pPr>
          </a:lstStyle>
          <a:p>
            <a:fld id="{BB1100BD-CA0D-4C22-83C4-848DCBD3E88F}" type="datetimeFigureOut">
              <a:rPr lang="en-US" smtClean="0"/>
              <a:pPr/>
              <a:t>4/22/2026</a:t>
            </a:fld>
            <a:endParaRPr lang="en-US" dirty="0"/>
          </a:p>
        </p:txBody>
      </p:sp>
      <p:sp>
        <p:nvSpPr>
          <p:cNvPr id="4" name="Slide Image Placeholder 3"/>
          <p:cNvSpPr>
            <a:spLocks noGrp="1" noRot="1" noChangeAspect="1"/>
          </p:cNvSpPr>
          <p:nvPr>
            <p:ph type="sldImg" idx="2"/>
          </p:nvPr>
        </p:nvSpPr>
        <p:spPr>
          <a:xfrm>
            <a:off x="2914650" y="841375"/>
            <a:ext cx="4037013" cy="2273300"/>
          </a:xfrm>
          <a:prstGeom prst="rect">
            <a:avLst/>
          </a:prstGeom>
          <a:noFill/>
          <a:ln w="12700">
            <a:solidFill>
              <a:prstClr val="black"/>
            </a:solidFill>
          </a:ln>
        </p:spPr>
        <p:txBody>
          <a:bodyPr vert="horz" lIns="79736" tIns="39868" rIns="79736" bIns="39868" rtlCol="0" anchor="ctr"/>
          <a:lstStyle/>
          <a:p>
            <a:endParaRPr lang="en-US" dirty="0"/>
          </a:p>
        </p:txBody>
      </p:sp>
      <p:sp>
        <p:nvSpPr>
          <p:cNvPr id="5" name="Notes Placeholder 4"/>
          <p:cNvSpPr>
            <a:spLocks noGrp="1"/>
          </p:cNvSpPr>
          <p:nvPr>
            <p:ph type="body" sz="quarter" idx="3"/>
          </p:nvPr>
        </p:nvSpPr>
        <p:spPr>
          <a:xfrm>
            <a:off x="986375" y="3241587"/>
            <a:ext cx="7893565" cy="2652206"/>
          </a:xfrm>
          <a:prstGeom prst="rect">
            <a:avLst/>
          </a:prstGeom>
        </p:spPr>
        <p:txBody>
          <a:bodyPr vert="horz" lIns="79736" tIns="39868" rIns="79736" bIns="398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397417"/>
            <a:ext cx="4276003" cy="338347"/>
          </a:xfrm>
          <a:prstGeom prst="rect">
            <a:avLst/>
          </a:prstGeom>
        </p:spPr>
        <p:txBody>
          <a:bodyPr vert="horz" lIns="79736" tIns="39868" rIns="79736" bIns="39868" rtlCol="0" anchor="b"/>
          <a:lstStyle>
            <a:lvl1pPr algn="l">
              <a:defRPr sz="1000"/>
            </a:lvl1pPr>
          </a:lstStyle>
          <a:p>
            <a:endParaRPr lang="en-US" dirty="0"/>
          </a:p>
        </p:txBody>
      </p:sp>
      <p:sp>
        <p:nvSpPr>
          <p:cNvPr id="7" name="Slide Number Placeholder 6"/>
          <p:cNvSpPr>
            <a:spLocks noGrp="1"/>
          </p:cNvSpPr>
          <p:nvPr>
            <p:ph type="sldNum" sz="quarter" idx="5"/>
          </p:nvPr>
        </p:nvSpPr>
        <p:spPr>
          <a:xfrm>
            <a:off x="5589025" y="6397417"/>
            <a:ext cx="4274716" cy="338347"/>
          </a:xfrm>
          <a:prstGeom prst="rect">
            <a:avLst/>
          </a:prstGeom>
        </p:spPr>
        <p:txBody>
          <a:bodyPr vert="horz" lIns="79736" tIns="39868" rIns="79736" bIns="39868" rtlCol="0" anchor="b"/>
          <a:lstStyle>
            <a:lvl1pPr algn="r">
              <a:defRPr sz="1000"/>
            </a:lvl1pPr>
          </a:lstStyle>
          <a:p>
            <a:fld id="{41748037-3A49-467E-9603-D49DD34660DA}" type="slidenum">
              <a:rPr lang="en-US" smtClean="0"/>
              <a:pPr/>
              <a:t>‹#›</a:t>
            </a:fld>
            <a:endParaRPr lang="en-US" dirty="0"/>
          </a:p>
        </p:txBody>
      </p:sp>
    </p:spTree>
    <p:extLst>
      <p:ext uri="{BB962C8B-B14F-4D97-AF65-F5344CB8AC3E}">
        <p14:creationId xmlns:p14="http://schemas.microsoft.com/office/powerpoint/2010/main" val="28027071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14650" y="841375"/>
            <a:ext cx="4037013" cy="2273300"/>
          </a:xfrm>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41748037-3A49-467E-9603-D49DD34660DA}" type="slidenum">
              <a:rPr lang="en-US" smtClean="0"/>
              <a:pPr/>
              <a:t>19</a:t>
            </a:fld>
            <a:endParaRPr lang="en-US" dirty="0"/>
          </a:p>
        </p:txBody>
      </p:sp>
    </p:spTree>
    <p:extLst>
      <p:ext uri="{BB962C8B-B14F-4D97-AF65-F5344CB8AC3E}">
        <p14:creationId xmlns:p14="http://schemas.microsoft.com/office/powerpoint/2010/main" val="3661376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360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C754A25A-DBEF-B64B-84F6-87261CC020F4}"/>
              </a:ext>
            </a:extLst>
          </p:cNvPr>
          <p:cNvSpPr txBox="1">
            <a:spLocks/>
          </p:cNvSpPr>
          <p:nvPr userDrawn="1"/>
        </p:nvSpPr>
        <p:spPr>
          <a:xfrm>
            <a:off x="11432516" y="6391175"/>
            <a:ext cx="669862" cy="279133"/>
          </a:xfrm>
          <a:prstGeom prst="rect">
            <a:avLst/>
          </a:prstGeom>
        </p:spPr>
        <p:style>
          <a:lnRef idx="2">
            <a:schemeClr val="accent1"/>
          </a:lnRef>
          <a:fillRef idx="1">
            <a:schemeClr val="lt1"/>
          </a:fillRef>
          <a:effectRef idx="0">
            <a:schemeClr val="accent1"/>
          </a:effectRef>
          <a:fontRef idx="minor">
            <a:schemeClr val="dk1"/>
          </a:fontRef>
        </p:style>
        <p:txBody>
          <a:bodyPr vert="horz" lIns="91345" tIns="45672" rIns="91345" bIns="45672" rtlCol="0" anchor="ct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6E95A1-262F-4E3E-9B30-207FF0616F93}" type="slidenum">
              <a:rPr lang="en-US" sz="1399" smtClean="0">
                <a:solidFill>
                  <a:srgbClr val="0070C0"/>
                </a:solidFill>
              </a:rPr>
              <a:pPr/>
              <a:t>‹#›</a:t>
            </a:fld>
            <a:r>
              <a:rPr lang="en-US" sz="1399" dirty="0">
                <a:solidFill>
                  <a:srgbClr val="0070C0"/>
                </a:solidFill>
              </a:rPr>
              <a:t>/8</a:t>
            </a:r>
          </a:p>
        </p:txBody>
      </p:sp>
    </p:spTree>
    <p:extLst>
      <p:ext uri="{BB962C8B-B14F-4D97-AF65-F5344CB8AC3E}">
        <p14:creationId xmlns:p14="http://schemas.microsoft.com/office/powerpoint/2010/main" val="2903950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1301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239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A566-4463-B745-9B78-46BA42718B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09A0AF-F84E-BD48-9F61-FD9F08123A9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884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7311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D2DA031-3960-A348-8D75-321E722D17A7}"/>
              </a:ext>
            </a:extLst>
          </p:cNvPr>
          <p:cNvSpPr/>
          <p:nvPr userDrawn="1"/>
        </p:nvSpPr>
        <p:spPr>
          <a:xfrm rot="10800000">
            <a:off x="0" y="685801"/>
            <a:ext cx="12192000" cy="292497"/>
          </a:xfrm>
          <a:prstGeom prst="rect">
            <a:avLst/>
          </a:prstGeom>
          <a:gradFill>
            <a:gsLst>
              <a:gs pos="0">
                <a:schemeClr val="bg1">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1D3BAFFB-A611-FB48-BE13-A0731D48F01C}"/>
              </a:ext>
            </a:extLst>
          </p:cNvPr>
          <p:cNvGrpSpPr/>
          <p:nvPr userDrawn="1"/>
        </p:nvGrpSpPr>
        <p:grpSpPr>
          <a:xfrm>
            <a:off x="0" y="6755141"/>
            <a:ext cx="12179301" cy="99288"/>
            <a:chOff x="196456" y="6335445"/>
            <a:chExt cx="5306303" cy="307340"/>
          </a:xfrm>
        </p:grpSpPr>
        <p:sp>
          <p:nvSpPr>
            <p:cNvPr id="10" name="object 9">
              <a:extLst>
                <a:ext uri="{FF2B5EF4-FFF2-40B4-BE49-F238E27FC236}">
                  <a16:creationId xmlns:a16="http://schemas.microsoft.com/office/drawing/2014/main" id="{BB36231A-7123-E142-A811-B691AB0DD493}"/>
                </a:ext>
              </a:extLst>
            </p:cNvPr>
            <p:cNvSpPr/>
            <p:nvPr/>
          </p:nvSpPr>
          <p:spPr>
            <a:xfrm>
              <a:off x="196456" y="6335445"/>
              <a:ext cx="2053307" cy="307340"/>
            </a:xfrm>
            <a:custGeom>
              <a:avLst/>
              <a:gdLst/>
              <a:ahLst/>
              <a:cxnLst/>
              <a:rect l="l" t="t" r="r" b="b"/>
              <a:pathLst>
                <a:path w="1324609" h="307339">
                  <a:moveTo>
                    <a:pt x="0" y="306882"/>
                  </a:moveTo>
                  <a:lnTo>
                    <a:pt x="1324584" y="306882"/>
                  </a:lnTo>
                  <a:lnTo>
                    <a:pt x="1324584" y="0"/>
                  </a:lnTo>
                  <a:lnTo>
                    <a:pt x="0" y="0"/>
                  </a:lnTo>
                  <a:lnTo>
                    <a:pt x="0" y="306882"/>
                  </a:lnTo>
                  <a:close/>
                </a:path>
              </a:pathLst>
            </a:custGeom>
            <a:solidFill>
              <a:srgbClr val="035DBB"/>
            </a:solidFill>
          </p:spPr>
          <p:txBody>
            <a:bodyPr wrap="square" lIns="0" tIns="0" rIns="0" bIns="0" rtlCol="0"/>
            <a:lstStyle/>
            <a:p>
              <a:endParaRPr sz="1798" dirty="0"/>
            </a:p>
          </p:txBody>
        </p:sp>
        <p:sp>
          <p:nvSpPr>
            <p:cNvPr id="11" name="object 10">
              <a:extLst>
                <a:ext uri="{FF2B5EF4-FFF2-40B4-BE49-F238E27FC236}">
                  <a16:creationId xmlns:a16="http://schemas.microsoft.com/office/drawing/2014/main" id="{63279C28-93AB-C842-B27E-95CF4279320C}"/>
                </a:ext>
              </a:extLst>
            </p:cNvPr>
            <p:cNvSpPr/>
            <p:nvPr/>
          </p:nvSpPr>
          <p:spPr>
            <a:xfrm>
              <a:off x="2249764" y="6335445"/>
              <a:ext cx="1455135" cy="307340"/>
            </a:xfrm>
            <a:custGeom>
              <a:avLst/>
              <a:gdLst/>
              <a:ahLst/>
              <a:cxnLst/>
              <a:rect l="l" t="t" r="r" b="b"/>
              <a:pathLst>
                <a:path w="1324609" h="307339">
                  <a:moveTo>
                    <a:pt x="1324584" y="306882"/>
                  </a:moveTo>
                  <a:lnTo>
                    <a:pt x="0" y="306882"/>
                  </a:lnTo>
                  <a:lnTo>
                    <a:pt x="0" y="0"/>
                  </a:lnTo>
                  <a:lnTo>
                    <a:pt x="1324584" y="0"/>
                  </a:lnTo>
                  <a:lnTo>
                    <a:pt x="1324584" y="306882"/>
                  </a:lnTo>
                  <a:close/>
                </a:path>
              </a:pathLst>
            </a:custGeom>
            <a:solidFill>
              <a:srgbClr val="097AE8"/>
            </a:solidFill>
          </p:spPr>
          <p:txBody>
            <a:bodyPr wrap="square" lIns="0" tIns="0" rIns="0" bIns="0" rtlCol="0"/>
            <a:lstStyle/>
            <a:p>
              <a:endParaRPr sz="1798" dirty="0"/>
            </a:p>
          </p:txBody>
        </p:sp>
        <p:sp>
          <p:nvSpPr>
            <p:cNvPr id="12" name="object 11">
              <a:extLst>
                <a:ext uri="{FF2B5EF4-FFF2-40B4-BE49-F238E27FC236}">
                  <a16:creationId xmlns:a16="http://schemas.microsoft.com/office/drawing/2014/main" id="{7FB22E6C-EF8F-8048-A1D5-3E911BA50468}"/>
                </a:ext>
              </a:extLst>
            </p:cNvPr>
            <p:cNvSpPr/>
            <p:nvPr/>
          </p:nvSpPr>
          <p:spPr>
            <a:xfrm>
              <a:off x="3704901" y="6335445"/>
              <a:ext cx="1042059" cy="307340"/>
            </a:xfrm>
            <a:custGeom>
              <a:avLst/>
              <a:gdLst/>
              <a:ahLst/>
              <a:cxnLst/>
              <a:rect l="l" t="t" r="r" b="b"/>
              <a:pathLst>
                <a:path w="1324609" h="307339">
                  <a:moveTo>
                    <a:pt x="0" y="306882"/>
                  </a:moveTo>
                  <a:lnTo>
                    <a:pt x="1324571" y="306882"/>
                  </a:lnTo>
                  <a:lnTo>
                    <a:pt x="1324571" y="0"/>
                  </a:lnTo>
                  <a:lnTo>
                    <a:pt x="0" y="0"/>
                  </a:lnTo>
                  <a:lnTo>
                    <a:pt x="0" y="306882"/>
                  </a:lnTo>
                  <a:close/>
                </a:path>
              </a:pathLst>
            </a:custGeom>
            <a:solidFill>
              <a:srgbClr val="2DBFFF"/>
            </a:solidFill>
          </p:spPr>
          <p:txBody>
            <a:bodyPr wrap="square" lIns="0" tIns="0" rIns="0" bIns="0" rtlCol="0"/>
            <a:lstStyle/>
            <a:p>
              <a:endParaRPr sz="1798" dirty="0"/>
            </a:p>
          </p:txBody>
        </p:sp>
        <p:sp>
          <p:nvSpPr>
            <p:cNvPr id="13" name="object 12">
              <a:extLst>
                <a:ext uri="{FF2B5EF4-FFF2-40B4-BE49-F238E27FC236}">
                  <a16:creationId xmlns:a16="http://schemas.microsoft.com/office/drawing/2014/main" id="{247A5B5C-5C47-D14C-A890-4A38B66FFF74}"/>
                </a:ext>
              </a:extLst>
            </p:cNvPr>
            <p:cNvSpPr/>
            <p:nvPr/>
          </p:nvSpPr>
          <p:spPr>
            <a:xfrm>
              <a:off x="4746959" y="6335445"/>
              <a:ext cx="755800" cy="307340"/>
            </a:xfrm>
            <a:custGeom>
              <a:avLst/>
              <a:gdLst/>
              <a:ahLst/>
              <a:cxnLst/>
              <a:rect l="l" t="t" r="r" b="b"/>
              <a:pathLst>
                <a:path w="1324609" h="307339">
                  <a:moveTo>
                    <a:pt x="1324571" y="306882"/>
                  </a:moveTo>
                  <a:lnTo>
                    <a:pt x="0" y="306882"/>
                  </a:lnTo>
                  <a:lnTo>
                    <a:pt x="0" y="0"/>
                  </a:lnTo>
                  <a:lnTo>
                    <a:pt x="1324571" y="0"/>
                  </a:lnTo>
                  <a:lnTo>
                    <a:pt x="1324571" y="306882"/>
                  </a:lnTo>
                  <a:close/>
                </a:path>
              </a:pathLst>
            </a:custGeom>
            <a:solidFill>
              <a:srgbClr val="B0E7FF"/>
            </a:solidFill>
          </p:spPr>
          <p:txBody>
            <a:bodyPr wrap="square" lIns="0" tIns="0" rIns="0" bIns="0" rtlCol="0"/>
            <a:lstStyle/>
            <a:p>
              <a:endParaRPr sz="1798" dirty="0"/>
            </a:p>
          </p:txBody>
        </p:sp>
      </p:grpSp>
      <p:sp>
        <p:nvSpPr>
          <p:cNvPr id="14" name="Footer Placeholder 4">
            <a:extLst>
              <a:ext uri="{FF2B5EF4-FFF2-40B4-BE49-F238E27FC236}">
                <a16:creationId xmlns:a16="http://schemas.microsoft.com/office/drawing/2014/main" id="{C754A25A-DBEF-B64B-84F6-87261CC020F4}"/>
              </a:ext>
            </a:extLst>
          </p:cNvPr>
          <p:cNvSpPr txBox="1">
            <a:spLocks/>
          </p:cNvSpPr>
          <p:nvPr userDrawn="1"/>
        </p:nvSpPr>
        <p:spPr>
          <a:xfrm>
            <a:off x="11432516" y="6391175"/>
            <a:ext cx="669862" cy="279133"/>
          </a:xfrm>
          <a:prstGeom prst="rect">
            <a:avLst/>
          </a:prstGeom>
        </p:spPr>
        <p:style>
          <a:lnRef idx="2">
            <a:schemeClr val="accent1"/>
          </a:lnRef>
          <a:fillRef idx="1">
            <a:schemeClr val="lt1"/>
          </a:fillRef>
          <a:effectRef idx="0">
            <a:schemeClr val="accent1"/>
          </a:effectRef>
          <a:fontRef idx="minor">
            <a:schemeClr val="dk1"/>
          </a:fontRef>
        </p:style>
        <p:txBody>
          <a:bodyPr vert="horz" lIns="91345" tIns="45672" rIns="91345" bIns="45672" rtlCol="0" anchor="ctr"/>
          <a:lstStyle>
            <a:defPPr>
              <a:defRPr lang="en-US"/>
            </a:defPPr>
            <a:lvl1pPr marL="0" algn="ct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6E95A1-262F-4E3E-9B30-207FF0616F93}" type="slidenum">
              <a:rPr lang="en-US" sz="1399" smtClean="0">
                <a:solidFill>
                  <a:srgbClr val="0070C0"/>
                </a:solidFill>
              </a:rPr>
              <a:pPr/>
              <a:t>‹#›</a:t>
            </a:fld>
            <a:r>
              <a:rPr lang="en-US" sz="1399" dirty="0">
                <a:solidFill>
                  <a:srgbClr val="0070C0"/>
                </a:solidFill>
              </a:rPr>
              <a:t>/5</a:t>
            </a:r>
          </a:p>
        </p:txBody>
      </p:sp>
      <p:pic>
        <p:nvPicPr>
          <p:cNvPr id="15" name="Picture 14">
            <a:extLst>
              <a:ext uri="{FF2B5EF4-FFF2-40B4-BE49-F238E27FC236}">
                <a16:creationId xmlns:a16="http://schemas.microsoft.com/office/drawing/2014/main" id="{CA047C07-817C-47E3-B2AB-849B5D0A5470}"/>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14050" y="0"/>
            <a:ext cx="1288328" cy="675321"/>
          </a:xfrm>
          <a:prstGeom prst="rect">
            <a:avLst/>
          </a:prstGeom>
        </p:spPr>
      </p:pic>
    </p:spTree>
    <p:extLst>
      <p:ext uri="{BB962C8B-B14F-4D97-AF65-F5344CB8AC3E}">
        <p14:creationId xmlns:p14="http://schemas.microsoft.com/office/powerpoint/2010/main" val="2217829467"/>
      </p:ext>
    </p:extLst>
  </p:cSld>
  <p:clrMap bg1="lt1" tx1="dk1" bg2="lt2" tx2="dk2" accent1="accent1" accent2="accent2" accent3="accent3" accent4="accent4" accent5="accent5" accent6="accent6" hlink="hlink" folHlink="folHlink"/>
  <p:sldLayoutIdLst>
    <p:sldLayoutId id="2147483670" r:id="rId1"/>
    <p:sldLayoutId id="2147483679" r:id="rId2"/>
    <p:sldLayoutId id="214748368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BEB63F-C9BB-9F4F-B960-E251F832BFCD}"/>
              </a:ext>
            </a:extLst>
          </p:cNvPr>
          <p:cNvSpPr>
            <a:spLocks noGrp="1"/>
          </p:cNvSpPr>
          <p:nvPr>
            <p:ph type="title"/>
          </p:nvPr>
        </p:nvSpPr>
        <p:spPr>
          <a:xfrm>
            <a:off x="836613" y="365125"/>
            <a:ext cx="1050607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D59DF1-F9E6-204E-8BA7-5E6A94406569}"/>
              </a:ext>
            </a:extLst>
          </p:cNvPr>
          <p:cNvSpPr>
            <a:spLocks noGrp="1"/>
          </p:cNvSpPr>
          <p:nvPr>
            <p:ph type="body" idx="1"/>
          </p:nvPr>
        </p:nvSpPr>
        <p:spPr>
          <a:xfrm>
            <a:off x="836613" y="1825625"/>
            <a:ext cx="1050607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264B09E6-C041-B548-A5BB-89FBD638FAA1}"/>
              </a:ext>
            </a:extLst>
          </p:cNvPr>
          <p:cNvGrpSpPr/>
          <p:nvPr userDrawn="1"/>
        </p:nvGrpSpPr>
        <p:grpSpPr>
          <a:xfrm>
            <a:off x="0" y="6755141"/>
            <a:ext cx="12179301" cy="99288"/>
            <a:chOff x="196456" y="6335445"/>
            <a:chExt cx="5306303" cy="307340"/>
          </a:xfrm>
        </p:grpSpPr>
        <p:sp>
          <p:nvSpPr>
            <p:cNvPr id="8" name="object 9">
              <a:extLst>
                <a:ext uri="{FF2B5EF4-FFF2-40B4-BE49-F238E27FC236}">
                  <a16:creationId xmlns:a16="http://schemas.microsoft.com/office/drawing/2014/main" id="{332FA3B0-D9CA-2249-822F-FF57E0F6DF68}"/>
                </a:ext>
              </a:extLst>
            </p:cNvPr>
            <p:cNvSpPr/>
            <p:nvPr/>
          </p:nvSpPr>
          <p:spPr>
            <a:xfrm>
              <a:off x="196456" y="6335445"/>
              <a:ext cx="2053307" cy="307340"/>
            </a:xfrm>
            <a:custGeom>
              <a:avLst/>
              <a:gdLst/>
              <a:ahLst/>
              <a:cxnLst/>
              <a:rect l="l" t="t" r="r" b="b"/>
              <a:pathLst>
                <a:path w="1324609" h="307339">
                  <a:moveTo>
                    <a:pt x="0" y="306882"/>
                  </a:moveTo>
                  <a:lnTo>
                    <a:pt x="1324584" y="306882"/>
                  </a:lnTo>
                  <a:lnTo>
                    <a:pt x="1324584" y="0"/>
                  </a:lnTo>
                  <a:lnTo>
                    <a:pt x="0" y="0"/>
                  </a:lnTo>
                  <a:lnTo>
                    <a:pt x="0" y="306882"/>
                  </a:lnTo>
                  <a:close/>
                </a:path>
              </a:pathLst>
            </a:custGeom>
            <a:solidFill>
              <a:srgbClr val="035DBB"/>
            </a:solidFill>
          </p:spPr>
          <p:txBody>
            <a:bodyPr wrap="square" lIns="0" tIns="0" rIns="0" bIns="0" rtlCol="0"/>
            <a:lstStyle/>
            <a:p>
              <a:endParaRPr sz="1798" dirty="0"/>
            </a:p>
          </p:txBody>
        </p:sp>
        <p:sp>
          <p:nvSpPr>
            <p:cNvPr id="9" name="object 10">
              <a:extLst>
                <a:ext uri="{FF2B5EF4-FFF2-40B4-BE49-F238E27FC236}">
                  <a16:creationId xmlns:a16="http://schemas.microsoft.com/office/drawing/2014/main" id="{F5E1FA67-779F-1144-8DA0-8137BDC89C33}"/>
                </a:ext>
              </a:extLst>
            </p:cNvPr>
            <p:cNvSpPr/>
            <p:nvPr/>
          </p:nvSpPr>
          <p:spPr>
            <a:xfrm>
              <a:off x="2249764" y="6335445"/>
              <a:ext cx="1455135" cy="307340"/>
            </a:xfrm>
            <a:custGeom>
              <a:avLst/>
              <a:gdLst/>
              <a:ahLst/>
              <a:cxnLst/>
              <a:rect l="l" t="t" r="r" b="b"/>
              <a:pathLst>
                <a:path w="1324609" h="307339">
                  <a:moveTo>
                    <a:pt x="1324584" y="306882"/>
                  </a:moveTo>
                  <a:lnTo>
                    <a:pt x="0" y="306882"/>
                  </a:lnTo>
                  <a:lnTo>
                    <a:pt x="0" y="0"/>
                  </a:lnTo>
                  <a:lnTo>
                    <a:pt x="1324584" y="0"/>
                  </a:lnTo>
                  <a:lnTo>
                    <a:pt x="1324584" y="306882"/>
                  </a:lnTo>
                  <a:close/>
                </a:path>
              </a:pathLst>
            </a:custGeom>
            <a:solidFill>
              <a:srgbClr val="097AE8"/>
            </a:solidFill>
          </p:spPr>
          <p:txBody>
            <a:bodyPr wrap="square" lIns="0" tIns="0" rIns="0" bIns="0" rtlCol="0"/>
            <a:lstStyle/>
            <a:p>
              <a:endParaRPr sz="1798" dirty="0"/>
            </a:p>
          </p:txBody>
        </p:sp>
        <p:sp>
          <p:nvSpPr>
            <p:cNvPr id="10" name="object 11">
              <a:extLst>
                <a:ext uri="{FF2B5EF4-FFF2-40B4-BE49-F238E27FC236}">
                  <a16:creationId xmlns:a16="http://schemas.microsoft.com/office/drawing/2014/main" id="{A5FD011F-2679-F346-A10F-2E3A0F20D5C4}"/>
                </a:ext>
              </a:extLst>
            </p:cNvPr>
            <p:cNvSpPr/>
            <p:nvPr/>
          </p:nvSpPr>
          <p:spPr>
            <a:xfrm>
              <a:off x="3704901" y="6335445"/>
              <a:ext cx="1042059" cy="307340"/>
            </a:xfrm>
            <a:custGeom>
              <a:avLst/>
              <a:gdLst/>
              <a:ahLst/>
              <a:cxnLst/>
              <a:rect l="l" t="t" r="r" b="b"/>
              <a:pathLst>
                <a:path w="1324609" h="307339">
                  <a:moveTo>
                    <a:pt x="0" y="306882"/>
                  </a:moveTo>
                  <a:lnTo>
                    <a:pt x="1324571" y="306882"/>
                  </a:lnTo>
                  <a:lnTo>
                    <a:pt x="1324571" y="0"/>
                  </a:lnTo>
                  <a:lnTo>
                    <a:pt x="0" y="0"/>
                  </a:lnTo>
                  <a:lnTo>
                    <a:pt x="0" y="306882"/>
                  </a:lnTo>
                  <a:close/>
                </a:path>
              </a:pathLst>
            </a:custGeom>
            <a:solidFill>
              <a:srgbClr val="2DBFFF"/>
            </a:solidFill>
          </p:spPr>
          <p:txBody>
            <a:bodyPr wrap="square" lIns="0" tIns="0" rIns="0" bIns="0" rtlCol="0"/>
            <a:lstStyle/>
            <a:p>
              <a:endParaRPr sz="1798" dirty="0"/>
            </a:p>
          </p:txBody>
        </p:sp>
        <p:sp>
          <p:nvSpPr>
            <p:cNvPr id="11" name="object 12">
              <a:extLst>
                <a:ext uri="{FF2B5EF4-FFF2-40B4-BE49-F238E27FC236}">
                  <a16:creationId xmlns:a16="http://schemas.microsoft.com/office/drawing/2014/main" id="{91EA6475-751A-5544-ACEA-D92AE244A7CE}"/>
                </a:ext>
              </a:extLst>
            </p:cNvPr>
            <p:cNvSpPr/>
            <p:nvPr/>
          </p:nvSpPr>
          <p:spPr>
            <a:xfrm>
              <a:off x="4746959" y="6335445"/>
              <a:ext cx="755800" cy="307340"/>
            </a:xfrm>
            <a:custGeom>
              <a:avLst/>
              <a:gdLst/>
              <a:ahLst/>
              <a:cxnLst/>
              <a:rect l="l" t="t" r="r" b="b"/>
              <a:pathLst>
                <a:path w="1324609" h="307339">
                  <a:moveTo>
                    <a:pt x="1324571" y="306882"/>
                  </a:moveTo>
                  <a:lnTo>
                    <a:pt x="0" y="306882"/>
                  </a:lnTo>
                  <a:lnTo>
                    <a:pt x="0" y="0"/>
                  </a:lnTo>
                  <a:lnTo>
                    <a:pt x="1324571" y="0"/>
                  </a:lnTo>
                  <a:lnTo>
                    <a:pt x="1324571" y="306882"/>
                  </a:lnTo>
                  <a:close/>
                </a:path>
              </a:pathLst>
            </a:custGeom>
            <a:solidFill>
              <a:srgbClr val="B0E7FF"/>
            </a:solidFill>
          </p:spPr>
          <p:txBody>
            <a:bodyPr wrap="square" lIns="0" tIns="0" rIns="0" bIns="0" rtlCol="0"/>
            <a:lstStyle/>
            <a:p>
              <a:endParaRPr sz="1798" dirty="0"/>
            </a:p>
          </p:txBody>
        </p:sp>
      </p:grpSp>
    </p:spTree>
    <p:extLst>
      <p:ext uri="{BB962C8B-B14F-4D97-AF65-F5344CB8AC3E}">
        <p14:creationId xmlns:p14="http://schemas.microsoft.com/office/powerpoint/2010/main" val="122842664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88"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1.png"/><Relationship Id="rId3" Type="http://schemas.openxmlformats.org/officeDocument/2006/relationships/hyperlink" Target="https://www.facebook.com/UnoMindaGroup/" TargetMode="External"/><Relationship Id="rId7" Type="http://schemas.openxmlformats.org/officeDocument/2006/relationships/hyperlink" Target="https://instagram.com/unominda?utm_medium=copy_link" TargetMode="External"/><Relationship Id="rId12" Type="http://schemas.openxmlformats.org/officeDocument/2006/relationships/hyperlink" Target="https://twitter.com/Unomindacom?ref_src=twsrc%5egoogle|twcamp%5eserp|twgr%5eauthor"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3.png"/><Relationship Id="rId5" Type="http://schemas.openxmlformats.org/officeDocument/2006/relationships/hyperlink" Target="https://www.linkedin.com/company/unominda/mycompany/" TargetMode="External"/><Relationship Id="rId10" Type="http://schemas.openxmlformats.org/officeDocument/2006/relationships/image" Target="../media/image10.jpeg"/><Relationship Id="rId4" Type="http://schemas.openxmlformats.org/officeDocument/2006/relationships/image" Target="../media/image7.png"/><Relationship Id="rId9" Type="http://schemas.openxmlformats.org/officeDocument/2006/relationships/hyperlink" Target="https://www.youtube.com/channel/UCu088mcVOmv4KyIkuapRL-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146050" y="0"/>
            <a:ext cx="11887200" cy="6705600"/>
            <a:chOff x="267012" y="0"/>
            <a:chExt cx="11887200" cy="6705600"/>
          </a:xfrm>
        </p:grpSpPr>
        <p:pic>
          <p:nvPicPr>
            <p:cNvPr id="6" name="Picture 5">
              <a:extLst>
                <a:ext uri="{FF2B5EF4-FFF2-40B4-BE49-F238E27FC236}">
                  <a16:creationId xmlns:a16="http://schemas.microsoft.com/office/drawing/2014/main" id="{72178E4E-A9D4-754B-9DA2-AE7CC756D93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095812" y="0"/>
              <a:ext cx="10058400" cy="6705600"/>
            </a:xfrm>
            <a:prstGeom prst="rect">
              <a:avLst/>
            </a:prstGeom>
          </p:spPr>
        </p:pic>
        <p:grpSp>
          <p:nvGrpSpPr>
            <p:cNvPr id="7" name="Group 6">
              <a:extLst>
                <a:ext uri="{FF2B5EF4-FFF2-40B4-BE49-F238E27FC236}">
                  <a16:creationId xmlns:a16="http://schemas.microsoft.com/office/drawing/2014/main" id="{5589C8AE-B222-C748-8664-25A3329EF109}"/>
                </a:ext>
              </a:extLst>
            </p:cNvPr>
            <p:cNvGrpSpPr/>
            <p:nvPr/>
          </p:nvGrpSpPr>
          <p:grpSpPr>
            <a:xfrm>
              <a:off x="10554012" y="2512952"/>
              <a:ext cx="376070" cy="376070"/>
              <a:chOff x="5756135" y="1311137"/>
              <a:chExt cx="527330" cy="527331"/>
            </a:xfrm>
          </p:grpSpPr>
          <p:sp>
            <p:nvSpPr>
              <p:cNvPr id="8" name="Oval 7">
                <a:extLst>
                  <a:ext uri="{FF2B5EF4-FFF2-40B4-BE49-F238E27FC236}">
                    <a16:creationId xmlns:a16="http://schemas.microsoft.com/office/drawing/2014/main" id="{1040E639-C2FC-A446-87A8-D35F9765A5FA}"/>
                  </a:ext>
                </a:extLst>
              </p:cNvPr>
              <p:cNvSpPr/>
              <p:nvPr/>
            </p:nvSpPr>
            <p:spPr>
              <a:xfrm>
                <a:off x="5756135" y="1311137"/>
                <a:ext cx="527330" cy="527331"/>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9" name="Oval 8">
                <a:extLst>
                  <a:ext uri="{FF2B5EF4-FFF2-40B4-BE49-F238E27FC236}">
                    <a16:creationId xmlns:a16="http://schemas.microsoft.com/office/drawing/2014/main" id="{8FBD5BB8-7CA4-2E47-8090-F40E47F9A56A}"/>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0" name="Oval 9">
                <a:extLst>
                  <a:ext uri="{FF2B5EF4-FFF2-40B4-BE49-F238E27FC236}">
                    <a16:creationId xmlns:a16="http://schemas.microsoft.com/office/drawing/2014/main" id="{3D85D98A-4AFB-4B40-BA84-3AF255EF23B6}"/>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1" name="Group 10">
              <a:extLst>
                <a:ext uri="{FF2B5EF4-FFF2-40B4-BE49-F238E27FC236}">
                  <a16:creationId xmlns:a16="http://schemas.microsoft.com/office/drawing/2014/main" id="{6F4C017C-CC0E-F94C-8F21-936CB924B457}"/>
                </a:ext>
              </a:extLst>
            </p:cNvPr>
            <p:cNvGrpSpPr/>
            <p:nvPr/>
          </p:nvGrpSpPr>
          <p:grpSpPr>
            <a:xfrm>
              <a:off x="8809989" y="2939738"/>
              <a:ext cx="576364" cy="576363"/>
              <a:chOff x="5756135" y="1311135"/>
              <a:chExt cx="527330" cy="527330"/>
            </a:xfrm>
          </p:grpSpPr>
          <p:sp>
            <p:nvSpPr>
              <p:cNvPr id="12" name="Oval 11">
                <a:extLst>
                  <a:ext uri="{FF2B5EF4-FFF2-40B4-BE49-F238E27FC236}">
                    <a16:creationId xmlns:a16="http://schemas.microsoft.com/office/drawing/2014/main" id="{14B4AA65-114C-744B-AB2B-FA84AA8F9DAC}"/>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3" name="Oval 12">
                <a:extLst>
                  <a:ext uri="{FF2B5EF4-FFF2-40B4-BE49-F238E27FC236}">
                    <a16:creationId xmlns:a16="http://schemas.microsoft.com/office/drawing/2014/main" id="{ECF99C62-105F-9848-99D1-ECF1C1B62B7C}"/>
                  </a:ext>
                </a:extLst>
              </p:cNvPr>
              <p:cNvSpPr/>
              <p:nvPr/>
            </p:nvSpPr>
            <p:spPr>
              <a:xfrm>
                <a:off x="5834678" y="1394084"/>
                <a:ext cx="368300" cy="368301"/>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4" name="Oval 13">
                <a:extLst>
                  <a:ext uri="{FF2B5EF4-FFF2-40B4-BE49-F238E27FC236}">
                    <a16:creationId xmlns:a16="http://schemas.microsoft.com/office/drawing/2014/main" id="{D015A1B5-ECF1-6B4C-A5C8-B8208142B24E}"/>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5" name="Group 14">
              <a:extLst>
                <a:ext uri="{FF2B5EF4-FFF2-40B4-BE49-F238E27FC236}">
                  <a16:creationId xmlns:a16="http://schemas.microsoft.com/office/drawing/2014/main" id="{15FC0D5D-24E0-2940-BD83-DDC08C9808D8}"/>
                </a:ext>
              </a:extLst>
            </p:cNvPr>
            <p:cNvGrpSpPr/>
            <p:nvPr/>
          </p:nvGrpSpPr>
          <p:grpSpPr>
            <a:xfrm>
              <a:off x="9632603" y="3421853"/>
              <a:ext cx="376070" cy="376070"/>
              <a:chOff x="5756135" y="1311135"/>
              <a:chExt cx="527330" cy="527330"/>
            </a:xfrm>
          </p:grpSpPr>
          <p:sp>
            <p:nvSpPr>
              <p:cNvPr id="16" name="Oval 15">
                <a:extLst>
                  <a:ext uri="{FF2B5EF4-FFF2-40B4-BE49-F238E27FC236}">
                    <a16:creationId xmlns:a16="http://schemas.microsoft.com/office/drawing/2014/main" id="{3B55D1E7-44D3-B94A-A2D6-0A458CA36A2F}"/>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7" name="Oval 16">
                <a:extLst>
                  <a:ext uri="{FF2B5EF4-FFF2-40B4-BE49-F238E27FC236}">
                    <a16:creationId xmlns:a16="http://schemas.microsoft.com/office/drawing/2014/main" id="{223359EE-38AE-2B43-8FDD-513351BC62D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18" name="Oval 17">
                <a:extLst>
                  <a:ext uri="{FF2B5EF4-FFF2-40B4-BE49-F238E27FC236}">
                    <a16:creationId xmlns:a16="http://schemas.microsoft.com/office/drawing/2014/main" id="{76442FD1-3578-3D4D-93CF-C91107CFD8F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19" name="Group 18">
              <a:extLst>
                <a:ext uri="{FF2B5EF4-FFF2-40B4-BE49-F238E27FC236}">
                  <a16:creationId xmlns:a16="http://schemas.microsoft.com/office/drawing/2014/main" id="{1D4E684C-E72C-BC4A-BF87-D6733C4B104F}"/>
                </a:ext>
              </a:extLst>
            </p:cNvPr>
            <p:cNvGrpSpPr/>
            <p:nvPr/>
          </p:nvGrpSpPr>
          <p:grpSpPr>
            <a:xfrm>
              <a:off x="7252823" y="2862671"/>
              <a:ext cx="262657" cy="262657"/>
              <a:chOff x="5756135" y="1311135"/>
              <a:chExt cx="527330" cy="527330"/>
            </a:xfrm>
          </p:grpSpPr>
          <p:sp>
            <p:nvSpPr>
              <p:cNvPr id="20" name="Oval 19">
                <a:extLst>
                  <a:ext uri="{FF2B5EF4-FFF2-40B4-BE49-F238E27FC236}">
                    <a16:creationId xmlns:a16="http://schemas.microsoft.com/office/drawing/2014/main" id="{75F19C7D-BE7A-3A47-ACBF-D631171F8300}"/>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1" name="Oval 20">
                <a:extLst>
                  <a:ext uri="{FF2B5EF4-FFF2-40B4-BE49-F238E27FC236}">
                    <a16:creationId xmlns:a16="http://schemas.microsoft.com/office/drawing/2014/main" id="{B3F52A3F-2B83-6649-91C6-F92D20098CDE}"/>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2" name="Oval 21">
                <a:extLst>
                  <a:ext uri="{FF2B5EF4-FFF2-40B4-BE49-F238E27FC236}">
                    <a16:creationId xmlns:a16="http://schemas.microsoft.com/office/drawing/2014/main" id="{08909E9E-FEC1-6147-AC9C-F3D5C45D7841}"/>
                  </a:ext>
                </a:extLst>
              </p:cNvPr>
              <p:cNvSpPr/>
              <p:nvPr/>
            </p:nvSpPr>
            <p:spPr>
              <a:xfrm>
                <a:off x="5923107" y="1491109"/>
                <a:ext cx="180847" cy="180847"/>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23" name="Group 22">
              <a:extLst>
                <a:ext uri="{FF2B5EF4-FFF2-40B4-BE49-F238E27FC236}">
                  <a16:creationId xmlns:a16="http://schemas.microsoft.com/office/drawing/2014/main" id="{6A74FDCE-C482-734D-A6A7-332E362C0474}"/>
                </a:ext>
              </a:extLst>
            </p:cNvPr>
            <p:cNvGrpSpPr/>
            <p:nvPr/>
          </p:nvGrpSpPr>
          <p:grpSpPr>
            <a:xfrm>
              <a:off x="10145537" y="2831764"/>
              <a:ext cx="262657" cy="262657"/>
              <a:chOff x="5756135" y="1311135"/>
              <a:chExt cx="527330" cy="527330"/>
            </a:xfrm>
          </p:grpSpPr>
          <p:sp>
            <p:nvSpPr>
              <p:cNvPr id="24" name="Oval 23">
                <a:extLst>
                  <a:ext uri="{FF2B5EF4-FFF2-40B4-BE49-F238E27FC236}">
                    <a16:creationId xmlns:a16="http://schemas.microsoft.com/office/drawing/2014/main" id="{C0DAA129-01BF-F648-AF2E-5A4E665CBC24}"/>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5" name="Oval 24">
                <a:extLst>
                  <a:ext uri="{FF2B5EF4-FFF2-40B4-BE49-F238E27FC236}">
                    <a16:creationId xmlns:a16="http://schemas.microsoft.com/office/drawing/2014/main" id="{721088E4-F64E-D847-9162-07A114E8065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6" name="Oval 25">
                <a:extLst>
                  <a:ext uri="{FF2B5EF4-FFF2-40B4-BE49-F238E27FC236}">
                    <a16:creationId xmlns:a16="http://schemas.microsoft.com/office/drawing/2014/main" id="{2BA24042-D44F-FA44-A9B5-949A295F894D}"/>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27" name="Group 26">
              <a:extLst>
                <a:ext uri="{FF2B5EF4-FFF2-40B4-BE49-F238E27FC236}">
                  <a16:creationId xmlns:a16="http://schemas.microsoft.com/office/drawing/2014/main" id="{28DC0FB8-4C06-2F4C-B874-54B8B3B1FE13}"/>
                </a:ext>
              </a:extLst>
            </p:cNvPr>
            <p:cNvGrpSpPr/>
            <p:nvPr/>
          </p:nvGrpSpPr>
          <p:grpSpPr>
            <a:xfrm>
              <a:off x="7139410" y="2200745"/>
              <a:ext cx="376070" cy="376070"/>
              <a:chOff x="5756135" y="1311135"/>
              <a:chExt cx="527330" cy="527330"/>
            </a:xfrm>
          </p:grpSpPr>
          <p:sp>
            <p:nvSpPr>
              <p:cNvPr id="28" name="Oval 27">
                <a:extLst>
                  <a:ext uri="{FF2B5EF4-FFF2-40B4-BE49-F238E27FC236}">
                    <a16:creationId xmlns:a16="http://schemas.microsoft.com/office/drawing/2014/main" id="{BA6A7AF5-8161-F149-932B-CDAEFB6E5D57}"/>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29" name="Oval 28">
                <a:extLst>
                  <a:ext uri="{FF2B5EF4-FFF2-40B4-BE49-F238E27FC236}">
                    <a16:creationId xmlns:a16="http://schemas.microsoft.com/office/drawing/2014/main" id="{00432531-06D5-384D-96B4-861128AEE870}"/>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0" name="Oval 29">
                <a:extLst>
                  <a:ext uri="{FF2B5EF4-FFF2-40B4-BE49-F238E27FC236}">
                    <a16:creationId xmlns:a16="http://schemas.microsoft.com/office/drawing/2014/main" id="{BCD06443-6580-924A-953B-6117838A3315}"/>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1" name="Group 30">
              <a:extLst>
                <a:ext uri="{FF2B5EF4-FFF2-40B4-BE49-F238E27FC236}">
                  <a16:creationId xmlns:a16="http://schemas.microsoft.com/office/drawing/2014/main" id="{BB86641A-BED6-534E-B7B6-562DD3007B84}"/>
                </a:ext>
              </a:extLst>
            </p:cNvPr>
            <p:cNvGrpSpPr/>
            <p:nvPr/>
          </p:nvGrpSpPr>
          <p:grpSpPr>
            <a:xfrm>
              <a:off x="6851574" y="2617930"/>
              <a:ext cx="376070" cy="376070"/>
              <a:chOff x="5756135" y="1311135"/>
              <a:chExt cx="527330" cy="527330"/>
            </a:xfrm>
          </p:grpSpPr>
          <p:sp>
            <p:nvSpPr>
              <p:cNvPr id="32" name="Oval 31">
                <a:extLst>
                  <a:ext uri="{FF2B5EF4-FFF2-40B4-BE49-F238E27FC236}">
                    <a16:creationId xmlns:a16="http://schemas.microsoft.com/office/drawing/2014/main" id="{E0D0D50E-C02F-A541-9DF6-1000EE36ABD4}"/>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3" name="Oval 32">
                <a:extLst>
                  <a:ext uri="{FF2B5EF4-FFF2-40B4-BE49-F238E27FC236}">
                    <a16:creationId xmlns:a16="http://schemas.microsoft.com/office/drawing/2014/main" id="{F8FBC5D4-67A2-F147-9C7E-495A5F710E17}"/>
                  </a:ext>
                </a:extLst>
              </p:cNvPr>
              <p:cNvSpPr/>
              <p:nvPr/>
            </p:nvSpPr>
            <p:spPr>
              <a:xfrm>
                <a:off x="5834679" y="1394084"/>
                <a:ext cx="368299"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4" name="Oval 33">
                <a:extLst>
                  <a:ext uri="{FF2B5EF4-FFF2-40B4-BE49-F238E27FC236}">
                    <a16:creationId xmlns:a16="http://schemas.microsoft.com/office/drawing/2014/main" id="{38333FFD-CA12-1540-879B-A99AF2CDE183}"/>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5" name="Group 34">
              <a:extLst>
                <a:ext uri="{FF2B5EF4-FFF2-40B4-BE49-F238E27FC236}">
                  <a16:creationId xmlns:a16="http://schemas.microsoft.com/office/drawing/2014/main" id="{93E91310-5F23-0445-856E-3789924F66B8}"/>
                </a:ext>
              </a:extLst>
            </p:cNvPr>
            <p:cNvGrpSpPr/>
            <p:nvPr/>
          </p:nvGrpSpPr>
          <p:grpSpPr>
            <a:xfrm>
              <a:off x="5003108" y="4101523"/>
              <a:ext cx="376070" cy="376070"/>
              <a:chOff x="5756135" y="1311137"/>
              <a:chExt cx="527330" cy="527331"/>
            </a:xfrm>
          </p:grpSpPr>
          <p:sp>
            <p:nvSpPr>
              <p:cNvPr id="36" name="Oval 35">
                <a:extLst>
                  <a:ext uri="{FF2B5EF4-FFF2-40B4-BE49-F238E27FC236}">
                    <a16:creationId xmlns:a16="http://schemas.microsoft.com/office/drawing/2014/main" id="{2EBF5773-1129-124F-ADEF-F3E327A155BF}"/>
                  </a:ext>
                </a:extLst>
              </p:cNvPr>
              <p:cNvSpPr/>
              <p:nvPr/>
            </p:nvSpPr>
            <p:spPr>
              <a:xfrm>
                <a:off x="5756135" y="1311137"/>
                <a:ext cx="527330" cy="527331"/>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7" name="Oval 36">
                <a:extLst>
                  <a:ext uri="{FF2B5EF4-FFF2-40B4-BE49-F238E27FC236}">
                    <a16:creationId xmlns:a16="http://schemas.microsoft.com/office/drawing/2014/main" id="{EC73B20E-AF2B-B84F-BB03-8E707DC7F335}"/>
                  </a:ext>
                </a:extLst>
              </p:cNvPr>
              <p:cNvSpPr/>
              <p:nvPr/>
            </p:nvSpPr>
            <p:spPr>
              <a:xfrm>
                <a:off x="5834678" y="1394082"/>
                <a:ext cx="368300"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38" name="Oval 37">
                <a:extLst>
                  <a:ext uri="{FF2B5EF4-FFF2-40B4-BE49-F238E27FC236}">
                    <a16:creationId xmlns:a16="http://schemas.microsoft.com/office/drawing/2014/main" id="{7B9D8CAF-A982-0749-996E-A751E9980A5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grpSp>
          <p:nvGrpSpPr>
            <p:cNvPr id="39" name="Group 38">
              <a:extLst>
                <a:ext uri="{FF2B5EF4-FFF2-40B4-BE49-F238E27FC236}">
                  <a16:creationId xmlns:a16="http://schemas.microsoft.com/office/drawing/2014/main" id="{411028C5-3519-7641-8744-85BDC7418FB8}"/>
                </a:ext>
              </a:extLst>
            </p:cNvPr>
            <p:cNvGrpSpPr/>
            <p:nvPr/>
          </p:nvGrpSpPr>
          <p:grpSpPr>
            <a:xfrm>
              <a:off x="4067871" y="2937293"/>
              <a:ext cx="376070" cy="376070"/>
              <a:chOff x="5756135" y="1311135"/>
              <a:chExt cx="527330" cy="527330"/>
            </a:xfrm>
          </p:grpSpPr>
          <p:sp>
            <p:nvSpPr>
              <p:cNvPr id="40" name="Oval 39">
                <a:extLst>
                  <a:ext uri="{FF2B5EF4-FFF2-40B4-BE49-F238E27FC236}">
                    <a16:creationId xmlns:a16="http://schemas.microsoft.com/office/drawing/2014/main" id="{16018E1A-61EF-EE41-95B4-2A8998DC5519}"/>
                  </a:ext>
                </a:extLst>
              </p:cNvPr>
              <p:cNvSpPr/>
              <p:nvPr/>
            </p:nvSpPr>
            <p:spPr>
              <a:xfrm>
                <a:off x="5756135" y="1311135"/>
                <a:ext cx="527330" cy="527330"/>
              </a:xfrm>
              <a:prstGeom prst="ellipse">
                <a:avLst/>
              </a:prstGeom>
              <a:solidFill>
                <a:srgbClr val="EB3037">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41" name="Oval 40">
                <a:extLst>
                  <a:ext uri="{FF2B5EF4-FFF2-40B4-BE49-F238E27FC236}">
                    <a16:creationId xmlns:a16="http://schemas.microsoft.com/office/drawing/2014/main" id="{75F7136D-71C8-CA4D-8162-A709F1E4B0AF}"/>
                  </a:ext>
                </a:extLst>
              </p:cNvPr>
              <p:cNvSpPr/>
              <p:nvPr/>
            </p:nvSpPr>
            <p:spPr>
              <a:xfrm>
                <a:off x="5834679" y="1394084"/>
                <a:ext cx="368299" cy="368300"/>
              </a:xfrm>
              <a:prstGeom prst="ellipse">
                <a:avLst/>
              </a:prstGeom>
              <a:solidFill>
                <a:srgbClr val="EB3037">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sp>
            <p:nvSpPr>
              <p:cNvPr id="42" name="Oval 41">
                <a:extLst>
                  <a:ext uri="{FF2B5EF4-FFF2-40B4-BE49-F238E27FC236}">
                    <a16:creationId xmlns:a16="http://schemas.microsoft.com/office/drawing/2014/main" id="{F2B358E7-978B-5546-844D-2BCA91B581F1}"/>
                  </a:ext>
                </a:extLst>
              </p:cNvPr>
              <p:cNvSpPr/>
              <p:nvPr/>
            </p:nvSpPr>
            <p:spPr>
              <a:xfrm>
                <a:off x="5923108" y="1491110"/>
                <a:ext cx="180848" cy="180848"/>
              </a:xfrm>
              <a:prstGeom prst="ellipse">
                <a:avLst/>
              </a:prstGeom>
              <a:solidFill>
                <a:srgbClr val="EB303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otham Medium" panose="02000604030000020004" pitchFamily="2" charset="0"/>
                </a:endParaRPr>
              </a:p>
            </p:txBody>
          </p:sp>
        </p:grpSp>
        <p:sp>
          <p:nvSpPr>
            <p:cNvPr id="4" name="Title 14">
              <a:extLst>
                <a:ext uri="{FF2B5EF4-FFF2-40B4-BE49-F238E27FC236}">
                  <a16:creationId xmlns:a16="http://schemas.microsoft.com/office/drawing/2014/main" id="{15B75061-CCA8-EE46-AC50-C67FD5C5D1F7}"/>
                </a:ext>
              </a:extLst>
            </p:cNvPr>
            <p:cNvSpPr txBox="1">
              <a:spLocks/>
            </p:cNvSpPr>
            <p:nvPr/>
          </p:nvSpPr>
          <p:spPr>
            <a:xfrm>
              <a:off x="267012" y="5269142"/>
              <a:ext cx="11536588" cy="10350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rPr>
                <a:t>____________( Heading)</a:t>
              </a:r>
            </a:p>
            <a:p>
              <a:r>
                <a:rPr lang="en-US" sz="3200" b="1" dirty="0">
                  <a:latin typeface="+mn-lt"/>
                </a:rPr>
                <a:t>________________( Business/Division)</a:t>
              </a:r>
            </a:p>
            <a:p>
              <a:r>
                <a:rPr lang="en-US" sz="1998" b="1" i="1">
                  <a:latin typeface="+mn-lt"/>
                </a:rPr>
                <a:t>____________ 2025 </a:t>
              </a:r>
              <a:r>
                <a:rPr lang="en-US" sz="1998" b="1" i="1" dirty="0">
                  <a:latin typeface="+mn-lt"/>
                </a:rPr>
                <a:t>( Date)</a:t>
              </a:r>
            </a:p>
          </p:txBody>
        </p:sp>
      </p:grpSp>
      <p:pic>
        <p:nvPicPr>
          <p:cNvPr id="44" name="Picture 43">
            <a:extLst>
              <a:ext uri="{FF2B5EF4-FFF2-40B4-BE49-F238E27FC236}">
                <a16:creationId xmlns:a16="http://schemas.microsoft.com/office/drawing/2014/main" id="{CA047C07-817C-47E3-B2AB-849B5D0A5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08" y="2864608"/>
            <a:ext cx="3919025" cy="2054290"/>
          </a:xfrm>
          <a:prstGeom prst="rect">
            <a:avLst/>
          </a:prstGeom>
        </p:spPr>
      </p:pic>
      <p:sp>
        <p:nvSpPr>
          <p:cNvPr id="2" name="GTBClassificationF1788952312">
            <a:extLst>
              <a:ext uri="{FF2B5EF4-FFF2-40B4-BE49-F238E27FC236}">
                <a16:creationId xmlns:a16="http://schemas.microsoft.com/office/drawing/2014/main" id="{F7604711-CB08-42F1-BCF5-0F3821EBD88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858497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8BBCBB-7687-4ADC-B7F9-E36FD4637AA0}"/>
              </a:ext>
            </a:extLst>
          </p:cNvPr>
          <p:cNvSpPr txBox="1"/>
          <p:nvPr/>
        </p:nvSpPr>
        <p:spPr>
          <a:xfrm>
            <a:off x="146050" y="9832"/>
            <a:ext cx="5867400" cy="584775"/>
          </a:xfrm>
          <a:prstGeom prst="rect">
            <a:avLst/>
          </a:prstGeom>
          <a:noFill/>
        </p:spPr>
        <p:txBody>
          <a:bodyPr wrap="square" rtlCol="0">
            <a:spAutoFit/>
          </a:bodyPr>
          <a:lstStyle/>
          <a:p>
            <a:r>
              <a:rPr lang="en-US" sz="3200" b="1" dirty="0">
                <a:solidFill>
                  <a:srgbClr val="097AE8"/>
                </a:solidFill>
              </a:rPr>
              <a:t>Production Planning</a:t>
            </a:r>
            <a:endParaRPr lang="en-IN" sz="3200" b="1" dirty="0">
              <a:solidFill>
                <a:srgbClr val="097AE8"/>
              </a:solidFill>
            </a:endParaRPr>
          </a:p>
        </p:txBody>
      </p:sp>
      <p:sp>
        <p:nvSpPr>
          <p:cNvPr id="3" name="TextBox 2">
            <a:extLst>
              <a:ext uri="{FF2B5EF4-FFF2-40B4-BE49-F238E27FC236}">
                <a16:creationId xmlns:a16="http://schemas.microsoft.com/office/drawing/2014/main" id="{06A310C2-C763-4B1A-A56F-30DB1A39624B}"/>
              </a:ext>
            </a:extLst>
          </p:cNvPr>
          <p:cNvSpPr txBox="1"/>
          <p:nvPr/>
        </p:nvSpPr>
        <p:spPr>
          <a:xfrm>
            <a:off x="374650" y="914400"/>
            <a:ext cx="11277600" cy="5663089"/>
          </a:xfrm>
          <a:prstGeom prst="rect">
            <a:avLst/>
          </a:prstGeom>
          <a:noFill/>
        </p:spPr>
        <p:txBody>
          <a:bodyPr wrap="square" rtlCol="0">
            <a:spAutoFit/>
          </a:bodyPr>
          <a:lstStyle/>
          <a:p>
            <a:r>
              <a:rPr lang="en-US" dirty="0"/>
              <a:t>Production planning in manufacturing is the process of organizing resources, machines, and materials to meet demand efficiently while minimizing waste and delays. It ensures that the right parts are produced at the right time, in the right quantity, and on the right machines.</a:t>
            </a:r>
          </a:p>
          <a:p>
            <a:endParaRPr lang="en-US" dirty="0"/>
          </a:p>
          <a:p>
            <a:r>
              <a:rPr lang="en-US" sz="2800" b="1" dirty="0"/>
              <a:t>Key Elements of Production Planning</a:t>
            </a:r>
          </a:p>
          <a:p>
            <a:pPr>
              <a:buFont typeface="Arial" panose="020B0604020202020204" pitchFamily="34" charset="0"/>
              <a:buChar char="•"/>
            </a:pPr>
            <a:r>
              <a:rPr lang="en-US" b="1" dirty="0">
                <a:effectLst/>
              </a:rPr>
              <a:t>Demand (Indent)</a:t>
            </a:r>
            <a:r>
              <a:rPr lang="en-US" dirty="0">
                <a:effectLst/>
              </a:rPr>
              <a:t> → How much needs to be made each day or month.</a:t>
            </a:r>
            <a:endParaRPr lang="en-US" dirty="0"/>
          </a:p>
          <a:p>
            <a:pPr>
              <a:buFont typeface="Arial" panose="020B0604020202020204" pitchFamily="34" charset="0"/>
              <a:buChar char="•"/>
            </a:pPr>
            <a:r>
              <a:rPr lang="en-US" b="1" dirty="0">
                <a:effectLst/>
              </a:rPr>
              <a:t>Capacity</a:t>
            </a:r>
            <a:r>
              <a:rPr lang="en-US" dirty="0">
                <a:effectLst/>
              </a:rPr>
              <a:t> → How many hours machines can run.</a:t>
            </a:r>
            <a:endParaRPr lang="en-US" dirty="0"/>
          </a:p>
          <a:p>
            <a:pPr>
              <a:buFont typeface="Arial" panose="020B0604020202020204" pitchFamily="34" charset="0"/>
              <a:buChar char="•"/>
            </a:pPr>
            <a:r>
              <a:rPr lang="en-US" b="1" dirty="0">
                <a:effectLst/>
              </a:rPr>
              <a:t>Inventory</a:t>
            </a:r>
            <a:r>
              <a:rPr lang="en-US" dirty="0">
                <a:effectLst/>
              </a:rPr>
              <a:t> → How many parts are already in stock.</a:t>
            </a:r>
            <a:endParaRPr lang="en-US" dirty="0"/>
          </a:p>
          <a:p>
            <a:pPr>
              <a:buFont typeface="Arial" panose="020B0604020202020204" pitchFamily="34" charset="0"/>
              <a:buChar char="•"/>
            </a:pPr>
            <a:r>
              <a:rPr lang="en-US" b="1" dirty="0">
                <a:effectLst/>
              </a:rPr>
              <a:t>Scheduling</a:t>
            </a:r>
            <a:r>
              <a:rPr lang="en-US" dirty="0">
                <a:effectLst/>
              </a:rPr>
              <a:t> → Deciding which part to make first, on which machine and how much .</a:t>
            </a:r>
            <a:endParaRPr lang="en-US" dirty="0"/>
          </a:p>
          <a:p>
            <a:pPr>
              <a:buFont typeface="Arial" panose="020B0604020202020204" pitchFamily="34" charset="0"/>
              <a:buChar char="•"/>
            </a:pPr>
            <a:r>
              <a:rPr lang="en-US" b="1" dirty="0">
                <a:effectLst/>
              </a:rPr>
              <a:t>Resources</a:t>
            </a:r>
            <a:r>
              <a:rPr lang="en-US" dirty="0">
                <a:effectLst/>
              </a:rPr>
              <a:t> → Machines, tools available for each part, colors, and terminals needed for each part.</a:t>
            </a:r>
            <a:endParaRPr lang="en-US" dirty="0"/>
          </a:p>
          <a:p>
            <a:pPr>
              <a:buFont typeface="Arial" panose="020B0604020202020204" pitchFamily="34" charset="0"/>
              <a:buChar char="•"/>
            </a:pPr>
            <a:r>
              <a:rPr lang="en-US" b="1" dirty="0">
                <a:effectLst/>
              </a:rPr>
              <a:t>Rules</a:t>
            </a:r>
            <a:r>
              <a:rPr lang="en-US" dirty="0">
                <a:effectLst/>
              </a:rPr>
              <a:t> → Limits that must be followed, like safety stock, or machine restrictions.</a:t>
            </a:r>
            <a:endParaRPr lang="en-US" dirty="0"/>
          </a:p>
          <a:p>
            <a:endParaRPr lang="en-IN" dirty="0"/>
          </a:p>
          <a:p>
            <a:r>
              <a:rPr lang="en-US" sz="2800" b="1" dirty="0"/>
              <a:t>Benefits of Good Planning</a:t>
            </a:r>
          </a:p>
          <a:p>
            <a:pPr>
              <a:buFont typeface="Arial" panose="020B0604020202020204" pitchFamily="34" charset="0"/>
              <a:buChar char="•"/>
            </a:pPr>
            <a:r>
              <a:rPr lang="en-US" dirty="0">
                <a:effectLst/>
              </a:rPr>
              <a:t>Work runs smoothly.</a:t>
            </a:r>
            <a:endParaRPr lang="en-US" dirty="0"/>
          </a:p>
          <a:p>
            <a:pPr>
              <a:buFont typeface="Arial" panose="020B0604020202020204" pitchFamily="34" charset="0"/>
              <a:buChar char="•"/>
            </a:pPr>
            <a:r>
              <a:rPr lang="en-US" dirty="0">
                <a:effectLst/>
              </a:rPr>
              <a:t>Machines are used well, not left idle.</a:t>
            </a:r>
            <a:endParaRPr lang="en-US" dirty="0"/>
          </a:p>
          <a:p>
            <a:pPr>
              <a:buFont typeface="Arial" panose="020B0604020202020204" pitchFamily="34" charset="0"/>
              <a:buChar char="•"/>
            </a:pPr>
            <a:r>
              <a:rPr lang="en-US" dirty="0">
                <a:effectLst/>
              </a:rPr>
              <a:t>Less waste of time and materials.</a:t>
            </a:r>
            <a:endParaRPr lang="en-US" dirty="0"/>
          </a:p>
          <a:p>
            <a:pPr>
              <a:buFont typeface="Arial" panose="020B0604020202020204" pitchFamily="34" charset="0"/>
              <a:buChar char="•"/>
            </a:pPr>
            <a:r>
              <a:rPr lang="en-US" dirty="0">
                <a:effectLst/>
              </a:rPr>
              <a:t>Products are ready when needed.</a:t>
            </a:r>
            <a:endParaRPr lang="en-US" dirty="0"/>
          </a:p>
          <a:p>
            <a:pPr>
              <a:buFont typeface="Arial" panose="020B0604020202020204" pitchFamily="34" charset="0"/>
              <a:buChar char="•"/>
            </a:pPr>
            <a:r>
              <a:rPr lang="en-US" dirty="0">
                <a:effectLst/>
              </a:rPr>
              <a:t>Costs stay lower.</a:t>
            </a:r>
            <a:endParaRPr lang="en-US" dirty="0"/>
          </a:p>
          <a:p>
            <a:endParaRPr lang="en-IN" dirty="0"/>
          </a:p>
        </p:txBody>
      </p:sp>
      <p:sp>
        <p:nvSpPr>
          <p:cNvPr id="4" name="GTBClassificationF587139386">
            <a:extLst>
              <a:ext uri="{FF2B5EF4-FFF2-40B4-BE49-F238E27FC236}">
                <a16:creationId xmlns:a16="http://schemas.microsoft.com/office/drawing/2014/main" id="{9CDF7173-5CA8-46E8-AD6D-EE30029521D1}"/>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828467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8BBCBB-7687-4ADC-B7F9-E36FD4637AA0}"/>
              </a:ext>
            </a:extLst>
          </p:cNvPr>
          <p:cNvSpPr txBox="1"/>
          <p:nvPr/>
        </p:nvSpPr>
        <p:spPr>
          <a:xfrm>
            <a:off x="146050" y="9832"/>
            <a:ext cx="5867400" cy="584775"/>
          </a:xfrm>
          <a:prstGeom prst="rect">
            <a:avLst/>
          </a:prstGeom>
          <a:noFill/>
        </p:spPr>
        <p:txBody>
          <a:bodyPr wrap="square" rtlCol="0">
            <a:spAutoFit/>
          </a:bodyPr>
          <a:lstStyle/>
          <a:p>
            <a:r>
              <a:rPr lang="en-US" sz="3200" b="1" dirty="0">
                <a:solidFill>
                  <a:srgbClr val="097AE8"/>
                </a:solidFill>
              </a:rPr>
              <a:t>Production Planning</a:t>
            </a:r>
            <a:endParaRPr lang="en-IN" sz="3200" b="1" dirty="0">
              <a:solidFill>
                <a:srgbClr val="097AE8"/>
              </a:solidFill>
            </a:endParaRPr>
          </a:p>
        </p:txBody>
      </p:sp>
      <p:sp>
        <p:nvSpPr>
          <p:cNvPr id="3" name="TextBox 2">
            <a:extLst>
              <a:ext uri="{FF2B5EF4-FFF2-40B4-BE49-F238E27FC236}">
                <a16:creationId xmlns:a16="http://schemas.microsoft.com/office/drawing/2014/main" id="{06A310C2-C763-4B1A-A56F-30DB1A39624B}"/>
              </a:ext>
            </a:extLst>
          </p:cNvPr>
          <p:cNvSpPr txBox="1"/>
          <p:nvPr/>
        </p:nvSpPr>
        <p:spPr>
          <a:xfrm>
            <a:off x="374650" y="914400"/>
            <a:ext cx="11277600" cy="2185214"/>
          </a:xfrm>
          <a:prstGeom prst="rect">
            <a:avLst/>
          </a:prstGeom>
          <a:noFill/>
        </p:spPr>
        <p:txBody>
          <a:bodyPr wrap="square" rtlCol="0">
            <a:spAutoFit/>
          </a:bodyPr>
          <a:lstStyle/>
          <a:p>
            <a:r>
              <a:rPr lang="en-US" sz="2800" b="1" dirty="0"/>
              <a:t>Common Challenges in Production Planning</a:t>
            </a:r>
          </a:p>
          <a:p>
            <a:pPr>
              <a:buFont typeface="Arial" panose="020B0604020202020204" pitchFamily="34" charset="0"/>
              <a:buChar char="•"/>
            </a:pPr>
            <a:r>
              <a:rPr lang="en-US" b="1" dirty="0">
                <a:effectLst/>
              </a:rPr>
              <a:t>Machine Breakdowns:</a:t>
            </a:r>
            <a:r>
              <a:rPr lang="en-US" dirty="0">
                <a:effectLst/>
              </a:rPr>
              <a:t> Equipment failure disrupts schedules and forces replanning.</a:t>
            </a:r>
            <a:endParaRPr lang="en-US" dirty="0"/>
          </a:p>
          <a:p>
            <a:pPr>
              <a:buFont typeface="Arial" panose="020B0604020202020204" pitchFamily="34" charset="0"/>
              <a:buChar char="•"/>
            </a:pPr>
            <a:r>
              <a:rPr lang="en-US" b="1" dirty="0">
                <a:effectLst/>
              </a:rPr>
              <a:t>Material Shortages:</a:t>
            </a:r>
            <a:r>
              <a:rPr lang="en-US" dirty="0">
                <a:effectLst/>
              </a:rPr>
              <a:t> Raw materials or terminals may not arrive on time, blocking production.</a:t>
            </a:r>
            <a:endParaRPr lang="en-US" dirty="0"/>
          </a:p>
          <a:p>
            <a:pPr>
              <a:buFont typeface="Arial" panose="020B0604020202020204" pitchFamily="34" charset="0"/>
              <a:buChar char="•"/>
            </a:pPr>
            <a:r>
              <a:rPr lang="en-US" b="1" dirty="0">
                <a:effectLst/>
              </a:rPr>
              <a:t>High Changeover Times:</a:t>
            </a:r>
            <a:r>
              <a:rPr lang="en-US" dirty="0">
                <a:effectLst/>
              </a:rPr>
              <a:t> Switching machines between different parts/colors consumes valuable hours.</a:t>
            </a:r>
            <a:endParaRPr lang="en-US" dirty="0"/>
          </a:p>
          <a:p>
            <a:pPr>
              <a:buFont typeface="Arial" panose="020B0604020202020204" pitchFamily="34" charset="0"/>
              <a:buChar char="•"/>
            </a:pPr>
            <a:r>
              <a:rPr lang="en-US" b="1" dirty="0">
                <a:effectLst/>
              </a:rPr>
              <a:t>Labor Issues:</a:t>
            </a:r>
            <a:r>
              <a:rPr lang="en-US" dirty="0">
                <a:effectLst/>
              </a:rPr>
              <a:t> Shortage of skilled operators or unexpected absenteeism affects capacity.</a:t>
            </a:r>
            <a:endParaRPr lang="en-US" dirty="0"/>
          </a:p>
          <a:p>
            <a:pPr>
              <a:buFont typeface="Arial" panose="020B0604020202020204" pitchFamily="34" charset="0"/>
              <a:buChar char="•"/>
            </a:pPr>
            <a:r>
              <a:rPr lang="en-US" b="1" dirty="0">
                <a:effectLst/>
              </a:rPr>
              <a:t>Data Accuracy:</a:t>
            </a:r>
            <a:r>
              <a:rPr lang="en-US" dirty="0">
                <a:effectLst/>
              </a:rPr>
              <a:t> Wrong or missing information in planning leads to poor decisions.</a:t>
            </a:r>
            <a:endParaRPr lang="en-US" dirty="0"/>
          </a:p>
          <a:p>
            <a:pPr>
              <a:buFont typeface="Arial" panose="020B0604020202020204" pitchFamily="34" charset="0"/>
              <a:buChar char="•"/>
            </a:pPr>
            <a:r>
              <a:rPr lang="en-US" b="1" dirty="0">
                <a:effectLst/>
              </a:rPr>
              <a:t>Coordination Gaps:</a:t>
            </a:r>
            <a:r>
              <a:rPr lang="en-US" dirty="0">
                <a:effectLst/>
              </a:rPr>
              <a:t> Miscommunication between planning, procurement, and shop floor teams causes delays.</a:t>
            </a:r>
            <a:endParaRPr lang="en-US" dirty="0"/>
          </a:p>
        </p:txBody>
      </p:sp>
      <p:sp>
        <p:nvSpPr>
          <p:cNvPr id="4" name="GTBClassificationF260577896">
            <a:extLst>
              <a:ext uri="{FF2B5EF4-FFF2-40B4-BE49-F238E27FC236}">
                <a16:creationId xmlns:a16="http://schemas.microsoft.com/office/drawing/2014/main" id="{5567B99F-CA4A-4B30-BE7C-373677AB444D}"/>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686509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19C988-6EC1-4D97-8EA4-25D160331422}"/>
              </a:ext>
            </a:extLst>
          </p:cNvPr>
          <p:cNvSpPr txBox="1"/>
          <p:nvPr/>
        </p:nvSpPr>
        <p:spPr>
          <a:xfrm>
            <a:off x="69850" y="76200"/>
            <a:ext cx="8001000" cy="584775"/>
          </a:xfrm>
          <a:prstGeom prst="rect">
            <a:avLst/>
          </a:prstGeom>
          <a:noFill/>
        </p:spPr>
        <p:txBody>
          <a:bodyPr wrap="square" rtlCol="0">
            <a:spAutoFit/>
          </a:bodyPr>
          <a:lstStyle/>
          <a:p>
            <a:r>
              <a:rPr lang="en-US" sz="3200" b="1" dirty="0">
                <a:solidFill>
                  <a:srgbClr val="0062DA"/>
                </a:solidFill>
              </a:rPr>
              <a:t>Where We Are and Where We Want to Be</a:t>
            </a:r>
            <a:endParaRPr lang="en-IN" sz="3200" b="1" dirty="0">
              <a:solidFill>
                <a:srgbClr val="0062DA"/>
              </a:solidFill>
            </a:endParaRPr>
          </a:p>
        </p:txBody>
      </p:sp>
      <p:sp>
        <p:nvSpPr>
          <p:cNvPr id="3" name="TextBox 2">
            <a:extLst>
              <a:ext uri="{FF2B5EF4-FFF2-40B4-BE49-F238E27FC236}">
                <a16:creationId xmlns:a16="http://schemas.microsoft.com/office/drawing/2014/main" id="{24C1BF90-7B7A-4899-88CE-918334E41813}"/>
              </a:ext>
            </a:extLst>
          </p:cNvPr>
          <p:cNvSpPr txBox="1"/>
          <p:nvPr/>
        </p:nvSpPr>
        <p:spPr>
          <a:xfrm>
            <a:off x="222250" y="838200"/>
            <a:ext cx="10972800" cy="5410200"/>
          </a:xfrm>
          <a:prstGeom prst="rect">
            <a:avLst/>
          </a:prstGeom>
          <a:noFill/>
        </p:spPr>
        <p:txBody>
          <a:bodyPr wrap="square" rtlCol="0">
            <a:spAutoFit/>
          </a:bodyPr>
          <a:lstStyle/>
          <a:p>
            <a:endParaRPr lang="en-IN" dirty="0"/>
          </a:p>
        </p:txBody>
      </p:sp>
      <p:graphicFrame>
        <p:nvGraphicFramePr>
          <p:cNvPr id="4" name="Diagram 3">
            <a:extLst>
              <a:ext uri="{FF2B5EF4-FFF2-40B4-BE49-F238E27FC236}">
                <a16:creationId xmlns:a16="http://schemas.microsoft.com/office/drawing/2014/main" id="{0CC6CA3C-E4D5-43A4-A7D7-A7A4FE7D9F90}"/>
              </a:ext>
            </a:extLst>
          </p:cNvPr>
          <p:cNvGraphicFramePr/>
          <p:nvPr>
            <p:extLst>
              <p:ext uri="{D42A27DB-BD31-4B8C-83A1-F6EECF244321}">
                <p14:modId xmlns:p14="http://schemas.microsoft.com/office/powerpoint/2010/main" val="1411717745"/>
              </p:ext>
            </p:extLst>
          </p:nvPr>
        </p:nvGraphicFramePr>
        <p:xfrm>
          <a:off x="2029883" y="722489"/>
          <a:ext cx="8119533" cy="5413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GTBClassificationF1659589833">
            <a:extLst>
              <a:ext uri="{FF2B5EF4-FFF2-40B4-BE49-F238E27FC236}">
                <a16:creationId xmlns:a16="http://schemas.microsoft.com/office/drawing/2014/main" id="{0910C611-5A44-4E11-ADB5-C544353F8972}"/>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3931451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00CC5E-1D08-4C6C-AB36-C57FD5A2A617}"/>
              </a:ext>
            </a:extLst>
          </p:cNvPr>
          <p:cNvSpPr txBox="1"/>
          <p:nvPr/>
        </p:nvSpPr>
        <p:spPr>
          <a:xfrm>
            <a:off x="69850" y="76200"/>
            <a:ext cx="5715000" cy="584775"/>
          </a:xfrm>
          <a:prstGeom prst="rect">
            <a:avLst/>
          </a:prstGeom>
          <a:noFill/>
        </p:spPr>
        <p:txBody>
          <a:bodyPr wrap="square" rtlCol="0">
            <a:spAutoFit/>
          </a:bodyPr>
          <a:lstStyle/>
          <a:p>
            <a:r>
              <a:rPr lang="en-US" sz="3200" b="1" dirty="0">
                <a:solidFill>
                  <a:srgbClr val="0062DA"/>
                </a:solidFill>
              </a:rPr>
              <a:t>Digital Production Scheduling</a:t>
            </a:r>
            <a:endParaRPr lang="en-IN" sz="3200" b="1" dirty="0">
              <a:solidFill>
                <a:srgbClr val="0062DA"/>
              </a:solidFill>
            </a:endParaRPr>
          </a:p>
        </p:txBody>
      </p:sp>
      <p:sp>
        <p:nvSpPr>
          <p:cNvPr id="3" name="TextBox 2">
            <a:extLst>
              <a:ext uri="{FF2B5EF4-FFF2-40B4-BE49-F238E27FC236}">
                <a16:creationId xmlns:a16="http://schemas.microsoft.com/office/drawing/2014/main" id="{2A1423D0-0CDF-4BDE-99EA-474686C7AB38}"/>
              </a:ext>
            </a:extLst>
          </p:cNvPr>
          <p:cNvSpPr txBox="1"/>
          <p:nvPr/>
        </p:nvSpPr>
        <p:spPr>
          <a:xfrm>
            <a:off x="146050" y="762000"/>
            <a:ext cx="11506200" cy="5386090"/>
          </a:xfrm>
          <a:prstGeom prst="rect">
            <a:avLst/>
          </a:prstGeom>
          <a:noFill/>
        </p:spPr>
        <p:txBody>
          <a:bodyPr wrap="square" rtlCol="0">
            <a:spAutoFit/>
          </a:bodyPr>
          <a:lstStyle/>
          <a:p>
            <a:r>
              <a:rPr lang="en-US" dirty="0"/>
              <a:t>A smart, automated system that creates production plans using real-time data from demand (indents), inventory, and machine capacity.</a:t>
            </a:r>
          </a:p>
          <a:p>
            <a:endParaRPr lang="en-US" dirty="0"/>
          </a:p>
          <a:p>
            <a:r>
              <a:rPr lang="en-US" sz="2800" b="1" dirty="0">
                <a:effectLst/>
              </a:rPr>
              <a:t>What problem it solves:</a:t>
            </a:r>
            <a:endParaRPr lang="en-US" sz="2800" dirty="0"/>
          </a:p>
          <a:p>
            <a:pPr>
              <a:buFont typeface="Arial" panose="020B0604020202020204" pitchFamily="34" charset="0"/>
              <a:buChar char="•"/>
            </a:pPr>
            <a:r>
              <a:rPr lang="en-US" dirty="0">
                <a:effectLst/>
              </a:rPr>
              <a:t>Removes manual planning that is slow and error-prone.</a:t>
            </a:r>
            <a:endParaRPr lang="en-US" dirty="0"/>
          </a:p>
          <a:p>
            <a:pPr>
              <a:buFont typeface="Arial" panose="020B0604020202020204" pitchFamily="34" charset="0"/>
              <a:buChar char="•"/>
            </a:pPr>
            <a:r>
              <a:rPr lang="en-US" dirty="0">
                <a:effectLst/>
              </a:rPr>
              <a:t>Balances demand with available machine hours.</a:t>
            </a:r>
            <a:endParaRPr lang="en-US" dirty="0"/>
          </a:p>
          <a:p>
            <a:pPr>
              <a:buFont typeface="Arial" panose="020B0604020202020204" pitchFamily="34" charset="0"/>
              <a:buChar char="•"/>
            </a:pPr>
            <a:r>
              <a:rPr lang="en-US" dirty="0">
                <a:effectLst/>
              </a:rPr>
              <a:t>Reduces overproduction and shortages by maintaining safety stock.</a:t>
            </a:r>
            <a:endParaRPr lang="en-US" dirty="0"/>
          </a:p>
          <a:p>
            <a:pPr>
              <a:buFont typeface="Arial" panose="020B0604020202020204" pitchFamily="34" charset="0"/>
              <a:buChar char="•"/>
            </a:pPr>
            <a:r>
              <a:rPr lang="en-US" dirty="0">
                <a:effectLst/>
              </a:rPr>
              <a:t>Tracks machine utilization properly.</a:t>
            </a:r>
            <a:endParaRPr lang="en-US" dirty="0"/>
          </a:p>
          <a:p>
            <a:pPr>
              <a:buFont typeface="Arial" panose="020B0604020202020204" pitchFamily="34" charset="0"/>
              <a:buChar char="•"/>
            </a:pPr>
            <a:r>
              <a:rPr lang="en-US" dirty="0">
                <a:effectLst/>
              </a:rPr>
              <a:t>Cuts down wasted time from frequent changeovers.</a:t>
            </a:r>
          </a:p>
          <a:p>
            <a:pPr>
              <a:buFont typeface="Arial" panose="020B0604020202020204" pitchFamily="34" charset="0"/>
              <a:buChar char="•"/>
            </a:pPr>
            <a:endParaRPr lang="en-US" dirty="0"/>
          </a:p>
          <a:p>
            <a:r>
              <a:rPr lang="en-US" sz="2800" b="1" dirty="0">
                <a:effectLst/>
              </a:rPr>
              <a:t>Why it should be used:</a:t>
            </a:r>
            <a:endParaRPr lang="en-US" sz="2800" dirty="0"/>
          </a:p>
          <a:p>
            <a:pPr>
              <a:buFont typeface="Arial" panose="020B0604020202020204" pitchFamily="34" charset="0"/>
              <a:buChar char="•"/>
            </a:pPr>
            <a:r>
              <a:rPr lang="en-US" dirty="0">
                <a:effectLst/>
              </a:rPr>
              <a:t>Faster and more accurate planning.</a:t>
            </a:r>
            <a:endParaRPr lang="en-US" dirty="0"/>
          </a:p>
          <a:p>
            <a:pPr>
              <a:buFont typeface="Arial" panose="020B0604020202020204" pitchFamily="34" charset="0"/>
              <a:buChar char="•"/>
            </a:pPr>
            <a:r>
              <a:rPr lang="en-US" dirty="0">
                <a:effectLst/>
              </a:rPr>
              <a:t>Clear visibility of what needs to be produced and when.</a:t>
            </a:r>
            <a:endParaRPr lang="en-US" dirty="0"/>
          </a:p>
          <a:p>
            <a:pPr>
              <a:buFont typeface="Arial" panose="020B0604020202020204" pitchFamily="34" charset="0"/>
              <a:buChar char="•"/>
            </a:pPr>
            <a:r>
              <a:rPr lang="en-US" dirty="0">
                <a:effectLst/>
              </a:rPr>
              <a:t>Better machine utilization and fewer idle hours.</a:t>
            </a:r>
            <a:endParaRPr lang="en-US" dirty="0"/>
          </a:p>
          <a:p>
            <a:pPr>
              <a:buFont typeface="Arial" panose="020B0604020202020204" pitchFamily="34" charset="0"/>
              <a:buChar char="•"/>
            </a:pPr>
            <a:r>
              <a:rPr lang="en-US" dirty="0">
                <a:effectLst/>
              </a:rPr>
              <a:t>Lower costs and smoother shop floor operations.</a:t>
            </a:r>
            <a:endParaRPr lang="en-US" dirty="0"/>
          </a:p>
          <a:p>
            <a:pPr>
              <a:buFont typeface="Arial" panose="020B0604020202020204" pitchFamily="34" charset="0"/>
              <a:buChar char="•"/>
            </a:pPr>
            <a:r>
              <a:rPr lang="en-US" dirty="0">
                <a:effectLst/>
              </a:rPr>
              <a:t>Easy to adjust when demand or machine status changes.</a:t>
            </a:r>
            <a:endParaRPr lang="en-US" dirty="0"/>
          </a:p>
          <a:p>
            <a:pPr>
              <a:buFont typeface="Arial" panose="020B0604020202020204" pitchFamily="34" charset="0"/>
              <a:buChar char="•"/>
            </a:pPr>
            <a:endParaRPr lang="en-US" dirty="0"/>
          </a:p>
          <a:p>
            <a:endParaRPr lang="en-IN" dirty="0"/>
          </a:p>
        </p:txBody>
      </p:sp>
      <p:sp>
        <p:nvSpPr>
          <p:cNvPr id="4" name="GTBClassificationF1555595390">
            <a:extLst>
              <a:ext uri="{FF2B5EF4-FFF2-40B4-BE49-F238E27FC236}">
                <a16:creationId xmlns:a16="http://schemas.microsoft.com/office/drawing/2014/main" id="{EA521A1E-373B-4161-96A6-6F96CEC63A44}"/>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0891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B9E2D7-4E79-4BB8-BBD1-0187ACD7A1EF}"/>
              </a:ext>
            </a:extLst>
          </p:cNvPr>
          <p:cNvSpPr txBox="1"/>
          <p:nvPr/>
        </p:nvSpPr>
        <p:spPr>
          <a:xfrm>
            <a:off x="146050" y="0"/>
            <a:ext cx="4876800" cy="584775"/>
          </a:xfrm>
          <a:prstGeom prst="rect">
            <a:avLst/>
          </a:prstGeom>
          <a:noFill/>
        </p:spPr>
        <p:txBody>
          <a:bodyPr wrap="square" rtlCol="0">
            <a:spAutoFit/>
          </a:bodyPr>
          <a:lstStyle/>
          <a:p>
            <a:r>
              <a:rPr lang="en-IN" sz="3200" b="1" dirty="0">
                <a:solidFill>
                  <a:srgbClr val="0062DA"/>
                </a:solidFill>
              </a:rPr>
              <a:t>Where to Implement ? </a:t>
            </a:r>
          </a:p>
        </p:txBody>
      </p:sp>
      <p:sp>
        <p:nvSpPr>
          <p:cNvPr id="4" name="TextBox 3">
            <a:extLst>
              <a:ext uri="{FF2B5EF4-FFF2-40B4-BE49-F238E27FC236}">
                <a16:creationId xmlns:a16="http://schemas.microsoft.com/office/drawing/2014/main" id="{E2E99D81-232F-4829-8BCD-DCBA1AD0D317}"/>
              </a:ext>
            </a:extLst>
          </p:cNvPr>
          <p:cNvSpPr txBox="1"/>
          <p:nvPr/>
        </p:nvSpPr>
        <p:spPr>
          <a:xfrm>
            <a:off x="146050" y="762000"/>
            <a:ext cx="11734800" cy="4278094"/>
          </a:xfrm>
          <a:prstGeom prst="rect">
            <a:avLst/>
          </a:prstGeom>
          <a:noFill/>
        </p:spPr>
        <p:txBody>
          <a:bodyPr wrap="square" rtlCol="0">
            <a:spAutoFit/>
          </a:bodyPr>
          <a:lstStyle/>
          <a:p>
            <a:r>
              <a:rPr lang="en-US" sz="2800" b="1" dirty="0">
                <a:effectLst/>
              </a:rPr>
              <a:t>Implementation Area:</a:t>
            </a:r>
            <a:endParaRPr lang="en-US" sz="2800" dirty="0"/>
          </a:p>
          <a:p>
            <a:pPr>
              <a:buFont typeface="Arial" panose="020B0604020202020204" pitchFamily="34" charset="0"/>
              <a:buChar char="•"/>
            </a:pPr>
            <a:r>
              <a:rPr lang="en-US" dirty="0">
                <a:effectLst/>
              </a:rPr>
              <a:t>This system will be implemented in the </a:t>
            </a:r>
            <a:r>
              <a:rPr lang="en-US" b="1" dirty="0">
                <a:effectLst/>
              </a:rPr>
              <a:t>Moulding Section of part production</a:t>
            </a:r>
            <a:r>
              <a:rPr lang="en-US" dirty="0">
                <a:effectLst/>
              </a:rPr>
              <a:t>.</a:t>
            </a:r>
            <a:endParaRPr lang="en-US" dirty="0"/>
          </a:p>
          <a:p>
            <a:endParaRPr lang="en-IN" dirty="0"/>
          </a:p>
          <a:p>
            <a:r>
              <a:rPr lang="en-US" sz="2800" b="1" dirty="0"/>
              <a:t>Why Moulding Section Was Selected</a:t>
            </a:r>
          </a:p>
          <a:p>
            <a:pPr>
              <a:buFont typeface="Arial" panose="020B0604020202020204" pitchFamily="34" charset="0"/>
              <a:buChar char="•"/>
            </a:pPr>
            <a:r>
              <a:rPr lang="en-US" b="1" dirty="0">
                <a:effectLst/>
              </a:rPr>
              <a:t>Manual Planning:</a:t>
            </a:r>
            <a:r>
              <a:rPr lang="en-US" dirty="0">
                <a:effectLst/>
              </a:rPr>
              <a:t>→ Currently, planning is done by 2–3 people, which is slow and time-consuming.</a:t>
            </a:r>
            <a:endParaRPr lang="en-US" dirty="0"/>
          </a:p>
          <a:p>
            <a:pPr>
              <a:buFont typeface="Arial" panose="020B0604020202020204" pitchFamily="34" charset="0"/>
              <a:buChar char="•"/>
            </a:pPr>
            <a:r>
              <a:rPr lang="en-US" b="1" dirty="0">
                <a:effectLst/>
              </a:rPr>
              <a:t>Inventory Issues:</a:t>
            </a:r>
            <a:r>
              <a:rPr lang="en-US" dirty="0">
                <a:effectLst/>
              </a:rPr>
              <a:t> → Some parts are overproduced while others face shortages, leading to imbalance.</a:t>
            </a:r>
            <a:endParaRPr lang="en-US" dirty="0"/>
          </a:p>
          <a:p>
            <a:pPr>
              <a:buFont typeface="Arial" panose="020B0604020202020204" pitchFamily="34" charset="0"/>
              <a:buChar char="•"/>
            </a:pPr>
            <a:r>
              <a:rPr lang="en-US" b="1" dirty="0">
                <a:effectLst/>
              </a:rPr>
              <a:t>Machine Utilization Gaps:</a:t>
            </a:r>
            <a:r>
              <a:rPr lang="en-US" dirty="0">
                <a:effectLst/>
              </a:rPr>
              <a:t> → No proper tracking of machine usage; some machines remain idle or on downtime.</a:t>
            </a:r>
            <a:endParaRPr lang="en-US" dirty="0"/>
          </a:p>
          <a:p>
            <a:pPr>
              <a:buFont typeface="Arial" panose="020B0604020202020204" pitchFamily="34" charset="0"/>
              <a:buChar char="•"/>
            </a:pPr>
            <a:r>
              <a:rPr lang="en-US" b="1" dirty="0">
                <a:effectLst/>
              </a:rPr>
              <a:t>High Impact Area:</a:t>
            </a:r>
            <a:r>
              <a:rPr lang="en-US" dirty="0">
                <a:effectLst/>
              </a:rPr>
              <a:t> → Moulding is a critical stage in part production, so improvements here directly affect overall efficiency.</a:t>
            </a:r>
            <a:endParaRPr lang="en-US" dirty="0"/>
          </a:p>
          <a:p>
            <a:pPr>
              <a:buFont typeface="Arial" panose="020B0604020202020204" pitchFamily="34" charset="0"/>
              <a:buChar char="•"/>
            </a:pPr>
            <a:r>
              <a:rPr lang="en-US" b="1" dirty="0">
                <a:effectLst/>
              </a:rPr>
              <a:t>Best Fit for Automation:</a:t>
            </a:r>
            <a:r>
              <a:rPr lang="en-US" dirty="0">
                <a:effectLst/>
              </a:rPr>
              <a:t> → The section has clear demand (indents), measurable machine hours, and visible inventory — making it ideal for digital scheduling.</a:t>
            </a:r>
          </a:p>
          <a:p>
            <a:pPr>
              <a:buFont typeface="Arial" panose="020B0604020202020204" pitchFamily="34" charset="0"/>
              <a:buChar char="•"/>
            </a:pPr>
            <a:endParaRPr lang="en-US" dirty="0"/>
          </a:p>
          <a:p>
            <a:r>
              <a:rPr lang="en-US" dirty="0"/>
              <a:t>This section has the biggest gaps between current practice and desired goals, and digital production scheduling can directly solve them — making it the best starting point for implementation.</a:t>
            </a:r>
          </a:p>
          <a:p>
            <a:endParaRPr lang="en-IN" dirty="0"/>
          </a:p>
        </p:txBody>
      </p:sp>
      <p:sp>
        <p:nvSpPr>
          <p:cNvPr id="5" name="GTBClassificationF49372605">
            <a:extLst>
              <a:ext uri="{FF2B5EF4-FFF2-40B4-BE49-F238E27FC236}">
                <a16:creationId xmlns:a16="http://schemas.microsoft.com/office/drawing/2014/main" id="{7BC7079A-837D-4C71-94D5-E25146023A09}"/>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3095147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Important Guidelines</a:t>
            </a:r>
            <a:endParaRPr sz="3200" dirty="0">
              <a:solidFill>
                <a:srgbClr val="097AE8"/>
              </a:solidFill>
              <a:latin typeface="+mn-lt"/>
              <a:cs typeface="Arial" pitchFamily="34" charset="0"/>
            </a:endParaRPr>
          </a:p>
        </p:txBody>
      </p:sp>
      <p:sp>
        <p:nvSpPr>
          <p:cNvPr id="3" name="TextBox 2"/>
          <p:cNvSpPr txBox="1"/>
          <p:nvPr/>
        </p:nvSpPr>
        <p:spPr>
          <a:xfrm>
            <a:off x="755650" y="762000"/>
            <a:ext cx="10820400" cy="5509200"/>
          </a:xfrm>
          <a:prstGeom prst="rect">
            <a:avLst/>
          </a:prstGeom>
          <a:noFill/>
        </p:spPr>
        <p:txBody>
          <a:bodyPr wrap="square" rtlCol="0">
            <a:spAutoFit/>
          </a:bodyPr>
          <a:lstStyle/>
          <a:p>
            <a:pPr marL="342900" indent="-342900" algn="just">
              <a:buFont typeface="Arial" panose="020B0604020202020204" pitchFamily="34" charset="0"/>
              <a:buChar char="•"/>
            </a:pPr>
            <a:r>
              <a:rPr lang="en-IN" sz="2200" dirty="0">
                <a:cs typeface="Arial" pitchFamily="34" charset="0"/>
              </a:rPr>
              <a:t> Ensure every slide has a page number written on bottom right side. Exclude writing page number on cover slide. </a:t>
            </a:r>
          </a:p>
          <a:p>
            <a:pPr marL="342900" indent="-342900" algn="just">
              <a:buFont typeface="Arial" panose="020B0604020202020204" pitchFamily="34" charset="0"/>
              <a:buChar char="•"/>
            </a:pPr>
            <a:endParaRPr lang="en-IN" sz="2200" dirty="0">
              <a:cs typeface="Arial" pitchFamily="34" charset="0"/>
            </a:endParaRPr>
          </a:p>
          <a:p>
            <a:pPr marL="342900" indent="-342900" algn="just">
              <a:buFont typeface="Arial" panose="020B0604020202020204" pitchFamily="34" charset="0"/>
              <a:buChar char="•"/>
            </a:pPr>
            <a:r>
              <a:rPr lang="en-IN" sz="2200" dirty="0">
                <a:cs typeface="Arial" pitchFamily="34" charset="0"/>
              </a:rPr>
              <a:t>While counting total number of slides of the presentation include cover slide and thank you slide. Count first slide, which is also the cover slide, as slide number 1. </a:t>
            </a:r>
          </a:p>
          <a:p>
            <a:pPr marL="342900" indent="-342900" algn="just">
              <a:buFont typeface="Arial" panose="020B0604020202020204" pitchFamily="34" charset="0"/>
              <a:buChar char="•"/>
            </a:pPr>
            <a:endParaRPr lang="en-IN" sz="2200" dirty="0">
              <a:cs typeface="Arial" pitchFamily="34" charset="0"/>
            </a:endParaRPr>
          </a:p>
          <a:p>
            <a:pPr marL="342900" indent="-342900" algn="just">
              <a:buFont typeface="Arial" panose="020B0604020202020204" pitchFamily="34" charset="0"/>
              <a:buChar char="•"/>
            </a:pPr>
            <a:r>
              <a:rPr lang="en-IN" sz="2200" dirty="0">
                <a:cs typeface="Arial" pitchFamily="34" charset="0"/>
              </a:rPr>
              <a:t>Total number of slides= Cover Slide + Thank you Slide + All inner slides</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The thank you slide has clickable links to our official social media handles in the form of icons. These links open to their respective handles. Please ensure the links are clickable at all times.</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Editable items in cover slide are Presentation title, month &amp; year. Email ID, address (if applicable) in the thank you slide.</a:t>
            </a:r>
          </a:p>
          <a:p>
            <a:pPr marL="342900" indent="-342900" algn="just">
              <a:buFont typeface="Arial" panose="020B0604020202020204" pitchFamily="34" charset="0"/>
              <a:buChar char="•"/>
            </a:pPr>
            <a:endParaRPr lang="en-US" sz="2200" dirty="0">
              <a:cs typeface="Arial" pitchFamily="34" charset="0"/>
            </a:endParaRPr>
          </a:p>
          <a:p>
            <a:pPr marL="342900" indent="-342900" algn="just">
              <a:buFont typeface="Arial" panose="020B0604020202020204" pitchFamily="34" charset="0"/>
              <a:buChar char="•"/>
            </a:pPr>
            <a:r>
              <a:rPr lang="en-US" sz="2200" dirty="0">
                <a:cs typeface="Arial" pitchFamily="34" charset="0"/>
              </a:rPr>
              <a:t>DO NOT TAMPER with the design of the PPT. </a:t>
            </a:r>
          </a:p>
        </p:txBody>
      </p:sp>
      <p:sp>
        <p:nvSpPr>
          <p:cNvPr id="4" name="GTBClassificationF326437389">
            <a:extLst>
              <a:ext uri="{FF2B5EF4-FFF2-40B4-BE49-F238E27FC236}">
                <a16:creationId xmlns:a16="http://schemas.microsoft.com/office/drawing/2014/main" id="{9A51C652-469F-4383-B873-70C3A890F0BF}"/>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45654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2ADA71-5BCC-4AF8-B67B-4507395253C8}"/>
              </a:ext>
            </a:extLst>
          </p:cNvPr>
          <p:cNvSpPr txBox="1"/>
          <p:nvPr/>
        </p:nvSpPr>
        <p:spPr>
          <a:xfrm>
            <a:off x="146050" y="76200"/>
            <a:ext cx="10287000" cy="584775"/>
          </a:xfrm>
          <a:prstGeom prst="rect">
            <a:avLst/>
          </a:prstGeom>
          <a:noFill/>
        </p:spPr>
        <p:txBody>
          <a:bodyPr wrap="square" rtlCol="0">
            <a:spAutoFit/>
          </a:bodyPr>
          <a:lstStyle/>
          <a:p>
            <a:r>
              <a:rPr lang="en-US" sz="3200" b="1" dirty="0">
                <a:solidFill>
                  <a:srgbClr val="0062DA"/>
                </a:solidFill>
              </a:rPr>
              <a:t>Constraints Implemented in Digital Production Scheduling</a:t>
            </a:r>
            <a:endParaRPr lang="en-IN" sz="3200" b="1" dirty="0">
              <a:solidFill>
                <a:srgbClr val="0062DA"/>
              </a:solidFill>
            </a:endParaRPr>
          </a:p>
        </p:txBody>
      </p:sp>
      <p:sp>
        <p:nvSpPr>
          <p:cNvPr id="3" name="TextBox 2">
            <a:extLst>
              <a:ext uri="{FF2B5EF4-FFF2-40B4-BE49-F238E27FC236}">
                <a16:creationId xmlns:a16="http://schemas.microsoft.com/office/drawing/2014/main" id="{00583F04-51A2-431F-AF82-E4650BA6A62F}"/>
              </a:ext>
            </a:extLst>
          </p:cNvPr>
          <p:cNvSpPr txBox="1"/>
          <p:nvPr/>
        </p:nvSpPr>
        <p:spPr>
          <a:xfrm>
            <a:off x="222250" y="762000"/>
            <a:ext cx="11430000" cy="5943600"/>
          </a:xfrm>
          <a:prstGeom prst="rect">
            <a:avLst/>
          </a:prstGeom>
          <a:noFill/>
        </p:spPr>
        <p:txBody>
          <a:bodyPr wrap="square" rtlCol="0">
            <a:spAutoFit/>
          </a:bodyPr>
          <a:lstStyle/>
          <a:p>
            <a:endParaRPr lang="en-IN" dirty="0"/>
          </a:p>
        </p:txBody>
      </p:sp>
      <p:graphicFrame>
        <p:nvGraphicFramePr>
          <p:cNvPr id="4" name="Diagram 3">
            <a:extLst>
              <a:ext uri="{FF2B5EF4-FFF2-40B4-BE49-F238E27FC236}">
                <a16:creationId xmlns:a16="http://schemas.microsoft.com/office/drawing/2014/main" id="{E50BA6C9-DEBB-4910-8E06-D8AD8889F534}"/>
              </a:ext>
            </a:extLst>
          </p:cNvPr>
          <p:cNvGraphicFramePr/>
          <p:nvPr>
            <p:extLst>
              <p:ext uri="{D42A27DB-BD31-4B8C-83A1-F6EECF244321}">
                <p14:modId xmlns:p14="http://schemas.microsoft.com/office/powerpoint/2010/main" val="455928295"/>
              </p:ext>
            </p:extLst>
          </p:nvPr>
        </p:nvGraphicFramePr>
        <p:xfrm>
          <a:off x="2029883" y="722489"/>
          <a:ext cx="8119533" cy="5413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GTBClassificationF793208428">
            <a:extLst>
              <a:ext uri="{FF2B5EF4-FFF2-40B4-BE49-F238E27FC236}">
                <a16:creationId xmlns:a16="http://schemas.microsoft.com/office/drawing/2014/main" id="{B3FAA9A0-61BC-4818-B1A8-B02B7763C6B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285567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E8183F-80E3-4478-B7DA-45EECF50CD0B}"/>
              </a:ext>
            </a:extLst>
          </p:cNvPr>
          <p:cNvSpPr txBox="1"/>
          <p:nvPr/>
        </p:nvSpPr>
        <p:spPr>
          <a:xfrm>
            <a:off x="146050" y="76200"/>
            <a:ext cx="5105400" cy="584775"/>
          </a:xfrm>
          <a:prstGeom prst="rect">
            <a:avLst/>
          </a:prstGeom>
          <a:noFill/>
        </p:spPr>
        <p:txBody>
          <a:bodyPr wrap="square" rtlCol="0">
            <a:spAutoFit/>
          </a:bodyPr>
          <a:lstStyle/>
          <a:p>
            <a:r>
              <a:rPr lang="en-US" sz="3200" b="1" dirty="0">
                <a:solidFill>
                  <a:srgbClr val="0062DA"/>
                </a:solidFill>
              </a:rPr>
              <a:t>Maintain Safety Stock</a:t>
            </a:r>
            <a:endParaRPr lang="en-IN" sz="3200" b="1" dirty="0">
              <a:solidFill>
                <a:srgbClr val="0062DA"/>
              </a:solidFill>
            </a:endParaRPr>
          </a:p>
        </p:txBody>
      </p:sp>
      <p:sp>
        <p:nvSpPr>
          <p:cNvPr id="17" name="GTBClassificationF826565807">
            <a:extLst>
              <a:ext uri="{FF2B5EF4-FFF2-40B4-BE49-F238E27FC236}">
                <a16:creationId xmlns:a16="http://schemas.microsoft.com/office/drawing/2014/main" id="{CA9449CF-1FAE-48A3-852B-8B178CD22C5B}"/>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
        <p:nvSpPr>
          <p:cNvPr id="6" name="TextBox 5">
            <a:extLst>
              <a:ext uri="{FF2B5EF4-FFF2-40B4-BE49-F238E27FC236}">
                <a16:creationId xmlns:a16="http://schemas.microsoft.com/office/drawing/2014/main" id="{F13DF2B2-486C-4F84-AC65-325DDE6F72BD}"/>
              </a:ext>
            </a:extLst>
          </p:cNvPr>
          <p:cNvSpPr txBox="1"/>
          <p:nvPr/>
        </p:nvSpPr>
        <p:spPr>
          <a:xfrm>
            <a:off x="222250" y="762000"/>
            <a:ext cx="11658600" cy="7571303"/>
          </a:xfrm>
          <a:prstGeom prst="rect">
            <a:avLst/>
          </a:prstGeom>
          <a:noFill/>
        </p:spPr>
        <p:txBody>
          <a:bodyPr wrap="square" rtlCol="0">
            <a:spAutoFit/>
          </a:bodyPr>
          <a:lstStyle/>
          <a:p>
            <a:r>
              <a:rPr lang="en-US" dirty="0"/>
              <a:t>To maintain a minimum </a:t>
            </a:r>
            <a:r>
              <a:rPr lang="en-US" b="1" dirty="0"/>
              <a:t>3-day safety stock </a:t>
            </a:r>
            <a:r>
              <a:rPr lang="en-US" dirty="0"/>
              <a:t>for all parts, ensuring uninterrupted production flow and safeguarding operations against downtime, demand fluctuations, and unforeseen uncertainties. </a:t>
            </a:r>
          </a:p>
          <a:p>
            <a:endParaRPr lang="en-US" dirty="0"/>
          </a:p>
          <a:p>
            <a:r>
              <a:rPr lang="en-US" dirty="0"/>
              <a:t>This buffer acts as a protective layer that keeps the line running smoothly even when unexpected delays, machine breakdowns, or supply disruptions occur.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algn="l" rtl="0" eaLnBrk="1" fontAlgn="t" latinLnBrk="0" hangingPunct="1">
              <a:spcBef>
                <a:spcPts val="0"/>
              </a:spcBef>
              <a:spcAft>
                <a:spcPts val="0"/>
              </a:spcAft>
            </a:pPr>
            <a:r>
              <a:rPr lang="en-US" sz="1800" b="1" i="0" u="none" strike="noStrike" kern="1200" dirty="0">
                <a:solidFill>
                  <a:srgbClr val="FFFFFF"/>
                </a:solidFill>
                <a:effectLst/>
                <a:latin typeface="Calibri" panose="020F0502020204030204" pitchFamily="34" charset="0"/>
              </a:rPr>
              <a:t> 1-2 D</a:t>
            </a:r>
            <a:endParaRPr lang="en-IN"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none" strike="noStrike" kern="1200" dirty="0">
                <a:solidFill>
                  <a:srgbClr val="FFFFFF"/>
                </a:solidFill>
                <a:effectLst/>
                <a:latin typeface="Calibri" panose="020F0502020204030204" pitchFamily="34" charset="0"/>
              </a:rPr>
              <a:t>          2 – 3 D</a:t>
            </a:r>
            <a:endParaRPr lang="en-IN"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none" strike="noStrike" kern="1200" dirty="0">
                <a:solidFill>
                  <a:srgbClr val="FFFFFF"/>
                </a:solidFill>
                <a:effectLst/>
                <a:latin typeface="Calibri" panose="020F0502020204030204" pitchFamily="34" charset="0"/>
              </a:rPr>
              <a:t>              4D</a:t>
            </a:r>
            <a:endParaRPr lang="en-IN"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1" i="0" u="none" strike="noStrike" kern="1200" dirty="0">
                <a:solidFill>
                  <a:srgbClr val="FFFFFF"/>
                </a:solidFill>
                <a:effectLst/>
                <a:latin typeface="Calibri" panose="020F0502020204030204" pitchFamily="34" charset="0"/>
              </a:rPr>
              <a:t>   5D Target Level</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grpSp>
        <p:nvGrpSpPr>
          <p:cNvPr id="16" name="Group 15">
            <a:extLst>
              <a:ext uri="{FF2B5EF4-FFF2-40B4-BE49-F238E27FC236}">
                <a16:creationId xmlns:a16="http://schemas.microsoft.com/office/drawing/2014/main" id="{112C7095-C7F4-4162-871E-A69C47672FC4}"/>
              </a:ext>
            </a:extLst>
          </p:cNvPr>
          <p:cNvGrpSpPr/>
          <p:nvPr/>
        </p:nvGrpSpPr>
        <p:grpSpPr>
          <a:xfrm>
            <a:off x="1822450" y="2514600"/>
            <a:ext cx="8991600" cy="265747"/>
            <a:chOff x="2150159" y="2848557"/>
            <a:chExt cx="8982636" cy="303860"/>
          </a:xfrm>
        </p:grpSpPr>
        <p:sp>
          <p:nvSpPr>
            <p:cNvPr id="18" name="Arrow: Right 17">
              <a:extLst>
                <a:ext uri="{FF2B5EF4-FFF2-40B4-BE49-F238E27FC236}">
                  <a16:creationId xmlns:a16="http://schemas.microsoft.com/office/drawing/2014/main" id="{C808C45A-E626-4725-82F1-78204FFABE2C}"/>
                </a:ext>
              </a:extLst>
            </p:cNvPr>
            <p:cNvSpPr/>
            <p:nvPr/>
          </p:nvSpPr>
          <p:spPr>
            <a:xfrm>
              <a:off x="2150159" y="2910594"/>
              <a:ext cx="8982636" cy="197426"/>
            </a:xfrm>
            <a:prstGeom prst="rightArrow">
              <a:avLst/>
            </a:prstGeom>
            <a:solidFill>
              <a:schemeClr val="bg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3CFCBBFE-E743-4356-AC2F-196BD8F0AE52}"/>
                </a:ext>
              </a:extLst>
            </p:cNvPr>
            <p:cNvSpPr/>
            <p:nvPr/>
          </p:nvSpPr>
          <p:spPr>
            <a:xfrm>
              <a:off x="3482340" y="2848557"/>
              <a:ext cx="6323012" cy="303860"/>
            </a:xfrm>
            <a:prstGeom prst="rect">
              <a:avLst/>
            </a:prstGeom>
            <a:solidFill>
              <a:srgbClr val="00B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b="1" dirty="0">
                  <a:solidFill>
                    <a:srgbClr val="FFFFFF"/>
                  </a:solidFill>
                </a:rPr>
                <a:t>TARGET STOCK : 3 days Safety stock + 2 days rolling stock</a:t>
              </a:r>
              <a:endParaRPr lang="en-IN" sz="1400" b="1" dirty="0">
                <a:solidFill>
                  <a:srgbClr val="FFFFFF"/>
                </a:solidFill>
              </a:endParaRPr>
            </a:p>
          </p:txBody>
        </p:sp>
      </p:grpSp>
      <p:graphicFrame>
        <p:nvGraphicFramePr>
          <p:cNvPr id="20" name="Table 11">
            <a:extLst>
              <a:ext uri="{FF2B5EF4-FFF2-40B4-BE49-F238E27FC236}">
                <a16:creationId xmlns:a16="http://schemas.microsoft.com/office/drawing/2014/main" id="{C957FF94-1F2D-4E76-AC9B-D4C032EB7DFC}"/>
              </a:ext>
            </a:extLst>
          </p:cNvPr>
          <p:cNvGraphicFramePr>
            <a:graphicFrameLocks noGrp="1"/>
          </p:cNvGraphicFramePr>
          <p:nvPr>
            <p:extLst>
              <p:ext uri="{D42A27DB-BD31-4B8C-83A1-F6EECF244321}">
                <p14:modId xmlns:p14="http://schemas.microsoft.com/office/powerpoint/2010/main" val="2407493693"/>
              </p:ext>
            </p:extLst>
          </p:nvPr>
        </p:nvGraphicFramePr>
        <p:xfrm>
          <a:off x="2538412" y="3210844"/>
          <a:ext cx="7724776" cy="391683"/>
        </p:xfrm>
        <a:graphic>
          <a:graphicData uri="http://schemas.openxmlformats.org/drawingml/2006/table">
            <a:tbl>
              <a:tblPr firstRow="1" bandRow="1">
                <a:tableStyleId>{5C22544A-7EE6-4342-B048-85BDC9FD1C3A}</a:tableStyleId>
              </a:tblPr>
              <a:tblGrid>
                <a:gridCol w="1931194">
                  <a:extLst>
                    <a:ext uri="{9D8B030D-6E8A-4147-A177-3AD203B41FA5}">
                      <a16:colId xmlns:a16="http://schemas.microsoft.com/office/drawing/2014/main" val="768874528"/>
                    </a:ext>
                  </a:extLst>
                </a:gridCol>
                <a:gridCol w="1931194">
                  <a:extLst>
                    <a:ext uri="{9D8B030D-6E8A-4147-A177-3AD203B41FA5}">
                      <a16:colId xmlns:a16="http://schemas.microsoft.com/office/drawing/2014/main" val="1995822690"/>
                    </a:ext>
                  </a:extLst>
                </a:gridCol>
                <a:gridCol w="1931194">
                  <a:extLst>
                    <a:ext uri="{9D8B030D-6E8A-4147-A177-3AD203B41FA5}">
                      <a16:colId xmlns:a16="http://schemas.microsoft.com/office/drawing/2014/main" val="3633511221"/>
                    </a:ext>
                  </a:extLst>
                </a:gridCol>
                <a:gridCol w="1931194">
                  <a:extLst>
                    <a:ext uri="{9D8B030D-6E8A-4147-A177-3AD203B41FA5}">
                      <a16:colId xmlns:a16="http://schemas.microsoft.com/office/drawing/2014/main" val="3952838437"/>
                    </a:ext>
                  </a:extLst>
                </a:gridCol>
              </a:tblGrid>
              <a:tr h="391683">
                <a:tc>
                  <a:txBody>
                    <a:bodyPr/>
                    <a:lstStyle/>
                    <a:p>
                      <a:r>
                        <a:rPr lang="en-US" dirty="0"/>
                        <a:t>           1-2 D</a:t>
                      </a:r>
                      <a:endParaRPr lang="en-IN" dirty="0"/>
                    </a:p>
                  </a:txBody>
                  <a:tcPr>
                    <a:solidFill>
                      <a:srgbClr val="C00000"/>
                    </a:solidFill>
                  </a:tcPr>
                </a:tc>
                <a:tc>
                  <a:txBody>
                    <a:bodyPr/>
                    <a:lstStyle/>
                    <a:p>
                      <a:r>
                        <a:rPr lang="en-US" dirty="0"/>
                        <a:t>          2 – 3 D</a:t>
                      </a:r>
                      <a:endParaRPr lang="en-IN" dirty="0"/>
                    </a:p>
                  </a:txBody>
                  <a:tcPr>
                    <a:solidFill>
                      <a:schemeClr val="accent4">
                        <a:lumMod val="75000"/>
                      </a:schemeClr>
                    </a:solidFill>
                  </a:tcPr>
                </a:tc>
                <a:tc>
                  <a:txBody>
                    <a:bodyPr/>
                    <a:lstStyle/>
                    <a:p>
                      <a:r>
                        <a:rPr lang="en-US" dirty="0"/>
                        <a:t>              4D</a:t>
                      </a:r>
                      <a:endParaRPr lang="en-IN" dirty="0"/>
                    </a:p>
                  </a:txBody>
                  <a:tcPr>
                    <a:solidFill>
                      <a:srgbClr val="298F29"/>
                    </a:solidFill>
                  </a:tcPr>
                </a:tc>
                <a:tc>
                  <a:txBody>
                    <a:bodyPr/>
                    <a:lstStyle/>
                    <a:p>
                      <a:r>
                        <a:rPr lang="en-US" dirty="0"/>
                        <a:t>   5D Target Level</a:t>
                      </a:r>
                      <a:endParaRPr lang="en-IN" dirty="0"/>
                    </a:p>
                  </a:txBody>
                  <a:tcPr>
                    <a:solidFill>
                      <a:srgbClr val="00B050"/>
                    </a:solidFill>
                  </a:tcPr>
                </a:tc>
                <a:extLst>
                  <a:ext uri="{0D108BD9-81ED-4DB2-BD59-A6C34878D82A}">
                    <a16:rowId xmlns:a16="http://schemas.microsoft.com/office/drawing/2014/main" val="1331435529"/>
                  </a:ext>
                </a:extLst>
              </a:tr>
            </a:tbl>
          </a:graphicData>
        </a:graphic>
      </p:graphicFrame>
      <p:sp>
        <p:nvSpPr>
          <p:cNvPr id="21" name="TextBox 20">
            <a:extLst>
              <a:ext uri="{FF2B5EF4-FFF2-40B4-BE49-F238E27FC236}">
                <a16:creationId xmlns:a16="http://schemas.microsoft.com/office/drawing/2014/main" id="{2EF7F3B8-3593-4E62-88CF-1B92AED7E403}"/>
              </a:ext>
            </a:extLst>
          </p:cNvPr>
          <p:cNvSpPr txBox="1"/>
          <p:nvPr/>
        </p:nvSpPr>
        <p:spPr>
          <a:xfrm>
            <a:off x="3065324" y="3682484"/>
            <a:ext cx="1123950" cy="307777"/>
          </a:xfrm>
          <a:prstGeom prst="rect">
            <a:avLst/>
          </a:prstGeom>
          <a:noFill/>
        </p:spPr>
        <p:txBody>
          <a:bodyPr wrap="square" rtlCol="0">
            <a:spAutoFit/>
          </a:bodyPr>
          <a:lstStyle/>
          <a:p>
            <a:r>
              <a:rPr lang="en-US" sz="1400" dirty="0"/>
              <a:t>0 Stock</a:t>
            </a:r>
            <a:endParaRPr lang="en-IN" sz="1400" dirty="0"/>
          </a:p>
        </p:txBody>
      </p:sp>
      <p:cxnSp>
        <p:nvCxnSpPr>
          <p:cNvPr id="22" name="Straight Arrow Connector 21">
            <a:extLst>
              <a:ext uri="{FF2B5EF4-FFF2-40B4-BE49-F238E27FC236}">
                <a16:creationId xmlns:a16="http://schemas.microsoft.com/office/drawing/2014/main" id="{B4CD5626-E28C-4189-A5DA-76481D78B95C}"/>
              </a:ext>
            </a:extLst>
          </p:cNvPr>
          <p:cNvCxnSpPr/>
          <p:nvPr/>
        </p:nvCxnSpPr>
        <p:spPr>
          <a:xfrm>
            <a:off x="3880664" y="3845095"/>
            <a:ext cx="828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96BA0FB-58D0-45F5-AD48-7552013FCCC8}"/>
              </a:ext>
            </a:extLst>
          </p:cNvPr>
          <p:cNvSpPr txBox="1"/>
          <p:nvPr/>
        </p:nvSpPr>
        <p:spPr>
          <a:xfrm>
            <a:off x="6797604" y="3679471"/>
            <a:ext cx="2155687" cy="307777"/>
          </a:xfrm>
          <a:prstGeom prst="rect">
            <a:avLst/>
          </a:prstGeom>
          <a:noFill/>
        </p:spPr>
        <p:txBody>
          <a:bodyPr wrap="square" rtlCol="0">
            <a:spAutoFit/>
          </a:bodyPr>
          <a:lstStyle/>
          <a:p>
            <a:r>
              <a:rPr lang="en-US" sz="1400" dirty="0"/>
              <a:t>Rolling Stock</a:t>
            </a:r>
            <a:endParaRPr lang="en-IN" sz="1400" dirty="0"/>
          </a:p>
        </p:txBody>
      </p:sp>
      <p:cxnSp>
        <p:nvCxnSpPr>
          <p:cNvPr id="24" name="Straight Arrow Connector 23">
            <a:extLst>
              <a:ext uri="{FF2B5EF4-FFF2-40B4-BE49-F238E27FC236}">
                <a16:creationId xmlns:a16="http://schemas.microsoft.com/office/drawing/2014/main" id="{114A5860-0F81-4896-B12D-E7D39860685D}"/>
              </a:ext>
            </a:extLst>
          </p:cNvPr>
          <p:cNvCxnSpPr/>
          <p:nvPr/>
        </p:nvCxnSpPr>
        <p:spPr>
          <a:xfrm>
            <a:off x="5681662" y="3739279"/>
            <a:ext cx="828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1E040D-8AC7-4FF0-9A81-E073F5A7C489}"/>
              </a:ext>
            </a:extLst>
          </p:cNvPr>
          <p:cNvCxnSpPr>
            <a:cxnSpLocks/>
          </p:cNvCxnSpPr>
          <p:nvPr/>
        </p:nvCxnSpPr>
        <p:spPr>
          <a:xfrm>
            <a:off x="8004989" y="3833359"/>
            <a:ext cx="17754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4645293-2E2D-4F2F-B3EC-A19610AAA084}"/>
              </a:ext>
            </a:extLst>
          </p:cNvPr>
          <p:cNvSpPr txBox="1"/>
          <p:nvPr/>
        </p:nvSpPr>
        <p:spPr>
          <a:xfrm>
            <a:off x="4756448" y="3679471"/>
            <a:ext cx="2266950" cy="307777"/>
          </a:xfrm>
          <a:prstGeom prst="rect">
            <a:avLst/>
          </a:prstGeom>
          <a:noFill/>
        </p:spPr>
        <p:txBody>
          <a:bodyPr wrap="square" rtlCol="0">
            <a:spAutoFit/>
          </a:bodyPr>
          <a:lstStyle/>
          <a:p>
            <a:r>
              <a:rPr lang="en-US" sz="1400" dirty="0"/>
              <a:t>Safety Stock</a:t>
            </a:r>
            <a:endParaRPr lang="en-IN" sz="1400" dirty="0"/>
          </a:p>
        </p:txBody>
      </p:sp>
      <p:grpSp>
        <p:nvGrpSpPr>
          <p:cNvPr id="27" name="Group 26">
            <a:extLst>
              <a:ext uri="{FF2B5EF4-FFF2-40B4-BE49-F238E27FC236}">
                <a16:creationId xmlns:a16="http://schemas.microsoft.com/office/drawing/2014/main" id="{9F4D1087-371C-4588-9CC8-2F53F426C233}"/>
              </a:ext>
            </a:extLst>
          </p:cNvPr>
          <p:cNvGrpSpPr/>
          <p:nvPr/>
        </p:nvGrpSpPr>
        <p:grpSpPr>
          <a:xfrm>
            <a:off x="2820347" y="4304642"/>
            <a:ext cx="8406102" cy="1598450"/>
            <a:chOff x="1854338" y="4204935"/>
            <a:chExt cx="8406102" cy="1598450"/>
          </a:xfrm>
        </p:grpSpPr>
        <p:sp>
          <p:nvSpPr>
            <p:cNvPr id="28" name="Rectangle 27">
              <a:extLst>
                <a:ext uri="{FF2B5EF4-FFF2-40B4-BE49-F238E27FC236}">
                  <a16:creationId xmlns:a16="http://schemas.microsoft.com/office/drawing/2014/main" id="{40E4ECA8-BAF3-4D3A-A2C4-F5DB7B7AECAF}"/>
                </a:ext>
              </a:extLst>
            </p:cNvPr>
            <p:cNvSpPr/>
            <p:nvPr/>
          </p:nvSpPr>
          <p:spPr>
            <a:xfrm>
              <a:off x="1854338" y="4204935"/>
              <a:ext cx="1917562" cy="1591617"/>
            </a:xfrm>
            <a:prstGeom prst="rect">
              <a:avLst/>
            </a:prstGeom>
            <a:solidFill>
              <a:srgbClr val="B2222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7EB6C7D1-5E50-4D63-8BF2-ED2B43DF6F78}"/>
                </a:ext>
              </a:extLst>
            </p:cNvPr>
            <p:cNvSpPr/>
            <p:nvPr/>
          </p:nvSpPr>
          <p:spPr>
            <a:xfrm>
              <a:off x="4084913" y="4204935"/>
              <a:ext cx="1917562" cy="1591617"/>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77444006-91B9-4F7A-A8E4-D894FFBFC68F}"/>
                </a:ext>
              </a:extLst>
            </p:cNvPr>
            <p:cNvSpPr/>
            <p:nvPr/>
          </p:nvSpPr>
          <p:spPr>
            <a:xfrm>
              <a:off x="6312657" y="4211768"/>
              <a:ext cx="1917562" cy="159161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03CB8A80-811A-41BB-AABE-0A5857F1F855}"/>
                </a:ext>
              </a:extLst>
            </p:cNvPr>
            <p:cNvSpPr txBox="1"/>
            <p:nvPr/>
          </p:nvSpPr>
          <p:spPr>
            <a:xfrm>
              <a:off x="2356057" y="4243074"/>
              <a:ext cx="990205" cy="369332"/>
            </a:xfrm>
            <a:prstGeom prst="rect">
              <a:avLst/>
            </a:prstGeom>
            <a:noFill/>
          </p:spPr>
          <p:txBody>
            <a:bodyPr wrap="square" rtlCol="0">
              <a:spAutoFit/>
            </a:bodyPr>
            <a:lstStyle/>
            <a:p>
              <a:r>
                <a:rPr lang="en-US" b="1" dirty="0">
                  <a:solidFill>
                    <a:srgbClr val="FFFFFF"/>
                  </a:solidFill>
                  <a:latin typeface="Times New Roman" panose="02020603050405020304" pitchFamily="18" charset="0"/>
                  <a:cs typeface="Times New Roman" panose="02020603050405020304" pitchFamily="18" charset="0"/>
                </a:rPr>
                <a:t>Case-0</a:t>
              </a:r>
              <a:endParaRPr lang="en-IN" b="1" dirty="0">
                <a:solidFill>
                  <a:srgbClr val="FFFFFF"/>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AD838DA4-84D6-422E-A608-2D23430F2DAB}"/>
                </a:ext>
              </a:extLst>
            </p:cNvPr>
            <p:cNvSpPr txBox="1"/>
            <p:nvPr/>
          </p:nvSpPr>
          <p:spPr>
            <a:xfrm>
              <a:off x="1957604" y="4792287"/>
              <a:ext cx="1612265" cy="307777"/>
            </a:xfrm>
            <a:prstGeom prst="rect">
              <a:avLst/>
            </a:prstGeom>
            <a:noFill/>
          </p:spPr>
          <p:txBody>
            <a:bodyPr wrap="square" rtlCol="0">
              <a:spAutoFit/>
            </a:bodyPr>
            <a:lstStyle/>
            <a:p>
              <a:pPr algn="ctr"/>
              <a:r>
                <a:rPr lang="en-US" sz="1400" dirty="0">
                  <a:solidFill>
                    <a:srgbClr val="FFFFFF"/>
                  </a:solidFill>
                </a:rPr>
                <a:t>Stock &lt; 1D</a:t>
              </a:r>
              <a:endParaRPr lang="en-IN" sz="1400" dirty="0">
                <a:solidFill>
                  <a:srgbClr val="FFFFFF"/>
                </a:solidFill>
              </a:endParaRPr>
            </a:p>
          </p:txBody>
        </p:sp>
        <p:sp>
          <p:nvSpPr>
            <p:cNvPr id="34" name="TextBox 33">
              <a:extLst>
                <a:ext uri="{FF2B5EF4-FFF2-40B4-BE49-F238E27FC236}">
                  <a16:creationId xmlns:a16="http://schemas.microsoft.com/office/drawing/2014/main" id="{7F928A27-49D0-4B1B-BE4D-8C33A53B431C}"/>
                </a:ext>
              </a:extLst>
            </p:cNvPr>
            <p:cNvSpPr txBox="1"/>
            <p:nvPr/>
          </p:nvSpPr>
          <p:spPr>
            <a:xfrm>
              <a:off x="2041815" y="5228450"/>
              <a:ext cx="1612265" cy="307777"/>
            </a:xfrm>
            <a:prstGeom prst="rect">
              <a:avLst/>
            </a:prstGeom>
            <a:noFill/>
          </p:spPr>
          <p:txBody>
            <a:bodyPr wrap="square" rtlCol="0">
              <a:spAutoFit/>
            </a:bodyPr>
            <a:lstStyle/>
            <a:p>
              <a:pPr algn="ctr"/>
              <a:r>
                <a:rPr lang="en-US" sz="1400" dirty="0">
                  <a:solidFill>
                    <a:srgbClr val="FFFFFF"/>
                  </a:solidFill>
                </a:rPr>
                <a:t>Urgent Production</a:t>
              </a:r>
              <a:endParaRPr lang="en-IN" sz="1400" dirty="0">
                <a:solidFill>
                  <a:srgbClr val="FFFFFF"/>
                </a:solidFill>
              </a:endParaRPr>
            </a:p>
          </p:txBody>
        </p:sp>
        <p:sp>
          <p:nvSpPr>
            <p:cNvPr id="35" name="TextBox 34">
              <a:extLst>
                <a:ext uri="{FF2B5EF4-FFF2-40B4-BE49-F238E27FC236}">
                  <a16:creationId xmlns:a16="http://schemas.microsoft.com/office/drawing/2014/main" id="{AB1925E8-4D73-412F-A44D-03D4E78A2330}"/>
                </a:ext>
              </a:extLst>
            </p:cNvPr>
            <p:cNvSpPr txBox="1"/>
            <p:nvPr/>
          </p:nvSpPr>
          <p:spPr>
            <a:xfrm>
              <a:off x="4669264" y="4204935"/>
              <a:ext cx="743199" cy="369332"/>
            </a:xfrm>
            <a:prstGeom prst="rect">
              <a:avLst/>
            </a:prstGeom>
            <a:noFill/>
          </p:spPr>
          <p:txBody>
            <a:bodyPr wrap="square" rtlCol="0">
              <a:spAutoFit/>
            </a:bodyPr>
            <a:lstStyle/>
            <a:p>
              <a:r>
                <a:rPr lang="en-US" b="1" dirty="0">
                  <a:solidFill>
                    <a:srgbClr val="FFFFFF"/>
                  </a:solidFill>
                  <a:latin typeface="Times New Roman" panose="02020603050405020304" pitchFamily="18" charset="0"/>
                  <a:cs typeface="Times New Roman" panose="02020603050405020304" pitchFamily="18" charset="0"/>
                </a:rPr>
                <a:t> S - 1</a:t>
              </a:r>
              <a:endParaRPr lang="en-IN" b="1" dirty="0">
                <a:solidFill>
                  <a:srgbClr val="FFFFFF"/>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0C4CD72C-23B3-40E6-A4DF-3BFA8D0D050C}"/>
                </a:ext>
              </a:extLst>
            </p:cNvPr>
            <p:cNvSpPr txBox="1"/>
            <p:nvPr/>
          </p:nvSpPr>
          <p:spPr>
            <a:xfrm>
              <a:off x="4230693" y="4719915"/>
              <a:ext cx="1612265" cy="307777"/>
            </a:xfrm>
            <a:prstGeom prst="rect">
              <a:avLst/>
            </a:prstGeom>
            <a:noFill/>
          </p:spPr>
          <p:txBody>
            <a:bodyPr wrap="square" rtlCol="0">
              <a:spAutoFit/>
            </a:bodyPr>
            <a:lstStyle/>
            <a:p>
              <a:pPr algn="ctr"/>
              <a:r>
                <a:rPr lang="en-US" sz="1400" dirty="0">
                  <a:solidFill>
                    <a:srgbClr val="FFFFFF"/>
                  </a:solidFill>
                </a:rPr>
                <a:t>Stock =  1 - 3D</a:t>
              </a:r>
              <a:endParaRPr lang="en-IN" sz="1400" dirty="0">
                <a:solidFill>
                  <a:srgbClr val="FFFFFF"/>
                </a:solidFill>
              </a:endParaRPr>
            </a:p>
          </p:txBody>
        </p:sp>
        <p:sp>
          <p:nvSpPr>
            <p:cNvPr id="37" name="TextBox 36">
              <a:extLst>
                <a:ext uri="{FF2B5EF4-FFF2-40B4-BE49-F238E27FC236}">
                  <a16:creationId xmlns:a16="http://schemas.microsoft.com/office/drawing/2014/main" id="{AFBBD897-1B42-4970-AA38-5F2809B678F0}"/>
                </a:ext>
              </a:extLst>
            </p:cNvPr>
            <p:cNvSpPr txBox="1"/>
            <p:nvPr/>
          </p:nvSpPr>
          <p:spPr>
            <a:xfrm>
              <a:off x="4243320" y="5167253"/>
              <a:ext cx="1612265" cy="523220"/>
            </a:xfrm>
            <a:prstGeom prst="rect">
              <a:avLst/>
            </a:prstGeom>
            <a:noFill/>
          </p:spPr>
          <p:txBody>
            <a:bodyPr wrap="square" rtlCol="0">
              <a:spAutoFit/>
            </a:bodyPr>
            <a:lstStyle/>
            <a:p>
              <a:pPr algn="ctr"/>
              <a:r>
                <a:rPr lang="en-US" sz="1400" dirty="0">
                  <a:solidFill>
                    <a:srgbClr val="FFFFFF"/>
                  </a:solidFill>
                </a:rPr>
                <a:t>Balance shortage and stable part</a:t>
              </a:r>
              <a:endParaRPr lang="en-IN" sz="1400" dirty="0">
                <a:solidFill>
                  <a:srgbClr val="FFFFFF"/>
                </a:solidFill>
              </a:endParaRPr>
            </a:p>
          </p:txBody>
        </p:sp>
        <p:sp>
          <p:nvSpPr>
            <p:cNvPr id="38" name="TextBox 37">
              <a:extLst>
                <a:ext uri="{FF2B5EF4-FFF2-40B4-BE49-F238E27FC236}">
                  <a16:creationId xmlns:a16="http://schemas.microsoft.com/office/drawing/2014/main" id="{AC25A165-1473-4E55-ACBF-F8198FDDA87B}"/>
                </a:ext>
              </a:extLst>
            </p:cNvPr>
            <p:cNvSpPr txBox="1"/>
            <p:nvPr/>
          </p:nvSpPr>
          <p:spPr>
            <a:xfrm>
              <a:off x="6863466" y="4213296"/>
              <a:ext cx="743199" cy="369332"/>
            </a:xfrm>
            <a:prstGeom prst="rect">
              <a:avLst/>
            </a:prstGeom>
            <a:noFill/>
          </p:spPr>
          <p:txBody>
            <a:bodyPr wrap="square" rtlCol="0">
              <a:spAutoFit/>
            </a:bodyPr>
            <a:lstStyle/>
            <a:p>
              <a:r>
                <a:rPr lang="en-US" b="1" dirty="0">
                  <a:solidFill>
                    <a:srgbClr val="FFFFFF"/>
                  </a:solidFill>
                  <a:latin typeface="Times New Roman" panose="02020603050405020304" pitchFamily="18" charset="0"/>
                  <a:cs typeface="Times New Roman" panose="02020603050405020304" pitchFamily="18" charset="0"/>
                </a:rPr>
                <a:t> S - 2</a:t>
              </a:r>
              <a:endParaRPr lang="en-IN" b="1" dirty="0">
                <a:solidFill>
                  <a:srgbClr val="FFFFFF"/>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1073053D-CE3A-4E23-A22F-F0CF930FE78A}"/>
                </a:ext>
              </a:extLst>
            </p:cNvPr>
            <p:cNvSpPr txBox="1"/>
            <p:nvPr/>
          </p:nvSpPr>
          <p:spPr>
            <a:xfrm>
              <a:off x="6361597" y="4756366"/>
              <a:ext cx="1612265" cy="307777"/>
            </a:xfrm>
            <a:prstGeom prst="rect">
              <a:avLst/>
            </a:prstGeom>
            <a:noFill/>
          </p:spPr>
          <p:txBody>
            <a:bodyPr wrap="square" rtlCol="0">
              <a:spAutoFit/>
            </a:bodyPr>
            <a:lstStyle/>
            <a:p>
              <a:pPr algn="ctr"/>
              <a:r>
                <a:rPr lang="en-US" sz="1400" dirty="0">
                  <a:solidFill>
                    <a:srgbClr val="FFFFFF"/>
                  </a:solidFill>
                </a:rPr>
                <a:t>Stock &gt; 3D</a:t>
              </a:r>
              <a:endParaRPr lang="en-IN" sz="1400" dirty="0">
                <a:solidFill>
                  <a:srgbClr val="FFFFFF"/>
                </a:solidFill>
              </a:endParaRPr>
            </a:p>
          </p:txBody>
        </p:sp>
        <p:sp>
          <p:nvSpPr>
            <p:cNvPr id="40" name="TextBox 39">
              <a:extLst>
                <a:ext uri="{FF2B5EF4-FFF2-40B4-BE49-F238E27FC236}">
                  <a16:creationId xmlns:a16="http://schemas.microsoft.com/office/drawing/2014/main" id="{CD401F98-F3CE-4408-BE3E-E089C82271C2}"/>
                </a:ext>
              </a:extLst>
            </p:cNvPr>
            <p:cNvSpPr txBox="1"/>
            <p:nvPr/>
          </p:nvSpPr>
          <p:spPr>
            <a:xfrm>
              <a:off x="6399280" y="5173834"/>
              <a:ext cx="1612265" cy="523220"/>
            </a:xfrm>
            <a:prstGeom prst="rect">
              <a:avLst/>
            </a:prstGeom>
            <a:noFill/>
          </p:spPr>
          <p:txBody>
            <a:bodyPr wrap="square" rtlCol="0">
              <a:spAutoFit/>
            </a:bodyPr>
            <a:lstStyle/>
            <a:p>
              <a:pPr algn="ctr"/>
              <a:r>
                <a:rPr lang="en-US" sz="1400" dirty="0">
                  <a:solidFill>
                    <a:srgbClr val="FFFFFF"/>
                  </a:solidFill>
                </a:rPr>
                <a:t>Maintain Production Flow</a:t>
              </a:r>
              <a:endParaRPr lang="en-IN" sz="1400" dirty="0">
                <a:solidFill>
                  <a:srgbClr val="FFFFFF"/>
                </a:solidFill>
              </a:endParaRPr>
            </a:p>
          </p:txBody>
        </p:sp>
        <p:sp>
          <p:nvSpPr>
            <p:cNvPr id="41" name="TextBox 40">
              <a:extLst>
                <a:ext uri="{FF2B5EF4-FFF2-40B4-BE49-F238E27FC236}">
                  <a16:creationId xmlns:a16="http://schemas.microsoft.com/office/drawing/2014/main" id="{CAD71973-ADC1-4367-9578-A3D2B1DC0B7C}"/>
                </a:ext>
              </a:extLst>
            </p:cNvPr>
            <p:cNvSpPr txBox="1"/>
            <p:nvPr/>
          </p:nvSpPr>
          <p:spPr>
            <a:xfrm>
              <a:off x="9121665" y="4213296"/>
              <a:ext cx="743199" cy="369332"/>
            </a:xfrm>
            <a:prstGeom prst="rect">
              <a:avLst/>
            </a:prstGeom>
            <a:noFill/>
          </p:spPr>
          <p:txBody>
            <a:bodyPr wrap="square" rtlCol="0">
              <a:spAutoFit/>
            </a:bodyPr>
            <a:lstStyle/>
            <a:p>
              <a:r>
                <a:rPr lang="en-US" b="1" dirty="0">
                  <a:solidFill>
                    <a:srgbClr val="FFFFFF"/>
                  </a:solidFill>
                  <a:latin typeface="Times New Roman" panose="02020603050405020304" pitchFamily="18" charset="0"/>
                  <a:cs typeface="Times New Roman" panose="02020603050405020304" pitchFamily="18" charset="0"/>
                </a:rPr>
                <a:t> S - 3</a:t>
              </a:r>
              <a:endParaRPr lang="en-IN" b="1" dirty="0">
                <a:solidFill>
                  <a:srgbClr val="FFFFFF"/>
                </a:solidFill>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5ED2B40A-5A07-4E7A-AACC-4735F7E0F9A9}"/>
                </a:ext>
              </a:extLst>
            </p:cNvPr>
            <p:cNvSpPr txBox="1"/>
            <p:nvPr/>
          </p:nvSpPr>
          <p:spPr>
            <a:xfrm>
              <a:off x="8648175" y="4622229"/>
              <a:ext cx="1612265" cy="523220"/>
            </a:xfrm>
            <a:prstGeom prst="rect">
              <a:avLst/>
            </a:prstGeom>
            <a:noFill/>
          </p:spPr>
          <p:txBody>
            <a:bodyPr wrap="square" rtlCol="0">
              <a:spAutoFit/>
            </a:bodyPr>
            <a:lstStyle/>
            <a:p>
              <a:pPr algn="ctr"/>
              <a:r>
                <a:rPr lang="en-US" sz="1400" dirty="0">
                  <a:solidFill>
                    <a:srgbClr val="FFFFFF"/>
                  </a:solidFill>
                </a:rPr>
                <a:t>Maintain Production Flow</a:t>
              </a:r>
              <a:endParaRPr lang="en-IN" sz="1400" dirty="0">
                <a:solidFill>
                  <a:srgbClr val="FFFFFF"/>
                </a:solidFill>
              </a:endParaRPr>
            </a:p>
          </p:txBody>
        </p:sp>
        <p:sp>
          <p:nvSpPr>
            <p:cNvPr id="43" name="TextBox 42">
              <a:extLst>
                <a:ext uri="{FF2B5EF4-FFF2-40B4-BE49-F238E27FC236}">
                  <a16:creationId xmlns:a16="http://schemas.microsoft.com/office/drawing/2014/main" id="{21FC810F-AFD6-4071-90D3-2208A5B24B26}"/>
                </a:ext>
              </a:extLst>
            </p:cNvPr>
            <p:cNvSpPr txBox="1"/>
            <p:nvPr/>
          </p:nvSpPr>
          <p:spPr>
            <a:xfrm>
              <a:off x="8640087" y="5163223"/>
              <a:ext cx="1612265" cy="523220"/>
            </a:xfrm>
            <a:prstGeom prst="rect">
              <a:avLst/>
            </a:prstGeom>
            <a:noFill/>
          </p:spPr>
          <p:txBody>
            <a:bodyPr wrap="square" rtlCol="0">
              <a:spAutoFit/>
            </a:bodyPr>
            <a:lstStyle/>
            <a:p>
              <a:pPr algn="ctr"/>
              <a:r>
                <a:rPr lang="en-US" sz="1400" dirty="0">
                  <a:solidFill>
                    <a:srgbClr val="FFFFFF"/>
                  </a:solidFill>
                </a:rPr>
                <a:t>Optimize machine Efficiency</a:t>
              </a:r>
              <a:endParaRPr lang="en-IN" sz="1400" dirty="0">
                <a:solidFill>
                  <a:srgbClr val="FFFFFF"/>
                </a:solidFill>
              </a:endParaRPr>
            </a:p>
          </p:txBody>
        </p:sp>
      </p:grpSp>
    </p:spTree>
    <p:extLst>
      <p:ext uri="{BB962C8B-B14F-4D97-AF65-F5344CB8AC3E}">
        <p14:creationId xmlns:p14="http://schemas.microsoft.com/office/powerpoint/2010/main" val="3745660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1F006E-A0A9-47BF-991C-157EBDD45CBD}"/>
              </a:ext>
            </a:extLst>
          </p:cNvPr>
          <p:cNvSpPr txBox="1"/>
          <p:nvPr/>
        </p:nvSpPr>
        <p:spPr>
          <a:xfrm>
            <a:off x="146050" y="76200"/>
            <a:ext cx="6705600" cy="1077218"/>
          </a:xfrm>
          <a:prstGeom prst="rect">
            <a:avLst/>
          </a:prstGeom>
          <a:noFill/>
        </p:spPr>
        <p:txBody>
          <a:bodyPr wrap="square" rtlCol="0">
            <a:spAutoFit/>
          </a:bodyPr>
          <a:lstStyle/>
          <a:p>
            <a:r>
              <a:rPr lang="en-US" sz="3200" b="1" dirty="0">
                <a:solidFill>
                  <a:srgbClr val="0062DA"/>
                </a:solidFill>
              </a:rPr>
              <a:t>Plan According To Category</a:t>
            </a:r>
            <a:endParaRPr lang="en-IN" sz="3200" b="1" dirty="0">
              <a:solidFill>
                <a:srgbClr val="0062DA"/>
              </a:solidFill>
            </a:endParaRPr>
          </a:p>
          <a:p>
            <a:endParaRPr lang="en-IN" sz="3200" b="1" dirty="0">
              <a:solidFill>
                <a:srgbClr val="0062DA"/>
              </a:solidFill>
            </a:endParaRPr>
          </a:p>
        </p:txBody>
      </p:sp>
      <p:sp>
        <p:nvSpPr>
          <p:cNvPr id="3" name="TextBox 2">
            <a:extLst>
              <a:ext uri="{FF2B5EF4-FFF2-40B4-BE49-F238E27FC236}">
                <a16:creationId xmlns:a16="http://schemas.microsoft.com/office/drawing/2014/main" id="{EDB1FD9A-8478-4E95-BA94-9C1837D567BF}"/>
              </a:ext>
            </a:extLst>
          </p:cNvPr>
          <p:cNvSpPr txBox="1"/>
          <p:nvPr/>
        </p:nvSpPr>
        <p:spPr>
          <a:xfrm>
            <a:off x="146050" y="762000"/>
            <a:ext cx="11582400" cy="6740307"/>
          </a:xfrm>
          <a:prstGeom prst="rect">
            <a:avLst/>
          </a:prstGeom>
          <a:noFill/>
        </p:spPr>
        <p:txBody>
          <a:bodyPr wrap="square" rtlCol="0">
            <a:spAutoFit/>
          </a:bodyPr>
          <a:lstStyle/>
          <a:p>
            <a:r>
              <a:rPr lang="en-US" dirty="0"/>
              <a:t>“Schedule production based on the type of part, ensuring the right balance between fast-moving and slow-moving items, by classifying them into categories such as Runners and Strangers.” </a:t>
            </a:r>
          </a:p>
          <a:p>
            <a:endParaRPr lang="en-US" dirty="0"/>
          </a:p>
          <a:p>
            <a:r>
              <a:rPr lang="en-US" dirty="0"/>
              <a:t>“This approach allows the system to prioritize urgent requirements, maintain steady flow for medium-demand items, and strategically plan low-demand parts without wasting machine capacity.”</a:t>
            </a:r>
          </a:p>
          <a:p>
            <a:endParaRPr lang="en-US" dirty="0"/>
          </a:p>
          <a:p>
            <a:pPr marL="285750" indent="-285750">
              <a:buFont typeface="Arial" panose="020B0604020202020204" pitchFamily="34" charset="0"/>
              <a:buChar char="•"/>
            </a:pPr>
            <a:r>
              <a:rPr lang="en-US" b="1" dirty="0"/>
              <a:t>Runners: </a:t>
            </a:r>
            <a:r>
              <a:rPr lang="en-US" dirty="0"/>
              <a:t>Fast-moving parts, high demand, produced frequently.</a:t>
            </a:r>
            <a:endParaRPr lang="en-US" b="1" dirty="0"/>
          </a:p>
          <a:p>
            <a:pPr marL="285750" indent="-285750">
              <a:buFont typeface="Arial" panose="020B0604020202020204" pitchFamily="34" charset="0"/>
              <a:buChar char="•"/>
            </a:pPr>
            <a:r>
              <a:rPr lang="en-US" b="1" dirty="0"/>
              <a:t>Repeaters: </a:t>
            </a:r>
            <a:r>
              <a:rPr lang="en-US" dirty="0"/>
              <a:t>Moderate demand parts, produced regularly but not daily.</a:t>
            </a:r>
            <a:endParaRPr lang="en-US" b="1" dirty="0"/>
          </a:p>
          <a:p>
            <a:pPr marL="285750" indent="-285750">
              <a:buFont typeface="Arial" panose="020B0604020202020204" pitchFamily="34" charset="0"/>
              <a:buChar char="•"/>
            </a:pPr>
            <a:r>
              <a:rPr lang="en-US" b="1" dirty="0"/>
              <a:t>Strangers: </a:t>
            </a:r>
            <a:r>
              <a:rPr lang="en-US" dirty="0"/>
              <a:t>Slow-moving parts, low demand, produced occasionally.</a:t>
            </a:r>
          </a:p>
          <a:p>
            <a:pPr marL="285750" indent="-285750">
              <a:buFont typeface="Arial" panose="020B0604020202020204" pitchFamily="34" charset="0"/>
              <a:buChar char="•"/>
            </a:pPr>
            <a:endParaRPr lang="en-US" b="1" dirty="0"/>
          </a:p>
          <a:p>
            <a:endParaRPr lang="en-US" b="1"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5" name="Flowchart: Alternate Process 4">
            <a:extLst>
              <a:ext uri="{FF2B5EF4-FFF2-40B4-BE49-F238E27FC236}">
                <a16:creationId xmlns:a16="http://schemas.microsoft.com/office/drawing/2014/main" id="{55239FC6-F3F1-4619-85B6-3105FE5DCA23}"/>
              </a:ext>
            </a:extLst>
          </p:cNvPr>
          <p:cNvSpPr/>
          <p:nvPr/>
        </p:nvSpPr>
        <p:spPr>
          <a:xfrm>
            <a:off x="4832349" y="4581825"/>
            <a:ext cx="2286001" cy="520526"/>
          </a:xfrm>
          <a:prstGeom prst="flowChartAlternateProces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Repeater</a:t>
            </a:r>
            <a:endParaRPr lang="en-IN" b="1" dirty="0"/>
          </a:p>
        </p:txBody>
      </p:sp>
      <p:sp>
        <p:nvSpPr>
          <p:cNvPr id="6" name="Flowchart: Alternate Process 5">
            <a:extLst>
              <a:ext uri="{FF2B5EF4-FFF2-40B4-BE49-F238E27FC236}">
                <a16:creationId xmlns:a16="http://schemas.microsoft.com/office/drawing/2014/main" id="{ED4186D8-C959-4D46-8B8E-A7CD5B2AC9DC}"/>
              </a:ext>
            </a:extLst>
          </p:cNvPr>
          <p:cNvSpPr/>
          <p:nvPr/>
        </p:nvSpPr>
        <p:spPr>
          <a:xfrm>
            <a:off x="7986865" y="4574069"/>
            <a:ext cx="2286000" cy="520521"/>
          </a:xfrm>
          <a:prstGeom prst="flowChartAlternateProcess">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Stranger</a:t>
            </a:r>
            <a:endParaRPr lang="en-IN" b="1" dirty="0"/>
          </a:p>
        </p:txBody>
      </p:sp>
      <p:sp>
        <p:nvSpPr>
          <p:cNvPr id="7" name="Flowchart: Alternate Process 6">
            <a:extLst>
              <a:ext uri="{FF2B5EF4-FFF2-40B4-BE49-F238E27FC236}">
                <a16:creationId xmlns:a16="http://schemas.microsoft.com/office/drawing/2014/main" id="{7F9E6F58-1563-415C-862E-05344EC17506}"/>
              </a:ext>
            </a:extLst>
          </p:cNvPr>
          <p:cNvSpPr/>
          <p:nvPr/>
        </p:nvSpPr>
        <p:spPr>
          <a:xfrm>
            <a:off x="1822450" y="4581825"/>
            <a:ext cx="2286000" cy="520524"/>
          </a:xfrm>
          <a:prstGeom prst="flowChartAlternateProcess">
            <a:avLst/>
          </a:prstGeom>
          <a:solidFill>
            <a:schemeClr val="accent6">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Runner</a:t>
            </a:r>
            <a:endParaRPr lang="en-IN" b="1" dirty="0"/>
          </a:p>
        </p:txBody>
      </p:sp>
      <p:cxnSp>
        <p:nvCxnSpPr>
          <p:cNvPr id="9" name="Straight Connector 8">
            <a:extLst>
              <a:ext uri="{FF2B5EF4-FFF2-40B4-BE49-F238E27FC236}">
                <a16:creationId xmlns:a16="http://schemas.microsoft.com/office/drawing/2014/main" id="{3E1CC0E2-9F6F-4589-A1BF-B276914AF9DD}"/>
              </a:ext>
            </a:extLst>
          </p:cNvPr>
          <p:cNvCxnSpPr>
            <a:cxnSpLocks/>
          </p:cNvCxnSpPr>
          <p:nvPr/>
        </p:nvCxnSpPr>
        <p:spPr>
          <a:xfrm flipV="1">
            <a:off x="2965450" y="4267194"/>
            <a:ext cx="0" cy="301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665A66-B521-4BD8-A50F-84714FA43400}"/>
              </a:ext>
            </a:extLst>
          </p:cNvPr>
          <p:cNvCxnSpPr/>
          <p:nvPr/>
        </p:nvCxnSpPr>
        <p:spPr>
          <a:xfrm>
            <a:off x="2965450" y="4272110"/>
            <a:ext cx="6172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095D3F-E30B-47CA-9770-1C2121438A8B}"/>
              </a:ext>
            </a:extLst>
          </p:cNvPr>
          <p:cNvCxnSpPr>
            <a:cxnSpLocks/>
          </p:cNvCxnSpPr>
          <p:nvPr/>
        </p:nvCxnSpPr>
        <p:spPr>
          <a:xfrm flipH="1" flipV="1">
            <a:off x="9131299" y="4277027"/>
            <a:ext cx="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959C13-D7D9-4532-9110-4ADCCE3D010B}"/>
              </a:ext>
            </a:extLst>
          </p:cNvPr>
          <p:cNvCxnSpPr>
            <a:cxnSpLocks/>
            <a:stCxn id="5" idx="0"/>
          </p:cNvCxnSpPr>
          <p:nvPr/>
        </p:nvCxnSpPr>
        <p:spPr>
          <a:xfrm flipV="1">
            <a:off x="5975350" y="4267194"/>
            <a:ext cx="0" cy="314631"/>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4F3F8EB-EC7F-4C06-AE0A-E2FDE13A97C3}"/>
              </a:ext>
            </a:extLst>
          </p:cNvPr>
          <p:cNvSpPr/>
          <p:nvPr/>
        </p:nvSpPr>
        <p:spPr>
          <a:xfrm>
            <a:off x="5022851" y="3505200"/>
            <a:ext cx="1904999" cy="4571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Categories</a:t>
            </a:r>
            <a:endParaRPr lang="en-IN" b="1" dirty="0"/>
          </a:p>
        </p:txBody>
      </p:sp>
      <p:cxnSp>
        <p:nvCxnSpPr>
          <p:cNvPr id="19" name="Straight Connector 18">
            <a:extLst>
              <a:ext uri="{FF2B5EF4-FFF2-40B4-BE49-F238E27FC236}">
                <a16:creationId xmlns:a16="http://schemas.microsoft.com/office/drawing/2014/main" id="{7D65067F-67EB-462E-B39E-0748724763BE}"/>
              </a:ext>
            </a:extLst>
          </p:cNvPr>
          <p:cNvCxnSpPr/>
          <p:nvPr/>
        </p:nvCxnSpPr>
        <p:spPr>
          <a:xfrm>
            <a:off x="5975350" y="3962396"/>
            <a:ext cx="0" cy="304798"/>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77E88EF-67A5-43CC-85FA-E76A42EF75ED}"/>
              </a:ext>
            </a:extLst>
          </p:cNvPr>
          <p:cNvSpPr/>
          <p:nvPr/>
        </p:nvSpPr>
        <p:spPr>
          <a:xfrm>
            <a:off x="1822450" y="5130687"/>
            <a:ext cx="2286000" cy="309717"/>
          </a:xfrm>
          <a:prstGeom prst="rect">
            <a:avLst/>
          </a:prstGeom>
          <a:solidFill>
            <a:schemeClr val="accent6">
              <a:lumMod val="60000"/>
              <a:lumOff val="4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Prioritize Frequently</a:t>
            </a:r>
            <a:endParaRPr lang="en-IN" dirty="0"/>
          </a:p>
        </p:txBody>
      </p:sp>
      <p:sp>
        <p:nvSpPr>
          <p:cNvPr id="34" name="Flowchart: Process 33">
            <a:extLst>
              <a:ext uri="{FF2B5EF4-FFF2-40B4-BE49-F238E27FC236}">
                <a16:creationId xmlns:a16="http://schemas.microsoft.com/office/drawing/2014/main" id="{EAB0B6DB-9856-44D0-8727-77DD22A4912D}"/>
              </a:ext>
            </a:extLst>
          </p:cNvPr>
          <p:cNvSpPr/>
          <p:nvPr/>
        </p:nvSpPr>
        <p:spPr>
          <a:xfrm>
            <a:off x="4832349" y="5130687"/>
            <a:ext cx="2286000" cy="309717"/>
          </a:xfrm>
          <a:prstGeom prst="flowChartProcess">
            <a:avLst/>
          </a:prstGeom>
          <a:solidFill>
            <a:srgbClr val="FFD65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 at Intervals</a:t>
            </a:r>
            <a:endParaRPr lang="en-IN" dirty="0"/>
          </a:p>
        </p:txBody>
      </p:sp>
      <p:sp>
        <p:nvSpPr>
          <p:cNvPr id="35" name="Flowchart: Process 34">
            <a:extLst>
              <a:ext uri="{FF2B5EF4-FFF2-40B4-BE49-F238E27FC236}">
                <a16:creationId xmlns:a16="http://schemas.microsoft.com/office/drawing/2014/main" id="{914A7965-F4B4-43A7-8ACF-0063F722FB14}"/>
              </a:ext>
            </a:extLst>
          </p:cNvPr>
          <p:cNvSpPr/>
          <p:nvPr/>
        </p:nvSpPr>
        <p:spPr>
          <a:xfrm>
            <a:off x="7988299" y="5126158"/>
            <a:ext cx="2286000" cy="309717"/>
          </a:xfrm>
          <a:prstGeom prst="flowChartProcess">
            <a:avLst/>
          </a:prstGeom>
          <a:solidFill>
            <a:srgbClr val="FF151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 Strategically</a:t>
            </a:r>
            <a:endParaRPr lang="en-IN" dirty="0"/>
          </a:p>
        </p:txBody>
      </p:sp>
      <p:sp>
        <p:nvSpPr>
          <p:cNvPr id="36" name="Flowchart: Process 35">
            <a:extLst>
              <a:ext uri="{FF2B5EF4-FFF2-40B4-BE49-F238E27FC236}">
                <a16:creationId xmlns:a16="http://schemas.microsoft.com/office/drawing/2014/main" id="{5EF7A7D5-06C1-4599-B851-CE4AE8D5B88D}"/>
              </a:ext>
            </a:extLst>
          </p:cNvPr>
          <p:cNvSpPr/>
          <p:nvPr/>
        </p:nvSpPr>
        <p:spPr>
          <a:xfrm>
            <a:off x="1822450" y="5468743"/>
            <a:ext cx="2286000" cy="762000"/>
          </a:xfrm>
          <a:prstGeom prst="flowChartProcess">
            <a:avLst/>
          </a:prstGeom>
          <a:solidFill>
            <a:schemeClr val="accent6">
              <a:lumMod val="40000"/>
              <a:lumOff val="6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r>
              <a:rPr lang="en-US" dirty="0"/>
              <a:t>High Indent</a:t>
            </a:r>
          </a:p>
          <a:p>
            <a:pPr algn="ctr"/>
            <a:r>
              <a:rPr lang="en-US" dirty="0"/>
              <a:t>Frequent Production</a:t>
            </a:r>
            <a:endParaRPr lang="en-IN" dirty="0"/>
          </a:p>
          <a:p>
            <a:pPr algn="ctr"/>
            <a:endParaRPr lang="en-US" dirty="0"/>
          </a:p>
        </p:txBody>
      </p:sp>
      <p:sp>
        <p:nvSpPr>
          <p:cNvPr id="37" name="Flowchart: Process 36">
            <a:extLst>
              <a:ext uri="{FF2B5EF4-FFF2-40B4-BE49-F238E27FC236}">
                <a16:creationId xmlns:a16="http://schemas.microsoft.com/office/drawing/2014/main" id="{B48EBFC4-7E98-4EDC-905A-218006A1123C}"/>
              </a:ext>
            </a:extLst>
          </p:cNvPr>
          <p:cNvSpPr/>
          <p:nvPr/>
        </p:nvSpPr>
        <p:spPr>
          <a:xfrm>
            <a:off x="4832349" y="5468740"/>
            <a:ext cx="2286000" cy="762000"/>
          </a:xfrm>
          <a:prstGeom prst="flowChartProcess">
            <a:avLst/>
          </a:prstGeom>
          <a:solidFill>
            <a:srgbClr val="FFD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Regular Planning</a:t>
            </a:r>
          </a:p>
          <a:p>
            <a:pPr algn="ctr"/>
            <a:r>
              <a:rPr lang="en-IN" dirty="0"/>
              <a:t>Avoid Shortages</a:t>
            </a:r>
          </a:p>
          <a:p>
            <a:pPr algn="ctr"/>
            <a:endParaRPr lang="en-US" dirty="0"/>
          </a:p>
        </p:txBody>
      </p:sp>
      <p:sp>
        <p:nvSpPr>
          <p:cNvPr id="38" name="Flowchart: Process 37">
            <a:extLst>
              <a:ext uri="{FF2B5EF4-FFF2-40B4-BE49-F238E27FC236}">
                <a16:creationId xmlns:a16="http://schemas.microsoft.com/office/drawing/2014/main" id="{355E1C99-FF77-46F6-B2E2-259428D31AC6}"/>
              </a:ext>
            </a:extLst>
          </p:cNvPr>
          <p:cNvSpPr/>
          <p:nvPr/>
        </p:nvSpPr>
        <p:spPr>
          <a:xfrm>
            <a:off x="7994650" y="5467443"/>
            <a:ext cx="2286000" cy="762000"/>
          </a:xfrm>
          <a:prstGeom prst="flowChartProcess">
            <a:avLst/>
          </a:prstGeom>
          <a:solidFill>
            <a:srgbClr val="FF4B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Occasional Demand</a:t>
            </a:r>
          </a:p>
          <a:p>
            <a:pPr algn="ctr"/>
            <a:r>
              <a:rPr lang="en-US" dirty="0"/>
              <a:t>Slow Moving</a:t>
            </a:r>
            <a:endParaRPr lang="en-IN" dirty="0"/>
          </a:p>
          <a:p>
            <a:pPr algn="ctr"/>
            <a:endParaRPr lang="en-US" dirty="0"/>
          </a:p>
        </p:txBody>
      </p:sp>
    </p:spTree>
    <p:extLst>
      <p:ext uri="{BB962C8B-B14F-4D97-AF65-F5344CB8AC3E}">
        <p14:creationId xmlns:p14="http://schemas.microsoft.com/office/powerpoint/2010/main" val="874067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4340A5-B7DF-4223-B960-42F9FE01E0A1}"/>
              </a:ext>
            </a:extLst>
          </p:cNvPr>
          <p:cNvSpPr txBox="1"/>
          <p:nvPr/>
        </p:nvSpPr>
        <p:spPr>
          <a:xfrm>
            <a:off x="37895" y="76200"/>
            <a:ext cx="6705600" cy="584775"/>
          </a:xfrm>
          <a:prstGeom prst="rect">
            <a:avLst/>
          </a:prstGeom>
          <a:noFill/>
        </p:spPr>
        <p:txBody>
          <a:bodyPr wrap="square" rtlCol="0">
            <a:spAutoFit/>
          </a:bodyPr>
          <a:lstStyle/>
          <a:p>
            <a:r>
              <a:rPr lang="en-US" sz="3200" b="1" dirty="0">
                <a:solidFill>
                  <a:srgbClr val="0062DA"/>
                </a:solidFill>
              </a:rPr>
              <a:t>Full Capacity Utilization</a:t>
            </a:r>
            <a:endParaRPr lang="en-IN" sz="3200" b="1" dirty="0">
              <a:solidFill>
                <a:srgbClr val="0062DA"/>
              </a:solidFill>
            </a:endParaRPr>
          </a:p>
        </p:txBody>
      </p:sp>
      <p:sp>
        <p:nvSpPr>
          <p:cNvPr id="4" name="Flowchart: Process 3">
            <a:extLst>
              <a:ext uri="{FF2B5EF4-FFF2-40B4-BE49-F238E27FC236}">
                <a16:creationId xmlns:a16="http://schemas.microsoft.com/office/drawing/2014/main" id="{4DDBE9C7-96D6-488C-97A1-5FDE2B55B5E3}"/>
              </a:ext>
            </a:extLst>
          </p:cNvPr>
          <p:cNvSpPr/>
          <p:nvPr/>
        </p:nvSpPr>
        <p:spPr>
          <a:xfrm>
            <a:off x="4184650" y="2286000"/>
            <a:ext cx="3733800" cy="685800"/>
          </a:xfrm>
          <a:prstGeom prst="flowChartProcess">
            <a:avLst/>
          </a:prstGeom>
          <a:solidFill>
            <a:srgbClr val="578537"/>
          </a:solidFill>
          <a:scene3d>
            <a:camera prst="orthographicFront"/>
            <a:lightRig rig="threePt" dir="t"/>
          </a:scene3d>
          <a:sp3d>
            <a:bevelT w="165100" prst="coolSlant"/>
          </a:sp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Total Available Hours = 22</a:t>
            </a:r>
            <a:endParaRPr lang="en-IN" dirty="0"/>
          </a:p>
        </p:txBody>
      </p:sp>
      <p:sp>
        <p:nvSpPr>
          <p:cNvPr id="5" name="Arrow: Down 4">
            <a:extLst>
              <a:ext uri="{FF2B5EF4-FFF2-40B4-BE49-F238E27FC236}">
                <a16:creationId xmlns:a16="http://schemas.microsoft.com/office/drawing/2014/main" id="{CBB48665-D376-4C0F-BAC0-E15C89288FFF}"/>
              </a:ext>
            </a:extLst>
          </p:cNvPr>
          <p:cNvSpPr/>
          <p:nvPr/>
        </p:nvSpPr>
        <p:spPr>
          <a:xfrm>
            <a:off x="5899150" y="2971800"/>
            <a:ext cx="2667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739784B-9C8C-4553-9B76-D509CF625343}"/>
              </a:ext>
            </a:extLst>
          </p:cNvPr>
          <p:cNvSpPr txBox="1"/>
          <p:nvPr/>
        </p:nvSpPr>
        <p:spPr>
          <a:xfrm>
            <a:off x="222250" y="762000"/>
            <a:ext cx="11582400" cy="5909310"/>
          </a:xfrm>
          <a:prstGeom prst="rect">
            <a:avLst/>
          </a:prstGeom>
          <a:noFill/>
        </p:spPr>
        <p:txBody>
          <a:bodyPr wrap="square" rtlCol="0">
            <a:spAutoFit/>
          </a:bodyPr>
          <a:lstStyle/>
          <a:p>
            <a:r>
              <a:rPr lang="en-US" dirty="0"/>
              <a:t>“Ensure all machine hours are fully utilized, maximizing productivity and minimizing idle time. The system balances workloads across machines and keeps production running smoothly.</a:t>
            </a:r>
          </a:p>
          <a:p>
            <a:endParaRPr lang="en-US" dirty="0"/>
          </a:p>
          <a:p>
            <a:r>
              <a:rPr lang="en-US" sz="1800" i="1" dirty="0">
                <a:solidFill>
                  <a:schemeClr val="tx1">
                    <a:lumMod val="95000"/>
                    <a:lumOff val="5000"/>
                  </a:schemeClr>
                </a:solidFill>
              </a:rPr>
              <a:t>2 shifts × 12h  |  1h break each  =  11h per shift  =  22h per day</a:t>
            </a:r>
            <a:endParaRPr lang="en-US" sz="1800" dirty="0">
              <a:solidFill>
                <a:schemeClr val="tx1">
                  <a:lumMod val="95000"/>
                  <a:lumOff val="5000"/>
                </a:schemeClr>
              </a:solidFill>
            </a:endParaRPr>
          </a:p>
          <a:p>
            <a:endParaRPr lang="en-US" dirty="0"/>
          </a:p>
          <a:p>
            <a:endParaRPr lang="en-IN" dirty="0"/>
          </a:p>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6" name="Flowchart: Process 5">
            <a:extLst>
              <a:ext uri="{FF2B5EF4-FFF2-40B4-BE49-F238E27FC236}">
                <a16:creationId xmlns:a16="http://schemas.microsoft.com/office/drawing/2014/main" id="{E286C232-0A17-4244-8650-AA38E8D86500}"/>
              </a:ext>
            </a:extLst>
          </p:cNvPr>
          <p:cNvSpPr/>
          <p:nvPr/>
        </p:nvSpPr>
        <p:spPr>
          <a:xfrm>
            <a:off x="4184649" y="3289443"/>
            <a:ext cx="3733799" cy="506024"/>
          </a:xfrm>
          <a:prstGeom prst="flowChartProcess">
            <a:avLst/>
          </a:prstGeom>
          <a:solidFill>
            <a:srgbClr val="2F5597"/>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Subtract Downtime and Changeover</a:t>
            </a:r>
            <a:endParaRPr lang="en-IN" dirty="0"/>
          </a:p>
        </p:txBody>
      </p:sp>
      <p:sp>
        <p:nvSpPr>
          <p:cNvPr id="8" name="Arrow: Down 7">
            <a:extLst>
              <a:ext uri="{FF2B5EF4-FFF2-40B4-BE49-F238E27FC236}">
                <a16:creationId xmlns:a16="http://schemas.microsoft.com/office/drawing/2014/main" id="{24859594-77DD-4176-A5F9-9513F1699C18}"/>
              </a:ext>
            </a:extLst>
          </p:cNvPr>
          <p:cNvSpPr/>
          <p:nvPr/>
        </p:nvSpPr>
        <p:spPr>
          <a:xfrm>
            <a:off x="5899150" y="3802733"/>
            <a:ext cx="2667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Process 8">
            <a:extLst>
              <a:ext uri="{FF2B5EF4-FFF2-40B4-BE49-F238E27FC236}">
                <a16:creationId xmlns:a16="http://schemas.microsoft.com/office/drawing/2014/main" id="{F0762C11-7FD7-4734-A19A-9DBB4D2412D9}"/>
              </a:ext>
            </a:extLst>
          </p:cNvPr>
          <p:cNvSpPr/>
          <p:nvPr/>
        </p:nvSpPr>
        <p:spPr>
          <a:xfrm>
            <a:off x="4184648" y="4130622"/>
            <a:ext cx="3733800" cy="506024"/>
          </a:xfrm>
          <a:prstGeom prst="flowChartProcess">
            <a:avLst/>
          </a:prstGeom>
          <a:solidFill>
            <a:srgbClr val="FF9801"/>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Allocate Parts to Machine</a:t>
            </a:r>
            <a:endParaRPr lang="en-IN" dirty="0"/>
          </a:p>
        </p:txBody>
      </p:sp>
      <p:sp>
        <p:nvSpPr>
          <p:cNvPr id="10" name="Flowchart: Process 9">
            <a:extLst>
              <a:ext uri="{FF2B5EF4-FFF2-40B4-BE49-F238E27FC236}">
                <a16:creationId xmlns:a16="http://schemas.microsoft.com/office/drawing/2014/main" id="{7B40A098-0FD9-44FC-800D-AC23B093CDED}"/>
              </a:ext>
            </a:extLst>
          </p:cNvPr>
          <p:cNvSpPr/>
          <p:nvPr/>
        </p:nvSpPr>
        <p:spPr>
          <a:xfrm>
            <a:off x="4184646" y="4967133"/>
            <a:ext cx="3733801" cy="480338"/>
          </a:xfrm>
          <a:prstGeom prst="flowChartProcess">
            <a:avLst/>
          </a:prstGeom>
          <a:solidFill>
            <a:srgbClr val="2F5597"/>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Balance Workload Across Machines</a:t>
            </a:r>
            <a:endParaRPr lang="en-IN" dirty="0"/>
          </a:p>
        </p:txBody>
      </p:sp>
      <p:sp>
        <p:nvSpPr>
          <p:cNvPr id="11" name="Arrow: Down 10">
            <a:extLst>
              <a:ext uri="{FF2B5EF4-FFF2-40B4-BE49-F238E27FC236}">
                <a16:creationId xmlns:a16="http://schemas.microsoft.com/office/drawing/2014/main" id="{D21F34F1-1F51-4BFB-A6CC-3672E5AA69A0}"/>
              </a:ext>
            </a:extLst>
          </p:cNvPr>
          <p:cNvSpPr/>
          <p:nvPr/>
        </p:nvSpPr>
        <p:spPr>
          <a:xfrm>
            <a:off x="5918198" y="4636646"/>
            <a:ext cx="2667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Down 11">
            <a:extLst>
              <a:ext uri="{FF2B5EF4-FFF2-40B4-BE49-F238E27FC236}">
                <a16:creationId xmlns:a16="http://schemas.microsoft.com/office/drawing/2014/main" id="{1F64C43B-DB52-434B-82C8-114F3554CD95}"/>
              </a:ext>
            </a:extLst>
          </p:cNvPr>
          <p:cNvSpPr/>
          <p:nvPr/>
        </p:nvSpPr>
        <p:spPr>
          <a:xfrm>
            <a:off x="5918198" y="5470085"/>
            <a:ext cx="2667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Process 12">
            <a:extLst>
              <a:ext uri="{FF2B5EF4-FFF2-40B4-BE49-F238E27FC236}">
                <a16:creationId xmlns:a16="http://schemas.microsoft.com/office/drawing/2014/main" id="{2F5D41ED-E128-4C51-A824-AF99D57FE14A}"/>
              </a:ext>
            </a:extLst>
          </p:cNvPr>
          <p:cNvSpPr/>
          <p:nvPr/>
        </p:nvSpPr>
        <p:spPr>
          <a:xfrm>
            <a:off x="4184646" y="5806775"/>
            <a:ext cx="3733801" cy="480338"/>
          </a:xfrm>
          <a:prstGeom prst="flowChartProcess">
            <a:avLst/>
          </a:prstGeom>
          <a:solidFill>
            <a:srgbClr val="578537"/>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Achieve Full Capacity Utilization</a:t>
            </a:r>
            <a:endParaRPr lang="en-IN" dirty="0"/>
          </a:p>
        </p:txBody>
      </p:sp>
    </p:spTree>
    <p:extLst>
      <p:ext uri="{BB962C8B-B14F-4D97-AF65-F5344CB8AC3E}">
        <p14:creationId xmlns:p14="http://schemas.microsoft.com/office/powerpoint/2010/main" val="428115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F9E9F6-3156-4A40-83C4-94EF1DDCB73A}"/>
              </a:ext>
            </a:extLst>
          </p:cNvPr>
          <p:cNvSpPr txBox="1"/>
          <p:nvPr/>
        </p:nvSpPr>
        <p:spPr>
          <a:xfrm>
            <a:off x="69850" y="76200"/>
            <a:ext cx="4648200" cy="584775"/>
          </a:xfrm>
          <a:prstGeom prst="rect">
            <a:avLst/>
          </a:prstGeom>
          <a:noFill/>
        </p:spPr>
        <p:txBody>
          <a:bodyPr wrap="square" rtlCol="0">
            <a:spAutoFit/>
          </a:bodyPr>
          <a:lstStyle/>
          <a:p>
            <a:r>
              <a:rPr lang="en-US" sz="3200" b="1" dirty="0">
                <a:solidFill>
                  <a:srgbClr val="0062DA"/>
                </a:solidFill>
              </a:rPr>
              <a:t>Fixed Machine Allocation</a:t>
            </a:r>
            <a:endParaRPr lang="en-IN" sz="3200" b="1" dirty="0">
              <a:solidFill>
                <a:srgbClr val="0062DA"/>
              </a:solidFill>
            </a:endParaRPr>
          </a:p>
        </p:txBody>
      </p:sp>
      <p:sp>
        <p:nvSpPr>
          <p:cNvPr id="3" name="TextBox 2">
            <a:extLst>
              <a:ext uri="{FF2B5EF4-FFF2-40B4-BE49-F238E27FC236}">
                <a16:creationId xmlns:a16="http://schemas.microsoft.com/office/drawing/2014/main" id="{2ED1DDD0-6AA6-4929-A245-9C72198976B7}"/>
              </a:ext>
            </a:extLst>
          </p:cNvPr>
          <p:cNvSpPr txBox="1"/>
          <p:nvPr/>
        </p:nvSpPr>
        <p:spPr>
          <a:xfrm>
            <a:off x="146050" y="762000"/>
            <a:ext cx="11887200" cy="5909310"/>
          </a:xfrm>
          <a:prstGeom prst="rect">
            <a:avLst/>
          </a:prstGeom>
          <a:noFill/>
        </p:spPr>
        <p:txBody>
          <a:bodyPr wrap="square" rtlCol="0">
            <a:spAutoFit/>
          </a:bodyPr>
          <a:lstStyle/>
          <a:p>
            <a:r>
              <a:rPr lang="en-US" dirty="0"/>
              <a:t>“Machines assigned to certain parts always run those parts and aren’t included in planning or reallocation. These machines are fixed because their parts need full machine capacity. Keeping them dedicated saves time, reduces changeover costs, and keeps production steady and efficient.”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4" name="Flowchart: Alternate Process 3">
            <a:extLst>
              <a:ext uri="{FF2B5EF4-FFF2-40B4-BE49-F238E27FC236}">
                <a16:creationId xmlns:a16="http://schemas.microsoft.com/office/drawing/2014/main" id="{969BEC09-1EB5-4DF3-A05E-932E61BE182D}"/>
              </a:ext>
            </a:extLst>
          </p:cNvPr>
          <p:cNvSpPr/>
          <p:nvPr/>
        </p:nvSpPr>
        <p:spPr>
          <a:xfrm>
            <a:off x="4726448" y="1905000"/>
            <a:ext cx="1752600" cy="4572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 Machines</a:t>
            </a:r>
            <a:endParaRPr lang="en-IN" dirty="0"/>
          </a:p>
        </p:txBody>
      </p:sp>
      <p:sp>
        <p:nvSpPr>
          <p:cNvPr id="5" name="Arrow: Down 4">
            <a:extLst>
              <a:ext uri="{FF2B5EF4-FFF2-40B4-BE49-F238E27FC236}">
                <a16:creationId xmlns:a16="http://schemas.microsoft.com/office/drawing/2014/main" id="{37F4A8F5-5839-4328-B792-1C644BBD4A41}"/>
              </a:ext>
            </a:extLst>
          </p:cNvPr>
          <p:cNvSpPr/>
          <p:nvPr/>
        </p:nvSpPr>
        <p:spPr>
          <a:xfrm>
            <a:off x="5403850" y="2362199"/>
            <a:ext cx="304800" cy="2495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Diamond 5">
            <a:extLst>
              <a:ext uri="{FF2B5EF4-FFF2-40B4-BE49-F238E27FC236}">
                <a16:creationId xmlns:a16="http://schemas.microsoft.com/office/drawing/2014/main" id="{DFFD65E4-E7F2-43BC-A1E3-F7C9EE94FE7F}"/>
              </a:ext>
            </a:extLst>
          </p:cNvPr>
          <p:cNvSpPr/>
          <p:nvPr/>
        </p:nvSpPr>
        <p:spPr>
          <a:xfrm>
            <a:off x="4679950" y="2611755"/>
            <a:ext cx="1752600" cy="12192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it fixed ?</a:t>
            </a:r>
            <a:endParaRPr lang="en-IN" dirty="0"/>
          </a:p>
        </p:txBody>
      </p:sp>
      <p:sp>
        <p:nvSpPr>
          <p:cNvPr id="15" name="TextBox 14">
            <a:extLst>
              <a:ext uri="{FF2B5EF4-FFF2-40B4-BE49-F238E27FC236}">
                <a16:creationId xmlns:a16="http://schemas.microsoft.com/office/drawing/2014/main" id="{B446E4D2-5423-4BA1-9E2E-7A3EF508C580}"/>
              </a:ext>
            </a:extLst>
          </p:cNvPr>
          <p:cNvSpPr txBox="1"/>
          <p:nvPr/>
        </p:nvSpPr>
        <p:spPr>
          <a:xfrm>
            <a:off x="7461251" y="2895600"/>
            <a:ext cx="838198" cy="369332"/>
          </a:xfrm>
          <a:prstGeom prst="rect">
            <a:avLst/>
          </a:prstGeom>
          <a:noFill/>
        </p:spPr>
        <p:txBody>
          <a:bodyPr wrap="square" rtlCol="0">
            <a:spAutoFit/>
          </a:bodyPr>
          <a:lstStyle/>
          <a:p>
            <a:r>
              <a:rPr lang="en-US" dirty="0"/>
              <a:t>YES</a:t>
            </a:r>
            <a:endParaRPr lang="en-IN" dirty="0"/>
          </a:p>
        </p:txBody>
      </p:sp>
      <p:cxnSp>
        <p:nvCxnSpPr>
          <p:cNvPr id="19" name="Straight Arrow Connector 18">
            <a:extLst>
              <a:ext uri="{FF2B5EF4-FFF2-40B4-BE49-F238E27FC236}">
                <a16:creationId xmlns:a16="http://schemas.microsoft.com/office/drawing/2014/main" id="{EB88317A-EEDA-4BE7-9A12-2A4BE02DB015}"/>
              </a:ext>
            </a:extLst>
          </p:cNvPr>
          <p:cNvCxnSpPr>
            <a:stCxn id="6" idx="3"/>
          </p:cNvCxnSpPr>
          <p:nvPr/>
        </p:nvCxnSpPr>
        <p:spPr>
          <a:xfrm>
            <a:off x="6432550" y="3221355"/>
            <a:ext cx="2705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B9166EF-9A6D-43E0-A3F9-A64131882EE0}"/>
              </a:ext>
            </a:extLst>
          </p:cNvPr>
          <p:cNvSpPr/>
          <p:nvPr/>
        </p:nvSpPr>
        <p:spPr>
          <a:xfrm>
            <a:off x="9137650" y="2971800"/>
            <a:ext cx="1143000" cy="5333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Skip It !</a:t>
            </a:r>
            <a:endParaRPr lang="en-IN" dirty="0"/>
          </a:p>
        </p:txBody>
      </p:sp>
      <p:sp>
        <p:nvSpPr>
          <p:cNvPr id="21" name="Arrow: Down 20">
            <a:extLst>
              <a:ext uri="{FF2B5EF4-FFF2-40B4-BE49-F238E27FC236}">
                <a16:creationId xmlns:a16="http://schemas.microsoft.com/office/drawing/2014/main" id="{71179005-BA97-4DC4-840F-54169C47708B}"/>
              </a:ext>
            </a:extLst>
          </p:cNvPr>
          <p:cNvSpPr/>
          <p:nvPr/>
        </p:nvSpPr>
        <p:spPr>
          <a:xfrm>
            <a:off x="5395656" y="3849017"/>
            <a:ext cx="304800" cy="3710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EE9054FE-9023-48AA-8EC9-75BF4786C8A3}"/>
              </a:ext>
            </a:extLst>
          </p:cNvPr>
          <p:cNvSpPr txBox="1"/>
          <p:nvPr/>
        </p:nvSpPr>
        <p:spPr>
          <a:xfrm>
            <a:off x="5689600" y="3746457"/>
            <a:ext cx="1066800" cy="371046"/>
          </a:xfrm>
          <a:prstGeom prst="rect">
            <a:avLst/>
          </a:prstGeom>
          <a:noFill/>
        </p:spPr>
        <p:txBody>
          <a:bodyPr wrap="square" rtlCol="0">
            <a:spAutoFit/>
          </a:bodyPr>
          <a:lstStyle/>
          <a:p>
            <a:r>
              <a:rPr lang="en-US" dirty="0"/>
              <a:t>NO</a:t>
            </a:r>
            <a:endParaRPr lang="en-IN" dirty="0"/>
          </a:p>
        </p:txBody>
      </p:sp>
      <p:sp>
        <p:nvSpPr>
          <p:cNvPr id="23" name="Flowchart: Process 22">
            <a:extLst>
              <a:ext uri="{FF2B5EF4-FFF2-40B4-BE49-F238E27FC236}">
                <a16:creationId xmlns:a16="http://schemas.microsoft.com/office/drawing/2014/main" id="{718A63DE-18C7-4B4C-AF08-8E85B140DE4A}"/>
              </a:ext>
            </a:extLst>
          </p:cNvPr>
          <p:cNvSpPr/>
          <p:nvPr/>
        </p:nvSpPr>
        <p:spPr>
          <a:xfrm>
            <a:off x="4781857" y="4230874"/>
            <a:ext cx="1532398" cy="8382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 Parts on it</a:t>
            </a:r>
            <a:endParaRPr lang="en-IN" dirty="0"/>
          </a:p>
        </p:txBody>
      </p:sp>
    </p:spTree>
    <p:extLst>
      <p:ext uri="{BB962C8B-B14F-4D97-AF65-F5344CB8AC3E}">
        <p14:creationId xmlns:p14="http://schemas.microsoft.com/office/powerpoint/2010/main" val="77016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0D9BA9-418E-40A0-B042-AE9007E3D0C8}"/>
              </a:ext>
            </a:extLst>
          </p:cNvPr>
          <p:cNvSpPr txBox="1"/>
          <p:nvPr/>
        </p:nvSpPr>
        <p:spPr>
          <a:xfrm>
            <a:off x="69850" y="152400"/>
            <a:ext cx="5638800" cy="584775"/>
          </a:xfrm>
          <a:prstGeom prst="rect">
            <a:avLst/>
          </a:prstGeom>
          <a:noFill/>
        </p:spPr>
        <p:txBody>
          <a:bodyPr wrap="square" rtlCol="0">
            <a:spAutoFit/>
          </a:bodyPr>
          <a:lstStyle/>
          <a:p>
            <a:r>
              <a:rPr lang="en-US" sz="3200" b="1" dirty="0">
                <a:solidFill>
                  <a:srgbClr val="0062DA"/>
                </a:solidFill>
              </a:rPr>
              <a:t>Minimum Changeover</a:t>
            </a:r>
            <a:endParaRPr lang="en-IN" sz="3200" b="1" dirty="0">
              <a:solidFill>
                <a:srgbClr val="0062DA"/>
              </a:solidFill>
            </a:endParaRPr>
          </a:p>
        </p:txBody>
      </p:sp>
      <p:sp>
        <p:nvSpPr>
          <p:cNvPr id="3" name="TextBox 2">
            <a:extLst>
              <a:ext uri="{FF2B5EF4-FFF2-40B4-BE49-F238E27FC236}">
                <a16:creationId xmlns:a16="http://schemas.microsoft.com/office/drawing/2014/main" id="{D1AE1C5E-AD6A-4398-AE59-2EDA5DD01277}"/>
              </a:ext>
            </a:extLst>
          </p:cNvPr>
          <p:cNvSpPr txBox="1"/>
          <p:nvPr/>
        </p:nvSpPr>
        <p:spPr>
          <a:xfrm>
            <a:off x="69850" y="737175"/>
            <a:ext cx="11887200" cy="5632311"/>
          </a:xfrm>
          <a:prstGeom prst="rect">
            <a:avLst/>
          </a:prstGeom>
          <a:noFill/>
        </p:spPr>
        <p:txBody>
          <a:bodyPr wrap="square" rtlCol="0">
            <a:spAutoFit/>
          </a:bodyPr>
          <a:lstStyle/>
          <a:p>
            <a:r>
              <a:rPr lang="en-US" dirty="0"/>
              <a:t>To reduce the number of machine changeovers in a day, saving time and cost while keeping production efficient. The system sets a maximum of 25 changeovers per day and intelligently sequences parts to minimize setups. Wherever possible, it groups parts of the same color together, so machines can continue running without frequent adjustments. This approach reduces wasted time, lowers changeover costs, and ensures machines spend more hours producing rather than stopping for reconfiguration.</a:t>
            </a:r>
          </a:p>
          <a:p>
            <a:endParaRPr lang="en-US" dirty="0"/>
          </a:p>
          <a:p>
            <a:endParaRPr lang="en-US" dirty="0"/>
          </a:p>
          <a:p>
            <a:endParaRPr lang="en-US" dirty="0"/>
          </a:p>
          <a:p>
            <a:endParaRPr lang="en-US" dirty="0"/>
          </a:p>
          <a:p>
            <a:endParaRPr lang="en-US" dirty="0"/>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4" name="Rectangle: Rounded Corners 3">
            <a:extLst>
              <a:ext uri="{FF2B5EF4-FFF2-40B4-BE49-F238E27FC236}">
                <a16:creationId xmlns:a16="http://schemas.microsoft.com/office/drawing/2014/main" id="{056EE2C8-3513-4277-9D07-4D105BA5AE12}"/>
              </a:ext>
            </a:extLst>
          </p:cNvPr>
          <p:cNvSpPr/>
          <p:nvPr/>
        </p:nvSpPr>
        <p:spPr>
          <a:xfrm>
            <a:off x="4565650" y="2184975"/>
            <a:ext cx="3048000" cy="533400"/>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Daily Changeover Limit = 25</a:t>
            </a:r>
            <a:endParaRPr lang="en-IN" dirty="0"/>
          </a:p>
        </p:txBody>
      </p:sp>
      <p:sp>
        <p:nvSpPr>
          <p:cNvPr id="5" name="Arrow: Down 4">
            <a:extLst>
              <a:ext uri="{FF2B5EF4-FFF2-40B4-BE49-F238E27FC236}">
                <a16:creationId xmlns:a16="http://schemas.microsoft.com/office/drawing/2014/main" id="{61FDD90C-7896-4345-80BE-5A0A9370E4BB}"/>
              </a:ext>
            </a:extLst>
          </p:cNvPr>
          <p:cNvSpPr/>
          <p:nvPr/>
        </p:nvSpPr>
        <p:spPr>
          <a:xfrm>
            <a:off x="5973916" y="2732880"/>
            <a:ext cx="2286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9A5015C5-3DD7-43DD-9233-00345A4D396C}"/>
              </a:ext>
            </a:extLst>
          </p:cNvPr>
          <p:cNvSpPr/>
          <p:nvPr/>
        </p:nvSpPr>
        <p:spPr>
          <a:xfrm>
            <a:off x="7449369" y="3657599"/>
            <a:ext cx="1219200" cy="952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Diamond 5">
            <a:extLst>
              <a:ext uri="{FF2B5EF4-FFF2-40B4-BE49-F238E27FC236}">
                <a16:creationId xmlns:a16="http://schemas.microsoft.com/office/drawing/2014/main" id="{C172292E-E616-4BBF-B933-0D23F3D0B753}"/>
              </a:ext>
            </a:extLst>
          </p:cNvPr>
          <p:cNvSpPr/>
          <p:nvPr/>
        </p:nvSpPr>
        <p:spPr>
          <a:xfrm>
            <a:off x="4617679" y="2956381"/>
            <a:ext cx="2933700" cy="1447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changeover within limit</a:t>
            </a:r>
            <a:endParaRPr lang="en-IN" dirty="0"/>
          </a:p>
        </p:txBody>
      </p:sp>
      <p:sp>
        <p:nvSpPr>
          <p:cNvPr id="10" name="Arrow: Down 9">
            <a:extLst>
              <a:ext uri="{FF2B5EF4-FFF2-40B4-BE49-F238E27FC236}">
                <a16:creationId xmlns:a16="http://schemas.microsoft.com/office/drawing/2014/main" id="{911D1385-E956-4DE8-966A-0E86218B9711}"/>
              </a:ext>
            </a:extLst>
          </p:cNvPr>
          <p:cNvSpPr/>
          <p:nvPr/>
        </p:nvSpPr>
        <p:spPr>
          <a:xfrm>
            <a:off x="5956300" y="4414389"/>
            <a:ext cx="2667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B8BEBFF-57EE-48F4-935B-9BC8F5912DF4}"/>
              </a:ext>
            </a:extLst>
          </p:cNvPr>
          <p:cNvSpPr txBox="1"/>
          <p:nvPr/>
        </p:nvSpPr>
        <p:spPr>
          <a:xfrm>
            <a:off x="7699375" y="3272974"/>
            <a:ext cx="742950" cy="369332"/>
          </a:xfrm>
          <a:prstGeom prst="rect">
            <a:avLst/>
          </a:prstGeom>
          <a:noFill/>
        </p:spPr>
        <p:txBody>
          <a:bodyPr wrap="square" rtlCol="0">
            <a:spAutoFit/>
          </a:bodyPr>
          <a:lstStyle/>
          <a:p>
            <a:r>
              <a:rPr lang="en-US" dirty="0"/>
              <a:t>No</a:t>
            </a:r>
            <a:endParaRPr lang="en-IN" dirty="0"/>
          </a:p>
        </p:txBody>
      </p:sp>
      <p:sp>
        <p:nvSpPr>
          <p:cNvPr id="9" name="Flowchart: Process 8">
            <a:extLst>
              <a:ext uri="{FF2B5EF4-FFF2-40B4-BE49-F238E27FC236}">
                <a16:creationId xmlns:a16="http://schemas.microsoft.com/office/drawing/2014/main" id="{43DA6A27-9FC4-4CB3-B95E-E5CD9141B56F}"/>
              </a:ext>
            </a:extLst>
          </p:cNvPr>
          <p:cNvSpPr/>
          <p:nvPr/>
        </p:nvSpPr>
        <p:spPr>
          <a:xfrm>
            <a:off x="8711431" y="3373957"/>
            <a:ext cx="1714500" cy="6126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Shift to next day</a:t>
            </a:r>
            <a:endParaRPr lang="en-IN" dirty="0"/>
          </a:p>
        </p:txBody>
      </p:sp>
      <p:sp>
        <p:nvSpPr>
          <p:cNvPr id="11" name="Flowchart: Process 10">
            <a:extLst>
              <a:ext uri="{FF2B5EF4-FFF2-40B4-BE49-F238E27FC236}">
                <a16:creationId xmlns:a16="http://schemas.microsoft.com/office/drawing/2014/main" id="{2BABA8C4-EB3C-41CD-ABA9-078A947D11E8}"/>
              </a:ext>
            </a:extLst>
          </p:cNvPr>
          <p:cNvSpPr/>
          <p:nvPr/>
        </p:nvSpPr>
        <p:spPr>
          <a:xfrm>
            <a:off x="4370029" y="4882574"/>
            <a:ext cx="3429000" cy="533401"/>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Group same color part together</a:t>
            </a:r>
            <a:endParaRPr lang="en-IN" dirty="0"/>
          </a:p>
        </p:txBody>
      </p:sp>
      <p:sp>
        <p:nvSpPr>
          <p:cNvPr id="12" name="Arrow: Down 11">
            <a:extLst>
              <a:ext uri="{FF2B5EF4-FFF2-40B4-BE49-F238E27FC236}">
                <a16:creationId xmlns:a16="http://schemas.microsoft.com/office/drawing/2014/main" id="{D4ED1F95-9CF7-4C26-B0FE-FE9E96673674}"/>
              </a:ext>
            </a:extLst>
          </p:cNvPr>
          <p:cNvSpPr/>
          <p:nvPr/>
        </p:nvSpPr>
        <p:spPr>
          <a:xfrm>
            <a:off x="5935816" y="5379904"/>
            <a:ext cx="2667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Alternate Process 12">
            <a:extLst>
              <a:ext uri="{FF2B5EF4-FFF2-40B4-BE49-F238E27FC236}">
                <a16:creationId xmlns:a16="http://schemas.microsoft.com/office/drawing/2014/main" id="{DAFDA2A9-5173-4B6C-B67F-ED010E3D60F9}"/>
              </a:ext>
            </a:extLst>
          </p:cNvPr>
          <p:cNvSpPr/>
          <p:nvPr/>
        </p:nvSpPr>
        <p:spPr>
          <a:xfrm>
            <a:off x="4210869" y="5846293"/>
            <a:ext cx="3848100" cy="533401"/>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Allocate Parts To Machines</a:t>
            </a:r>
            <a:endParaRPr lang="en-IN" dirty="0"/>
          </a:p>
        </p:txBody>
      </p:sp>
    </p:spTree>
    <p:extLst>
      <p:ext uri="{BB962C8B-B14F-4D97-AF65-F5344CB8AC3E}">
        <p14:creationId xmlns:p14="http://schemas.microsoft.com/office/powerpoint/2010/main" val="205122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D34989-16A0-4639-887E-8FE220FF32F0}"/>
              </a:ext>
            </a:extLst>
          </p:cNvPr>
          <p:cNvSpPr txBox="1"/>
          <p:nvPr/>
        </p:nvSpPr>
        <p:spPr>
          <a:xfrm>
            <a:off x="0" y="88735"/>
            <a:ext cx="4267200" cy="584775"/>
          </a:xfrm>
          <a:prstGeom prst="rect">
            <a:avLst/>
          </a:prstGeom>
          <a:noFill/>
        </p:spPr>
        <p:txBody>
          <a:bodyPr wrap="square" rtlCol="0">
            <a:spAutoFit/>
          </a:bodyPr>
          <a:lstStyle/>
          <a:p>
            <a:r>
              <a:rPr lang="en-US" sz="3200" dirty="0">
                <a:solidFill>
                  <a:srgbClr val="0062DA"/>
                </a:solidFill>
              </a:rPr>
              <a:t>Terminal Availability</a:t>
            </a:r>
            <a:endParaRPr lang="en-IN" sz="3200" dirty="0">
              <a:solidFill>
                <a:srgbClr val="0062DA"/>
              </a:solidFill>
            </a:endParaRPr>
          </a:p>
        </p:txBody>
      </p:sp>
      <p:sp>
        <p:nvSpPr>
          <p:cNvPr id="3" name="TextBox 2">
            <a:extLst>
              <a:ext uri="{FF2B5EF4-FFF2-40B4-BE49-F238E27FC236}">
                <a16:creationId xmlns:a16="http://schemas.microsoft.com/office/drawing/2014/main" id="{02A3BDC2-8D3E-44FE-81A2-FB0445449F22}"/>
              </a:ext>
            </a:extLst>
          </p:cNvPr>
          <p:cNvSpPr txBox="1"/>
          <p:nvPr/>
        </p:nvSpPr>
        <p:spPr>
          <a:xfrm>
            <a:off x="146050" y="685800"/>
            <a:ext cx="11049000" cy="5909310"/>
          </a:xfrm>
          <a:prstGeom prst="rect">
            <a:avLst/>
          </a:prstGeom>
          <a:noFill/>
        </p:spPr>
        <p:txBody>
          <a:bodyPr wrap="square" rtlCol="0">
            <a:spAutoFit/>
          </a:bodyPr>
          <a:lstStyle/>
          <a:p>
            <a:r>
              <a:rPr lang="en-US" dirty="0">
                <a:effectLst/>
              </a:rPr>
              <a:t>“To ensure that parts are scheduled only when the required terminal or terminals are available, so production can run without interruptions or conflicts. Each part depends on specific terminals for its processing, and the system checks their availability before confirming any plan. If even one required terminal is unavailable due to downtime, overload, or maintenance, the part cannot be scheduled until all necessary terminals are active. This prevents scheduling errors, avoids bottlenecks, and ensures that production flows smoothly.”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Flowchart: Alternate Process 3">
            <a:extLst>
              <a:ext uri="{FF2B5EF4-FFF2-40B4-BE49-F238E27FC236}">
                <a16:creationId xmlns:a16="http://schemas.microsoft.com/office/drawing/2014/main" id="{91F302A4-962D-4692-A590-C3F0E70340A7}"/>
              </a:ext>
            </a:extLst>
          </p:cNvPr>
          <p:cNvSpPr/>
          <p:nvPr/>
        </p:nvSpPr>
        <p:spPr>
          <a:xfrm>
            <a:off x="4641850" y="2286000"/>
            <a:ext cx="2743200" cy="5334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Terminals Required For a Part</a:t>
            </a:r>
            <a:endParaRPr lang="en-IN" dirty="0"/>
          </a:p>
        </p:txBody>
      </p:sp>
      <p:sp>
        <p:nvSpPr>
          <p:cNvPr id="5" name="Arrow: Down 4">
            <a:extLst>
              <a:ext uri="{FF2B5EF4-FFF2-40B4-BE49-F238E27FC236}">
                <a16:creationId xmlns:a16="http://schemas.microsoft.com/office/drawing/2014/main" id="{9616197F-7231-4FF3-8614-5DF2E9B0F6E2}"/>
              </a:ext>
            </a:extLst>
          </p:cNvPr>
          <p:cNvSpPr/>
          <p:nvPr/>
        </p:nvSpPr>
        <p:spPr>
          <a:xfrm>
            <a:off x="5880489" y="2819400"/>
            <a:ext cx="265921" cy="2925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C7FB366D-7066-44C5-91DF-5222AC60C774}"/>
              </a:ext>
            </a:extLst>
          </p:cNvPr>
          <p:cNvSpPr/>
          <p:nvPr/>
        </p:nvSpPr>
        <p:spPr>
          <a:xfrm>
            <a:off x="7183975" y="3932904"/>
            <a:ext cx="20574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Diamond 5">
            <a:extLst>
              <a:ext uri="{FF2B5EF4-FFF2-40B4-BE49-F238E27FC236}">
                <a16:creationId xmlns:a16="http://schemas.microsoft.com/office/drawing/2014/main" id="{9BA7C34F-10FD-487E-964B-095CA20282C5}"/>
              </a:ext>
            </a:extLst>
          </p:cNvPr>
          <p:cNvSpPr/>
          <p:nvPr/>
        </p:nvSpPr>
        <p:spPr>
          <a:xfrm>
            <a:off x="4739197" y="3126659"/>
            <a:ext cx="2548503" cy="168869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 Terminals Available ??</a:t>
            </a:r>
            <a:endParaRPr lang="en-IN" dirty="0"/>
          </a:p>
        </p:txBody>
      </p:sp>
      <p:sp>
        <p:nvSpPr>
          <p:cNvPr id="9" name="TextBox 8">
            <a:extLst>
              <a:ext uri="{FF2B5EF4-FFF2-40B4-BE49-F238E27FC236}">
                <a16:creationId xmlns:a16="http://schemas.microsoft.com/office/drawing/2014/main" id="{F22EB3FC-CEE8-4DBF-8C76-CAAD076BA318}"/>
              </a:ext>
            </a:extLst>
          </p:cNvPr>
          <p:cNvSpPr txBox="1"/>
          <p:nvPr/>
        </p:nvSpPr>
        <p:spPr>
          <a:xfrm>
            <a:off x="8070850" y="3601672"/>
            <a:ext cx="1295400" cy="369332"/>
          </a:xfrm>
          <a:prstGeom prst="rect">
            <a:avLst/>
          </a:prstGeom>
          <a:noFill/>
        </p:spPr>
        <p:txBody>
          <a:bodyPr wrap="square" rtlCol="0">
            <a:spAutoFit/>
          </a:bodyPr>
          <a:lstStyle/>
          <a:p>
            <a:r>
              <a:rPr lang="en-US" dirty="0"/>
              <a:t>YES</a:t>
            </a:r>
            <a:endParaRPr lang="en-IN" dirty="0"/>
          </a:p>
        </p:txBody>
      </p:sp>
      <p:sp>
        <p:nvSpPr>
          <p:cNvPr id="10" name="Flowchart: Process 9">
            <a:extLst>
              <a:ext uri="{FF2B5EF4-FFF2-40B4-BE49-F238E27FC236}">
                <a16:creationId xmlns:a16="http://schemas.microsoft.com/office/drawing/2014/main" id="{6CC3EACA-95AD-421A-B3F0-7AC5CF1F7B32}"/>
              </a:ext>
            </a:extLst>
          </p:cNvPr>
          <p:cNvSpPr/>
          <p:nvPr/>
        </p:nvSpPr>
        <p:spPr>
          <a:xfrm>
            <a:off x="9241375" y="3708755"/>
            <a:ext cx="1676400" cy="48086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Plan this part</a:t>
            </a:r>
            <a:endParaRPr lang="en-IN" dirty="0"/>
          </a:p>
        </p:txBody>
      </p:sp>
      <p:sp>
        <p:nvSpPr>
          <p:cNvPr id="11" name="Arrow: Down 10">
            <a:extLst>
              <a:ext uri="{FF2B5EF4-FFF2-40B4-BE49-F238E27FC236}">
                <a16:creationId xmlns:a16="http://schemas.microsoft.com/office/drawing/2014/main" id="{BAA92375-6C4D-4327-88BA-AD3E6F211814}"/>
              </a:ext>
            </a:extLst>
          </p:cNvPr>
          <p:cNvSpPr/>
          <p:nvPr/>
        </p:nvSpPr>
        <p:spPr>
          <a:xfrm>
            <a:off x="5880489" y="4827639"/>
            <a:ext cx="304800" cy="5186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Process 11">
            <a:extLst>
              <a:ext uri="{FF2B5EF4-FFF2-40B4-BE49-F238E27FC236}">
                <a16:creationId xmlns:a16="http://schemas.microsoft.com/office/drawing/2014/main" id="{F1B6D074-CA5F-4EE0-8B9F-2A1E619C6816}"/>
              </a:ext>
            </a:extLst>
          </p:cNvPr>
          <p:cNvSpPr/>
          <p:nvPr/>
        </p:nvSpPr>
        <p:spPr>
          <a:xfrm>
            <a:off x="4641850" y="5358580"/>
            <a:ext cx="2874453" cy="58502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Skip to other parts</a:t>
            </a:r>
            <a:endParaRPr lang="en-IN" dirty="0"/>
          </a:p>
        </p:txBody>
      </p:sp>
    </p:spTree>
    <p:extLst>
      <p:ext uri="{BB962C8B-B14F-4D97-AF65-F5344CB8AC3E}">
        <p14:creationId xmlns:p14="http://schemas.microsoft.com/office/powerpoint/2010/main" val="131586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56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598663"/>
            <a:ext cx="12148852" cy="255765"/>
          </a:xfrm>
          <a:prstGeom prst="rect">
            <a:avLst/>
          </a:prstGeom>
          <a:solidFill>
            <a:srgbClr val="1A2E4A"/>
          </a:solidFill>
          <a:ln w="12700">
            <a:solidFill>
              <a:srgbClr val="1A2E4A"/>
            </a:solidFill>
            <a:prstDash val="solid"/>
          </a:ln>
        </p:spPr>
      </p:sp>
      <p:sp>
        <p:nvSpPr>
          <p:cNvPr id="3" name="Text 1"/>
          <p:cNvSpPr/>
          <p:nvPr/>
        </p:nvSpPr>
        <p:spPr>
          <a:xfrm>
            <a:off x="274034" y="6616932"/>
            <a:ext cx="11600783" cy="200958"/>
          </a:xfrm>
          <a:prstGeom prst="rect">
            <a:avLst/>
          </a:prstGeom>
          <a:noFill/>
          <a:ln/>
        </p:spPr>
        <p:txBody>
          <a:bodyPr wrap="square" lIns="0" tIns="0" rIns="0" bIns="0" rtlCol="0" anchor="ctr"/>
          <a:lstStyle/>
          <a:p>
            <a:pPr algn="ctr"/>
            <a:r>
              <a:rPr lang="en-US" sz="799" dirty="0">
                <a:solidFill>
                  <a:srgbClr val="F0F4F8"/>
                </a:solidFill>
              </a:rPr>
              <a:t>Smart APS V9  |  Uno Minda Rika Private Limited  |  Injection Moulding Division</a:t>
            </a:r>
            <a:endParaRPr lang="en-US" sz="799" dirty="0"/>
          </a:p>
        </p:txBody>
      </p:sp>
      <p:sp>
        <p:nvSpPr>
          <p:cNvPr id="4" name="Shape 2"/>
          <p:cNvSpPr/>
          <p:nvPr/>
        </p:nvSpPr>
        <p:spPr>
          <a:xfrm>
            <a:off x="0" y="3572"/>
            <a:ext cx="12148852" cy="1233154"/>
          </a:xfrm>
          <a:prstGeom prst="rect">
            <a:avLst/>
          </a:prstGeom>
          <a:solidFill>
            <a:srgbClr val="1A2E4A"/>
          </a:solidFill>
          <a:ln w="12700">
            <a:solidFill>
              <a:srgbClr val="1A2E4A"/>
            </a:solidFill>
            <a:prstDash val="solid"/>
          </a:ln>
        </p:spPr>
      </p:sp>
      <p:sp>
        <p:nvSpPr>
          <p:cNvPr id="5" name="Text 3"/>
          <p:cNvSpPr/>
          <p:nvPr/>
        </p:nvSpPr>
        <p:spPr>
          <a:xfrm>
            <a:off x="365379" y="94917"/>
            <a:ext cx="11418094" cy="502396"/>
          </a:xfrm>
          <a:prstGeom prst="rect">
            <a:avLst/>
          </a:prstGeom>
          <a:noFill/>
          <a:ln/>
        </p:spPr>
        <p:txBody>
          <a:bodyPr wrap="square" lIns="0" tIns="0" rIns="0" bIns="0" rtlCol="0" anchor="ctr"/>
          <a:lstStyle/>
          <a:p>
            <a:r>
              <a:rPr lang="en-US" sz="2198" b="1" kern="0" spc="200" dirty="0">
                <a:solidFill>
                  <a:srgbClr val="FFFFFF"/>
                </a:solidFill>
              </a:rPr>
              <a:t>WHAT THIS PRESENTATION COVERS</a:t>
            </a:r>
            <a:endParaRPr lang="en-US" sz="2198" dirty="0"/>
          </a:p>
        </p:txBody>
      </p:sp>
      <p:sp>
        <p:nvSpPr>
          <p:cNvPr id="6" name="Text 4"/>
          <p:cNvSpPr/>
          <p:nvPr/>
        </p:nvSpPr>
        <p:spPr>
          <a:xfrm>
            <a:off x="365379" y="597313"/>
            <a:ext cx="11418094" cy="502396"/>
          </a:xfrm>
          <a:prstGeom prst="rect">
            <a:avLst/>
          </a:prstGeom>
          <a:noFill/>
          <a:ln/>
        </p:spPr>
        <p:txBody>
          <a:bodyPr wrap="square" lIns="0" tIns="0" rIns="0" bIns="0" rtlCol="0" anchor="ctr"/>
          <a:lstStyle/>
          <a:p>
            <a:r>
              <a:rPr lang="en-US" sz="1199" i="1" dirty="0">
                <a:solidFill>
                  <a:srgbClr val="A0C4D8"/>
                </a:solidFill>
              </a:rPr>
              <a:t>10 constraints — each explained with the problem it solves, the mechanism, and the flowchart</a:t>
            </a:r>
            <a:endParaRPr lang="en-US" sz="1199" dirty="0"/>
          </a:p>
        </p:txBody>
      </p:sp>
      <p:sp>
        <p:nvSpPr>
          <p:cNvPr id="7" name="Shape 5"/>
          <p:cNvSpPr/>
          <p:nvPr/>
        </p:nvSpPr>
        <p:spPr>
          <a:xfrm>
            <a:off x="319707" y="1465088"/>
            <a:ext cx="639413" cy="566337"/>
          </a:xfrm>
          <a:prstGeom prst="rect">
            <a:avLst/>
          </a:prstGeom>
          <a:solidFill>
            <a:srgbClr val="0D7377"/>
          </a:solidFill>
          <a:ln w="12700">
            <a:solidFill>
              <a:srgbClr val="0D7377"/>
            </a:solidFill>
            <a:prstDash val="solid"/>
          </a:ln>
        </p:spPr>
      </p:sp>
      <p:sp>
        <p:nvSpPr>
          <p:cNvPr id="8" name="Text 6"/>
          <p:cNvSpPr/>
          <p:nvPr/>
        </p:nvSpPr>
        <p:spPr>
          <a:xfrm>
            <a:off x="319707" y="1465088"/>
            <a:ext cx="639413" cy="566337"/>
          </a:xfrm>
          <a:prstGeom prst="rect">
            <a:avLst/>
          </a:prstGeom>
          <a:noFill/>
          <a:ln/>
        </p:spPr>
        <p:txBody>
          <a:bodyPr wrap="square" lIns="0" tIns="0" rIns="0" bIns="0" rtlCol="0" anchor="ctr"/>
          <a:lstStyle/>
          <a:p>
            <a:pPr algn="ctr"/>
            <a:r>
              <a:rPr lang="en-US" sz="1099" b="1" dirty="0">
                <a:solidFill>
                  <a:srgbClr val="FFFFFF"/>
                </a:solidFill>
              </a:rPr>
              <a:t>C1</a:t>
            </a:r>
            <a:endParaRPr lang="en-US" sz="1099" dirty="0"/>
          </a:p>
        </p:txBody>
      </p:sp>
      <p:sp>
        <p:nvSpPr>
          <p:cNvPr id="9" name="Shape 7"/>
          <p:cNvSpPr/>
          <p:nvPr/>
        </p:nvSpPr>
        <p:spPr>
          <a:xfrm>
            <a:off x="959120" y="1465088"/>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0" name="Text 8"/>
          <p:cNvSpPr/>
          <p:nvPr/>
        </p:nvSpPr>
        <p:spPr>
          <a:xfrm>
            <a:off x="1068734" y="1501626"/>
            <a:ext cx="5023961" cy="255765"/>
          </a:xfrm>
          <a:prstGeom prst="rect">
            <a:avLst/>
          </a:prstGeom>
          <a:noFill/>
          <a:ln/>
        </p:spPr>
        <p:txBody>
          <a:bodyPr wrap="square" lIns="0" tIns="0" rIns="0" bIns="0" rtlCol="0" anchor="ctr"/>
          <a:lstStyle/>
          <a:p>
            <a:r>
              <a:rPr lang="en-US" sz="1099" b="1" dirty="0">
                <a:solidFill>
                  <a:srgbClr val="1A2E4A"/>
                </a:solidFill>
              </a:rPr>
              <a:t>Inventory Health</a:t>
            </a:r>
            <a:endParaRPr lang="en-US" sz="1099" dirty="0"/>
          </a:p>
        </p:txBody>
      </p:sp>
      <p:sp>
        <p:nvSpPr>
          <p:cNvPr id="11" name="Text 9"/>
          <p:cNvSpPr/>
          <p:nvPr/>
        </p:nvSpPr>
        <p:spPr>
          <a:xfrm>
            <a:off x="1068734" y="1766525"/>
            <a:ext cx="5023961" cy="228362"/>
          </a:xfrm>
          <a:prstGeom prst="rect">
            <a:avLst/>
          </a:prstGeom>
          <a:noFill/>
          <a:ln/>
        </p:spPr>
        <p:txBody>
          <a:bodyPr wrap="square" lIns="0" tIns="0" rIns="0" bIns="0" rtlCol="0" anchor="ctr"/>
          <a:lstStyle/>
          <a:p>
            <a:r>
              <a:rPr lang="en-US" sz="849" dirty="0">
                <a:solidFill>
                  <a:srgbClr val="64748B"/>
                </a:solidFill>
              </a:rPr>
              <a:t>5-Day target with safety floor &amp; ceiling</a:t>
            </a:r>
            <a:endParaRPr lang="en-US" sz="849" dirty="0"/>
          </a:p>
        </p:txBody>
      </p:sp>
      <p:sp>
        <p:nvSpPr>
          <p:cNvPr id="12" name="Shape 10"/>
          <p:cNvSpPr/>
          <p:nvPr/>
        </p:nvSpPr>
        <p:spPr>
          <a:xfrm>
            <a:off x="319707" y="2488149"/>
            <a:ext cx="639413" cy="566337"/>
          </a:xfrm>
          <a:prstGeom prst="rect">
            <a:avLst/>
          </a:prstGeom>
          <a:solidFill>
            <a:srgbClr val="14A3A8"/>
          </a:solidFill>
          <a:ln w="12700">
            <a:solidFill>
              <a:srgbClr val="14A3A8"/>
            </a:solidFill>
            <a:prstDash val="solid"/>
          </a:ln>
        </p:spPr>
      </p:sp>
      <p:sp>
        <p:nvSpPr>
          <p:cNvPr id="13" name="Text 11"/>
          <p:cNvSpPr/>
          <p:nvPr/>
        </p:nvSpPr>
        <p:spPr>
          <a:xfrm>
            <a:off x="319707" y="2488149"/>
            <a:ext cx="639413" cy="566337"/>
          </a:xfrm>
          <a:prstGeom prst="rect">
            <a:avLst/>
          </a:prstGeom>
          <a:noFill/>
          <a:ln/>
        </p:spPr>
        <p:txBody>
          <a:bodyPr wrap="square" lIns="0" tIns="0" rIns="0" bIns="0" rtlCol="0" anchor="ctr"/>
          <a:lstStyle/>
          <a:p>
            <a:pPr algn="ctr"/>
            <a:r>
              <a:rPr lang="en-US" sz="1099" b="1" dirty="0">
                <a:solidFill>
                  <a:srgbClr val="FFFFFF"/>
                </a:solidFill>
              </a:rPr>
              <a:t>C2</a:t>
            </a:r>
            <a:endParaRPr lang="en-US" sz="1099" dirty="0"/>
          </a:p>
        </p:txBody>
      </p:sp>
      <p:sp>
        <p:nvSpPr>
          <p:cNvPr id="14" name="Shape 12"/>
          <p:cNvSpPr/>
          <p:nvPr/>
        </p:nvSpPr>
        <p:spPr>
          <a:xfrm>
            <a:off x="959120" y="2488149"/>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5" name="Text 13"/>
          <p:cNvSpPr/>
          <p:nvPr/>
        </p:nvSpPr>
        <p:spPr>
          <a:xfrm>
            <a:off x="1068734" y="2524687"/>
            <a:ext cx="5023961" cy="255765"/>
          </a:xfrm>
          <a:prstGeom prst="rect">
            <a:avLst/>
          </a:prstGeom>
          <a:noFill/>
          <a:ln/>
        </p:spPr>
        <p:txBody>
          <a:bodyPr wrap="square" lIns="0" tIns="0" rIns="0" bIns="0" rtlCol="0" anchor="ctr"/>
          <a:lstStyle/>
          <a:p>
            <a:r>
              <a:rPr lang="en-US" sz="1099" b="1" dirty="0">
                <a:solidFill>
                  <a:srgbClr val="1A2E4A"/>
                </a:solidFill>
              </a:rPr>
              <a:t>Priority Scoring</a:t>
            </a:r>
            <a:endParaRPr lang="en-US" sz="1099" dirty="0"/>
          </a:p>
        </p:txBody>
      </p:sp>
      <p:sp>
        <p:nvSpPr>
          <p:cNvPr id="16" name="Text 14"/>
          <p:cNvSpPr/>
          <p:nvPr/>
        </p:nvSpPr>
        <p:spPr>
          <a:xfrm>
            <a:off x="1068734" y="2789587"/>
            <a:ext cx="5023961" cy="228362"/>
          </a:xfrm>
          <a:prstGeom prst="rect">
            <a:avLst/>
          </a:prstGeom>
          <a:noFill/>
          <a:ln/>
        </p:spPr>
        <p:txBody>
          <a:bodyPr wrap="square" lIns="0" tIns="0" rIns="0" bIns="0" rtlCol="0" anchor="ctr"/>
          <a:lstStyle/>
          <a:p>
            <a:r>
              <a:rPr lang="en-US" sz="849" dirty="0">
                <a:solidFill>
                  <a:srgbClr val="64748B"/>
                </a:solidFill>
              </a:rPr>
              <a:t>Urgency-first assignment, displacement pass</a:t>
            </a:r>
            <a:endParaRPr lang="en-US" sz="849" dirty="0"/>
          </a:p>
        </p:txBody>
      </p:sp>
      <p:sp>
        <p:nvSpPr>
          <p:cNvPr id="17" name="Shape 15"/>
          <p:cNvSpPr/>
          <p:nvPr/>
        </p:nvSpPr>
        <p:spPr>
          <a:xfrm>
            <a:off x="319707" y="3511211"/>
            <a:ext cx="639413" cy="566337"/>
          </a:xfrm>
          <a:prstGeom prst="rect">
            <a:avLst/>
          </a:prstGeom>
          <a:solidFill>
            <a:srgbClr val="1D6FA4"/>
          </a:solidFill>
          <a:ln w="12700">
            <a:solidFill>
              <a:srgbClr val="1D6FA4"/>
            </a:solidFill>
            <a:prstDash val="solid"/>
          </a:ln>
        </p:spPr>
      </p:sp>
      <p:sp>
        <p:nvSpPr>
          <p:cNvPr id="18" name="Text 16"/>
          <p:cNvSpPr/>
          <p:nvPr/>
        </p:nvSpPr>
        <p:spPr>
          <a:xfrm>
            <a:off x="319707" y="3511211"/>
            <a:ext cx="639413" cy="566337"/>
          </a:xfrm>
          <a:prstGeom prst="rect">
            <a:avLst/>
          </a:prstGeom>
          <a:noFill/>
          <a:ln/>
        </p:spPr>
        <p:txBody>
          <a:bodyPr wrap="square" lIns="0" tIns="0" rIns="0" bIns="0" rtlCol="0" anchor="ctr"/>
          <a:lstStyle/>
          <a:p>
            <a:pPr algn="ctr"/>
            <a:r>
              <a:rPr lang="en-US" sz="1099" b="1" dirty="0">
                <a:solidFill>
                  <a:srgbClr val="FFFFFF"/>
                </a:solidFill>
              </a:rPr>
              <a:t>C3</a:t>
            </a:r>
            <a:endParaRPr lang="en-US" sz="1099" dirty="0"/>
          </a:p>
        </p:txBody>
      </p:sp>
      <p:sp>
        <p:nvSpPr>
          <p:cNvPr id="19" name="Shape 17"/>
          <p:cNvSpPr/>
          <p:nvPr/>
        </p:nvSpPr>
        <p:spPr>
          <a:xfrm>
            <a:off x="959120" y="3511211"/>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0" name="Text 18"/>
          <p:cNvSpPr/>
          <p:nvPr/>
        </p:nvSpPr>
        <p:spPr>
          <a:xfrm>
            <a:off x="1068734" y="3547748"/>
            <a:ext cx="5023961" cy="255765"/>
          </a:xfrm>
          <a:prstGeom prst="rect">
            <a:avLst/>
          </a:prstGeom>
          <a:noFill/>
          <a:ln/>
        </p:spPr>
        <p:txBody>
          <a:bodyPr wrap="square" lIns="0" tIns="0" rIns="0" bIns="0" rtlCol="0" anchor="ctr"/>
          <a:lstStyle/>
          <a:p>
            <a:r>
              <a:rPr lang="en-US" sz="1099" b="1" dirty="0">
                <a:solidFill>
                  <a:srgbClr val="1A2E4A"/>
                </a:solidFill>
              </a:rPr>
              <a:t>22-Hour Rule</a:t>
            </a:r>
            <a:endParaRPr lang="en-US" sz="1099" dirty="0"/>
          </a:p>
        </p:txBody>
      </p:sp>
      <p:sp>
        <p:nvSpPr>
          <p:cNvPr id="21" name="Text 19"/>
          <p:cNvSpPr/>
          <p:nvPr/>
        </p:nvSpPr>
        <p:spPr>
          <a:xfrm>
            <a:off x="1068734" y="3812648"/>
            <a:ext cx="5023961" cy="228362"/>
          </a:xfrm>
          <a:prstGeom prst="rect">
            <a:avLst/>
          </a:prstGeom>
          <a:noFill/>
          <a:ln/>
        </p:spPr>
        <p:txBody>
          <a:bodyPr wrap="square" lIns="0" tIns="0" rIns="0" bIns="0" rtlCol="0" anchor="ctr"/>
          <a:lstStyle/>
          <a:p>
            <a:r>
              <a:rPr lang="en-US" sz="849" dirty="0">
                <a:solidFill>
                  <a:srgbClr val="64748B"/>
                </a:solidFill>
              </a:rPr>
              <a:t>Two-shift planning with hard ceiling</a:t>
            </a:r>
            <a:endParaRPr lang="en-US" sz="849" dirty="0"/>
          </a:p>
        </p:txBody>
      </p:sp>
      <p:sp>
        <p:nvSpPr>
          <p:cNvPr id="22" name="Shape 20"/>
          <p:cNvSpPr/>
          <p:nvPr/>
        </p:nvSpPr>
        <p:spPr>
          <a:xfrm>
            <a:off x="319707" y="4534272"/>
            <a:ext cx="639413" cy="566337"/>
          </a:xfrm>
          <a:prstGeom prst="rect">
            <a:avLst/>
          </a:prstGeom>
          <a:solidFill>
            <a:srgbClr val="7C3AED"/>
          </a:solidFill>
          <a:ln w="12700">
            <a:solidFill>
              <a:srgbClr val="7C3AED"/>
            </a:solidFill>
            <a:prstDash val="solid"/>
          </a:ln>
        </p:spPr>
      </p:sp>
      <p:sp>
        <p:nvSpPr>
          <p:cNvPr id="23" name="Text 21"/>
          <p:cNvSpPr/>
          <p:nvPr/>
        </p:nvSpPr>
        <p:spPr>
          <a:xfrm>
            <a:off x="319707" y="4534272"/>
            <a:ext cx="639413" cy="566337"/>
          </a:xfrm>
          <a:prstGeom prst="rect">
            <a:avLst/>
          </a:prstGeom>
          <a:noFill/>
          <a:ln/>
        </p:spPr>
        <p:txBody>
          <a:bodyPr wrap="square" lIns="0" tIns="0" rIns="0" bIns="0" rtlCol="0" anchor="ctr"/>
          <a:lstStyle/>
          <a:p>
            <a:pPr algn="ctr"/>
            <a:r>
              <a:rPr lang="en-US" sz="1099" b="1" dirty="0">
                <a:solidFill>
                  <a:srgbClr val="FFFFFF"/>
                </a:solidFill>
              </a:rPr>
              <a:t>C4</a:t>
            </a:r>
            <a:endParaRPr lang="en-US" sz="1099" dirty="0"/>
          </a:p>
        </p:txBody>
      </p:sp>
      <p:sp>
        <p:nvSpPr>
          <p:cNvPr id="24" name="Shape 22"/>
          <p:cNvSpPr/>
          <p:nvPr/>
        </p:nvSpPr>
        <p:spPr>
          <a:xfrm>
            <a:off x="959120" y="4534272"/>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5" name="Text 23"/>
          <p:cNvSpPr/>
          <p:nvPr/>
        </p:nvSpPr>
        <p:spPr>
          <a:xfrm>
            <a:off x="1068734" y="4570810"/>
            <a:ext cx="5023961" cy="255765"/>
          </a:xfrm>
          <a:prstGeom prst="rect">
            <a:avLst/>
          </a:prstGeom>
          <a:noFill/>
          <a:ln/>
        </p:spPr>
        <p:txBody>
          <a:bodyPr wrap="square" lIns="0" tIns="0" rIns="0" bIns="0" rtlCol="0" anchor="ctr"/>
          <a:lstStyle/>
          <a:p>
            <a:r>
              <a:rPr lang="en-US" sz="1099" b="1" dirty="0">
                <a:solidFill>
                  <a:srgbClr val="1A2E4A"/>
                </a:solidFill>
              </a:rPr>
              <a:t>Specialised Machines</a:t>
            </a:r>
            <a:endParaRPr lang="en-US" sz="1099" dirty="0"/>
          </a:p>
        </p:txBody>
      </p:sp>
      <p:sp>
        <p:nvSpPr>
          <p:cNvPr id="26" name="Text 24"/>
          <p:cNvSpPr/>
          <p:nvPr/>
        </p:nvSpPr>
        <p:spPr>
          <a:xfrm>
            <a:off x="1068734" y="4835709"/>
            <a:ext cx="5023961" cy="228362"/>
          </a:xfrm>
          <a:prstGeom prst="rect">
            <a:avLst/>
          </a:prstGeom>
          <a:noFill/>
          <a:ln/>
        </p:spPr>
        <p:txBody>
          <a:bodyPr wrap="square" lIns="0" tIns="0" rIns="0" bIns="0" rtlCol="0" anchor="ctr"/>
          <a:lstStyle/>
          <a:p>
            <a:r>
              <a:rPr lang="en-US" sz="849" dirty="0">
                <a:solidFill>
                  <a:srgbClr val="64748B"/>
                </a:solidFill>
              </a:rPr>
              <a:t>Part-count based machine ranking</a:t>
            </a:r>
            <a:endParaRPr lang="en-US" sz="849" dirty="0"/>
          </a:p>
        </p:txBody>
      </p:sp>
      <p:sp>
        <p:nvSpPr>
          <p:cNvPr id="27" name="Shape 25"/>
          <p:cNvSpPr/>
          <p:nvPr/>
        </p:nvSpPr>
        <p:spPr>
          <a:xfrm>
            <a:off x="319707" y="5557333"/>
            <a:ext cx="639413" cy="566337"/>
          </a:xfrm>
          <a:prstGeom prst="rect">
            <a:avLst/>
          </a:prstGeom>
          <a:solidFill>
            <a:srgbClr val="0F766E"/>
          </a:solidFill>
          <a:ln w="12700">
            <a:solidFill>
              <a:srgbClr val="0F766E"/>
            </a:solidFill>
            <a:prstDash val="solid"/>
          </a:ln>
        </p:spPr>
      </p:sp>
      <p:sp>
        <p:nvSpPr>
          <p:cNvPr id="28" name="Text 26"/>
          <p:cNvSpPr/>
          <p:nvPr/>
        </p:nvSpPr>
        <p:spPr>
          <a:xfrm>
            <a:off x="319707" y="5557333"/>
            <a:ext cx="639413" cy="566337"/>
          </a:xfrm>
          <a:prstGeom prst="rect">
            <a:avLst/>
          </a:prstGeom>
          <a:noFill/>
          <a:ln/>
        </p:spPr>
        <p:txBody>
          <a:bodyPr wrap="square" lIns="0" tIns="0" rIns="0" bIns="0" rtlCol="0" anchor="ctr"/>
          <a:lstStyle/>
          <a:p>
            <a:pPr algn="ctr"/>
            <a:r>
              <a:rPr lang="en-US" sz="1099" b="1" dirty="0">
                <a:solidFill>
                  <a:srgbClr val="FFFFFF"/>
                </a:solidFill>
              </a:rPr>
              <a:t>C5</a:t>
            </a:r>
            <a:endParaRPr lang="en-US" sz="1099" dirty="0"/>
          </a:p>
        </p:txBody>
      </p:sp>
      <p:sp>
        <p:nvSpPr>
          <p:cNvPr id="29" name="Shape 27"/>
          <p:cNvSpPr/>
          <p:nvPr/>
        </p:nvSpPr>
        <p:spPr>
          <a:xfrm>
            <a:off x="959120" y="5557333"/>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30" name="Text 28"/>
          <p:cNvSpPr/>
          <p:nvPr/>
        </p:nvSpPr>
        <p:spPr>
          <a:xfrm>
            <a:off x="1068734" y="5593871"/>
            <a:ext cx="5023961" cy="255765"/>
          </a:xfrm>
          <a:prstGeom prst="rect">
            <a:avLst/>
          </a:prstGeom>
          <a:noFill/>
          <a:ln/>
        </p:spPr>
        <p:txBody>
          <a:bodyPr wrap="square" lIns="0" tIns="0" rIns="0" bIns="0" rtlCol="0" anchor="ctr"/>
          <a:lstStyle/>
          <a:p>
            <a:r>
              <a:rPr lang="en-US" sz="1099" b="1" dirty="0">
                <a:solidFill>
                  <a:srgbClr val="1A2E4A"/>
                </a:solidFill>
              </a:rPr>
              <a:t>Same-Part Continuation</a:t>
            </a:r>
            <a:endParaRPr lang="en-US" sz="1099" dirty="0"/>
          </a:p>
        </p:txBody>
      </p:sp>
      <p:sp>
        <p:nvSpPr>
          <p:cNvPr id="31" name="Text 29"/>
          <p:cNvSpPr/>
          <p:nvPr/>
        </p:nvSpPr>
        <p:spPr>
          <a:xfrm>
            <a:off x="1068734" y="5858770"/>
            <a:ext cx="5023961" cy="228362"/>
          </a:xfrm>
          <a:prstGeom prst="rect">
            <a:avLst/>
          </a:prstGeom>
          <a:noFill/>
          <a:ln/>
        </p:spPr>
        <p:txBody>
          <a:bodyPr wrap="square" lIns="0" tIns="0" rIns="0" bIns="0" rtlCol="0" anchor="ctr"/>
          <a:lstStyle/>
          <a:p>
            <a:r>
              <a:rPr lang="en-US" sz="849" dirty="0">
                <a:solidFill>
                  <a:srgbClr val="64748B"/>
                </a:solidFill>
              </a:rPr>
              <a:t>Changeover minimisation &amp; queue stagger</a:t>
            </a:r>
            <a:endParaRPr lang="en-US" sz="849" dirty="0"/>
          </a:p>
        </p:txBody>
      </p:sp>
      <p:sp>
        <p:nvSpPr>
          <p:cNvPr id="32" name="Shape 30"/>
          <p:cNvSpPr/>
          <p:nvPr/>
        </p:nvSpPr>
        <p:spPr>
          <a:xfrm>
            <a:off x="6257116" y="1465088"/>
            <a:ext cx="639413" cy="566337"/>
          </a:xfrm>
          <a:prstGeom prst="rect">
            <a:avLst/>
          </a:prstGeom>
          <a:solidFill>
            <a:srgbClr val="B45309"/>
          </a:solidFill>
          <a:ln w="12700">
            <a:solidFill>
              <a:srgbClr val="B45309"/>
            </a:solidFill>
            <a:prstDash val="solid"/>
          </a:ln>
        </p:spPr>
      </p:sp>
      <p:sp>
        <p:nvSpPr>
          <p:cNvPr id="33" name="Text 31"/>
          <p:cNvSpPr/>
          <p:nvPr/>
        </p:nvSpPr>
        <p:spPr>
          <a:xfrm>
            <a:off x="6257116" y="1465088"/>
            <a:ext cx="639413" cy="566337"/>
          </a:xfrm>
          <a:prstGeom prst="rect">
            <a:avLst/>
          </a:prstGeom>
          <a:noFill/>
          <a:ln/>
        </p:spPr>
        <p:txBody>
          <a:bodyPr wrap="square" lIns="0" tIns="0" rIns="0" bIns="0" rtlCol="0" anchor="ctr"/>
          <a:lstStyle/>
          <a:p>
            <a:pPr algn="ctr"/>
            <a:r>
              <a:rPr lang="en-US" sz="1099" b="1" dirty="0">
                <a:solidFill>
                  <a:srgbClr val="FFFFFF"/>
                </a:solidFill>
              </a:rPr>
              <a:t>C6</a:t>
            </a:r>
            <a:endParaRPr lang="en-US" sz="1099" dirty="0"/>
          </a:p>
        </p:txBody>
      </p:sp>
      <p:sp>
        <p:nvSpPr>
          <p:cNvPr id="34" name="Shape 32"/>
          <p:cNvSpPr/>
          <p:nvPr/>
        </p:nvSpPr>
        <p:spPr>
          <a:xfrm>
            <a:off x="6896529" y="1465088"/>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35" name="Text 33"/>
          <p:cNvSpPr/>
          <p:nvPr/>
        </p:nvSpPr>
        <p:spPr>
          <a:xfrm>
            <a:off x="7006142" y="1501626"/>
            <a:ext cx="5023961" cy="255765"/>
          </a:xfrm>
          <a:prstGeom prst="rect">
            <a:avLst/>
          </a:prstGeom>
          <a:noFill/>
          <a:ln/>
        </p:spPr>
        <p:txBody>
          <a:bodyPr wrap="square" lIns="0" tIns="0" rIns="0" bIns="0" rtlCol="0" anchor="ctr"/>
          <a:lstStyle/>
          <a:p>
            <a:r>
              <a:rPr lang="en-US" sz="1099" b="1" dirty="0">
                <a:solidFill>
                  <a:srgbClr val="1A2E4A"/>
                </a:solidFill>
              </a:rPr>
              <a:t>Minimum Tools</a:t>
            </a:r>
            <a:endParaRPr lang="en-US" sz="1099" dirty="0"/>
          </a:p>
        </p:txBody>
      </p:sp>
      <p:sp>
        <p:nvSpPr>
          <p:cNvPr id="36" name="Text 34"/>
          <p:cNvSpPr/>
          <p:nvPr/>
        </p:nvSpPr>
        <p:spPr>
          <a:xfrm>
            <a:off x="7006142" y="1766525"/>
            <a:ext cx="5023961" cy="228362"/>
          </a:xfrm>
          <a:prstGeom prst="rect">
            <a:avLst/>
          </a:prstGeom>
          <a:noFill/>
          <a:ln/>
        </p:spPr>
        <p:txBody>
          <a:bodyPr wrap="square" lIns="0" tIns="0" rIns="0" bIns="0" rtlCol="0" anchor="ctr"/>
          <a:lstStyle/>
          <a:p>
            <a:r>
              <a:rPr lang="en-US" sz="849" dirty="0">
                <a:solidFill>
                  <a:srgbClr val="64748B"/>
                </a:solidFill>
              </a:rPr>
              <a:t>1→2→3 tool escalation logic</a:t>
            </a:r>
            <a:endParaRPr lang="en-US" sz="849" dirty="0"/>
          </a:p>
        </p:txBody>
      </p:sp>
      <p:sp>
        <p:nvSpPr>
          <p:cNvPr id="37" name="Shape 35"/>
          <p:cNvSpPr/>
          <p:nvPr/>
        </p:nvSpPr>
        <p:spPr>
          <a:xfrm>
            <a:off x="6257116" y="2488149"/>
            <a:ext cx="639413" cy="566337"/>
          </a:xfrm>
          <a:prstGeom prst="rect">
            <a:avLst/>
          </a:prstGeom>
          <a:solidFill>
            <a:srgbClr val="B91C1C"/>
          </a:solidFill>
          <a:ln w="12700">
            <a:solidFill>
              <a:srgbClr val="B91C1C"/>
            </a:solidFill>
            <a:prstDash val="solid"/>
          </a:ln>
        </p:spPr>
      </p:sp>
      <p:sp>
        <p:nvSpPr>
          <p:cNvPr id="38" name="Text 36"/>
          <p:cNvSpPr/>
          <p:nvPr/>
        </p:nvSpPr>
        <p:spPr>
          <a:xfrm>
            <a:off x="6257116" y="2488149"/>
            <a:ext cx="639413" cy="566337"/>
          </a:xfrm>
          <a:prstGeom prst="rect">
            <a:avLst/>
          </a:prstGeom>
          <a:noFill/>
          <a:ln/>
        </p:spPr>
        <p:txBody>
          <a:bodyPr wrap="square" lIns="0" tIns="0" rIns="0" bIns="0" rtlCol="0" anchor="ctr"/>
          <a:lstStyle/>
          <a:p>
            <a:pPr algn="ctr"/>
            <a:r>
              <a:rPr lang="en-US" sz="1099" b="1" dirty="0">
                <a:solidFill>
                  <a:srgbClr val="FFFFFF"/>
                </a:solidFill>
              </a:rPr>
              <a:t>C7</a:t>
            </a:r>
            <a:endParaRPr lang="en-US" sz="1099" dirty="0"/>
          </a:p>
        </p:txBody>
      </p:sp>
      <p:sp>
        <p:nvSpPr>
          <p:cNvPr id="39" name="Shape 37"/>
          <p:cNvSpPr/>
          <p:nvPr/>
        </p:nvSpPr>
        <p:spPr>
          <a:xfrm>
            <a:off x="6896529" y="2488149"/>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40" name="Text 38"/>
          <p:cNvSpPr/>
          <p:nvPr/>
        </p:nvSpPr>
        <p:spPr>
          <a:xfrm>
            <a:off x="7006142" y="2524687"/>
            <a:ext cx="5023961" cy="255765"/>
          </a:xfrm>
          <a:prstGeom prst="rect">
            <a:avLst/>
          </a:prstGeom>
          <a:noFill/>
          <a:ln/>
        </p:spPr>
        <p:txBody>
          <a:bodyPr wrap="square" lIns="0" tIns="0" rIns="0" bIns="0" rtlCol="0" anchor="ctr"/>
          <a:lstStyle/>
          <a:p>
            <a:r>
              <a:rPr lang="en-US" sz="1099" b="1" dirty="0">
                <a:solidFill>
                  <a:srgbClr val="1A2E4A"/>
                </a:solidFill>
              </a:rPr>
              <a:t>Serial Tool-Changer</a:t>
            </a:r>
            <a:endParaRPr lang="en-US" sz="1099" dirty="0"/>
          </a:p>
        </p:txBody>
      </p:sp>
      <p:sp>
        <p:nvSpPr>
          <p:cNvPr id="41" name="Text 39"/>
          <p:cNvSpPr/>
          <p:nvPr/>
        </p:nvSpPr>
        <p:spPr>
          <a:xfrm>
            <a:off x="7006142" y="2789587"/>
            <a:ext cx="5023961" cy="228362"/>
          </a:xfrm>
          <a:prstGeom prst="rect">
            <a:avLst/>
          </a:prstGeom>
          <a:noFill/>
          <a:ln/>
        </p:spPr>
        <p:txBody>
          <a:bodyPr wrap="square" lIns="0" tIns="0" rIns="0" bIns="0" rtlCol="0" anchor="ctr"/>
          <a:lstStyle/>
          <a:p>
            <a:r>
              <a:rPr lang="en-US" sz="849" dirty="0">
                <a:solidFill>
                  <a:srgbClr val="64748B"/>
                </a:solidFill>
              </a:rPr>
              <a:t>Structural no-overlap guarantee</a:t>
            </a:r>
            <a:endParaRPr lang="en-US" sz="849" dirty="0"/>
          </a:p>
        </p:txBody>
      </p:sp>
      <p:sp>
        <p:nvSpPr>
          <p:cNvPr id="42" name="Shape 40"/>
          <p:cNvSpPr/>
          <p:nvPr/>
        </p:nvSpPr>
        <p:spPr>
          <a:xfrm>
            <a:off x="6257116" y="3511211"/>
            <a:ext cx="639413" cy="566337"/>
          </a:xfrm>
          <a:prstGeom prst="rect">
            <a:avLst/>
          </a:prstGeom>
          <a:solidFill>
            <a:srgbClr val="1A7A4A"/>
          </a:solidFill>
          <a:ln w="12700">
            <a:solidFill>
              <a:srgbClr val="1A7A4A"/>
            </a:solidFill>
            <a:prstDash val="solid"/>
          </a:ln>
        </p:spPr>
      </p:sp>
      <p:sp>
        <p:nvSpPr>
          <p:cNvPr id="43" name="Text 41"/>
          <p:cNvSpPr/>
          <p:nvPr/>
        </p:nvSpPr>
        <p:spPr>
          <a:xfrm>
            <a:off x="6257116" y="3511211"/>
            <a:ext cx="639413" cy="566337"/>
          </a:xfrm>
          <a:prstGeom prst="rect">
            <a:avLst/>
          </a:prstGeom>
          <a:noFill/>
          <a:ln/>
        </p:spPr>
        <p:txBody>
          <a:bodyPr wrap="square" lIns="0" tIns="0" rIns="0" bIns="0" rtlCol="0" anchor="ctr"/>
          <a:lstStyle/>
          <a:p>
            <a:pPr algn="ctr"/>
            <a:r>
              <a:rPr lang="en-US" sz="1099" b="1" dirty="0">
                <a:solidFill>
                  <a:srgbClr val="FFFFFF"/>
                </a:solidFill>
              </a:rPr>
              <a:t>C8</a:t>
            </a:r>
            <a:endParaRPr lang="en-US" sz="1099" dirty="0"/>
          </a:p>
        </p:txBody>
      </p:sp>
      <p:sp>
        <p:nvSpPr>
          <p:cNvPr id="44" name="Shape 42"/>
          <p:cNvSpPr/>
          <p:nvPr/>
        </p:nvSpPr>
        <p:spPr>
          <a:xfrm>
            <a:off x="6896529" y="3511211"/>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45" name="Text 43"/>
          <p:cNvSpPr/>
          <p:nvPr/>
        </p:nvSpPr>
        <p:spPr>
          <a:xfrm>
            <a:off x="7006142" y="3547748"/>
            <a:ext cx="5023961" cy="255765"/>
          </a:xfrm>
          <a:prstGeom prst="rect">
            <a:avLst/>
          </a:prstGeom>
          <a:noFill/>
          <a:ln/>
        </p:spPr>
        <p:txBody>
          <a:bodyPr wrap="square" lIns="0" tIns="0" rIns="0" bIns="0" rtlCol="0" anchor="ctr"/>
          <a:lstStyle/>
          <a:p>
            <a:r>
              <a:rPr lang="en-US" sz="1099" b="1" dirty="0">
                <a:solidFill>
                  <a:srgbClr val="1A2E4A"/>
                </a:solidFill>
              </a:rPr>
              <a:t>Minimum Run Block</a:t>
            </a:r>
            <a:endParaRPr lang="en-US" sz="1099" dirty="0"/>
          </a:p>
        </p:txBody>
      </p:sp>
      <p:sp>
        <p:nvSpPr>
          <p:cNvPr id="46" name="Text 44"/>
          <p:cNvSpPr/>
          <p:nvPr/>
        </p:nvSpPr>
        <p:spPr>
          <a:xfrm>
            <a:off x="7006142" y="3812648"/>
            <a:ext cx="5023961" cy="228362"/>
          </a:xfrm>
          <a:prstGeom prst="rect">
            <a:avLst/>
          </a:prstGeom>
          <a:noFill/>
          <a:ln/>
        </p:spPr>
        <p:txBody>
          <a:bodyPr wrap="square" lIns="0" tIns="0" rIns="0" bIns="0" rtlCol="0" anchor="ctr"/>
          <a:lstStyle/>
          <a:p>
            <a:r>
              <a:rPr lang="en-US" sz="849" dirty="0">
                <a:solidFill>
                  <a:srgbClr val="64748B"/>
                </a:solidFill>
              </a:rPr>
              <a:t>4-hour effective production floor</a:t>
            </a:r>
            <a:endParaRPr lang="en-US" sz="849" dirty="0"/>
          </a:p>
        </p:txBody>
      </p:sp>
      <p:sp>
        <p:nvSpPr>
          <p:cNvPr id="47" name="Shape 45"/>
          <p:cNvSpPr/>
          <p:nvPr/>
        </p:nvSpPr>
        <p:spPr>
          <a:xfrm>
            <a:off x="6257116" y="4534272"/>
            <a:ext cx="639413" cy="566337"/>
          </a:xfrm>
          <a:prstGeom prst="rect">
            <a:avLst/>
          </a:prstGeom>
          <a:solidFill>
            <a:srgbClr val="6B21A8"/>
          </a:solidFill>
          <a:ln w="12700">
            <a:solidFill>
              <a:srgbClr val="6B21A8"/>
            </a:solidFill>
            <a:prstDash val="solid"/>
          </a:ln>
        </p:spPr>
      </p:sp>
      <p:sp>
        <p:nvSpPr>
          <p:cNvPr id="48" name="Text 46"/>
          <p:cNvSpPr/>
          <p:nvPr/>
        </p:nvSpPr>
        <p:spPr>
          <a:xfrm>
            <a:off x="6257116" y="4534272"/>
            <a:ext cx="639413" cy="566337"/>
          </a:xfrm>
          <a:prstGeom prst="rect">
            <a:avLst/>
          </a:prstGeom>
          <a:noFill/>
          <a:ln/>
        </p:spPr>
        <p:txBody>
          <a:bodyPr wrap="square" lIns="0" tIns="0" rIns="0" bIns="0" rtlCol="0" anchor="ctr"/>
          <a:lstStyle/>
          <a:p>
            <a:pPr algn="ctr"/>
            <a:r>
              <a:rPr lang="en-US" sz="1099" b="1" dirty="0">
                <a:solidFill>
                  <a:srgbClr val="FFFFFF"/>
                </a:solidFill>
              </a:rPr>
              <a:t>C9</a:t>
            </a:r>
            <a:endParaRPr lang="en-US" sz="1099" dirty="0"/>
          </a:p>
        </p:txBody>
      </p:sp>
      <p:sp>
        <p:nvSpPr>
          <p:cNvPr id="49" name="Shape 47"/>
          <p:cNvSpPr/>
          <p:nvPr/>
        </p:nvSpPr>
        <p:spPr>
          <a:xfrm>
            <a:off x="6896529" y="4534272"/>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0" name="Text 48"/>
          <p:cNvSpPr/>
          <p:nvPr/>
        </p:nvSpPr>
        <p:spPr>
          <a:xfrm>
            <a:off x="7006142" y="4570810"/>
            <a:ext cx="5023961" cy="255765"/>
          </a:xfrm>
          <a:prstGeom prst="rect">
            <a:avLst/>
          </a:prstGeom>
          <a:noFill/>
          <a:ln/>
        </p:spPr>
        <p:txBody>
          <a:bodyPr wrap="square" lIns="0" tIns="0" rIns="0" bIns="0" rtlCol="0" anchor="ctr"/>
          <a:lstStyle/>
          <a:p>
            <a:r>
              <a:rPr lang="en-US" sz="1099" b="1" dirty="0">
                <a:solidFill>
                  <a:srgbClr val="1A2E4A"/>
                </a:solidFill>
              </a:rPr>
              <a:t>No Machine Idle</a:t>
            </a:r>
            <a:endParaRPr lang="en-US" sz="1099" dirty="0"/>
          </a:p>
        </p:txBody>
      </p:sp>
      <p:sp>
        <p:nvSpPr>
          <p:cNvPr id="51" name="Text 49"/>
          <p:cNvSpPr/>
          <p:nvPr/>
        </p:nvSpPr>
        <p:spPr>
          <a:xfrm>
            <a:off x="7006142" y="4835709"/>
            <a:ext cx="5023961" cy="228362"/>
          </a:xfrm>
          <a:prstGeom prst="rect">
            <a:avLst/>
          </a:prstGeom>
          <a:noFill/>
          <a:ln/>
        </p:spPr>
        <p:txBody>
          <a:bodyPr wrap="square" lIns="0" tIns="0" rIns="0" bIns="0" rtlCol="0" anchor="ctr"/>
          <a:lstStyle/>
          <a:p>
            <a:r>
              <a:rPr lang="en-US" sz="849" dirty="0">
                <a:solidFill>
                  <a:srgbClr val="64748B"/>
                </a:solidFill>
              </a:rPr>
              <a:t>90% utilisation enforcer — uncapped extension</a:t>
            </a:r>
            <a:endParaRPr lang="en-US" sz="849" dirty="0"/>
          </a:p>
        </p:txBody>
      </p:sp>
      <p:sp>
        <p:nvSpPr>
          <p:cNvPr id="52" name="Shape 50"/>
          <p:cNvSpPr/>
          <p:nvPr/>
        </p:nvSpPr>
        <p:spPr>
          <a:xfrm>
            <a:off x="6257116" y="5557333"/>
            <a:ext cx="639413" cy="566337"/>
          </a:xfrm>
          <a:prstGeom prst="rect">
            <a:avLst/>
          </a:prstGeom>
          <a:solidFill>
            <a:srgbClr val="9A3412"/>
          </a:solidFill>
          <a:ln w="12700">
            <a:solidFill>
              <a:srgbClr val="9A3412"/>
            </a:solidFill>
            <a:prstDash val="solid"/>
          </a:ln>
        </p:spPr>
      </p:sp>
      <p:sp>
        <p:nvSpPr>
          <p:cNvPr id="53" name="Text 51"/>
          <p:cNvSpPr/>
          <p:nvPr/>
        </p:nvSpPr>
        <p:spPr>
          <a:xfrm>
            <a:off x="6257116" y="5557333"/>
            <a:ext cx="639413" cy="566337"/>
          </a:xfrm>
          <a:prstGeom prst="rect">
            <a:avLst/>
          </a:prstGeom>
          <a:noFill/>
          <a:ln/>
        </p:spPr>
        <p:txBody>
          <a:bodyPr wrap="square" lIns="0" tIns="0" rIns="0" bIns="0" rtlCol="0" anchor="ctr"/>
          <a:lstStyle/>
          <a:p>
            <a:pPr algn="ctr"/>
            <a:r>
              <a:rPr lang="en-US" sz="1099" b="1" dirty="0">
                <a:solidFill>
                  <a:srgbClr val="FFFFFF"/>
                </a:solidFill>
              </a:rPr>
              <a:t>C10</a:t>
            </a:r>
            <a:endParaRPr lang="en-US" sz="1099" dirty="0"/>
          </a:p>
        </p:txBody>
      </p:sp>
      <p:sp>
        <p:nvSpPr>
          <p:cNvPr id="54" name="Shape 52"/>
          <p:cNvSpPr/>
          <p:nvPr/>
        </p:nvSpPr>
        <p:spPr>
          <a:xfrm>
            <a:off x="6896529" y="5557333"/>
            <a:ext cx="5206651" cy="566337"/>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5" name="Text 53"/>
          <p:cNvSpPr/>
          <p:nvPr/>
        </p:nvSpPr>
        <p:spPr>
          <a:xfrm>
            <a:off x="7006142" y="5593871"/>
            <a:ext cx="5023961" cy="255765"/>
          </a:xfrm>
          <a:prstGeom prst="rect">
            <a:avLst/>
          </a:prstGeom>
          <a:noFill/>
          <a:ln/>
        </p:spPr>
        <p:txBody>
          <a:bodyPr wrap="square" lIns="0" tIns="0" rIns="0" bIns="0" rtlCol="0" anchor="ctr"/>
          <a:lstStyle/>
          <a:p>
            <a:r>
              <a:rPr lang="en-US" sz="1099" b="1" dirty="0">
                <a:solidFill>
                  <a:srgbClr val="1A2E4A"/>
                </a:solidFill>
              </a:rPr>
              <a:t>Colour Grouping</a:t>
            </a:r>
            <a:endParaRPr lang="en-US" sz="1099" dirty="0"/>
          </a:p>
        </p:txBody>
      </p:sp>
      <p:sp>
        <p:nvSpPr>
          <p:cNvPr id="56" name="Text 54"/>
          <p:cNvSpPr/>
          <p:nvPr/>
        </p:nvSpPr>
        <p:spPr>
          <a:xfrm>
            <a:off x="7006142" y="5858770"/>
            <a:ext cx="5023961" cy="228362"/>
          </a:xfrm>
          <a:prstGeom prst="rect">
            <a:avLst/>
          </a:prstGeom>
          <a:noFill/>
          <a:ln/>
        </p:spPr>
        <p:txBody>
          <a:bodyPr wrap="square" lIns="0" tIns="0" rIns="0" bIns="0" rtlCol="0" anchor="ctr"/>
          <a:lstStyle/>
          <a:p>
            <a:r>
              <a:rPr lang="en-US" sz="849" dirty="0">
                <a:solidFill>
                  <a:srgbClr val="64748B"/>
                </a:solidFill>
              </a:rPr>
              <a:t>10-min purge penalty &amp; colour-aware ranking</a:t>
            </a:r>
            <a:endParaRPr lang="en-US" sz="849" dirty="0"/>
          </a:p>
        </p:txBody>
      </p:sp>
      <p:sp>
        <p:nvSpPr>
          <p:cNvPr id="57" name="GTBClassificationF1651584118">
            <a:extLst>
              <a:ext uri="{FF2B5EF4-FFF2-40B4-BE49-F238E27FC236}">
                <a16:creationId xmlns:a16="http://schemas.microsoft.com/office/drawing/2014/main" id="{0603CF50-40CC-4DF1-B464-50F5D9E80AB0}"/>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14SW210301-00004X1 KNOB PWS CP   </a:t>
            </a:r>
          </a:p>
        </p:txBody>
      </p:sp>
      <p:pic>
        <p:nvPicPr>
          <p:cNvPr id="5" name="Picture 4">
            <a:extLst>
              <a:ext uri="{FF2B5EF4-FFF2-40B4-BE49-F238E27FC236}">
                <a16:creationId xmlns:a16="http://schemas.microsoft.com/office/drawing/2014/main" id="{04336464-269E-494F-A8F2-BBBB7764FE85}"/>
              </a:ext>
            </a:extLst>
          </p:cNvPr>
          <p:cNvPicPr>
            <a:picLocks noChangeAspect="1"/>
          </p:cNvPicPr>
          <p:nvPr/>
        </p:nvPicPr>
        <p:blipFill>
          <a:blip r:embed="rId2"/>
          <a:stretch>
            <a:fillRect/>
          </a:stretch>
        </p:blipFill>
        <p:spPr>
          <a:xfrm>
            <a:off x="984250" y="1606550"/>
            <a:ext cx="2759977" cy="3848298"/>
          </a:xfrm>
          <a:prstGeom prst="rect">
            <a:avLst/>
          </a:prstGeom>
        </p:spPr>
      </p:pic>
      <p:pic>
        <p:nvPicPr>
          <p:cNvPr id="7" name="Picture 6">
            <a:extLst>
              <a:ext uri="{FF2B5EF4-FFF2-40B4-BE49-F238E27FC236}">
                <a16:creationId xmlns:a16="http://schemas.microsoft.com/office/drawing/2014/main" id="{580DFB98-2BD5-4910-8529-4D61DB7A7588}"/>
              </a:ext>
            </a:extLst>
          </p:cNvPr>
          <p:cNvPicPr>
            <a:picLocks noChangeAspect="1"/>
          </p:cNvPicPr>
          <p:nvPr/>
        </p:nvPicPr>
        <p:blipFill>
          <a:blip r:embed="rId3"/>
          <a:stretch>
            <a:fillRect/>
          </a:stretch>
        </p:blipFill>
        <p:spPr>
          <a:xfrm>
            <a:off x="4695754" y="1642645"/>
            <a:ext cx="2762392" cy="3848298"/>
          </a:xfrm>
          <a:prstGeom prst="rect">
            <a:avLst/>
          </a:prstGeom>
        </p:spPr>
      </p:pic>
      <p:pic>
        <p:nvPicPr>
          <p:cNvPr id="9" name="Picture 8">
            <a:extLst>
              <a:ext uri="{FF2B5EF4-FFF2-40B4-BE49-F238E27FC236}">
                <a16:creationId xmlns:a16="http://schemas.microsoft.com/office/drawing/2014/main" id="{86569D91-8CFC-4B99-8DD2-2ABD274BA5E3}"/>
              </a:ext>
            </a:extLst>
          </p:cNvPr>
          <p:cNvPicPr>
            <a:picLocks noChangeAspect="1"/>
          </p:cNvPicPr>
          <p:nvPr/>
        </p:nvPicPr>
        <p:blipFill>
          <a:blip r:embed="rId4"/>
          <a:stretch>
            <a:fillRect/>
          </a:stretch>
        </p:blipFill>
        <p:spPr>
          <a:xfrm>
            <a:off x="8223250" y="1642645"/>
            <a:ext cx="2743200" cy="3854648"/>
          </a:xfrm>
          <a:prstGeom prst="rect">
            <a:avLst/>
          </a:prstGeom>
        </p:spPr>
      </p:pic>
      <p:sp>
        <p:nvSpPr>
          <p:cNvPr id="10" name="Rectangle 9">
            <a:extLst>
              <a:ext uri="{FF2B5EF4-FFF2-40B4-BE49-F238E27FC236}">
                <a16:creationId xmlns:a16="http://schemas.microsoft.com/office/drawing/2014/main" id="{C71EEF11-D2C7-41BE-A8D6-2DA27CED5BD5}"/>
              </a:ext>
            </a:extLst>
          </p:cNvPr>
          <p:cNvSpPr/>
          <p:nvPr/>
        </p:nvSpPr>
        <p:spPr>
          <a:xfrm>
            <a:off x="1001027" y="762000"/>
            <a:ext cx="2726423"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RTPABSBKG0027Y</a:t>
            </a:r>
          </a:p>
          <a:p>
            <a:pPr algn="ctr"/>
            <a:r>
              <a:rPr lang="en-US" dirty="0"/>
              <a:t>ABS XR-409H (BLACK) OF LG</a:t>
            </a:r>
            <a:endParaRPr lang="en-IN" dirty="0"/>
          </a:p>
        </p:txBody>
      </p:sp>
      <p:sp>
        <p:nvSpPr>
          <p:cNvPr id="11" name="Rectangle 10">
            <a:extLst>
              <a:ext uri="{FF2B5EF4-FFF2-40B4-BE49-F238E27FC236}">
                <a16:creationId xmlns:a16="http://schemas.microsoft.com/office/drawing/2014/main" id="{5EE41485-8E4D-41C5-903C-529CB62EC31B}"/>
              </a:ext>
            </a:extLst>
          </p:cNvPr>
          <p:cNvSpPr/>
          <p:nvPr/>
        </p:nvSpPr>
        <p:spPr>
          <a:xfrm>
            <a:off x="4695754" y="789848"/>
            <a:ext cx="2726423" cy="7341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RTPPOCWHG0012Y</a:t>
            </a:r>
          </a:p>
          <a:p>
            <a:pPr algn="ctr"/>
            <a:r>
              <a:rPr lang="en-US" dirty="0"/>
              <a:t>PC-TRIREX 3025U(WHITE) OF SAMYANG</a:t>
            </a:r>
            <a:endParaRPr lang="en-IN" dirty="0"/>
          </a:p>
        </p:txBody>
      </p:sp>
      <p:sp>
        <p:nvSpPr>
          <p:cNvPr id="12" name="Rectangle 11">
            <a:extLst>
              <a:ext uri="{FF2B5EF4-FFF2-40B4-BE49-F238E27FC236}">
                <a16:creationId xmlns:a16="http://schemas.microsoft.com/office/drawing/2014/main" id="{2C7645BF-C2CC-4006-888A-EF012E228AAB}"/>
              </a:ext>
            </a:extLst>
          </p:cNvPr>
          <p:cNvSpPr/>
          <p:nvPr/>
        </p:nvSpPr>
        <p:spPr>
          <a:xfrm>
            <a:off x="8209681" y="809368"/>
            <a:ext cx="2726423" cy="761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RTPACRTRG0012Y</a:t>
            </a:r>
          </a:p>
          <a:p>
            <a:pPr algn="ctr"/>
            <a:r>
              <a:rPr lang="en-US" dirty="0"/>
              <a:t>PMMA I.G. 840 OF L.G. (TRANS)</a:t>
            </a:r>
            <a:endParaRPr lang="en-IN" dirty="0"/>
          </a:p>
        </p:txBody>
      </p:sp>
      <p:sp>
        <p:nvSpPr>
          <p:cNvPr id="3" name="GTBClassificationF1914957712">
            <a:extLst>
              <a:ext uri="{FF2B5EF4-FFF2-40B4-BE49-F238E27FC236}">
                <a16:creationId xmlns:a16="http://schemas.microsoft.com/office/drawing/2014/main" id="{A8D27E7A-B037-4A91-90D8-7F9EC40D603C}"/>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3838420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695" y="1249852"/>
            <a:ext cx="7833815" cy="3908762"/>
          </a:xfrm>
          <a:prstGeom prst="rect">
            <a:avLst/>
          </a:prstGeom>
        </p:spPr>
        <p:txBody>
          <a:bodyPr wrap="square">
            <a:spAutoFit/>
          </a:bodyPr>
          <a:lstStyle/>
          <a:p>
            <a:r>
              <a:rPr lang="en-IN" sz="2800" b="1" dirty="0">
                <a:cs typeface="Arial" panose="020B0604020202020204" pitchFamily="34" charset="0"/>
              </a:rPr>
              <a:t>Heading….. (32, Calibri, Black, Bold)</a:t>
            </a:r>
          </a:p>
          <a:p>
            <a:r>
              <a:rPr lang="en-IN" sz="2800" dirty="0">
                <a:cs typeface="Arial" panose="020B0604020202020204" pitchFamily="34" charset="0"/>
              </a:rPr>
              <a:t>Sub Heading…. (28, Calibri, Black)</a:t>
            </a:r>
          </a:p>
          <a:p>
            <a:r>
              <a:rPr lang="en-IN" sz="2000" dirty="0">
                <a:solidFill>
                  <a:schemeClr val="tx1"/>
                </a:solidFill>
                <a:cs typeface="Arial" panose="020B0604020202020204" pitchFamily="34" charset="0"/>
              </a:rPr>
              <a:t>Contents…. (minimum 18 - 24, Calibri, Black) : </a:t>
            </a:r>
          </a:p>
          <a:p>
            <a:endParaRPr lang="en-IN" sz="1400" dirty="0">
              <a:solidFill>
                <a:schemeClr val="tx1"/>
              </a:solidFill>
              <a:cs typeface="Arial" panose="020B0604020202020204" pitchFamily="34" charset="0"/>
            </a:endParaRPr>
          </a:p>
          <a:p>
            <a:endParaRPr lang="en-IN" sz="1400" dirty="0">
              <a:solidFill>
                <a:schemeClr val="tx1"/>
              </a:solidFill>
              <a:cs typeface="Arial" panose="020B0604020202020204" pitchFamily="34" charset="0"/>
            </a:endParaRPr>
          </a:p>
          <a:p>
            <a:endParaRPr lang="en-IN" dirty="0">
              <a:solidFill>
                <a:schemeClr val="tx1"/>
              </a:solidFill>
              <a:cs typeface="Arial" panose="020B0604020202020204" pitchFamily="34" charset="0"/>
            </a:endParaRPr>
          </a:p>
          <a:p>
            <a:endParaRPr lang="en-IN" dirty="0">
              <a:cs typeface="Arial" panose="020B0604020202020204" pitchFamily="34" charset="0"/>
            </a:endParaRPr>
          </a:p>
          <a:p>
            <a:endParaRPr lang="en-IN" b="1" dirty="0">
              <a:cs typeface="Arial" panose="020B0604020202020204" pitchFamily="34" charset="0"/>
            </a:endParaRPr>
          </a:p>
          <a:p>
            <a:endParaRPr lang="en-IN" b="1" dirty="0">
              <a:solidFill>
                <a:srgbClr val="002060"/>
              </a:solidFill>
              <a:cs typeface="Arial" panose="020B0604020202020204" pitchFamily="34" charset="0"/>
            </a:endParaRPr>
          </a:p>
          <a:p>
            <a:endParaRPr lang="en-IN" dirty="0">
              <a:cs typeface="Arial" panose="020B0604020202020204" pitchFamily="34" charset="0"/>
            </a:endParaRPr>
          </a:p>
          <a:p>
            <a:endParaRPr lang="en-IN" dirty="0">
              <a:cs typeface="Arial" panose="020B0604020202020204" pitchFamily="34" charset="0"/>
            </a:endParaRPr>
          </a:p>
          <a:p>
            <a:endParaRPr lang="en-IN" dirty="0">
              <a:cs typeface="Arial" panose="020B0604020202020204" pitchFamily="34" charset="0"/>
            </a:endParaRPr>
          </a:p>
          <a:p>
            <a:endParaRPr lang="en-IN" sz="2000" b="1" dirty="0">
              <a:solidFill>
                <a:schemeClr val="tx1"/>
              </a:solidFill>
              <a:cs typeface="Arial" panose="020B0604020202020204" pitchFamily="34" charset="0"/>
            </a:endParaRPr>
          </a:p>
        </p:txBody>
      </p:sp>
      <p:sp>
        <p:nvSpPr>
          <p:cNvPr id="3" name="object 4">
            <a:extLst>
              <a:ext uri="{FF2B5EF4-FFF2-40B4-BE49-F238E27FC236}">
                <a16:creationId xmlns:a16="http://schemas.microsoft.com/office/drawing/2014/main" id="{10BE3B4B-1ADE-474C-8E64-A75DC30A2957}"/>
              </a:ext>
            </a:extLst>
          </p:cNvPr>
          <p:cNvSpPr txBox="1"/>
          <p:nvPr/>
        </p:nvSpPr>
        <p:spPr>
          <a:xfrm>
            <a:off x="253490" y="76200"/>
            <a:ext cx="7741160" cy="506549"/>
          </a:xfrm>
          <a:prstGeom prst="rect">
            <a:avLst/>
          </a:prstGeom>
        </p:spPr>
        <p:txBody>
          <a:bodyPr vert="horz" wrap="square" lIns="0" tIns="13970" rIns="0" bIns="0" rtlCol="0">
            <a:spAutoFit/>
          </a:bodyPr>
          <a:lstStyle>
            <a:lvl1pPr marL="12700">
              <a:lnSpc>
                <a:spcPct val="100000"/>
              </a:lnSpc>
              <a:spcBef>
                <a:spcPts val="110"/>
              </a:spcBef>
              <a:defRPr sz="3050" b="1" i="0">
                <a:solidFill>
                  <a:schemeClr val="tx2"/>
                </a:solidFill>
                <a:latin typeface="Trebuchet MS"/>
                <a:ea typeface="+mj-ea"/>
                <a:cs typeface="Trebuchet MS"/>
              </a:defRPr>
            </a:lvl1pPr>
          </a:lstStyle>
          <a:p>
            <a:r>
              <a:rPr lang="en-IN" sz="3200" dirty="0">
                <a:solidFill>
                  <a:srgbClr val="097AE8"/>
                </a:solidFill>
                <a:latin typeface="+mn-lt"/>
                <a:cs typeface="Arial" pitchFamily="34" charset="0"/>
              </a:rPr>
              <a:t>Font Specification</a:t>
            </a:r>
          </a:p>
        </p:txBody>
      </p:sp>
      <p:sp>
        <p:nvSpPr>
          <p:cNvPr id="4" name="GTBClassificationF1851279126">
            <a:extLst>
              <a:ext uri="{FF2B5EF4-FFF2-40B4-BE49-F238E27FC236}">
                <a16:creationId xmlns:a16="http://schemas.microsoft.com/office/drawing/2014/main" id="{93139B00-299E-4DA4-A756-5B3FEF6384F6}"/>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2794131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4"/>
          <p:cNvGrpSpPr/>
          <p:nvPr/>
        </p:nvGrpSpPr>
        <p:grpSpPr>
          <a:xfrm>
            <a:off x="5977063" y="1541194"/>
            <a:ext cx="5994099" cy="3971419"/>
            <a:chOff x="5977063" y="1541194"/>
            <a:chExt cx="5994099" cy="3971419"/>
          </a:xfrm>
        </p:grpSpPr>
        <p:sp>
          <p:nvSpPr>
            <p:cNvPr id="30" name="object 12"/>
            <p:cNvSpPr/>
            <p:nvPr/>
          </p:nvSpPr>
          <p:spPr>
            <a:xfrm>
              <a:off x="5977063" y="1612469"/>
              <a:ext cx="45719" cy="3900144"/>
            </a:xfrm>
            <a:custGeom>
              <a:avLst/>
              <a:gdLst/>
              <a:ahLst/>
              <a:cxnLst/>
              <a:rect l="l" t="t" r="r" b="b"/>
              <a:pathLst>
                <a:path h="3200400">
                  <a:moveTo>
                    <a:pt x="0" y="0"/>
                  </a:moveTo>
                  <a:lnTo>
                    <a:pt x="0" y="3200400"/>
                  </a:lnTo>
                </a:path>
              </a:pathLst>
            </a:custGeom>
            <a:ln w="45720">
              <a:solidFill>
                <a:srgbClr val="555555"/>
              </a:solidFill>
            </a:ln>
          </p:spPr>
          <p:txBody>
            <a:bodyPr wrap="square" lIns="0" tIns="0" rIns="0" bIns="0" rtlCol="0"/>
            <a:lstStyle/>
            <a:p>
              <a:endParaRPr dirty="0"/>
            </a:p>
          </p:txBody>
        </p:sp>
        <p:pic>
          <p:nvPicPr>
            <p:cNvPr id="32" name="Picture 25" descr="fb.png">
              <a:hlinkClick r:id="rId3"/>
            </p:cNvPr>
            <p:cNvPicPr>
              <a:picLocks noChangeAspect="1"/>
            </p:cNvPicPr>
            <p:nvPr/>
          </p:nvPicPr>
          <p:blipFill>
            <a:blip r:embed="rId4" cstate="print"/>
            <a:srcRect/>
            <a:stretch>
              <a:fillRect/>
            </a:stretch>
          </p:blipFill>
          <p:spPr bwMode="auto">
            <a:xfrm>
              <a:off x="6313576" y="4762462"/>
              <a:ext cx="660314" cy="495415"/>
            </a:xfrm>
            <a:prstGeom prst="rect">
              <a:avLst/>
            </a:prstGeom>
            <a:noFill/>
            <a:ln w="9525">
              <a:noFill/>
              <a:miter lim="800000"/>
              <a:headEnd/>
              <a:tailEnd/>
            </a:ln>
          </p:spPr>
        </p:pic>
        <p:pic>
          <p:nvPicPr>
            <p:cNvPr id="33" name="Picture 26" descr="linkedin.png">
              <a:hlinkClick r:id="rId5"/>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bwMode="auto">
            <a:xfrm>
              <a:off x="7766050" y="4781516"/>
              <a:ext cx="609521" cy="457306"/>
            </a:xfrm>
            <a:prstGeom prst="rect">
              <a:avLst/>
            </a:prstGeom>
            <a:noFill/>
            <a:ln w="9525">
              <a:noFill/>
              <a:miter lim="800000"/>
              <a:headEnd/>
              <a:tailEnd/>
            </a:ln>
          </p:spPr>
        </p:pic>
        <p:sp>
          <p:nvSpPr>
            <p:cNvPr id="36" name="Title 1"/>
            <p:cNvSpPr txBox="1">
              <a:spLocks/>
            </p:cNvSpPr>
            <p:nvPr/>
          </p:nvSpPr>
          <p:spPr bwMode="auto">
            <a:xfrm>
              <a:off x="6200398" y="1541194"/>
              <a:ext cx="4741023" cy="1047695"/>
            </a:xfrm>
            <a:prstGeom prst="rect">
              <a:avLst/>
            </a:prstGeom>
            <a:noFill/>
            <a:ln w="9525">
              <a:noFill/>
              <a:miter lim="800000"/>
              <a:headEnd/>
              <a:tailEnd/>
            </a:ln>
          </p:spPr>
          <p:txBody>
            <a:bodyPr vert="horz" wrap="square" lIns="108830" tIns="54416" rIns="108830" bIns="54416" numCol="1" anchor="ctr" anchorCtr="0" compatLnSpc="1">
              <a:prstTxWarp prst="textNoShape">
                <a:avLst/>
              </a:prstTxWarp>
            </a:bodyPr>
            <a:lstStyle>
              <a:lvl1pPr algn="ctr" rtl="0" fontAlgn="base">
                <a:spcBef>
                  <a:spcPct val="0"/>
                </a:spcBef>
                <a:spcAft>
                  <a:spcPct val="0"/>
                </a:spcAft>
                <a:defRPr sz="5200" kern="1200">
                  <a:solidFill>
                    <a:schemeClr val="tx1"/>
                  </a:solidFill>
                  <a:latin typeface="+mj-lt"/>
                  <a:ea typeface="+mj-ea"/>
                  <a:cs typeface="+mj-cs"/>
                </a:defRPr>
              </a:lvl1pPr>
              <a:lvl2pPr algn="ctr" rtl="0" fontAlgn="base">
                <a:spcBef>
                  <a:spcPct val="0"/>
                </a:spcBef>
                <a:spcAft>
                  <a:spcPct val="0"/>
                </a:spcAft>
                <a:defRPr sz="5200">
                  <a:solidFill>
                    <a:schemeClr val="tx1"/>
                  </a:solidFill>
                  <a:latin typeface="Calibri" pitchFamily="34" charset="0"/>
                </a:defRPr>
              </a:lvl2pPr>
              <a:lvl3pPr algn="ctr" rtl="0" fontAlgn="base">
                <a:spcBef>
                  <a:spcPct val="0"/>
                </a:spcBef>
                <a:spcAft>
                  <a:spcPct val="0"/>
                </a:spcAft>
                <a:defRPr sz="5200">
                  <a:solidFill>
                    <a:schemeClr val="tx1"/>
                  </a:solidFill>
                  <a:latin typeface="Calibri" pitchFamily="34" charset="0"/>
                </a:defRPr>
              </a:lvl3pPr>
              <a:lvl4pPr algn="ctr" rtl="0" fontAlgn="base">
                <a:spcBef>
                  <a:spcPct val="0"/>
                </a:spcBef>
                <a:spcAft>
                  <a:spcPct val="0"/>
                </a:spcAft>
                <a:defRPr sz="5200">
                  <a:solidFill>
                    <a:schemeClr val="tx1"/>
                  </a:solidFill>
                  <a:latin typeface="Calibri" pitchFamily="34" charset="0"/>
                </a:defRPr>
              </a:lvl4pPr>
              <a:lvl5pPr algn="ctr" rtl="0" fontAlgn="base">
                <a:spcBef>
                  <a:spcPct val="0"/>
                </a:spcBef>
                <a:spcAft>
                  <a:spcPct val="0"/>
                </a:spcAft>
                <a:defRPr sz="5200">
                  <a:solidFill>
                    <a:schemeClr val="tx1"/>
                  </a:solidFill>
                  <a:latin typeface="Calibri" pitchFamily="34" charset="0"/>
                </a:defRPr>
              </a:lvl5pPr>
              <a:lvl6pPr marL="544216" algn="ctr" rtl="0" fontAlgn="base">
                <a:spcBef>
                  <a:spcPct val="0"/>
                </a:spcBef>
                <a:spcAft>
                  <a:spcPct val="0"/>
                </a:spcAft>
                <a:defRPr sz="5200">
                  <a:solidFill>
                    <a:schemeClr val="tx1"/>
                  </a:solidFill>
                  <a:latin typeface="Calibri" pitchFamily="34" charset="0"/>
                </a:defRPr>
              </a:lvl6pPr>
              <a:lvl7pPr marL="1088433" algn="ctr" rtl="0" fontAlgn="base">
                <a:spcBef>
                  <a:spcPct val="0"/>
                </a:spcBef>
                <a:spcAft>
                  <a:spcPct val="0"/>
                </a:spcAft>
                <a:defRPr sz="5200">
                  <a:solidFill>
                    <a:schemeClr val="tx1"/>
                  </a:solidFill>
                  <a:latin typeface="Calibri" pitchFamily="34" charset="0"/>
                </a:defRPr>
              </a:lvl7pPr>
              <a:lvl8pPr marL="1632649" algn="ctr" rtl="0" fontAlgn="base">
                <a:spcBef>
                  <a:spcPct val="0"/>
                </a:spcBef>
                <a:spcAft>
                  <a:spcPct val="0"/>
                </a:spcAft>
                <a:defRPr sz="5200">
                  <a:solidFill>
                    <a:schemeClr val="tx1"/>
                  </a:solidFill>
                  <a:latin typeface="Calibri" pitchFamily="34" charset="0"/>
                </a:defRPr>
              </a:lvl8pPr>
              <a:lvl9pPr marL="2176864" algn="ctr" rtl="0" fontAlgn="base">
                <a:spcBef>
                  <a:spcPct val="0"/>
                </a:spcBef>
                <a:spcAft>
                  <a:spcPct val="0"/>
                </a:spcAft>
                <a:defRPr sz="5200">
                  <a:solidFill>
                    <a:schemeClr val="tx1"/>
                  </a:solidFill>
                  <a:latin typeface="Calibri" pitchFamily="34" charset="0"/>
                </a:defRPr>
              </a:lvl9pPr>
            </a:lstStyle>
            <a:p>
              <a:pPr algn="l"/>
              <a:r>
                <a:rPr lang="en-US" sz="4800" dirty="0">
                  <a:solidFill>
                    <a:schemeClr val="tx1">
                      <a:lumMod val="65000"/>
                      <a:lumOff val="35000"/>
                    </a:schemeClr>
                  </a:solidFill>
                  <a:latin typeface="Arial" panose="020B0604020202020204" pitchFamily="34" charset="0"/>
                  <a:cs typeface="Arial" panose="020B0604020202020204" pitchFamily="34" charset="0"/>
                </a:rPr>
                <a:t>Thank You</a:t>
              </a:r>
            </a:p>
          </p:txBody>
        </p:sp>
        <p:sp>
          <p:nvSpPr>
            <p:cNvPr id="37" name="TextBox 24"/>
            <p:cNvSpPr txBox="1">
              <a:spLocks noChangeArrowheads="1"/>
            </p:cNvSpPr>
            <p:nvPr/>
          </p:nvSpPr>
          <p:spPr bwMode="auto">
            <a:xfrm>
              <a:off x="6239539" y="2604752"/>
              <a:ext cx="5731623" cy="1618000"/>
            </a:xfrm>
            <a:prstGeom prst="rect">
              <a:avLst/>
            </a:prstGeom>
            <a:noFill/>
            <a:ln w="9525">
              <a:noFill/>
              <a:miter lim="800000"/>
              <a:headEnd/>
              <a:tailEnd/>
            </a:ln>
          </p:spPr>
          <p:txBody>
            <a:bodyPr wrap="square" lIns="108830" tIns="54416" rIns="108830" bIns="54416">
              <a:spAutoFit/>
            </a:bodyPr>
            <a:lstStyle/>
            <a:p>
              <a:r>
                <a:rPr lang="en-US" sz="1400" b="1" dirty="0">
                  <a:latin typeface="Arial" panose="020B0604020202020204" pitchFamily="34" charset="0"/>
                  <a:cs typeface="Arial" panose="020B0604020202020204" pitchFamily="34" charset="0"/>
                </a:rPr>
                <a:t>Corporate Office</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Address</a:t>
              </a:r>
              <a:r>
                <a:rPr lang="en-US" sz="1400" b="1" dirty="0">
                  <a:solidFill>
                    <a:schemeClr val="tx1">
                      <a:lumMod val="75000"/>
                      <a:lumOff val="25000"/>
                    </a:schemeClr>
                  </a:solidFill>
                  <a:latin typeface="Arial" panose="020B0604020202020204" pitchFamily="34" charset="0"/>
                  <a:cs typeface="Arial" panose="020B0604020202020204" pitchFamily="34" charset="0"/>
                </a:rPr>
                <a:t>: </a:t>
              </a:r>
              <a:r>
                <a:rPr lang="en-US" sz="1400" dirty="0">
                  <a:solidFill>
                    <a:schemeClr val="tx1">
                      <a:lumMod val="75000"/>
                      <a:lumOff val="25000"/>
                    </a:schemeClr>
                  </a:solidFill>
                  <a:latin typeface="Arial" panose="020B0604020202020204" pitchFamily="34" charset="0"/>
                  <a:cs typeface="Arial" panose="020B0604020202020204" pitchFamily="34" charset="0"/>
                </a:rPr>
                <a:t>Village Nawada  Fatehpur, </a:t>
              </a:r>
            </a:p>
            <a:p>
              <a:r>
                <a:rPr lang="en-US" sz="1400" dirty="0">
                  <a:solidFill>
                    <a:schemeClr val="tx1">
                      <a:lumMod val="75000"/>
                      <a:lumOff val="25000"/>
                    </a:schemeClr>
                  </a:solidFill>
                  <a:latin typeface="Arial" panose="020B0604020202020204" pitchFamily="34" charset="0"/>
                  <a:cs typeface="Arial" panose="020B0604020202020204" pitchFamily="34" charset="0"/>
                </a:rPr>
                <a:t>P.O. Sikanderpur  Badda, Manesar, </a:t>
              </a:r>
            </a:p>
            <a:p>
              <a:r>
                <a:rPr lang="en-US" sz="1400" dirty="0">
                  <a:solidFill>
                    <a:schemeClr val="tx1">
                      <a:lumMod val="75000"/>
                      <a:lumOff val="25000"/>
                    </a:schemeClr>
                  </a:solidFill>
                  <a:latin typeface="Arial" panose="020B0604020202020204" pitchFamily="34" charset="0"/>
                  <a:cs typeface="Arial" panose="020B0604020202020204" pitchFamily="34" charset="0"/>
                </a:rPr>
                <a:t>Gurgaon – 122004, India.</a:t>
              </a:r>
            </a:p>
            <a:p>
              <a:r>
                <a:rPr lang="en-US" sz="1400" b="1" dirty="0">
                  <a:latin typeface="Arial" panose="020B0604020202020204" pitchFamily="34" charset="0"/>
                  <a:cs typeface="Arial" panose="020B0604020202020204" pitchFamily="34" charset="0"/>
                </a:rPr>
                <a:t>Website: </a:t>
              </a:r>
              <a:r>
                <a:rPr lang="en-US" sz="1400" dirty="0">
                  <a:solidFill>
                    <a:srgbClr val="009EDB"/>
                  </a:solidFill>
                  <a:latin typeface="Arial" panose="020B0604020202020204" pitchFamily="34" charset="0"/>
                  <a:cs typeface="Arial" panose="020B0604020202020204" pitchFamily="34" charset="0"/>
                </a:rPr>
                <a:t>www.unominda.com</a:t>
              </a: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Email ID</a:t>
              </a:r>
              <a:r>
                <a:rPr lang="en-US" sz="1400" dirty="0">
                  <a:latin typeface="Arial" panose="020B0604020202020204" pitchFamily="34" charset="0"/>
                  <a:cs typeface="Arial" panose="020B0604020202020204" pitchFamily="34" charset="0"/>
                </a:rPr>
                <a:t>: </a:t>
              </a:r>
              <a:r>
                <a:rPr lang="en-US" sz="1400" dirty="0">
                  <a:solidFill>
                    <a:srgbClr val="009EDB"/>
                  </a:solidFill>
                  <a:latin typeface="Arial" panose="020B0604020202020204" pitchFamily="34" charset="0"/>
                  <a:cs typeface="Arial" panose="020B0604020202020204" pitchFamily="34" charset="0"/>
                </a:rPr>
                <a:t>xxxx@unominda.com</a:t>
              </a:r>
            </a:p>
          </p:txBody>
        </p:sp>
        <p:pic>
          <p:nvPicPr>
            <p:cNvPr id="1030" name="Picture 6" descr="instagram.jpg — midpointmall.com">
              <a:hlinkClick r:id="rId7"/>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43939" y="4507725"/>
              <a:ext cx="1674813" cy="10048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7" descr="youtube.jpeg">
              <a:hlinkClick r:id="rId9"/>
            </p:cNvPr>
            <p:cNvPicPr>
              <a:picLocks noChangeAspect="1"/>
            </p:cNvPicPr>
            <p:nvPr/>
          </p:nvPicPr>
          <p:blipFill>
            <a:blip r:embed="rId10" cstate="print"/>
            <a:srcRect/>
            <a:stretch>
              <a:fillRect/>
            </a:stretch>
          </p:blipFill>
          <p:spPr bwMode="auto">
            <a:xfrm>
              <a:off x="8528050" y="4781516"/>
              <a:ext cx="541821" cy="457306"/>
            </a:xfrm>
            <a:prstGeom prst="rect">
              <a:avLst/>
            </a:prstGeom>
            <a:noFill/>
            <a:ln w="9525">
              <a:noFill/>
              <a:miter lim="800000"/>
              <a:headEnd/>
              <a:tailEnd/>
            </a:ln>
          </p:spPr>
        </p:pic>
      </p:grpSp>
      <p:sp>
        <p:nvSpPr>
          <p:cNvPr id="4" name="TextBox 3"/>
          <p:cNvSpPr txBox="1"/>
          <p:nvPr/>
        </p:nvSpPr>
        <p:spPr>
          <a:xfrm>
            <a:off x="6239539" y="4238615"/>
            <a:ext cx="3810000" cy="369332"/>
          </a:xfrm>
          <a:prstGeom prst="rect">
            <a:avLst/>
          </a:prstGeom>
          <a:noFill/>
        </p:spPr>
        <p:txBody>
          <a:bodyPr wrap="square" rtlCol="0">
            <a:spAutoFit/>
          </a:bodyPr>
          <a:lstStyle/>
          <a:p>
            <a:r>
              <a:rPr lang="en-US" dirty="0"/>
              <a:t>Follow us on social media. Links below</a:t>
            </a:r>
            <a:endParaRPr lang="en-IN" dirty="0"/>
          </a:p>
        </p:txBody>
      </p:sp>
      <p:pic>
        <p:nvPicPr>
          <p:cNvPr id="13" name="Picture 12">
            <a:extLst>
              <a:ext uri="{FF2B5EF4-FFF2-40B4-BE49-F238E27FC236}">
                <a16:creationId xmlns:a16="http://schemas.microsoft.com/office/drawing/2014/main" id="{CA047C07-817C-47E3-B2AB-849B5D0A547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38239" y="2453434"/>
            <a:ext cx="4441344" cy="2328081"/>
          </a:xfrm>
          <a:prstGeom prst="rect">
            <a:avLst/>
          </a:prstGeom>
        </p:spPr>
      </p:pic>
      <p:pic>
        <p:nvPicPr>
          <p:cNvPr id="14" name="Picture 13">
            <a:hlinkClick r:id="rId12"/>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56450" y="4800565"/>
            <a:ext cx="481825" cy="424709"/>
          </a:xfrm>
          <a:prstGeom prst="rect">
            <a:avLst/>
          </a:prstGeom>
        </p:spPr>
      </p:pic>
      <p:sp>
        <p:nvSpPr>
          <p:cNvPr id="2" name="GTBClassificationF566298952">
            <a:extLst>
              <a:ext uri="{FF2B5EF4-FFF2-40B4-BE49-F238E27FC236}">
                <a16:creationId xmlns:a16="http://schemas.microsoft.com/office/drawing/2014/main" id="{8D5384AE-B944-4B9B-A566-B32C2C36D96C}"/>
              </a:ext>
            </a:extLst>
          </p:cNvPr>
          <p:cNvSpPr txBox="1"/>
          <p:nvPr/>
        </p:nvSpPr>
        <p:spPr>
          <a:xfrm>
            <a:off x="0" y="6592253"/>
            <a:ext cx="12179300" cy="265747"/>
          </a:xfrm>
          <a:prstGeom prst="rect">
            <a:avLst/>
          </a:prstGeom>
          <a:solidFill>
            <a:schemeClr val="accent1">
              <a:alpha val="0"/>
            </a:schemeClr>
          </a:solidFill>
        </p:spPr>
        <p:txBody>
          <a:bodyPr vert="horz" wrap="none" rtlCol="0" anchor="b">
            <a:noAutofit/>
          </a:bodyPr>
          <a:lstStyle/>
          <a:p>
            <a:r>
              <a:rPr lang="en-IN" sz="900" b="1">
                <a:solidFill>
                  <a:srgbClr val="000000">
                    <a:alpha val="70000"/>
                  </a:srgbClr>
                </a:solidFill>
                <a:latin typeface="arial" panose="020B0604020202020204" pitchFamily="34" charset="0"/>
              </a:rPr>
              <a:t>Classification:</a:t>
            </a:r>
            <a:r>
              <a:rPr lang="en-IN" sz="900">
                <a:solidFill>
                  <a:srgbClr val="000000">
                    <a:alpha val="70000"/>
                  </a:srgbClr>
                </a:solidFill>
                <a:latin typeface="arial" panose="020B0604020202020204" pitchFamily="34" charset="0"/>
              </a:rPr>
              <a:t> </a:t>
            </a:r>
            <a:r>
              <a:rPr lang="en-IN" sz="900" b="1">
                <a:solidFill>
                  <a:srgbClr val="0062B1">
                    <a:alpha val="70000"/>
                  </a:srgbClr>
                </a:solidFill>
                <a:latin typeface="arial" panose="020B0604020202020204" pitchFamily="34" charset="0"/>
              </a:rPr>
              <a:t>Internal</a:t>
            </a:r>
          </a:p>
        </p:txBody>
      </p:sp>
    </p:spTree>
    <p:extLst>
      <p:ext uri="{BB962C8B-B14F-4D97-AF65-F5344CB8AC3E}">
        <p14:creationId xmlns:p14="http://schemas.microsoft.com/office/powerpoint/2010/main" val="148306194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GTBClassification>
  <attrValue xml:space="preserve">Internal</attrValue>
  <customPropName>Classification</customPropName>
  <timestamp>4/21/2026 5:58:48 PM</timestamp>
  <userName>UNOMINDA\Ex0164</userName>
  <computerName>1401-DW-0038.UNOMINDA.COM</computerName>
  <guid>{e0cd1961-bdb1-42d2-8cc7-b1d42ef57c93}</guid>
  <ftr>
    <r>
      <fontName>arial</fontName>
      <fontColor>000000</fontColor>
      <fontSize>9</fontSize>
      <b/>
      <text xml:space="preserve">Classification:</text>
    </r>
    <r>
      <fontName>arial</fontName>
      <fontColor>000000</fontColor>
      <fontSize>9</fontSize>
      <text xml:space="preserve"> </text>
    </r>
    <r>
      <fontName>arial</fontName>
      <fontColor>0062B1</fontColor>
      <fontSize>9</fontSize>
      <b/>
      <text xml:space="preserve">Internal</text>
    </r>
  </ftr>
</GTBClassification>
</file>

<file path=customXml/itemProps1.xml><?xml version="1.0" encoding="utf-8"?>
<ds:datastoreItem xmlns:ds="http://schemas.openxmlformats.org/officeDocument/2006/customXml" ds:itemID="{649066E8-34BE-4FA4-A13F-5EE3AE4A384B}">
  <ds:schemaRefs/>
</ds:datastoreItem>
</file>

<file path=docProps/app.xml><?xml version="1.0" encoding="utf-8"?>
<Properties xmlns="http://schemas.openxmlformats.org/officeDocument/2006/extended-properties" xmlns:vt="http://schemas.openxmlformats.org/officeDocument/2006/docPropsVTypes">
  <Template/>
  <TotalTime>31323</TotalTime>
  <Words>1688</Words>
  <Application>Microsoft Office PowerPoint</Application>
  <PresentationFormat>Custom</PresentationFormat>
  <Paragraphs>335</Paragraphs>
  <Slides>19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Arial</vt:lpstr>
      <vt:lpstr>Calibri</vt:lpstr>
      <vt:lpstr>Calibri Light</vt:lpstr>
      <vt:lpstr>Gotham Medium</vt:lpstr>
      <vt:lpstr>Times New Roman</vt:lpstr>
      <vt:lpstr>Custom Design</vt:lpstr>
      <vt:lpstr>1_Custom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2018.cdr</dc:title>
  <dc:creator>dalipvijh</dc:creator>
  <cp:keywords>ClassificationData:&lt;Classification:Internal&gt;</cp:keywords>
  <cp:lastModifiedBy>Intern (Int)/MRPL/HRM/MNSR</cp:lastModifiedBy>
  <cp:revision>1222</cp:revision>
  <dcterms:created xsi:type="dcterms:W3CDTF">2018-05-23T10:15:22Z</dcterms:created>
  <dcterms:modified xsi:type="dcterms:W3CDTF">2026-04-22T11:33:20Z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2018-05-23T00:00:00Z</vt:filetime>
  </property>
  <property fmtid="{D5CDD505-2E9C-101B-9397-08002B2CF9AE}" pid="3" name="Creator">
    <vt:lpwstr>CorelDRAW X7</vt:lpwstr>
  </property>
  <property fmtid="{D5CDD505-2E9C-101B-9397-08002B2CF9AE}" pid="4" name="LastSaved">
    <vt:filetime>2018-05-23T00:00:00Z</vt:filetime>
  </property>
  <property fmtid="{D5CDD505-2E9C-101B-9397-08002B2CF9AE}" pid="5" name="Classification">
    <vt:lpwstr>Internal</vt:lpwstr>
  </property>
  <property fmtid="{D5CDD505-2E9C-101B-9397-08002B2CF9AE}" pid="6" name="ClassifiedBy">
    <vt:lpwstr>UNOMINDA\Ex0164</vt:lpwstr>
  </property>
  <property fmtid="{D5CDD505-2E9C-101B-9397-08002B2CF9AE}" pid="7" name="ClassificationHost">
    <vt:lpwstr>1401-DW-0038.UNOMINDA.COM</vt:lpwstr>
  </property>
  <property fmtid="{D5CDD505-2E9C-101B-9397-08002B2CF9AE}" pid="8" name="ClassificationDate">
    <vt:lpwstr>4/21/2026 5:58:48 PM</vt:lpwstr>
  </property>
  <property fmtid="{D5CDD505-2E9C-101B-9397-08002B2CF9AE}" pid="9" name="ClassificationGUID">
    <vt:lpwstr>{e0cd1961-bdb1-42d2-8cc7-b1d42ef57c93}</vt:lpwstr>
  </property>
</Properties>
</file>