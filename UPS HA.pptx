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notesMasterIdLst>
    <p:notesMasterId r:id="rId19"/>
  </p:notesMasterIdLst>
  <p:sldIdLst>
    <p:sldId id="256" r:id="rId3"/>
    <p:sldId id="262" r:id="rId4"/>
    <p:sldId id="257" r:id="rId5"/>
    <p:sldId id="258" r:id="rId6"/>
    <p:sldId id="259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61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1" d="100"/>
          <a:sy n="121" d="100"/>
        </p:scale>
        <p:origin x="9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795EB-7C34-4B91-999C-67F984F6157A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DDB72E-A708-430E-8A02-1983AF285D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865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4698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6478" y="594740"/>
            <a:ext cx="7325207" cy="441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channel/UCu088mcVOmv4KyIkuapRL-Q" TargetMode="External"/><Relationship Id="rId13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5.jpg"/><Relationship Id="rId12" Type="http://schemas.openxmlformats.org/officeDocument/2006/relationships/hyperlink" Target="https://twitter.com/Unomindacom?ref_src=twsrc%5egoogle%7Ctwcamp%5eserp%7Ctwgr%5eauthor" TargetMode="External"/><Relationship Id="rId2" Type="http://schemas.openxmlformats.org/officeDocument/2006/relationships/hyperlink" Target="https://www.facebook.com/UnoMindaGroup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nstagram.com/unominda?utm_medium=copy_link" TargetMode="External"/><Relationship Id="rId11" Type="http://schemas.openxmlformats.org/officeDocument/2006/relationships/image" Target="../media/image17.png"/><Relationship Id="rId5" Type="http://schemas.openxmlformats.org/officeDocument/2006/relationships/image" Target="../media/image14.png"/><Relationship Id="rId10" Type="http://schemas.openxmlformats.org/officeDocument/2006/relationships/hyperlink" Target="http://www.unominda.com/" TargetMode="External"/><Relationship Id="rId4" Type="http://schemas.openxmlformats.org/officeDocument/2006/relationships/hyperlink" Target="https://www.linkedin.com/company/unominda/mycompany/" TargetMode="External"/><Relationship Id="rId9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50592" y="334861"/>
            <a:ext cx="9321165" cy="6370955"/>
            <a:chOff x="2450592" y="334861"/>
            <a:chExt cx="9321165" cy="63709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50592" y="334861"/>
              <a:ext cx="9320784" cy="637073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439399" y="2513075"/>
              <a:ext cx="376555" cy="376555"/>
            </a:xfrm>
            <a:custGeom>
              <a:avLst/>
              <a:gdLst/>
              <a:ahLst/>
              <a:cxnLst/>
              <a:rect l="l" t="t" r="r" b="b"/>
              <a:pathLst>
                <a:path w="376554" h="376555">
                  <a:moveTo>
                    <a:pt x="188214" y="0"/>
                  </a:moveTo>
                  <a:lnTo>
                    <a:pt x="138200" y="6727"/>
                  </a:lnTo>
                  <a:lnTo>
                    <a:pt x="93246" y="25710"/>
                  </a:lnTo>
                  <a:lnTo>
                    <a:pt x="55149" y="55149"/>
                  </a:lnTo>
                  <a:lnTo>
                    <a:pt x="25710" y="93246"/>
                  </a:lnTo>
                  <a:lnTo>
                    <a:pt x="6727" y="138200"/>
                  </a:lnTo>
                  <a:lnTo>
                    <a:pt x="0" y="188213"/>
                  </a:lnTo>
                  <a:lnTo>
                    <a:pt x="6727" y="238227"/>
                  </a:lnTo>
                  <a:lnTo>
                    <a:pt x="25710" y="283181"/>
                  </a:lnTo>
                  <a:lnTo>
                    <a:pt x="55149" y="321278"/>
                  </a:lnTo>
                  <a:lnTo>
                    <a:pt x="93246" y="350717"/>
                  </a:lnTo>
                  <a:lnTo>
                    <a:pt x="138200" y="369700"/>
                  </a:lnTo>
                  <a:lnTo>
                    <a:pt x="188214" y="376427"/>
                  </a:lnTo>
                  <a:lnTo>
                    <a:pt x="238227" y="369700"/>
                  </a:lnTo>
                  <a:lnTo>
                    <a:pt x="283181" y="350717"/>
                  </a:lnTo>
                  <a:lnTo>
                    <a:pt x="321278" y="321278"/>
                  </a:lnTo>
                  <a:lnTo>
                    <a:pt x="350717" y="283181"/>
                  </a:lnTo>
                  <a:lnTo>
                    <a:pt x="369700" y="238227"/>
                  </a:lnTo>
                  <a:lnTo>
                    <a:pt x="376427" y="188213"/>
                  </a:lnTo>
                  <a:lnTo>
                    <a:pt x="369700" y="138200"/>
                  </a:lnTo>
                  <a:lnTo>
                    <a:pt x="350717" y="93246"/>
                  </a:lnTo>
                  <a:lnTo>
                    <a:pt x="321278" y="55149"/>
                  </a:lnTo>
                  <a:lnTo>
                    <a:pt x="283181" y="25710"/>
                  </a:lnTo>
                  <a:lnTo>
                    <a:pt x="238227" y="6727"/>
                  </a:lnTo>
                  <a:lnTo>
                    <a:pt x="188214" y="0"/>
                  </a:lnTo>
                  <a:close/>
                </a:path>
              </a:pathLst>
            </a:custGeom>
            <a:solidFill>
              <a:srgbClr val="EB2F37">
                <a:alpha val="470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495787" y="2572512"/>
              <a:ext cx="262255" cy="262255"/>
            </a:xfrm>
            <a:custGeom>
              <a:avLst/>
              <a:gdLst/>
              <a:ahLst/>
              <a:cxnLst/>
              <a:rect l="l" t="t" r="r" b="b"/>
              <a:pathLst>
                <a:path w="262254" h="262255">
                  <a:moveTo>
                    <a:pt x="131063" y="0"/>
                  </a:moveTo>
                  <a:lnTo>
                    <a:pt x="80045" y="10298"/>
                  </a:lnTo>
                  <a:lnTo>
                    <a:pt x="38385" y="38385"/>
                  </a:lnTo>
                  <a:lnTo>
                    <a:pt x="10298" y="80045"/>
                  </a:lnTo>
                  <a:lnTo>
                    <a:pt x="0" y="131063"/>
                  </a:lnTo>
                  <a:lnTo>
                    <a:pt x="10298" y="182082"/>
                  </a:lnTo>
                  <a:lnTo>
                    <a:pt x="38385" y="223742"/>
                  </a:lnTo>
                  <a:lnTo>
                    <a:pt x="80045" y="251829"/>
                  </a:lnTo>
                  <a:lnTo>
                    <a:pt x="131063" y="262127"/>
                  </a:lnTo>
                  <a:lnTo>
                    <a:pt x="182082" y="251829"/>
                  </a:lnTo>
                  <a:lnTo>
                    <a:pt x="223742" y="223742"/>
                  </a:lnTo>
                  <a:lnTo>
                    <a:pt x="251829" y="182082"/>
                  </a:lnTo>
                  <a:lnTo>
                    <a:pt x="262127" y="131063"/>
                  </a:lnTo>
                  <a:lnTo>
                    <a:pt x="251829" y="80045"/>
                  </a:lnTo>
                  <a:lnTo>
                    <a:pt x="223742" y="38385"/>
                  </a:lnTo>
                  <a:lnTo>
                    <a:pt x="182082" y="10298"/>
                  </a:lnTo>
                  <a:lnTo>
                    <a:pt x="131063" y="0"/>
                  </a:lnTo>
                  <a:close/>
                </a:path>
              </a:pathLst>
            </a:custGeom>
            <a:solidFill>
              <a:srgbClr val="EB2F37">
                <a:alpha val="5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51922" y="2634741"/>
              <a:ext cx="142239" cy="14224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695944" y="2939796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79">
                  <a:moveTo>
                    <a:pt x="288035" y="0"/>
                  </a:moveTo>
                  <a:lnTo>
                    <a:pt x="241302" y="3768"/>
                  </a:lnTo>
                  <a:lnTo>
                    <a:pt x="196973" y="14679"/>
                  </a:lnTo>
                  <a:lnTo>
                    <a:pt x="155643" y="32140"/>
                  </a:lnTo>
                  <a:lnTo>
                    <a:pt x="117902" y="55558"/>
                  </a:lnTo>
                  <a:lnTo>
                    <a:pt x="84343" y="84343"/>
                  </a:lnTo>
                  <a:lnTo>
                    <a:pt x="55558" y="117902"/>
                  </a:lnTo>
                  <a:lnTo>
                    <a:pt x="32140" y="155643"/>
                  </a:lnTo>
                  <a:lnTo>
                    <a:pt x="14679" y="196973"/>
                  </a:lnTo>
                  <a:lnTo>
                    <a:pt x="3768" y="241302"/>
                  </a:lnTo>
                  <a:lnTo>
                    <a:pt x="0" y="288036"/>
                  </a:lnTo>
                  <a:lnTo>
                    <a:pt x="3768" y="334769"/>
                  </a:lnTo>
                  <a:lnTo>
                    <a:pt x="14679" y="379098"/>
                  </a:lnTo>
                  <a:lnTo>
                    <a:pt x="32140" y="420428"/>
                  </a:lnTo>
                  <a:lnTo>
                    <a:pt x="55558" y="458169"/>
                  </a:lnTo>
                  <a:lnTo>
                    <a:pt x="84343" y="491728"/>
                  </a:lnTo>
                  <a:lnTo>
                    <a:pt x="117902" y="520513"/>
                  </a:lnTo>
                  <a:lnTo>
                    <a:pt x="155643" y="543931"/>
                  </a:lnTo>
                  <a:lnTo>
                    <a:pt x="196973" y="561392"/>
                  </a:lnTo>
                  <a:lnTo>
                    <a:pt x="241302" y="572303"/>
                  </a:lnTo>
                  <a:lnTo>
                    <a:pt x="288035" y="576071"/>
                  </a:lnTo>
                  <a:lnTo>
                    <a:pt x="334769" y="572303"/>
                  </a:lnTo>
                  <a:lnTo>
                    <a:pt x="379098" y="561392"/>
                  </a:lnTo>
                  <a:lnTo>
                    <a:pt x="420428" y="543931"/>
                  </a:lnTo>
                  <a:lnTo>
                    <a:pt x="458169" y="520513"/>
                  </a:lnTo>
                  <a:lnTo>
                    <a:pt x="491728" y="491728"/>
                  </a:lnTo>
                  <a:lnTo>
                    <a:pt x="520513" y="458169"/>
                  </a:lnTo>
                  <a:lnTo>
                    <a:pt x="543931" y="420428"/>
                  </a:lnTo>
                  <a:lnTo>
                    <a:pt x="561392" y="379098"/>
                  </a:lnTo>
                  <a:lnTo>
                    <a:pt x="572303" y="334769"/>
                  </a:lnTo>
                  <a:lnTo>
                    <a:pt x="576072" y="288036"/>
                  </a:lnTo>
                  <a:lnTo>
                    <a:pt x="572303" y="241302"/>
                  </a:lnTo>
                  <a:lnTo>
                    <a:pt x="561392" y="196973"/>
                  </a:lnTo>
                  <a:lnTo>
                    <a:pt x="543931" y="155643"/>
                  </a:lnTo>
                  <a:lnTo>
                    <a:pt x="520513" y="117902"/>
                  </a:lnTo>
                  <a:lnTo>
                    <a:pt x="491728" y="84343"/>
                  </a:lnTo>
                  <a:lnTo>
                    <a:pt x="458169" y="55558"/>
                  </a:lnTo>
                  <a:lnTo>
                    <a:pt x="420428" y="32140"/>
                  </a:lnTo>
                  <a:lnTo>
                    <a:pt x="379098" y="14679"/>
                  </a:lnTo>
                  <a:lnTo>
                    <a:pt x="334769" y="3768"/>
                  </a:lnTo>
                  <a:lnTo>
                    <a:pt x="288035" y="0"/>
                  </a:lnTo>
                  <a:close/>
                </a:path>
              </a:pathLst>
            </a:custGeom>
            <a:solidFill>
              <a:srgbClr val="EB2F37">
                <a:alpha val="470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781288" y="3029712"/>
              <a:ext cx="402590" cy="403860"/>
            </a:xfrm>
            <a:custGeom>
              <a:avLst/>
              <a:gdLst/>
              <a:ahLst/>
              <a:cxnLst/>
              <a:rect l="l" t="t" r="r" b="b"/>
              <a:pathLst>
                <a:path w="402590" h="403860">
                  <a:moveTo>
                    <a:pt x="201167" y="0"/>
                  </a:moveTo>
                  <a:lnTo>
                    <a:pt x="155034" y="5333"/>
                  </a:lnTo>
                  <a:lnTo>
                    <a:pt x="112689" y="20527"/>
                  </a:lnTo>
                  <a:lnTo>
                    <a:pt x="75338" y="44367"/>
                  </a:lnTo>
                  <a:lnTo>
                    <a:pt x="44187" y="75640"/>
                  </a:lnTo>
                  <a:lnTo>
                    <a:pt x="20442" y="113133"/>
                  </a:lnTo>
                  <a:lnTo>
                    <a:pt x="5311" y="155634"/>
                  </a:lnTo>
                  <a:lnTo>
                    <a:pt x="0" y="201929"/>
                  </a:lnTo>
                  <a:lnTo>
                    <a:pt x="5311" y="248225"/>
                  </a:lnTo>
                  <a:lnTo>
                    <a:pt x="20442" y="290726"/>
                  </a:lnTo>
                  <a:lnTo>
                    <a:pt x="44187" y="328219"/>
                  </a:lnTo>
                  <a:lnTo>
                    <a:pt x="75338" y="359492"/>
                  </a:lnTo>
                  <a:lnTo>
                    <a:pt x="112689" y="383332"/>
                  </a:lnTo>
                  <a:lnTo>
                    <a:pt x="155034" y="398525"/>
                  </a:lnTo>
                  <a:lnTo>
                    <a:pt x="201167" y="403860"/>
                  </a:lnTo>
                  <a:lnTo>
                    <a:pt x="247301" y="398525"/>
                  </a:lnTo>
                  <a:lnTo>
                    <a:pt x="289646" y="383332"/>
                  </a:lnTo>
                  <a:lnTo>
                    <a:pt x="326997" y="359492"/>
                  </a:lnTo>
                  <a:lnTo>
                    <a:pt x="358148" y="328219"/>
                  </a:lnTo>
                  <a:lnTo>
                    <a:pt x="381893" y="290726"/>
                  </a:lnTo>
                  <a:lnTo>
                    <a:pt x="397024" y="248225"/>
                  </a:lnTo>
                  <a:lnTo>
                    <a:pt x="402335" y="201929"/>
                  </a:lnTo>
                  <a:lnTo>
                    <a:pt x="397024" y="155634"/>
                  </a:lnTo>
                  <a:lnTo>
                    <a:pt x="381893" y="113133"/>
                  </a:lnTo>
                  <a:lnTo>
                    <a:pt x="358148" y="75640"/>
                  </a:lnTo>
                  <a:lnTo>
                    <a:pt x="326997" y="44367"/>
                  </a:lnTo>
                  <a:lnTo>
                    <a:pt x="289646" y="20527"/>
                  </a:lnTo>
                  <a:lnTo>
                    <a:pt x="247301" y="5334"/>
                  </a:lnTo>
                  <a:lnTo>
                    <a:pt x="201167" y="0"/>
                  </a:lnTo>
                  <a:close/>
                </a:path>
              </a:pathLst>
            </a:custGeom>
            <a:solidFill>
              <a:srgbClr val="EB2F37">
                <a:alpha val="5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70950" y="3130041"/>
              <a:ext cx="210820" cy="21082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517380" y="3421379"/>
              <a:ext cx="376555" cy="376555"/>
            </a:xfrm>
            <a:custGeom>
              <a:avLst/>
              <a:gdLst/>
              <a:ahLst/>
              <a:cxnLst/>
              <a:rect l="l" t="t" r="r" b="b"/>
              <a:pathLst>
                <a:path w="376554" h="376554">
                  <a:moveTo>
                    <a:pt x="188214" y="0"/>
                  </a:moveTo>
                  <a:lnTo>
                    <a:pt x="138200" y="6727"/>
                  </a:lnTo>
                  <a:lnTo>
                    <a:pt x="93246" y="25710"/>
                  </a:lnTo>
                  <a:lnTo>
                    <a:pt x="55149" y="55149"/>
                  </a:lnTo>
                  <a:lnTo>
                    <a:pt x="25710" y="93246"/>
                  </a:lnTo>
                  <a:lnTo>
                    <a:pt x="6727" y="138200"/>
                  </a:lnTo>
                  <a:lnTo>
                    <a:pt x="0" y="188214"/>
                  </a:lnTo>
                  <a:lnTo>
                    <a:pt x="6727" y="238227"/>
                  </a:lnTo>
                  <a:lnTo>
                    <a:pt x="25710" y="283181"/>
                  </a:lnTo>
                  <a:lnTo>
                    <a:pt x="55149" y="321278"/>
                  </a:lnTo>
                  <a:lnTo>
                    <a:pt x="93246" y="350717"/>
                  </a:lnTo>
                  <a:lnTo>
                    <a:pt x="138200" y="369700"/>
                  </a:lnTo>
                  <a:lnTo>
                    <a:pt x="188214" y="376428"/>
                  </a:lnTo>
                  <a:lnTo>
                    <a:pt x="238227" y="369700"/>
                  </a:lnTo>
                  <a:lnTo>
                    <a:pt x="283181" y="350717"/>
                  </a:lnTo>
                  <a:lnTo>
                    <a:pt x="321278" y="321278"/>
                  </a:lnTo>
                  <a:lnTo>
                    <a:pt x="350717" y="283181"/>
                  </a:lnTo>
                  <a:lnTo>
                    <a:pt x="369700" y="238227"/>
                  </a:lnTo>
                  <a:lnTo>
                    <a:pt x="376427" y="188214"/>
                  </a:lnTo>
                  <a:lnTo>
                    <a:pt x="369700" y="138200"/>
                  </a:lnTo>
                  <a:lnTo>
                    <a:pt x="350717" y="93246"/>
                  </a:lnTo>
                  <a:lnTo>
                    <a:pt x="321278" y="55149"/>
                  </a:lnTo>
                  <a:lnTo>
                    <a:pt x="283181" y="25710"/>
                  </a:lnTo>
                  <a:lnTo>
                    <a:pt x="238227" y="6727"/>
                  </a:lnTo>
                  <a:lnTo>
                    <a:pt x="188214" y="0"/>
                  </a:lnTo>
                  <a:close/>
                </a:path>
              </a:pathLst>
            </a:custGeom>
            <a:solidFill>
              <a:srgbClr val="EB2F37">
                <a:alpha val="470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573768" y="3480815"/>
              <a:ext cx="264160" cy="262255"/>
            </a:xfrm>
            <a:custGeom>
              <a:avLst/>
              <a:gdLst/>
              <a:ahLst/>
              <a:cxnLst/>
              <a:rect l="l" t="t" r="r" b="b"/>
              <a:pathLst>
                <a:path w="264159" h="262254">
                  <a:moveTo>
                    <a:pt x="131825" y="0"/>
                  </a:moveTo>
                  <a:lnTo>
                    <a:pt x="80527" y="10298"/>
                  </a:lnTo>
                  <a:lnTo>
                    <a:pt x="38623" y="38385"/>
                  </a:lnTo>
                  <a:lnTo>
                    <a:pt x="10364" y="80045"/>
                  </a:lnTo>
                  <a:lnTo>
                    <a:pt x="0" y="131064"/>
                  </a:lnTo>
                  <a:lnTo>
                    <a:pt x="10364" y="182082"/>
                  </a:lnTo>
                  <a:lnTo>
                    <a:pt x="38623" y="223742"/>
                  </a:lnTo>
                  <a:lnTo>
                    <a:pt x="80527" y="251829"/>
                  </a:lnTo>
                  <a:lnTo>
                    <a:pt x="131825" y="262128"/>
                  </a:lnTo>
                  <a:lnTo>
                    <a:pt x="183124" y="251829"/>
                  </a:lnTo>
                  <a:lnTo>
                    <a:pt x="225028" y="223742"/>
                  </a:lnTo>
                  <a:lnTo>
                    <a:pt x="253287" y="182082"/>
                  </a:lnTo>
                  <a:lnTo>
                    <a:pt x="263651" y="131064"/>
                  </a:lnTo>
                  <a:lnTo>
                    <a:pt x="253287" y="80045"/>
                  </a:lnTo>
                  <a:lnTo>
                    <a:pt x="225028" y="38385"/>
                  </a:lnTo>
                  <a:lnTo>
                    <a:pt x="183124" y="10298"/>
                  </a:lnTo>
                  <a:lnTo>
                    <a:pt x="131825" y="0"/>
                  </a:lnTo>
                  <a:close/>
                </a:path>
              </a:pathLst>
            </a:custGeom>
            <a:solidFill>
              <a:srgbClr val="EB2F37">
                <a:alpha val="5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31425" y="3544569"/>
              <a:ext cx="140716" cy="14071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138416" y="2862072"/>
              <a:ext cx="262255" cy="264160"/>
            </a:xfrm>
            <a:custGeom>
              <a:avLst/>
              <a:gdLst/>
              <a:ahLst/>
              <a:cxnLst/>
              <a:rect l="l" t="t" r="r" b="b"/>
              <a:pathLst>
                <a:path w="262254" h="264160">
                  <a:moveTo>
                    <a:pt x="131063" y="0"/>
                  </a:moveTo>
                  <a:lnTo>
                    <a:pt x="80045" y="10364"/>
                  </a:lnTo>
                  <a:lnTo>
                    <a:pt x="38385" y="38623"/>
                  </a:lnTo>
                  <a:lnTo>
                    <a:pt x="10298" y="80527"/>
                  </a:lnTo>
                  <a:lnTo>
                    <a:pt x="0" y="131825"/>
                  </a:lnTo>
                  <a:lnTo>
                    <a:pt x="10298" y="183124"/>
                  </a:lnTo>
                  <a:lnTo>
                    <a:pt x="38385" y="225028"/>
                  </a:lnTo>
                  <a:lnTo>
                    <a:pt x="80045" y="253287"/>
                  </a:lnTo>
                  <a:lnTo>
                    <a:pt x="131063" y="263651"/>
                  </a:lnTo>
                  <a:lnTo>
                    <a:pt x="182082" y="253287"/>
                  </a:lnTo>
                  <a:lnTo>
                    <a:pt x="223742" y="225028"/>
                  </a:lnTo>
                  <a:lnTo>
                    <a:pt x="251829" y="183124"/>
                  </a:lnTo>
                  <a:lnTo>
                    <a:pt x="262127" y="131825"/>
                  </a:lnTo>
                  <a:lnTo>
                    <a:pt x="251829" y="80527"/>
                  </a:lnTo>
                  <a:lnTo>
                    <a:pt x="223742" y="38623"/>
                  </a:lnTo>
                  <a:lnTo>
                    <a:pt x="182082" y="10364"/>
                  </a:lnTo>
                  <a:lnTo>
                    <a:pt x="131063" y="0"/>
                  </a:lnTo>
                  <a:close/>
                </a:path>
              </a:pathLst>
            </a:custGeom>
            <a:solidFill>
              <a:srgbClr val="EB2F37">
                <a:alpha val="470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78039" y="2904744"/>
              <a:ext cx="182879" cy="18287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0030968" y="2831591"/>
              <a:ext cx="262255" cy="262255"/>
            </a:xfrm>
            <a:custGeom>
              <a:avLst/>
              <a:gdLst/>
              <a:ahLst/>
              <a:cxnLst/>
              <a:rect l="l" t="t" r="r" b="b"/>
              <a:pathLst>
                <a:path w="262254" h="262255">
                  <a:moveTo>
                    <a:pt x="131063" y="0"/>
                  </a:moveTo>
                  <a:lnTo>
                    <a:pt x="80045" y="10298"/>
                  </a:lnTo>
                  <a:lnTo>
                    <a:pt x="38385" y="38385"/>
                  </a:lnTo>
                  <a:lnTo>
                    <a:pt x="10298" y="80045"/>
                  </a:lnTo>
                  <a:lnTo>
                    <a:pt x="0" y="131063"/>
                  </a:lnTo>
                  <a:lnTo>
                    <a:pt x="10298" y="182082"/>
                  </a:lnTo>
                  <a:lnTo>
                    <a:pt x="38385" y="223742"/>
                  </a:lnTo>
                  <a:lnTo>
                    <a:pt x="80045" y="251829"/>
                  </a:lnTo>
                  <a:lnTo>
                    <a:pt x="131063" y="262128"/>
                  </a:lnTo>
                  <a:lnTo>
                    <a:pt x="182082" y="251829"/>
                  </a:lnTo>
                  <a:lnTo>
                    <a:pt x="223742" y="223742"/>
                  </a:lnTo>
                  <a:lnTo>
                    <a:pt x="251829" y="182082"/>
                  </a:lnTo>
                  <a:lnTo>
                    <a:pt x="262127" y="131063"/>
                  </a:lnTo>
                  <a:lnTo>
                    <a:pt x="251829" y="80045"/>
                  </a:lnTo>
                  <a:lnTo>
                    <a:pt x="223742" y="38385"/>
                  </a:lnTo>
                  <a:lnTo>
                    <a:pt x="182082" y="10298"/>
                  </a:lnTo>
                  <a:lnTo>
                    <a:pt x="131063" y="0"/>
                  </a:lnTo>
                  <a:close/>
                </a:path>
              </a:pathLst>
            </a:custGeom>
            <a:solidFill>
              <a:srgbClr val="EB2F37">
                <a:alpha val="470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70592" y="2872740"/>
              <a:ext cx="182879" cy="18440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024116" y="2200656"/>
              <a:ext cx="376555" cy="376555"/>
            </a:xfrm>
            <a:custGeom>
              <a:avLst/>
              <a:gdLst/>
              <a:ahLst/>
              <a:cxnLst/>
              <a:rect l="l" t="t" r="r" b="b"/>
              <a:pathLst>
                <a:path w="376554" h="376555">
                  <a:moveTo>
                    <a:pt x="188213" y="0"/>
                  </a:moveTo>
                  <a:lnTo>
                    <a:pt x="138200" y="6727"/>
                  </a:lnTo>
                  <a:lnTo>
                    <a:pt x="93246" y="25710"/>
                  </a:lnTo>
                  <a:lnTo>
                    <a:pt x="55149" y="55149"/>
                  </a:lnTo>
                  <a:lnTo>
                    <a:pt x="25710" y="93246"/>
                  </a:lnTo>
                  <a:lnTo>
                    <a:pt x="6727" y="138200"/>
                  </a:lnTo>
                  <a:lnTo>
                    <a:pt x="0" y="188214"/>
                  </a:lnTo>
                  <a:lnTo>
                    <a:pt x="6727" y="238227"/>
                  </a:lnTo>
                  <a:lnTo>
                    <a:pt x="25710" y="283181"/>
                  </a:lnTo>
                  <a:lnTo>
                    <a:pt x="55149" y="321278"/>
                  </a:lnTo>
                  <a:lnTo>
                    <a:pt x="93246" y="350717"/>
                  </a:lnTo>
                  <a:lnTo>
                    <a:pt x="138200" y="369700"/>
                  </a:lnTo>
                  <a:lnTo>
                    <a:pt x="188213" y="376428"/>
                  </a:lnTo>
                  <a:lnTo>
                    <a:pt x="238227" y="369700"/>
                  </a:lnTo>
                  <a:lnTo>
                    <a:pt x="283181" y="350717"/>
                  </a:lnTo>
                  <a:lnTo>
                    <a:pt x="321278" y="321278"/>
                  </a:lnTo>
                  <a:lnTo>
                    <a:pt x="350717" y="283181"/>
                  </a:lnTo>
                  <a:lnTo>
                    <a:pt x="369700" y="238227"/>
                  </a:lnTo>
                  <a:lnTo>
                    <a:pt x="376427" y="188214"/>
                  </a:lnTo>
                  <a:lnTo>
                    <a:pt x="369700" y="138200"/>
                  </a:lnTo>
                  <a:lnTo>
                    <a:pt x="350717" y="93246"/>
                  </a:lnTo>
                  <a:lnTo>
                    <a:pt x="321278" y="55149"/>
                  </a:lnTo>
                  <a:lnTo>
                    <a:pt x="283181" y="25710"/>
                  </a:lnTo>
                  <a:lnTo>
                    <a:pt x="238227" y="6727"/>
                  </a:lnTo>
                  <a:lnTo>
                    <a:pt x="188213" y="0"/>
                  </a:lnTo>
                  <a:close/>
                </a:path>
              </a:pathLst>
            </a:custGeom>
            <a:solidFill>
              <a:srgbClr val="EB2F37">
                <a:alpha val="470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80504" y="2260091"/>
              <a:ext cx="264160" cy="262255"/>
            </a:xfrm>
            <a:custGeom>
              <a:avLst/>
              <a:gdLst/>
              <a:ahLst/>
              <a:cxnLst/>
              <a:rect l="l" t="t" r="r" b="b"/>
              <a:pathLst>
                <a:path w="264159" h="262255">
                  <a:moveTo>
                    <a:pt x="131825" y="0"/>
                  </a:moveTo>
                  <a:lnTo>
                    <a:pt x="80527" y="10298"/>
                  </a:lnTo>
                  <a:lnTo>
                    <a:pt x="38623" y="38385"/>
                  </a:lnTo>
                  <a:lnTo>
                    <a:pt x="10364" y="80045"/>
                  </a:lnTo>
                  <a:lnTo>
                    <a:pt x="0" y="131063"/>
                  </a:lnTo>
                  <a:lnTo>
                    <a:pt x="10364" y="182082"/>
                  </a:lnTo>
                  <a:lnTo>
                    <a:pt x="38623" y="223742"/>
                  </a:lnTo>
                  <a:lnTo>
                    <a:pt x="80527" y="251829"/>
                  </a:lnTo>
                  <a:lnTo>
                    <a:pt x="131825" y="262128"/>
                  </a:lnTo>
                  <a:lnTo>
                    <a:pt x="183124" y="251829"/>
                  </a:lnTo>
                  <a:lnTo>
                    <a:pt x="225028" y="223742"/>
                  </a:lnTo>
                  <a:lnTo>
                    <a:pt x="253287" y="182082"/>
                  </a:lnTo>
                  <a:lnTo>
                    <a:pt x="263651" y="131063"/>
                  </a:lnTo>
                  <a:lnTo>
                    <a:pt x="253287" y="80045"/>
                  </a:lnTo>
                  <a:lnTo>
                    <a:pt x="225028" y="38385"/>
                  </a:lnTo>
                  <a:lnTo>
                    <a:pt x="183124" y="10298"/>
                  </a:lnTo>
                  <a:lnTo>
                    <a:pt x="131825" y="0"/>
                  </a:lnTo>
                  <a:close/>
                </a:path>
              </a:pathLst>
            </a:custGeom>
            <a:solidFill>
              <a:srgbClr val="EB2F37">
                <a:alpha val="5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38162" y="2322322"/>
              <a:ext cx="140716" cy="14223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737604" y="2618231"/>
              <a:ext cx="375285" cy="376555"/>
            </a:xfrm>
            <a:custGeom>
              <a:avLst/>
              <a:gdLst/>
              <a:ahLst/>
              <a:cxnLst/>
              <a:rect l="l" t="t" r="r" b="b"/>
              <a:pathLst>
                <a:path w="375284" h="376555">
                  <a:moveTo>
                    <a:pt x="187451" y="0"/>
                  </a:moveTo>
                  <a:lnTo>
                    <a:pt x="137627" y="6727"/>
                  </a:lnTo>
                  <a:lnTo>
                    <a:pt x="92851" y="25710"/>
                  </a:lnTo>
                  <a:lnTo>
                    <a:pt x="54911" y="55149"/>
                  </a:lnTo>
                  <a:lnTo>
                    <a:pt x="25597" y="93246"/>
                  </a:lnTo>
                  <a:lnTo>
                    <a:pt x="6697" y="138200"/>
                  </a:lnTo>
                  <a:lnTo>
                    <a:pt x="0" y="188213"/>
                  </a:lnTo>
                  <a:lnTo>
                    <a:pt x="6697" y="238227"/>
                  </a:lnTo>
                  <a:lnTo>
                    <a:pt x="25597" y="283181"/>
                  </a:lnTo>
                  <a:lnTo>
                    <a:pt x="54911" y="321278"/>
                  </a:lnTo>
                  <a:lnTo>
                    <a:pt x="92851" y="350717"/>
                  </a:lnTo>
                  <a:lnTo>
                    <a:pt x="137627" y="369700"/>
                  </a:lnTo>
                  <a:lnTo>
                    <a:pt x="187451" y="376427"/>
                  </a:lnTo>
                  <a:lnTo>
                    <a:pt x="237276" y="369700"/>
                  </a:lnTo>
                  <a:lnTo>
                    <a:pt x="282052" y="350717"/>
                  </a:lnTo>
                  <a:lnTo>
                    <a:pt x="319992" y="321278"/>
                  </a:lnTo>
                  <a:lnTo>
                    <a:pt x="349306" y="283181"/>
                  </a:lnTo>
                  <a:lnTo>
                    <a:pt x="368206" y="238227"/>
                  </a:lnTo>
                  <a:lnTo>
                    <a:pt x="374903" y="188213"/>
                  </a:lnTo>
                  <a:lnTo>
                    <a:pt x="368206" y="138200"/>
                  </a:lnTo>
                  <a:lnTo>
                    <a:pt x="349306" y="93246"/>
                  </a:lnTo>
                  <a:lnTo>
                    <a:pt x="319992" y="55149"/>
                  </a:lnTo>
                  <a:lnTo>
                    <a:pt x="282052" y="25710"/>
                  </a:lnTo>
                  <a:lnTo>
                    <a:pt x="237276" y="6727"/>
                  </a:lnTo>
                  <a:lnTo>
                    <a:pt x="187451" y="0"/>
                  </a:lnTo>
                  <a:close/>
                </a:path>
              </a:pathLst>
            </a:custGeom>
            <a:solidFill>
              <a:srgbClr val="EB2F37">
                <a:alpha val="470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792468" y="2677668"/>
              <a:ext cx="264160" cy="262255"/>
            </a:xfrm>
            <a:custGeom>
              <a:avLst/>
              <a:gdLst/>
              <a:ahLst/>
              <a:cxnLst/>
              <a:rect l="l" t="t" r="r" b="b"/>
              <a:pathLst>
                <a:path w="264159" h="262255">
                  <a:moveTo>
                    <a:pt x="131825" y="0"/>
                  </a:moveTo>
                  <a:lnTo>
                    <a:pt x="80527" y="10298"/>
                  </a:lnTo>
                  <a:lnTo>
                    <a:pt x="38623" y="38385"/>
                  </a:lnTo>
                  <a:lnTo>
                    <a:pt x="10364" y="80045"/>
                  </a:lnTo>
                  <a:lnTo>
                    <a:pt x="0" y="131064"/>
                  </a:lnTo>
                  <a:lnTo>
                    <a:pt x="10364" y="182082"/>
                  </a:lnTo>
                  <a:lnTo>
                    <a:pt x="38623" y="223742"/>
                  </a:lnTo>
                  <a:lnTo>
                    <a:pt x="80527" y="251829"/>
                  </a:lnTo>
                  <a:lnTo>
                    <a:pt x="131825" y="262128"/>
                  </a:lnTo>
                  <a:lnTo>
                    <a:pt x="183124" y="251829"/>
                  </a:lnTo>
                  <a:lnTo>
                    <a:pt x="225028" y="223742"/>
                  </a:lnTo>
                  <a:lnTo>
                    <a:pt x="253287" y="182082"/>
                  </a:lnTo>
                  <a:lnTo>
                    <a:pt x="263651" y="131064"/>
                  </a:lnTo>
                  <a:lnTo>
                    <a:pt x="253287" y="80045"/>
                  </a:lnTo>
                  <a:lnTo>
                    <a:pt x="225028" y="38385"/>
                  </a:lnTo>
                  <a:lnTo>
                    <a:pt x="183124" y="10298"/>
                  </a:lnTo>
                  <a:lnTo>
                    <a:pt x="131825" y="0"/>
                  </a:lnTo>
                  <a:close/>
                </a:path>
              </a:pathLst>
            </a:custGeom>
            <a:solidFill>
              <a:srgbClr val="EB2F37">
                <a:alpha val="5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50126" y="2739897"/>
              <a:ext cx="140716" cy="14223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888992" y="4101083"/>
              <a:ext cx="375285" cy="376555"/>
            </a:xfrm>
            <a:custGeom>
              <a:avLst/>
              <a:gdLst/>
              <a:ahLst/>
              <a:cxnLst/>
              <a:rect l="l" t="t" r="r" b="b"/>
              <a:pathLst>
                <a:path w="375285" h="376554">
                  <a:moveTo>
                    <a:pt x="187452" y="0"/>
                  </a:moveTo>
                  <a:lnTo>
                    <a:pt x="137627" y="6727"/>
                  </a:lnTo>
                  <a:lnTo>
                    <a:pt x="92851" y="25710"/>
                  </a:lnTo>
                  <a:lnTo>
                    <a:pt x="54911" y="55149"/>
                  </a:lnTo>
                  <a:lnTo>
                    <a:pt x="25597" y="93246"/>
                  </a:lnTo>
                  <a:lnTo>
                    <a:pt x="6697" y="138200"/>
                  </a:lnTo>
                  <a:lnTo>
                    <a:pt x="0" y="188214"/>
                  </a:lnTo>
                  <a:lnTo>
                    <a:pt x="6697" y="238227"/>
                  </a:lnTo>
                  <a:lnTo>
                    <a:pt x="25597" y="283181"/>
                  </a:lnTo>
                  <a:lnTo>
                    <a:pt x="54911" y="321278"/>
                  </a:lnTo>
                  <a:lnTo>
                    <a:pt x="92851" y="350717"/>
                  </a:lnTo>
                  <a:lnTo>
                    <a:pt x="137627" y="369700"/>
                  </a:lnTo>
                  <a:lnTo>
                    <a:pt x="187452" y="376428"/>
                  </a:lnTo>
                  <a:lnTo>
                    <a:pt x="237276" y="369700"/>
                  </a:lnTo>
                  <a:lnTo>
                    <a:pt x="282052" y="350717"/>
                  </a:lnTo>
                  <a:lnTo>
                    <a:pt x="319992" y="321278"/>
                  </a:lnTo>
                  <a:lnTo>
                    <a:pt x="349306" y="283181"/>
                  </a:lnTo>
                  <a:lnTo>
                    <a:pt x="368206" y="238227"/>
                  </a:lnTo>
                  <a:lnTo>
                    <a:pt x="374904" y="188214"/>
                  </a:lnTo>
                  <a:lnTo>
                    <a:pt x="368206" y="138200"/>
                  </a:lnTo>
                  <a:lnTo>
                    <a:pt x="349306" y="93246"/>
                  </a:lnTo>
                  <a:lnTo>
                    <a:pt x="319992" y="55149"/>
                  </a:lnTo>
                  <a:lnTo>
                    <a:pt x="282052" y="25710"/>
                  </a:lnTo>
                  <a:lnTo>
                    <a:pt x="237276" y="6727"/>
                  </a:lnTo>
                  <a:lnTo>
                    <a:pt x="187452" y="0"/>
                  </a:lnTo>
                  <a:close/>
                </a:path>
              </a:pathLst>
            </a:custGeom>
            <a:solidFill>
              <a:srgbClr val="EB2F37">
                <a:alpha val="470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943856" y="4160520"/>
              <a:ext cx="264160" cy="262255"/>
            </a:xfrm>
            <a:custGeom>
              <a:avLst/>
              <a:gdLst/>
              <a:ahLst/>
              <a:cxnLst/>
              <a:rect l="l" t="t" r="r" b="b"/>
              <a:pathLst>
                <a:path w="264160" h="262254">
                  <a:moveTo>
                    <a:pt x="131826" y="0"/>
                  </a:moveTo>
                  <a:lnTo>
                    <a:pt x="80527" y="10298"/>
                  </a:lnTo>
                  <a:lnTo>
                    <a:pt x="38623" y="38385"/>
                  </a:lnTo>
                  <a:lnTo>
                    <a:pt x="10364" y="80045"/>
                  </a:lnTo>
                  <a:lnTo>
                    <a:pt x="0" y="131063"/>
                  </a:lnTo>
                  <a:lnTo>
                    <a:pt x="10364" y="182082"/>
                  </a:lnTo>
                  <a:lnTo>
                    <a:pt x="38623" y="223742"/>
                  </a:lnTo>
                  <a:lnTo>
                    <a:pt x="80527" y="251829"/>
                  </a:lnTo>
                  <a:lnTo>
                    <a:pt x="131826" y="262127"/>
                  </a:lnTo>
                  <a:lnTo>
                    <a:pt x="183124" y="251829"/>
                  </a:lnTo>
                  <a:lnTo>
                    <a:pt x="225028" y="223742"/>
                  </a:lnTo>
                  <a:lnTo>
                    <a:pt x="253287" y="182082"/>
                  </a:lnTo>
                  <a:lnTo>
                    <a:pt x="263652" y="131063"/>
                  </a:lnTo>
                  <a:lnTo>
                    <a:pt x="253287" y="80045"/>
                  </a:lnTo>
                  <a:lnTo>
                    <a:pt x="225028" y="38385"/>
                  </a:lnTo>
                  <a:lnTo>
                    <a:pt x="183124" y="10298"/>
                  </a:lnTo>
                  <a:lnTo>
                    <a:pt x="131826" y="0"/>
                  </a:lnTo>
                  <a:close/>
                </a:path>
              </a:pathLst>
            </a:custGeom>
            <a:solidFill>
              <a:srgbClr val="EB2F37">
                <a:alpha val="5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01514" y="4224274"/>
              <a:ext cx="140715" cy="14071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953256" y="2936747"/>
              <a:ext cx="376555" cy="376555"/>
            </a:xfrm>
            <a:custGeom>
              <a:avLst/>
              <a:gdLst/>
              <a:ahLst/>
              <a:cxnLst/>
              <a:rect l="l" t="t" r="r" b="b"/>
              <a:pathLst>
                <a:path w="376554" h="376554">
                  <a:moveTo>
                    <a:pt x="188214" y="0"/>
                  </a:moveTo>
                  <a:lnTo>
                    <a:pt x="138200" y="6727"/>
                  </a:lnTo>
                  <a:lnTo>
                    <a:pt x="93246" y="25710"/>
                  </a:lnTo>
                  <a:lnTo>
                    <a:pt x="55149" y="55149"/>
                  </a:lnTo>
                  <a:lnTo>
                    <a:pt x="25710" y="93246"/>
                  </a:lnTo>
                  <a:lnTo>
                    <a:pt x="6727" y="138200"/>
                  </a:lnTo>
                  <a:lnTo>
                    <a:pt x="0" y="188213"/>
                  </a:lnTo>
                  <a:lnTo>
                    <a:pt x="6727" y="238227"/>
                  </a:lnTo>
                  <a:lnTo>
                    <a:pt x="25710" y="283181"/>
                  </a:lnTo>
                  <a:lnTo>
                    <a:pt x="55149" y="321278"/>
                  </a:lnTo>
                  <a:lnTo>
                    <a:pt x="93246" y="350717"/>
                  </a:lnTo>
                  <a:lnTo>
                    <a:pt x="138200" y="369700"/>
                  </a:lnTo>
                  <a:lnTo>
                    <a:pt x="188214" y="376427"/>
                  </a:lnTo>
                  <a:lnTo>
                    <a:pt x="238227" y="369700"/>
                  </a:lnTo>
                  <a:lnTo>
                    <a:pt x="283181" y="350717"/>
                  </a:lnTo>
                  <a:lnTo>
                    <a:pt x="321278" y="321278"/>
                  </a:lnTo>
                  <a:lnTo>
                    <a:pt x="350717" y="283181"/>
                  </a:lnTo>
                  <a:lnTo>
                    <a:pt x="369700" y="238227"/>
                  </a:lnTo>
                  <a:lnTo>
                    <a:pt x="376428" y="188213"/>
                  </a:lnTo>
                  <a:lnTo>
                    <a:pt x="369700" y="138200"/>
                  </a:lnTo>
                  <a:lnTo>
                    <a:pt x="350717" y="93246"/>
                  </a:lnTo>
                  <a:lnTo>
                    <a:pt x="321278" y="55149"/>
                  </a:lnTo>
                  <a:lnTo>
                    <a:pt x="283181" y="25710"/>
                  </a:lnTo>
                  <a:lnTo>
                    <a:pt x="238227" y="6727"/>
                  </a:lnTo>
                  <a:lnTo>
                    <a:pt x="188214" y="0"/>
                  </a:lnTo>
                  <a:close/>
                </a:path>
              </a:pathLst>
            </a:custGeom>
            <a:solidFill>
              <a:srgbClr val="EB2F37">
                <a:alpha val="470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09644" y="2996184"/>
              <a:ext cx="262255" cy="264160"/>
            </a:xfrm>
            <a:custGeom>
              <a:avLst/>
              <a:gdLst/>
              <a:ahLst/>
              <a:cxnLst/>
              <a:rect l="l" t="t" r="r" b="b"/>
              <a:pathLst>
                <a:path w="262254" h="264160">
                  <a:moveTo>
                    <a:pt x="131063" y="0"/>
                  </a:moveTo>
                  <a:lnTo>
                    <a:pt x="80045" y="10364"/>
                  </a:lnTo>
                  <a:lnTo>
                    <a:pt x="38385" y="38623"/>
                  </a:lnTo>
                  <a:lnTo>
                    <a:pt x="10298" y="80527"/>
                  </a:lnTo>
                  <a:lnTo>
                    <a:pt x="0" y="131825"/>
                  </a:lnTo>
                  <a:lnTo>
                    <a:pt x="10298" y="183124"/>
                  </a:lnTo>
                  <a:lnTo>
                    <a:pt x="38385" y="225028"/>
                  </a:lnTo>
                  <a:lnTo>
                    <a:pt x="80045" y="253287"/>
                  </a:lnTo>
                  <a:lnTo>
                    <a:pt x="131063" y="263651"/>
                  </a:lnTo>
                  <a:lnTo>
                    <a:pt x="182082" y="253287"/>
                  </a:lnTo>
                  <a:lnTo>
                    <a:pt x="223742" y="225028"/>
                  </a:lnTo>
                  <a:lnTo>
                    <a:pt x="251829" y="183124"/>
                  </a:lnTo>
                  <a:lnTo>
                    <a:pt x="262127" y="131825"/>
                  </a:lnTo>
                  <a:lnTo>
                    <a:pt x="251829" y="80527"/>
                  </a:lnTo>
                  <a:lnTo>
                    <a:pt x="223742" y="38623"/>
                  </a:lnTo>
                  <a:lnTo>
                    <a:pt x="182082" y="10364"/>
                  </a:lnTo>
                  <a:lnTo>
                    <a:pt x="131063" y="0"/>
                  </a:lnTo>
                  <a:close/>
                </a:path>
              </a:pathLst>
            </a:custGeom>
            <a:solidFill>
              <a:srgbClr val="EB2F37">
                <a:alpha val="5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65778" y="3059937"/>
              <a:ext cx="142239" cy="140715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240893" y="5598972"/>
            <a:ext cx="5752465" cy="797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754"/>
              </a:lnSpc>
              <a:spcBef>
                <a:spcPts val="100"/>
              </a:spcBef>
            </a:pPr>
            <a:r>
              <a:rPr sz="3200" dirty="0">
                <a:latin typeface="Arial Black"/>
                <a:cs typeface="Arial Black"/>
              </a:rPr>
              <a:t>UPS</a:t>
            </a:r>
            <a:r>
              <a:rPr sz="3200" spc="-85" dirty="0">
                <a:latin typeface="Arial Black"/>
                <a:cs typeface="Arial Black"/>
              </a:rPr>
              <a:t> </a:t>
            </a:r>
            <a:r>
              <a:rPr sz="3200" dirty="0">
                <a:latin typeface="Arial Black"/>
                <a:cs typeface="Arial Black"/>
              </a:rPr>
              <a:t>HA</a:t>
            </a:r>
            <a:r>
              <a:rPr sz="3200" spc="-70" dirty="0">
                <a:latin typeface="Arial Black"/>
                <a:cs typeface="Arial Black"/>
              </a:rPr>
              <a:t> </a:t>
            </a:r>
            <a:r>
              <a:rPr sz="3200" dirty="0">
                <a:latin typeface="Arial Black"/>
                <a:cs typeface="Arial Black"/>
              </a:rPr>
              <a:t>CREAT</a:t>
            </a:r>
            <a:r>
              <a:rPr sz="3200" spc="-105" dirty="0">
                <a:latin typeface="Arial Black"/>
                <a:cs typeface="Arial Black"/>
              </a:rPr>
              <a:t> </a:t>
            </a:r>
            <a:r>
              <a:rPr sz="3200" dirty="0">
                <a:latin typeface="Arial Black"/>
                <a:cs typeface="Arial Black"/>
              </a:rPr>
              <a:t>GGN</a:t>
            </a:r>
            <a:r>
              <a:rPr sz="3200" spc="-75" dirty="0">
                <a:latin typeface="Arial Black"/>
                <a:cs typeface="Arial Black"/>
              </a:rPr>
              <a:t> </a:t>
            </a:r>
            <a:r>
              <a:rPr sz="3200" spc="-20" dirty="0">
                <a:latin typeface="Arial Black"/>
                <a:cs typeface="Arial Black"/>
              </a:rPr>
              <a:t>1054</a:t>
            </a:r>
            <a:endParaRPr sz="3200" dirty="0">
              <a:latin typeface="Arial Black"/>
              <a:cs typeface="Arial Black"/>
            </a:endParaRPr>
          </a:p>
          <a:p>
            <a:pPr marL="12700">
              <a:lnSpc>
                <a:spcPts val="2315"/>
              </a:lnSpc>
            </a:pPr>
            <a:r>
              <a:rPr sz="2000" dirty="0">
                <a:latin typeface="Arial Black"/>
                <a:cs typeface="Arial Black"/>
              </a:rPr>
              <a:t>Dec</a:t>
            </a:r>
            <a:r>
              <a:rPr sz="2000" spc="-30" dirty="0">
                <a:latin typeface="Arial Black"/>
                <a:cs typeface="Arial Black"/>
              </a:rPr>
              <a:t> </a:t>
            </a:r>
            <a:r>
              <a:rPr sz="2000" spc="-20" dirty="0">
                <a:latin typeface="Arial Black"/>
                <a:cs typeface="Arial Black"/>
              </a:rPr>
              <a:t>2025</a:t>
            </a:r>
            <a:endParaRPr sz="2000" dirty="0">
              <a:latin typeface="Arial Black"/>
              <a:cs typeface="Arial Black"/>
            </a:endParaRPr>
          </a:p>
        </p:txBody>
      </p:sp>
      <p:pic>
        <p:nvPicPr>
          <p:cNvPr id="30" name="object 3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9915" y="3180588"/>
            <a:ext cx="3919728" cy="2054352"/>
          </a:xfrm>
          <a:prstGeom prst="rect">
            <a:avLst/>
          </a:prstGeom>
        </p:spPr>
      </p:pic>
      <p:sp>
        <p:nvSpPr>
          <p:cNvPr id="31" name="GTBClassificationF1325332256">
            <a:extLst>
              <a:ext uri="{FF2B5EF4-FFF2-40B4-BE49-F238E27FC236}">
                <a16:creationId xmlns:a16="http://schemas.microsoft.com/office/drawing/2014/main" id="{2655ADA9-225C-455A-A736-485195AD657D}"/>
              </a:ext>
            </a:extLst>
          </p:cNvPr>
          <p:cNvSpPr txBox="1"/>
          <p:nvPr/>
        </p:nvSpPr>
        <p:spPr>
          <a:xfrm>
            <a:off x="0" y="6592253"/>
            <a:ext cx="12192000" cy="265747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IN" sz="9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IN" sz="9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IN" sz="900" b="1">
                <a:solidFill>
                  <a:srgbClr val="0062B1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0"/>
            <a:ext cx="54864" cy="68580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kern="0" spc="400" dirty="0">
                <a:solidFill>
                  <a:srgbClr val="FFFFFF"/>
                </a:solidFill>
              </a:rPr>
              <a:t>SMART APS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D4A017"/>
                </a:solidFill>
              </a:rPr>
              <a:t>V9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65760" y="25603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0F0F0"/>
                </a:solidFill>
              </a:rPr>
              <a:t>Advanced Planning &amp;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D0F0F0"/>
                </a:solidFill>
              </a:rPr>
              <a:t>Scheduling System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2560320" cy="274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703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4A017"/>
                </a:solidFill>
              </a:rPr>
              <a:t>Constraints &amp; Solutions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731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D4A017"/>
                </a:solidFill>
              </a:rPr>
              <a:t>INJECTION MOULDING DIVISION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188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A0C4D8"/>
                </a:solidFill>
              </a:rPr>
              <a:t>UNO MINDA RIKA PRIVATE LIMITED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664208"/>
            <a:ext cx="7132320" cy="27432"/>
          </a:xfrm>
          <a:prstGeom prst="rect">
            <a:avLst/>
          </a:prstGeom>
          <a:solidFill>
            <a:srgbClr val="3A5A78"/>
          </a:solidFill>
          <a:ln w="12700">
            <a:solidFill>
              <a:srgbClr val="3A5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8745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C1  Inventory Health — 5-Day Target System</a:t>
            </a:r>
          </a:p>
        </p:txBody>
      </p:sp>
      <p:sp>
        <p:nvSpPr>
          <p:cNvPr id="13" name="Text 11"/>
          <p:cNvSpPr/>
          <p:nvPr/>
        </p:nvSpPr>
        <p:spPr>
          <a:xfrm>
            <a:off x="4572000" y="230428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C2  Priority Scoring — Urgency-First Planning</a:t>
            </a:r>
          </a:p>
        </p:txBody>
      </p:sp>
      <p:sp>
        <p:nvSpPr>
          <p:cNvPr id="14" name="Text 12"/>
          <p:cNvSpPr/>
          <p:nvPr/>
        </p:nvSpPr>
        <p:spPr>
          <a:xfrm>
            <a:off x="4572000" y="273405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C3  22-Hour Daily Production Rule</a:t>
            </a:r>
          </a:p>
        </p:txBody>
      </p:sp>
      <p:sp>
        <p:nvSpPr>
          <p:cNvPr id="15" name="Text 13"/>
          <p:cNvSpPr/>
          <p:nvPr/>
        </p:nvSpPr>
        <p:spPr>
          <a:xfrm>
            <a:off x="4572000" y="316382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C4  Specialised Machine Protection</a:t>
            </a:r>
          </a:p>
        </p:txBody>
      </p:sp>
      <p:sp>
        <p:nvSpPr>
          <p:cNvPr id="16" name="Text 14"/>
          <p:cNvSpPr/>
          <p:nvPr/>
        </p:nvSpPr>
        <p:spPr>
          <a:xfrm>
            <a:off x="4572000" y="359359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C5  Same-Part Continuation &amp; Changeover Minimisation</a:t>
            </a:r>
          </a:p>
        </p:txBody>
      </p:sp>
      <p:sp>
        <p:nvSpPr>
          <p:cNvPr id="17" name="Text 15"/>
          <p:cNvSpPr/>
          <p:nvPr/>
        </p:nvSpPr>
        <p:spPr>
          <a:xfrm>
            <a:off x="4572000" y="402336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C6  Minimum Tools Principle</a:t>
            </a:r>
          </a:p>
        </p:txBody>
      </p:sp>
      <p:sp>
        <p:nvSpPr>
          <p:cNvPr id="18" name="Text 16"/>
          <p:cNvSpPr/>
          <p:nvPr/>
        </p:nvSpPr>
        <p:spPr>
          <a:xfrm>
            <a:off x="4572000" y="445312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C7  Serial Tool-Changer Queue</a:t>
            </a:r>
          </a:p>
        </p:txBody>
      </p:sp>
      <p:sp>
        <p:nvSpPr>
          <p:cNvPr id="19" name="Text 17"/>
          <p:cNvSpPr/>
          <p:nvPr/>
        </p:nvSpPr>
        <p:spPr>
          <a:xfrm>
            <a:off x="4572000" y="488289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C8  Minimum 4-Hour Run Block</a:t>
            </a:r>
          </a:p>
        </p:txBody>
      </p:sp>
      <p:sp>
        <p:nvSpPr>
          <p:cNvPr id="20" name="Text 18"/>
          <p:cNvSpPr/>
          <p:nvPr/>
        </p:nvSpPr>
        <p:spPr>
          <a:xfrm>
            <a:off x="4572000" y="531266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C9  No Machine Sits Idle — 90% Floor</a:t>
            </a:r>
          </a:p>
        </p:txBody>
      </p:sp>
      <p:sp>
        <p:nvSpPr>
          <p:cNvPr id="21" name="Text 19"/>
          <p:cNvSpPr/>
          <p:nvPr/>
        </p:nvSpPr>
        <p:spPr>
          <a:xfrm>
            <a:off x="4572000" y="574243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C10 Colour Grouping &amp; Purge Management</a:t>
            </a:r>
          </a:p>
        </p:txBody>
      </p:sp>
      <p:sp>
        <p:nvSpPr>
          <p:cNvPr id="22" name="Text 20"/>
          <p:cNvSpPr/>
          <p:nvPr/>
        </p:nvSpPr>
        <p:spPr>
          <a:xfrm>
            <a:off x="0" y="6601968"/>
            <a:ext cx="1216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9AB0"/>
                </a:solidFill>
              </a:rPr>
              <a:t>Prepared by: Tushar (Intern)  |  Guided by: Mr. Amrit Lal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8"/>
                </a:solidFill>
              </a:rPr>
              <a:t>Smart APS V9  |  Uno Minda Rika Private Limited  |  Injection Moulding Division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WHAT THIS PRESENTATION COVERS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A0C4D8"/>
                </a:solidFill>
              </a:rPr>
              <a:t>10 constraints — each explained with the problem it solves, the mechanism, and the flowchart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640080" cy="5669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6304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1463040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69848" y="14996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4A"/>
                </a:solidFill>
              </a:rPr>
              <a:t>Inventory Health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69848" y="176479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5-Day target with safety floor &amp; ceiling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487168"/>
            <a:ext cx="640080" cy="566928"/>
          </a:xfrm>
          <a:prstGeom prst="rect">
            <a:avLst/>
          </a:prstGeom>
          <a:solidFill>
            <a:srgbClr val="14A3A8"/>
          </a:solidFill>
          <a:ln w="12700">
            <a:solidFill>
              <a:srgbClr val="14A3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48716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0120" y="2487168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69848" y="25237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4A"/>
                </a:solidFill>
              </a:rPr>
              <a:t>Priority Scoring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2788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Urgency-first assignment, displacement pass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3511296"/>
            <a:ext cx="640080" cy="56692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51129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0120" y="3511296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69848" y="35478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4A"/>
                </a:solidFill>
              </a:rPr>
              <a:t>22-Hour Rule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69848" y="38130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Two-shift planning with hard ceiling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4535424"/>
            <a:ext cx="64008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535424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0120" y="4535424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69848" y="45720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4A"/>
                </a:solidFill>
              </a:rPr>
              <a:t>Specialised Machines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69848" y="483717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Part-count based machine ranking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5559552"/>
            <a:ext cx="640080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555955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0120" y="5559552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69848" y="55961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4A"/>
                </a:solidFill>
              </a:rPr>
              <a:t>Same-Part Continuation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69848" y="586130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Changeover minimisation &amp; queue stagger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63640" y="1463040"/>
            <a:ext cx="640080" cy="5669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146304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03720" y="1463040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013448" y="14996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4A"/>
                </a:solidFill>
              </a:rPr>
              <a:t>Minimum Tools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13448" y="176479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1→2→3 tool escalation logic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63640" y="2487168"/>
            <a:ext cx="640080" cy="5669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248716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C7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903720" y="2487168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013448" y="25237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4A"/>
                </a:solidFill>
              </a:rPr>
              <a:t>Serial Tool-Changer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013448" y="2788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Structural no-overlap guarantee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263640" y="3511296"/>
            <a:ext cx="640080" cy="5669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351129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C8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903720" y="3511296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013448" y="35478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4A"/>
                </a:solidFill>
              </a:rPr>
              <a:t>Minimum Run Block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013448" y="38130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4-hour effective production floor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63640" y="4535424"/>
            <a:ext cx="640080" cy="56692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4535424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C9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903720" y="4535424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013448" y="45720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4A"/>
                </a:solidFill>
              </a:rPr>
              <a:t>No Machine Idle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013448" y="483717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90% utilisation enforcer — uncapped extension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263640" y="5559552"/>
            <a:ext cx="640080" cy="566928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63640" y="555955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C10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903720" y="5559552"/>
            <a:ext cx="521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013448" y="55961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4A"/>
                </a:solidFill>
              </a:rPr>
              <a:t>Colour Grouping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013448" y="586130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10-min purge penalty &amp; colour-aware ranking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8"/>
                </a:solidFill>
              </a:rPr>
              <a:t>Smart APS V9  |  Uno Minda Rika Private Limited  |  Injection Moulding Division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C1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463040" y="2743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E4A"/>
                </a:solidFill>
              </a:rPr>
              <a:t>Inventory Health — 5-Day Target System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81328" y="107899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D7377"/>
                </a:solidFill>
              </a:rPr>
              <a:t>Two constants: SAFETY_DAYS = 3  |  TARGET_DAYS = 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1481328"/>
            <a:ext cx="101498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91C1C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63040" y="18745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Without scenario awareness, a day when all parts have 4-day stock is treated identically to a day when parts are at zero. This causes over-production during healthy periods and under-reaction during crises.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1572768"/>
            <a:ext cx="1572768" cy="4114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157276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03520" y="1984248"/>
            <a:ext cx="1572768" cy="685800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1984248"/>
            <a:ext cx="157276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91C1C"/>
                </a:solidFill>
              </a:rPr>
              <a:t>ALL critical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B91C1C"/>
                </a:solidFill>
              </a:rPr>
              <a:t>&lt; 1 day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303520" y="2670048"/>
            <a:ext cx="157276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2670048"/>
            <a:ext cx="1572768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Build to 5-day target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urgent parts first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303520" y="3493008"/>
            <a:ext cx="1572768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34930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Cap: 1.5× daily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95160" y="1572768"/>
            <a:ext cx="1572768" cy="4114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157276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95160" y="1984248"/>
            <a:ext cx="1572768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1984248"/>
            <a:ext cx="157276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</a:rPr>
              <a:t>SOME critical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</a:rPr>
              <a:t>others have stock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995160" y="2670048"/>
            <a:ext cx="157276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2670048"/>
            <a:ext cx="1572768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Critical → 5-day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Others maintain buffer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995160" y="3493008"/>
            <a:ext cx="1572768" cy="3474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34930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Cap: 3× daily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686800" y="1572768"/>
            <a:ext cx="1572768" cy="4114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0" y="157276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S2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686800" y="1984248"/>
            <a:ext cx="1572768" cy="68580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0" y="1984248"/>
            <a:ext cx="157276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369A1"/>
                </a:solidFill>
              </a:rPr>
              <a:t>ALL exist but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369A1"/>
                </a:solidFill>
              </a:rPr>
              <a:t>&lt; 5-day target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686800" y="2670048"/>
            <a:ext cx="157276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0" y="2670048"/>
            <a:ext cx="1572768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Fill to 5-day target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systematically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686800" y="3493008"/>
            <a:ext cx="1572768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0" y="34930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Cap: 4× daily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378440" y="1572768"/>
            <a:ext cx="1572768" cy="4114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378440" y="157276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S3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0378440" y="1984248"/>
            <a:ext cx="1572768" cy="685800"/>
          </a:xfrm>
          <a:prstGeom prst="rect">
            <a:avLst/>
          </a:prstGeom>
          <a:solidFill>
            <a:srgbClr val="D1FAE5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378440" y="1984248"/>
            <a:ext cx="157276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7A4A"/>
                </a:solidFill>
              </a:rPr>
              <a:t>ALL healthy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A7A4A"/>
                </a:solidFill>
              </a:rPr>
              <a:t>≥ 3-day safety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0378440" y="2670048"/>
            <a:ext cx="1572768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78440" y="2670048"/>
            <a:ext cx="1572768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Produce 1×daily only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</a:rPr>
              <a:t>Skip parts at ≥5 days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0378440" y="3493008"/>
            <a:ext cx="1572768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378440" y="349300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Cap: 5× daily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463040" y="2834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5-DAY TARGET = 3 days buffer + 2 days safety cushion (covers days when a part cannot be planned)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463040" y="3611880"/>
            <a:ext cx="3566160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53896" y="3566160"/>
            <a:ext cx="27432" cy="16459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97280" y="37307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E4A"/>
                </a:solidFill>
              </a:rPr>
              <a:t>0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819656" y="3566160"/>
            <a:ext cx="27432" cy="16459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63040" y="37307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E4A"/>
                </a:solidFill>
              </a:rPr>
              <a:t>1d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A2E4A"/>
                </a:solidFill>
              </a:rPr>
              <a:t>Critical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761488" y="3566160"/>
            <a:ext cx="27432" cy="16459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04872" y="37307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E4A"/>
                </a:solidFill>
              </a:rPr>
              <a:t>3d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A2E4A"/>
                </a:solidFill>
              </a:rPr>
              <a:t>Safety Floor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904488" y="3566160"/>
            <a:ext cx="27432" cy="16459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47872" y="37307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E4A"/>
                </a:solidFill>
              </a:rPr>
              <a:t>5d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A2E4A"/>
                </a:solidFill>
              </a:rPr>
              <a:t>Target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745736" y="3566160"/>
            <a:ext cx="27432" cy="16459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89120" y="37307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E4A"/>
                </a:solidFill>
              </a:rPr>
              <a:t>6d+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463040" y="3593592"/>
            <a:ext cx="36576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28800" y="3593592"/>
            <a:ext cx="941832" cy="91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70632" y="3593592"/>
            <a:ext cx="1143000" cy="91440"/>
          </a:xfrm>
          <a:prstGeom prst="rect">
            <a:avLst/>
          </a:prstGeom>
          <a:solidFill>
            <a:srgbClr val="14A3A8"/>
          </a:solidFill>
          <a:ln w="12700">
            <a:solidFill>
              <a:srgbClr val="14A3A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13632" y="3593592"/>
            <a:ext cx="841248" cy="914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463040" y="42519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</a:rPr>
              <a:t>If fails → VT_Not_Planned | New: VT_Inventory_Target sheet shows every part vs 5-day ceiling with estimated days to reach target</a:t>
            </a:r>
            <a:endParaRPr lang="en-US" sz="950" dirty="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1766B537-9D0B-4E45-961E-4127366215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872" y="36576"/>
            <a:ext cx="1114001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8"/>
                </a:solidFill>
              </a:rPr>
              <a:t>Smart APS V9  |  Uno Minda Rika Private Limited  |  Injection Moulding Division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C2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463040" y="2743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E4A"/>
                </a:solidFill>
              </a:rPr>
              <a:t>Priority Scoring — Urgency-First Assignment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81328" y="107899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D7377"/>
                </a:solidFill>
              </a:rPr>
              <a:t>Score 0–100 per part  |  Highest score gets a machine first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1481328"/>
            <a:ext cx="101498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1554480"/>
            <a:ext cx="3291840" cy="5943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80160" y="15544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55%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94560" y="1554480"/>
            <a:ext cx="237744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URGENCY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280160" y="2148840"/>
            <a:ext cx="3291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71600" y="2148840"/>
            <a:ext cx="310896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Gap below 3-day safety floor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(SAFETY_DAYS = 3)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Zero below floor = 55 pts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1554480"/>
            <a:ext cx="329184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15544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25%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852160" y="1554480"/>
            <a:ext cx="237744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CATEGORY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2148840"/>
            <a:ext cx="3291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2148840"/>
            <a:ext cx="310896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Runner = 25 pts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Repeater = 15 pts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Stranger = 5 pts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95360" y="1554480"/>
            <a:ext cx="3291840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95360" y="15544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20%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509760" y="1554480"/>
            <a:ext cx="237744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DAILY INDENT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95360" y="2148840"/>
            <a:ext cx="3291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686800" y="2148840"/>
            <a:ext cx="310896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Highest-demand part = 20 pts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Others scaled proportionally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292608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3776" y="3383280"/>
            <a:ext cx="285292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A"/>
                </a:solidFill>
              </a:rPr>
              <a:t>Compute priority scores for ALL active parts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920240" y="3858768"/>
            <a:ext cx="0" cy="164592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457200" y="4023360"/>
            <a:ext cx="292608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3776" y="4023360"/>
            <a:ext cx="285292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A"/>
                </a:solidFill>
              </a:rPr>
              <a:t>Sort parts: highest score first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920240" y="4498848"/>
            <a:ext cx="0" cy="164592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457200" y="4663440"/>
            <a:ext cx="292608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3776" y="4663440"/>
            <a:ext cx="285292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A"/>
                </a:solidFill>
              </a:rPr>
              <a:t>Assign machines in score order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920240" y="5138928"/>
            <a:ext cx="0" cy="164592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457200" y="5257800"/>
            <a:ext cx="2926080" cy="475488"/>
          </a:xfrm>
          <a:prstGeom prst="rect">
            <a:avLst/>
          </a:prstGeom>
          <a:solidFill>
            <a:srgbClr val="FFF7ED"/>
          </a:solidFill>
          <a:ln w="12700">
            <a:solidFill>
              <a:srgbClr val="D4A01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3776" y="5257800"/>
            <a:ext cx="285292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5309"/>
                </a:solidFill>
              </a:rPr>
              <a:t>◆  Machine available for this part?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651760" y="5733288"/>
            <a:ext cx="0" cy="118872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457200" y="5852160"/>
            <a:ext cx="2926080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5852160"/>
            <a:ext cx="29260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7A4A"/>
                </a:solidFill>
              </a:rPr>
              <a:t>✓  Planned  ✓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566160" y="5257800"/>
            <a:ext cx="256032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160" y="5257800"/>
            <a:ext cx="2560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</a:rPr>
              <a:t>✗  VT_Not_Planned (score visible)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83280" y="5495544"/>
            <a:ext cx="182880" cy="0"/>
          </a:xfrm>
          <a:prstGeom prst="line">
            <a:avLst/>
          </a:prstGeom>
          <a:noFill/>
          <a:ln w="12700">
            <a:solidFill>
              <a:srgbClr val="B91C1C"/>
            </a:solidFill>
            <a:prstDash val="solid"/>
            <a:tailEnd type="arrow"/>
          </a:ln>
        </p:spPr>
      </p:sp>
      <p:sp>
        <p:nvSpPr>
          <p:cNvPr id="42" name="Shape 40"/>
          <p:cNvSpPr/>
          <p:nvPr/>
        </p:nvSpPr>
        <p:spPr>
          <a:xfrm>
            <a:off x="3657600" y="3310128"/>
            <a:ext cx="8229600" cy="3063240"/>
          </a:xfrm>
          <a:prstGeom prst="rect">
            <a:avLst/>
          </a:prstGeom>
          <a:solidFill>
            <a:srgbClr val="F0FDF4"/>
          </a:solidFill>
          <a:ln w="12700">
            <a:solidFill>
              <a:srgbClr val="1A7A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657600" y="3310128"/>
            <a:ext cx="822960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03320" y="33101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V9 NEW  —  DISPLACEMENT PASS  (zero-inventory Runner / Repeater guarantee)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767328" y="3822192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803904" y="3822192"/>
            <a:ext cx="1755648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4A"/>
                </a:solidFill>
              </a:rPr>
              <a:t>① Primary scheduling runs.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E4A"/>
                </a:solidFill>
              </a:rPr>
              <a:t>Zero-inv Runner / Repeater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E4A"/>
                </a:solidFill>
              </a:rPr>
              <a:t>still unscheduled?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696712" y="4279392"/>
            <a:ext cx="0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48" name="Shape 46"/>
          <p:cNvSpPr/>
          <p:nvPr/>
        </p:nvSpPr>
        <p:spPr>
          <a:xfrm>
            <a:off x="5797296" y="3822192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833872" y="3822192"/>
            <a:ext cx="1755648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4A"/>
                </a:solidFill>
              </a:rPr>
              <a:t>② Find compatible machine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E4A"/>
                </a:solidFill>
              </a:rPr>
              <a:t>carrying part with MOST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E4A"/>
                </a:solidFill>
              </a:rPr>
              <a:t>days of stock ( ≥ 3 days 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726680" y="4279392"/>
            <a:ext cx="0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51" name="Shape 49"/>
          <p:cNvSpPr/>
          <p:nvPr/>
        </p:nvSpPr>
        <p:spPr>
          <a:xfrm>
            <a:off x="7827264" y="3822192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863840" y="3822192"/>
            <a:ext cx="1755648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4A"/>
                </a:solidFill>
              </a:rPr>
              <a:t>③ Reduce that part's run by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E4A"/>
                </a:solidFill>
              </a:rPr>
              <a:t>MIN_RUN_HOURS.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E4A"/>
                </a:solidFill>
              </a:rPr>
              <a:t>Freed slot created.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756648" y="4279392"/>
            <a:ext cx="0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54" name="Shape 52"/>
          <p:cNvSpPr/>
          <p:nvPr/>
        </p:nvSpPr>
        <p:spPr>
          <a:xfrm>
            <a:off x="9857232" y="3822192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9893808" y="3822192"/>
            <a:ext cx="1755648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4A"/>
                </a:solidFill>
              </a:rPr>
              <a:t>④ Assign zero-inv part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E4A"/>
                </a:solidFill>
              </a:rPr>
              <a:t>to freed slot.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2E4A"/>
                </a:solidFill>
              </a:rPr>
              <a:t>Guaranteed placement.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749040" y="4846320"/>
            <a:ext cx="8092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7A4A"/>
                </a:solidFill>
              </a:rPr>
              <a:t>Safety rule: will NOT displace a part below its own 3-day safety floor. Cannot rob one crisis to fund another.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8"/>
                </a:solidFill>
              </a:rPr>
              <a:t>Smart APS V9  |  Uno Minda Rika Private Limited  |  Injection Moulding Division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C3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463040" y="2743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E4A"/>
                </a:solidFill>
              </a:rPr>
              <a:t>The 22-Hour Daily Production Rule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81328" y="107899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D7377"/>
                </a:solidFill>
              </a:rPr>
              <a:t>2 shifts × 12h  |  1h break each  =  11h per shift  =  22h per day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1481328"/>
            <a:ext cx="101498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1572768"/>
            <a:ext cx="4754880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15727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SHIFT 1  (12 hours)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463040" y="2075688"/>
            <a:ext cx="4361688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2075688"/>
            <a:ext cx="4361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PRODUCTION  —  11 hours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24728" y="2075688"/>
            <a:ext cx="393192" cy="5486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24728" y="2075688"/>
            <a:ext cx="393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BRK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583680" y="1572768"/>
            <a:ext cx="4754880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5727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SHIFT 2  (12 hours)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2075688"/>
            <a:ext cx="4361688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075688"/>
            <a:ext cx="4361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PRODUCTION  —  11 hours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945368" y="2075688"/>
            <a:ext cx="393192" cy="5486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45368" y="2075688"/>
            <a:ext cx="393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BRK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217920" y="1801368"/>
            <a:ext cx="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0200" y="2697480"/>
            <a:ext cx="288036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316736" y="2697480"/>
            <a:ext cx="312724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</a:rPr>
              <a:t>Machine starts the day with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</a:rPr>
              <a:t>22 hours available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80560" y="3026664"/>
            <a:ext cx="731520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5238988" y="2697480"/>
            <a:ext cx="2328672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39700" y="2688336"/>
            <a:ext cx="312724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</a:rPr>
              <a:t>Each part assigned: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</a:rPr>
              <a:t>Deducts  Run Time + CO Time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94568" y="3026664"/>
            <a:ext cx="1130808" cy="9144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8708662" y="2702052"/>
            <a:ext cx="262989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373276" y="2697480"/>
            <a:ext cx="312724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</a:rPr>
              <a:t>Hours remaining checked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E4A"/>
                </a:solidFill>
              </a:rPr>
              <a:t>before every new assignment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280160" y="3611880"/>
            <a:ext cx="11064240" cy="795528"/>
          </a:xfrm>
          <a:prstGeom prst="rect">
            <a:avLst/>
          </a:prstGeom>
          <a:solidFill>
            <a:srgbClr val="FFF7ED"/>
          </a:solidFill>
          <a:ln w="12700">
            <a:solidFill>
              <a:srgbClr val="D4A01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316736" y="3611880"/>
            <a:ext cx="10991088" cy="7955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5309"/>
                </a:solidFill>
              </a:rPr>
              <a:t>◆  Does the part fit within remaining hours?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812280" y="3355848"/>
            <a:ext cx="0" cy="256032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1280160" y="4572000"/>
            <a:ext cx="4572000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80160" y="4572000"/>
            <a:ext cx="4572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7A4A"/>
                </a:solidFill>
              </a:rPr>
              <a:t>✓  Added to plan  ✓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09360" y="4572000"/>
            <a:ext cx="457200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4572000"/>
            <a:ext cx="4572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</a:rPr>
              <a:t>✗  → VT_Not_Planned with exact free-hours map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303075" y="5255595"/>
            <a:ext cx="1051560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17320" y="5074920"/>
            <a:ext cx="1024128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E4A"/>
                </a:solidFill>
              </a:rPr>
              <a:t>Key formulas:  </a:t>
            </a:r>
            <a:r>
              <a:rPr lang="en-US" sz="1050" dirty="0">
                <a:solidFill>
                  <a:srgbClr val="1E293B"/>
                </a:solidFill>
              </a:rPr>
              <a:t>Rate = 3600 ÷ cycle_time (pcs/hr)   |   Daily Indent = Monthly Indent ÷ Working Days   |   Working Days = Calendar Days − Sundays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8"/>
                </a:solidFill>
              </a:rPr>
              <a:t>Smart APS V9  |  Uno Minda Rika Private Limited  |  Injection Moulding Division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C4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463040" y="2743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E4A"/>
                </a:solidFill>
              </a:rPr>
              <a:t>Specialised Machine Protection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81328" y="107899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D7377"/>
                </a:solidFill>
              </a:rPr>
              <a:t>Part-Count ranking — most constrained machine gets its parts first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1481328"/>
            <a:ext cx="101498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1554480"/>
            <a:ext cx="10515600" cy="4114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Machine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Part Count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23360" y="15544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Compatible Parts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13816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Ranking Score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96696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Assigned First?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280160" y="1965960"/>
            <a:ext cx="10515600" cy="621792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19659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A"/>
                </a:solidFill>
              </a:rPr>
              <a:t>M3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19659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0" y="1965960"/>
            <a:ext cx="4114800" cy="62179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Part A, Part 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138160" y="196596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0.13 (lower = better)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966960" y="196596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4A"/>
                </a:solidFill>
              </a:rPr>
              <a:t>✅ YES — FIRST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280160" y="1965960"/>
            <a:ext cx="73152" cy="6217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36776" y="235719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B91C1C"/>
                </a:solidFill>
              </a:rPr>
              <a:t>SPECIALISED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280160" y="2624328"/>
            <a:ext cx="10515600" cy="621792"/>
          </a:xfrm>
          <a:prstGeom prst="rect">
            <a:avLst/>
          </a:prstGeom>
          <a:solidFill>
            <a:srgbClr val="FEF9E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0160" y="262432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A"/>
                </a:solidFill>
              </a:rPr>
              <a:t>M2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51760" y="262432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5309"/>
                </a:solidFill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23360" y="2624328"/>
            <a:ext cx="4114800" cy="62179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Part A, B, C, D, E, F, G, 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138160" y="262432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0.53 (lower = better)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966960" y="262432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2nd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280160" y="3282696"/>
            <a:ext cx="1051560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0160" y="328269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A"/>
                </a:solidFill>
              </a:rPr>
              <a:t>M1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51760" y="328269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A4A"/>
                </a:solidFill>
              </a:rPr>
              <a:t>15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023360" y="3282696"/>
            <a:ext cx="4114800" cy="62179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Part A–O (15 parts compatible)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138160" y="328269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1.00 (lower = better)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966960" y="328269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3rd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005" y="585935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count_score = part_count ÷ max_part_count  |  Lower count = stronger preference  |  M3 protected before M1 can take any work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335024" y="3941064"/>
            <a:ext cx="2093976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325880" y="3931920"/>
            <a:ext cx="2036064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A"/>
                </a:solidFill>
              </a:rPr>
              <a:t>Part needs a machine → list compatible machines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 flipV="1">
            <a:off x="3438145" y="4206240"/>
            <a:ext cx="192024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3631324" y="3933969"/>
            <a:ext cx="2388476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387169" y="3931920"/>
            <a:ext cx="2944368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A"/>
                </a:solidFill>
              </a:rPr>
              <a:t>Sort by Part_Count ascending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E4A"/>
                </a:solidFill>
              </a:rPr>
              <a:t>(fewest-parts machine = rank 1)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024109" y="4181015"/>
            <a:ext cx="16459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43" name="Shape 41"/>
          <p:cNvSpPr/>
          <p:nvPr/>
        </p:nvSpPr>
        <p:spPr>
          <a:xfrm>
            <a:off x="6217920" y="3931920"/>
            <a:ext cx="2291098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808805" y="3924983"/>
            <a:ext cx="2944368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A"/>
                </a:solidFill>
              </a:rPr>
              <a:t>Assign to rank-1 machine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E4A"/>
                </a:solidFill>
              </a:rPr>
              <a:t>(most constrained first)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509018" y="4178650"/>
            <a:ext cx="16459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46" name="Shape 44"/>
          <p:cNvSpPr/>
          <p:nvPr/>
        </p:nvSpPr>
        <p:spPr>
          <a:xfrm>
            <a:off x="8707138" y="3950208"/>
            <a:ext cx="2485381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248151" y="3924983"/>
            <a:ext cx="3218688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A"/>
                </a:solidFill>
              </a:rPr>
              <a:t>Remaining machines stay free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E4A"/>
                </a:solidFill>
              </a:rPr>
              <a:t>for their dedicated parts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280160" y="4663440"/>
            <a:ext cx="5029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280160" y="4663440"/>
            <a:ext cx="73152" cy="1143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4173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975104" y="4718304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4A"/>
                </a:solidFill>
              </a:rPr>
              <a:t>If Machine is Full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417320" y="51663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</a:rPr>
              <a:t>If even the specialised machine is full and its dedicated part cannot be planned, the part appears at the top of VT_Not_Planned. The planner can free hours by reducing a lower-priority part.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675120" y="4663440"/>
            <a:ext cx="5120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675120" y="4663440"/>
            <a:ext cx="73152" cy="1143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1228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7370064" y="4718304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4A"/>
                </a:solidFill>
              </a:rPr>
              <a:t>VT_Machine_Part_Count Sheet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812280" y="51663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</a:rPr>
              <a:t>Source data: column 'Machine' and 'Part_Count'. Loaded at startup. max_part_count drives the normalisation. Missing data defaults to equal ranking for all machines.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8"/>
                </a:solidFill>
              </a:rPr>
              <a:t>Smart APS V9  |  Uno Minda Rika Private Limited  |  Injection Moulding Division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C5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463040" y="2743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E4A"/>
                </a:solidFill>
              </a:rPr>
              <a:t>Same-Part Continuation &amp; Changeover Minimisation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81328" y="107899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D7377"/>
                </a:solidFill>
              </a:rPr>
              <a:t>machine_state.json  |  Serial queue  |  Quantity stagger — 20-min post-finish buffer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1481328"/>
            <a:ext cx="101498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1554480"/>
            <a:ext cx="3383280" cy="4114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1554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🟢  CASE 1  —  Same Part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280160" y="1965960"/>
            <a:ext cx="3383280" cy="530352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53312" y="196596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</a:rPr>
              <a:t>Mould: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286000" y="19659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Already loaded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280160" y="2514600"/>
            <a:ext cx="3383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53312" y="251460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</a:rPr>
              <a:t>While waiting: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286000" y="251460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None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280160" y="3063240"/>
            <a:ext cx="3383280" cy="530352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53312" y="306324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</a:rPr>
              <a:t>New part qty: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286000" y="306324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Based on full 22h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37760" y="1554480"/>
            <a:ext cx="338328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554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🔵  CASE 2  —  Diff Part, Same Colour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37760" y="1965960"/>
            <a:ext cx="338328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196596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</a:rPr>
              <a:t>Mould: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943600" y="19659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Change needed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No purge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37760" y="2514600"/>
            <a:ext cx="3383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51460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</a:rPr>
              <a:t>While waiting: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943600" y="251460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Short (queue position 1–3)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37760" y="3063240"/>
            <a:ext cx="338328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10912" y="306324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</a:rPr>
              <a:t>New part qty: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943600" y="306324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22h minus wait time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595360" y="1554480"/>
            <a:ext cx="3383280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95360" y="15544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🟡  CASE 3  —  Diff Part, Diff Colour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595360" y="1965960"/>
            <a:ext cx="3383280" cy="530352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68512" y="196596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</a:rPr>
              <a:t>Mould: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601200" y="19659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Change + 10-min purge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595360" y="2514600"/>
            <a:ext cx="3383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68512" y="251460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</a:rPr>
              <a:t>While waiting: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9601200" y="251460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Longer (queue position 4+)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595360" y="3063240"/>
            <a:ext cx="3383280" cy="530352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68512" y="306324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</a:rPr>
              <a:t>New part qty: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9601200" y="306324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22h minus longer wait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280160" y="3657600"/>
            <a:ext cx="10515600" cy="34747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80160" y="36576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CHANGEOVER QUEUE — HOW IT WORKS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280160" y="4114800"/>
            <a:ext cx="1664208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316736" y="4114800"/>
            <a:ext cx="1591056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End of day: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Save last part per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machine → JSON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944368" y="4517136"/>
            <a:ext cx="16459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48" name="Shape 46"/>
          <p:cNvSpPr/>
          <p:nvPr/>
        </p:nvSpPr>
        <p:spPr>
          <a:xfrm>
            <a:off x="3108960" y="4114800"/>
            <a:ext cx="1664208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145536" y="4114800"/>
            <a:ext cx="1591056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Next day: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Prefer same-machine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for each part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73168" y="4517136"/>
            <a:ext cx="16459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51" name="Shape 49"/>
          <p:cNvSpPr/>
          <p:nvPr/>
        </p:nvSpPr>
        <p:spPr>
          <a:xfrm>
            <a:off x="4937760" y="4114800"/>
            <a:ext cx="1664208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974336" y="4114800"/>
            <a:ext cx="1591056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Unavoidable COs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joined to serial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tool-changer queue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601968" y="4517136"/>
            <a:ext cx="16459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54" name="Shape 52"/>
          <p:cNvSpPr/>
          <p:nvPr/>
        </p:nvSpPr>
        <p:spPr>
          <a:xfrm>
            <a:off x="6766560" y="4114800"/>
            <a:ext cx="1664208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803136" y="4114800"/>
            <a:ext cx="1591056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Queue sorted by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natural_start time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ascending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430768" y="4517136"/>
            <a:ext cx="16459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57" name="Shape 55"/>
          <p:cNvSpPr/>
          <p:nvPr/>
        </p:nvSpPr>
        <p:spPr>
          <a:xfrm>
            <a:off x="8595360" y="4114800"/>
            <a:ext cx="1664208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8631936" y="4114800"/>
            <a:ext cx="1591056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Each CO: actual_start =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max(natural, free_at)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free_at advances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10259568" y="4517136"/>
            <a:ext cx="16459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60" name="Shape 58"/>
          <p:cNvSpPr/>
          <p:nvPr/>
        </p:nvSpPr>
        <p:spPr>
          <a:xfrm>
            <a:off x="10424160" y="4114800"/>
            <a:ext cx="1664208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10460736" y="4114800"/>
            <a:ext cx="1591056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Machine waits?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Extend previous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A2E4A"/>
                </a:solidFill>
              </a:rPr>
              <a:t>part's run to fill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280160" y="5029200"/>
            <a:ext cx="1051560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417320" y="5029200"/>
            <a:ext cx="102412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45309"/>
                </a:solidFill>
              </a:rPr>
              <a:t>Quantity stagger rule: </a:t>
            </a:r>
            <a:r>
              <a:rPr lang="en-US" sz="950" dirty="0">
                <a:solidFill>
                  <a:srgbClr val="1E293B"/>
                </a:solidFill>
              </a:rPr>
              <a:t>required_gap = CO_duration + 20 min.  If two COs would finish within that gap, PUSH: add qty to later machine (free production). If push exceeds OPD cap, PULL: reduce earlier machine's qty (never below daily indent).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8"/>
                </a:solidFill>
              </a:rPr>
              <a:t>Smart APS V9  |  Uno Minda Rika Private Limited  |  Injection Moulding Division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C6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463040" y="2743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E4A"/>
                </a:solidFill>
              </a:rPr>
              <a:t>Minimum Tools Principle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81328" y="107899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D7377"/>
                </a:solidFill>
              </a:rPr>
              <a:t>Tool 1 always first  |  Tool 2 only for shortfall  |  Tool 3+ only at zero inventory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1481328"/>
            <a:ext cx="101498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1554480"/>
            <a:ext cx="3291840" cy="4389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15544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PHASE 1  —  Primary Machine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280160" y="1993392"/>
            <a:ext cx="3291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71600" y="1993392"/>
            <a:ext cx="310896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Run Tool 1 up to capacity.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Target: cover full daily indent.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395728"/>
            <a:ext cx="365760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4937760" y="1554480"/>
            <a:ext cx="329184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5544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PHASE 2  —  Tool Expansion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37760" y="1993392"/>
            <a:ext cx="3291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0" y="1993392"/>
            <a:ext cx="310896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Shortfall remains?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Add Tool 2 for shortfall only.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(Normal: max 2 tools)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0" y="2395728"/>
            <a:ext cx="365760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8595360" y="1554480"/>
            <a:ext cx="3291840" cy="43891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15544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PHASE 3  —  Inventory Build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595360" y="1993392"/>
            <a:ext cx="3291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E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0" y="1993392"/>
            <a:ext cx="310896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Indent covered?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Extend same machines to build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inventory toward 5-day target.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280160" y="3337560"/>
            <a:ext cx="502920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D4A01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316736" y="3337560"/>
            <a:ext cx="4956048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5309"/>
                </a:solidFill>
              </a:rPr>
              <a:t>◆  Tool 1 alone covers full daily indent?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280160" y="4142232"/>
            <a:ext cx="5029200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80160" y="4142232"/>
            <a:ext cx="5029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7A4A"/>
                </a:solidFill>
              </a:rPr>
              <a:t>✓  YES  →  Stop. 1 tool used. Phase 3 builds buffer.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09360" y="3639312"/>
            <a:ext cx="365760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6675120" y="3337560"/>
            <a:ext cx="502920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D4A01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11696" y="3337560"/>
            <a:ext cx="4956048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5309"/>
                </a:solidFill>
              </a:rPr>
              <a:t>◆  Shortfall covered after Tool 2?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675120" y="4142232"/>
            <a:ext cx="5029200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4142232"/>
            <a:ext cx="5029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7A4A"/>
                </a:solidFill>
              </a:rPr>
              <a:t>✓  YES  →  Stop. 2 tools used. Gap reported in VT_Production_vs_Indent.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280160" y="4617720"/>
            <a:ext cx="1051560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80160" y="46177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5309"/>
                </a:solidFill>
              </a:rPr>
              <a:t>Tool 3+ — CRISIS ONLY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480560" y="4617720"/>
            <a:ext cx="27432" cy="9144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4617720"/>
            <a:ext cx="694944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</a:rPr>
              <a:t>A third (or more) tool is only permitted when: (a) inventory = ZERO  AND  (b) Tools 1 + 2 together still cannot cover the shortfall. Any use of 3+ tools is flagged in the console with tag [CRISIS — 3rd+ tool]. Under normal operations this tag should never appear.</a:t>
            </a:r>
            <a:endParaRPr lang="en-US" sz="950" dirty="0"/>
          </a:p>
        </p:txBody>
      </p:sp>
      <p:pic>
        <p:nvPicPr>
          <p:cNvPr id="1026" name="Picture 2" descr="Minimum Tools Principle Diagram">
            <a:extLst>
              <a:ext uri="{FF2B5EF4-FFF2-40B4-BE49-F238E27FC236}">
                <a16:creationId xmlns:a16="http://schemas.microsoft.com/office/drawing/2014/main" id="{C3CB6A28-4415-4ED8-91BF-DF92C01F7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872" y="914400"/>
            <a:ext cx="1103223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8"/>
                </a:solidFill>
              </a:rPr>
              <a:t>Smart APS V9  |  Uno Minda Rika Private Limited  |  Injection Moulding Division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C7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463040" y="2743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E4A"/>
                </a:solidFill>
              </a:rPr>
              <a:t>Serial Tool-Changer Queue — No-Overlap Guarantee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81328" y="107899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D7377"/>
                </a:solidFill>
              </a:rPr>
              <a:t>Structural guarantee — not an optimisation — overlap is physically impossible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1481328"/>
            <a:ext cx="101498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16002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91C1C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80160" y="1874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One tool-change team for 30 machines. If 5 machines need COs at the same time, 4 machines sit idle waiting. Previous CSP solver hung the system with 20+ events.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1554480"/>
            <a:ext cx="5486400" cy="38404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5544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SERIAL QUEUE MECHANISM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1938528"/>
            <a:ext cx="347472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938528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48272" y="1938528"/>
            <a:ext cx="5138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Collect all CO events from the plan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2322576"/>
            <a:ext cx="347472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322576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48272" y="2322576"/>
            <a:ext cx="5138928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23225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Sort by natural_start time ascending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2706624"/>
            <a:ext cx="347472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706624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48272" y="2706624"/>
            <a:ext cx="5138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27066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Walk through one by one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3090672"/>
            <a:ext cx="347472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09067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48272" y="3090672"/>
            <a:ext cx="5138928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30906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actual_start = max(natural_start, free_at)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0" y="3474720"/>
            <a:ext cx="347472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47472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48272" y="3474720"/>
            <a:ext cx="51389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3474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free_at = actual_start + CO_duration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0" y="3858768"/>
            <a:ext cx="347472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3858768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48272" y="3858768"/>
            <a:ext cx="5138928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858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Machine waits? Extend previous part's run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280160" y="2788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4A"/>
                </a:solidFill>
              </a:rPr>
              <a:t>EXAMPLE TIMELINE — 4 machines, 4 COs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280160" y="3200400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E4A"/>
                </a:solidFill>
              </a:rPr>
              <a:t>M1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691640" y="3236976"/>
            <a:ext cx="506437" cy="365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91640" y="3236976"/>
            <a:ext cx="5064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198077" y="3236976"/>
            <a:ext cx="2532185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98077" y="3236976"/>
            <a:ext cx="25321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RUN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280160" y="3685032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E4A"/>
                </a:solidFill>
              </a:rPr>
              <a:t>M2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691640" y="3721608"/>
            <a:ext cx="506437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91640" y="3721608"/>
            <a:ext cx="5064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wait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2198077" y="3721608"/>
            <a:ext cx="443132" cy="365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98077" y="3721608"/>
            <a:ext cx="443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2641209" y="3721608"/>
            <a:ext cx="2025748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41209" y="3721608"/>
            <a:ext cx="20257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RUN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280160" y="4169664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E4A"/>
                </a:solidFill>
              </a:rPr>
              <a:t>M3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691640" y="4206240"/>
            <a:ext cx="949569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691640" y="4206240"/>
            <a:ext cx="9495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wait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2641209" y="4206240"/>
            <a:ext cx="506437" cy="365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41209" y="4206240"/>
            <a:ext cx="5064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147646" y="4206240"/>
            <a:ext cx="2278966" cy="3657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47646" y="4206240"/>
            <a:ext cx="22789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RUN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280160" y="4654296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E4A"/>
                </a:solidFill>
              </a:rPr>
              <a:t>M4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691640" y="4690872"/>
            <a:ext cx="1456006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691640" y="4690872"/>
            <a:ext cx="14560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wait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3147646" y="4690872"/>
            <a:ext cx="443132" cy="365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47646" y="4690872"/>
            <a:ext cx="443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3590778" y="4690872"/>
            <a:ext cx="1772529" cy="3657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590778" y="4690872"/>
            <a:ext cx="17725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RUN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1280160" y="5166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</a:rPr>
              <a:t>Time →  |  No two CO bars overlap.  |  Waiting time filled with extended production.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1280160" y="5596128"/>
            <a:ext cx="1051560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463040" y="5596128"/>
            <a:ext cx="102412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377"/>
                </a:solidFill>
              </a:rPr>
              <a:t>GUARANTEE:  </a:t>
            </a:r>
            <a:r>
              <a:rPr lang="en-US" sz="1000" dirty="0">
                <a:solidFill>
                  <a:srgbClr val="1E293B"/>
                </a:solidFill>
              </a:rPr>
              <a:t>Because free_at only ever moves FORWARD, actual_start ≥ free_at always. Two changeovers cannot overlap — this is enforced by the data structure, not by a solver or time limit. Performance: O(n log n). No system hangs regardless of CO count.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8"/>
                </a:solidFill>
              </a:rPr>
              <a:t>Smart APS V9  |  Uno Minda Rika Private Limited  |  Injection Moulding Division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C8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463040" y="2743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E4A"/>
                </a:solidFill>
              </a:rPr>
              <a:t>Minimum 4-Hour Run Block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81328" y="107899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D7377"/>
                </a:solidFill>
              </a:rPr>
              <a:t>Changeover overhead must be justified by sufficient run time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1481328"/>
            <a:ext cx="101498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1600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1C1C"/>
                </a:solidFill>
              </a:rPr>
              <a:t>WITHOUT  4-HOUR RULE  — wasteful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280160" y="1938528"/>
            <a:ext cx="1143000" cy="5486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193852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 40m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23160" y="1938528"/>
            <a:ext cx="685800" cy="5486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193852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Run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1.5h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08960" y="1938528"/>
            <a:ext cx="3291840" cy="5486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1938528"/>
            <a:ext cx="329184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WASTED — machine idle  (40 min CO for 1.5h production is 36% overhead)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280160" y="26334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A4A"/>
                </a:solidFill>
              </a:rPr>
              <a:t>WITH  4-HOUR RULE  — efficient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280160" y="2971800"/>
            <a:ext cx="1143000" cy="5486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297180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 40m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423160" y="2971800"/>
            <a:ext cx="3931920" cy="5486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23160" y="2971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RUN  ≥ 4 hours  (CO overhead = 14% — acceptable)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0" y="1572768"/>
            <a:ext cx="530352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37376" y="1572768"/>
            <a:ext cx="52303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A"/>
                </a:solidFill>
              </a:rPr>
              <a:t>Machine has remaining free hours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378440" y="2139696"/>
            <a:ext cx="0" cy="18288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6400800" y="2322576"/>
            <a:ext cx="530352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37376" y="2322576"/>
            <a:ext cx="52303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A"/>
                </a:solidFill>
              </a:rPr>
              <a:t>Subtract CO time from remaining hours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378440" y="2889504"/>
            <a:ext cx="0" cy="18288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6400800" y="3072384"/>
            <a:ext cx="530352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D4A01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37376" y="3072384"/>
            <a:ext cx="523036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5309"/>
                </a:solidFill>
              </a:rPr>
              <a:t>◆  Effective free time ≥ 4 hours?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378440" y="3639312"/>
            <a:ext cx="0" cy="13716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6400800" y="3776472"/>
            <a:ext cx="5303520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776472"/>
            <a:ext cx="53035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7A4A"/>
                </a:solidFill>
              </a:rPr>
              <a:t>✓  Assign part. Run begins after CO.  ✓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1704320" y="3355848"/>
            <a:ext cx="320040" cy="0"/>
          </a:xfrm>
          <a:prstGeom prst="line">
            <a:avLst/>
          </a:prstGeom>
          <a:noFill/>
          <a:ln w="12700">
            <a:solidFill>
              <a:srgbClr val="B91C1C"/>
            </a:solidFill>
            <a:prstDash val="solid"/>
            <a:tailEnd type="arrow"/>
          </a:ln>
        </p:spPr>
      </p:sp>
      <p:sp>
        <p:nvSpPr>
          <p:cNvPr id="34" name="Text 32"/>
          <p:cNvSpPr/>
          <p:nvPr/>
        </p:nvSpPr>
        <p:spPr>
          <a:xfrm>
            <a:off x="12051792" y="307238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B91C1C"/>
                </a:solidFill>
              </a:rPr>
              <a:t>NO →  Skip this machine.</a:t>
            </a:r>
            <a:endParaRPr lang="en-US" sz="850" dirty="0"/>
          </a:p>
          <a:p>
            <a:pPr marL="0" indent="0" algn="l">
              <a:buNone/>
            </a:pPr>
            <a:r>
              <a:rPr lang="en-US" sz="850" b="1" dirty="0">
                <a:solidFill>
                  <a:srgbClr val="B91C1C"/>
                </a:solidFill>
              </a:rPr>
              <a:t>Try next compatible machine.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280160" y="3749040"/>
            <a:ext cx="10515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463040" y="3749040"/>
            <a:ext cx="1014984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E4A"/>
                </a:solidFill>
              </a:rPr>
              <a:t>effective_free = remaining − CO_hours
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Rule: effective_free ≥ MIN_RUN_HOURS (4.0h)   |   Applied at every assignment — primary, enforcer, filler, skipped parts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280160" y="4773168"/>
            <a:ext cx="10515600" cy="932688"/>
          </a:xfrm>
          <a:prstGeom prst="rect">
            <a:avLst/>
          </a:prstGeom>
          <a:solidFill>
            <a:srgbClr val="FFF7ED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17320" y="47731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45309"/>
                </a:solidFill>
              </a:rPr>
              <a:t>Exception — 90% Floor Extension (Constraint 9):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417320" y="51206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</a:rPr>
              <a:t>When a machine is below the 90% utilisation floor and remaining time is less than 4 hours, the system extends the already-running part without requiring the 4-hour minimum. This is the only permitted exception. It is tagged +Floor90 in the output.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8"/>
                </a:solidFill>
              </a:rPr>
              <a:t>Smart APS V9  |  Uno Minda Rika Private Limited  |  Injection Moulding Division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C9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463040" y="2743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E4A"/>
                </a:solidFill>
              </a:rPr>
              <a:t>No Machine Sits Idle — 90% Utilisation Floor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81328" y="107899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D7377"/>
                </a:solidFill>
              </a:rPr>
              <a:t>5-step enforcer  |  Step 0 fires below 90% floor  |  Uncapped extension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1481328"/>
            <a:ext cx="101498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1572768"/>
            <a:ext cx="10515600" cy="80467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1572768"/>
            <a:ext cx="105156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</a:rPr>
              <a:t>22 HOURS AVAILABLE PER MACHINE PER DAY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63040" y="1828800"/>
            <a:ext cx="10149840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97896" y="1828800"/>
            <a:ext cx="1014984" cy="47548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1828800"/>
            <a:ext cx="9134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PLANNED PRODUCTION  (90% floor = 19.8h)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597896" y="1828800"/>
            <a:ext cx="1014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A9AB0"/>
                </a:solidFill>
              </a:rPr>
              <a:t>2.2h max idle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0597896" y="1755648"/>
            <a:ext cx="0" cy="585216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93401" y="157276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4A017"/>
                </a:solidFill>
              </a:rPr>
              <a:t>90% floor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280160" y="2578608"/>
            <a:ext cx="201168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2578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91C1C"/>
                </a:solidFill>
              </a:rPr>
              <a:t>★  V9 NEW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280160" y="2834640"/>
            <a:ext cx="2011680" cy="5029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280160" y="28346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74520" y="2834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90% FLOOR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Extension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280160" y="333756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335024" y="333756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Below 90%?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Extend existing parts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NO inventory cap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NO 4h minimum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91840" y="3493008"/>
            <a:ext cx="182880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3474720" y="2834640"/>
            <a:ext cx="201168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0" y="28346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069080" y="2834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NORMAL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Extension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0" y="333756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529584" y="333756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OPD-capped extension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of existing parts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Highest priority first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0" y="3493008"/>
            <a:ext cx="182880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5669280" y="2834640"/>
            <a:ext cx="20116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669280" y="28346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2834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ADD NEW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PART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0" y="333756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724144" y="333756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Unplanned compatible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part with demand.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Colour-aware sort.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680960" y="3493008"/>
            <a:ext cx="182880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7863840" y="2834640"/>
            <a:ext cx="2011680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863840" y="28346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458200" y="2834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RE-RUN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SPARE TOOL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863840" y="333756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E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918704" y="333756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Already-planned part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with spare tool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available.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875520" y="3493008"/>
            <a:ext cx="182880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10058400" y="2834640"/>
            <a:ext cx="2011680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0058400" y="28346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652760" y="2834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SKIPPED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PART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0058400" y="333756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10113264" y="333756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Last resort.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Previously skipped part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(low indent/trivial).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280160" y="4663440"/>
            <a:ext cx="10515600" cy="566928"/>
          </a:xfrm>
          <a:prstGeom prst="rect">
            <a:avLst/>
          </a:prstGeom>
          <a:solidFill>
            <a:srgbClr val="D1FAE5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417320" y="46634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7A4A"/>
                </a:solidFill>
              </a:rPr>
              <a:t>✓  Step 5 — LOG MICRO-IDLE: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0" y="4663440"/>
            <a:ext cx="7086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</a:rPr>
              <a:t>If all 5 steps exhausted and machine still has ≥ 0.25h idle time below 90% floor → logged in VT_Micro_Idle sheet with exact reason. Management has full visibility of why the machine could not be filled.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8"/>
                </a:solidFill>
              </a:rPr>
              <a:t>Smart APS V9  |  Uno Minda Rika Private Limited  |  Injection Moulding Division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" y="25603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C10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463040" y="2743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E4A"/>
                </a:solidFill>
              </a:rPr>
              <a:t>Colour Grouping &amp; Purge Management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81328" y="107899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D7377"/>
                </a:solidFill>
              </a:rPr>
              <a:t>Loaded from Color column in VT sheet  |  10-minute purge penalty for colour change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1481328"/>
            <a:ext cx="101498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1554480"/>
            <a:ext cx="3383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280160" y="1554480"/>
            <a:ext cx="3383280" cy="731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162763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</a:rPr>
              <a:t>🟢  Same Part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17320" y="2148840"/>
            <a:ext cx="3108960" cy="411480"/>
          </a:xfrm>
          <a:prstGeom prst="rect">
            <a:avLst/>
          </a:prstGeom>
          <a:solidFill>
            <a:srgbClr val="D1FAE5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4A"/>
                </a:solidFill>
              </a:rPr>
              <a:t>CO Time: 0 minutes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Mould loaded. Start immediately.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0" y="1554480"/>
            <a:ext cx="3383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1554480"/>
            <a:ext cx="338328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62763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</a:rPr>
              <a:t>🔵  Diff Part — Same Colour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0" y="2148840"/>
            <a:ext cx="310896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377"/>
                </a:solidFill>
              </a:rPr>
              <a:t>CO Time: Normal CO only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Mould changes, colour same. No barrel purge required.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595360" y="1554480"/>
            <a:ext cx="3383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595360" y="1554480"/>
            <a:ext cx="338328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0" y="162763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</a:rPr>
              <a:t>🟡  Diff Part — Diff Colour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732520" y="2148840"/>
            <a:ext cx="310896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325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</a:rPr>
              <a:t>CO Time: Normal CO + 10 min purge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Residual colour must be purged before new run.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280160" y="3273552"/>
            <a:ext cx="10515600" cy="34747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0160" y="327355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MACHINE RANKING COST  —  HOW COLOUR FITS 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280160" y="3621024"/>
            <a:ext cx="10515600" cy="484632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0160" y="3621024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4A"/>
                </a:solidFill>
              </a:rPr>
              <a:t>-0.15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286000" y="3621024"/>
            <a:ext cx="3657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</a:rPr>
              <a:t>Same part as last run (zero CO)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0" y="3621024"/>
            <a:ext cx="5669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Strongest preference. Mould loaded, start immediately.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280160" y="4123944"/>
            <a:ext cx="10515600" cy="48463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80160" y="4123944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4A"/>
                </a:solidFill>
              </a:rPr>
              <a:t>-0.08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286000" y="4123944"/>
            <a:ext cx="3657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</a:rPr>
              <a:t>Different part, same colour (no purge)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43600" y="4123944"/>
            <a:ext cx="5669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Strong preference. CO needed but colour purge avoided.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280160" y="4626864"/>
            <a:ext cx="10515600" cy="484632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80160" y="4626864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4A"/>
                </a:solidFill>
              </a:rPr>
              <a:t> 0.00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286000" y="4626864"/>
            <a:ext cx="3657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</a:rPr>
              <a:t>Different part, different colour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43600" y="4626864"/>
            <a:ext cx="5669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Standard. CO + 10-min purge added to changeover time.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280160" y="5212080"/>
            <a:ext cx="1051560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17320" y="52303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7377"/>
                </a:solidFill>
              </a:rPr>
              <a:t>COLOUR IN ALL OUTPUT SHEETS — added columns: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380744" y="5614416"/>
            <a:ext cx="201168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18488" y="5577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Color (part colour)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901184" y="5614416"/>
            <a:ext cx="201168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38928" y="5577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Color_Purge (Yes/No)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421624" y="5614416"/>
            <a:ext cx="201168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59368" y="5577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Color_Before / Color_After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380744" y="5907024"/>
            <a:ext cx="201168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18488" y="58704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Color_Change (YES—PURGE)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01184" y="5907024"/>
            <a:ext cx="201168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38928" y="58704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Colors_Today (machine util)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421624" y="5907024"/>
            <a:ext cx="201168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59368" y="58704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Color_Purges (count per machine)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620256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F4F8"/>
                </a:solidFill>
              </a:rPr>
              <a:t>Smart APS V9  |  Uno Minda Rika Private Limited  |  Injection Moulding Division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ALL 10 CONSTRAINTS — QUICK REFERENCE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0C4D8"/>
                </a:solidFill>
              </a:rPr>
              <a:t>Problem  •  Solution  •  Fallback — one line per constraint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115568"/>
            <a:ext cx="658368" cy="53949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15568"/>
            <a:ext cx="6583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1115568"/>
            <a:ext cx="112014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115568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E4A"/>
                </a:solidFill>
              </a:rPr>
              <a:t>Inventory Health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34640" y="1207008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115568"/>
            <a:ext cx="5760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</a:rPr>
              <a:t>5-day target (SAFETY=3, TARGET=5). Scenario S0–S3 sets production qty.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686800" y="1207008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0" y="1115568"/>
            <a:ext cx="3154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</a:rPr>
              <a:t>VT_Not_Planned  |  VT_Inventory_Target sheet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64592" y="1682496"/>
            <a:ext cx="658368" cy="539496"/>
          </a:xfrm>
          <a:prstGeom prst="rect">
            <a:avLst/>
          </a:prstGeom>
          <a:solidFill>
            <a:srgbClr val="14A3A8"/>
          </a:solidFill>
          <a:ln w="12700">
            <a:solidFill>
              <a:srgbClr val="14A3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1682496"/>
            <a:ext cx="6583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1682496"/>
            <a:ext cx="11201400" cy="53949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1682496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E4A"/>
                </a:solidFill>
              </a:rPr>
              <a:t>Priority Scoring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834640" y="1773936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1682496"/>
            <a:ext cx="5760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</a:rPr>
              <a:t>Score 0–100 per part. Urgency vs 3-day floor. Highest assigned first. Displacement for zero-inv R/R.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686800" y="1773936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0" y="1682496"/>
            <a:ext cx="3154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</a:rPr>
              <a:t>VT_Not_Planned (score visible at top)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64592" y="2249424"/>
            <a:ext cx="658368" cy="539496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2249424"/>
            <a:ext cx="6583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" y="2249424"/>
            <a:ext cx="112014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2249424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E4A"/>
                </a:solidFill>
              </a:rPr>
              <a:t>22-Hour Rule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834640" y="2340864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2249424"/>
            <a:ext cx="5760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</a:rPr>
              <a:t>Hard ceiling. CO time + run time ≤ remaining hours. Applied before every assignment.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686800" y="2340864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2249424"/>
            <a:ext cx="3154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</a:rPr>
              <a:t>VT_Not_Planned with free-hours map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64592" y="2816352"/>
            <a:ext cx="658368" cy="5394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" y="2816352"/>
            <a:ext cx="6583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22960" y="2816352"/>
            <a:ext cx="11201400" cy="53949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2816352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E4A"/>
                </a:solidFill>
              </a:rPr>
              <a:t>Specialised Machines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834640" y="2907792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0" y="2816352"/>
            <a:ext cx="5760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</a:rPr>
              <a:t>Part_Count ranking: fewest-parts machine first. Guarantees constrained machines are served first.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686800" y="2907792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78240" y="2816352"/>
            <a:ext cx="3154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</a:rPr>
              <a:t>VT_Not_Planned if specialised machine full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64592" y="3383280"/>
            <a:ext cx="658368" cy="5394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4592" y="3383280"/>
            <a:ext cx="6583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C5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22960" y="3383280"/>
            <a:ext cx="112014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3383280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E4A"/>
                </a:solidFill>
              </a:rPr>
              <a:t>Same-Part Continuation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834640" y="3474720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26080" y="3383280"/>
            <a:ext cx="5760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</a:rPr>
              <a:t>Save state daily. Prefer same machine. Queue stagger: req_gap = CO_dur + 20 min. Push/Pull qty.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686800" y="3474720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78240" y="3383280"/>
            <a:ext cx="3154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</a:rPr>
              <a:t>CO charged + sequenced by tool-changer queue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" y="3950208"/>
            <a:ext cx="658368" cy="53949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64592" y="3950208"/>
            <a:ext cx="6583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C6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22960" y="3950208"/>
            <a:ext cx="11201400" cy="53949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4400" y="3950208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E4A"/>
                </a:solidFill>
              </a:rPr>
              <a:t>Minimum Tools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834640" y="4041648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26080" y="3950208"/>
            <a:ext cx="5760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</a:rPr>
              <a:t>Tool 1 first. Tool 2 only for shortfall. Tool 3+ only at zero inventory. Tagged [CRISIS] in console.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686800" y="4041648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778240" y="3950208"/>
            <a:ext cx="3154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</a:rPr>
              <a:t>VT_Production_vs_Indent shows gap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64592" y="4517136"/>
            <a:ext cx="658368" cy="53949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4592" y="4517136"/>
            <a:ext cx="6583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C7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22960" y="4517136"/>
            <a:ext cx="112014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4400" y="4517136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E4A"/>
                </a:solidFill>
              </a:rPr>
              <a:t>Serial Tool-Changer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834640" y="4608576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926080" y="4517136"/>
            <a:ext cx="5760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</a:rPr>
              <a:t>Structural no-overlap: free_at moves forward only. 20-min post-finish buffer. Extend run for wait.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8686800" y="4608576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778240" y="4517136"/>
            <a:ext cx="3154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</a:rPr>
              <a:t>No fallback — overlap structurally impossible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164592" y="5084064"/>
            <a:ext cx="658368" cy="53949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64592" y="5084064"/>
            <a:ext cx="6583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C8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22960" y="5084064"/>
            <a:ext cx="11201400" cy="53949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14400" y="5084064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E4A"/>
                </a:solidFill>
              </a:rPr>
              <a:t>Minimum Run Block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834640" y="5175504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926080" y="5084064"/>
            <a:ext cx="5760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</a:rPr>
              <a:t>effective_free ≥ 4h after CO. Exception: Step 0 Floor90 extension below 90% (no minimum needed).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8686800" y="5175504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778240" y="5084064"/>
            <a:ext cx="3154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</a:rPr>
              <a:t>VT_Not_Planned — next machine tried first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164592" y="5650992"/>
            <a:ext cx="658368" cy="539496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64592" y="5650992"/>
            <a:ext cx="6583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C9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822960" y="5650992"/>
            <a:ext cx="112014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14400" y="5650992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E4A"/>
                </a:solidFill>
              </a:rPr>
              <a:t>No Machine Idle 90%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2834640" y="5742432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926080" y="5650992"/>
            <a:ext cx="5760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</a:rPr>
              <a:t>Step 0 uncapped extension below 90% floor. Steps 1–4 fill remaining time.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8686800" y="5742432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778240" y="5650992"/>
            <a:ext cx="3154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</a:rPr>
              <a:t>VT_Micro_Idle with reason if all steps exhausted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164592" y="6217920"/>
            <a:ext cx="658368" cy="539496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64592" y="6217920"/>
            <a:ext cx="6583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C10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822960" y="6217920"/>
            <a:ext cx="11201400" cy="53949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14400" y="6217920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E4A"/>
                </a:solidFill>
              </a:rPr>
              <a:t>Colour Grouping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2834640" y="6309360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926080" y="6217920"/>
            <a:ext cx="5760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</a:rPr>
              <a:t>Colour-aware ranking (−0.08 same colour). 10-min purge in CO time. Colour in all output sheets.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8686800" y="6309360"/>
            <a:ext cx="1828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778240" y="6217920"/>
            <a:ext cx="3154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</a:rPr>
              <a:t>Purge time added; included in 22h budget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200" dirty="0">
                <a:solidFill>
                  <a:srgbClr val="FFFFFF"/>
                </a:solidFill>
              </a:rPr>
              <a:t>SMART APS V9  —  WHAT IT DELIVERS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0F0F0"/>
                </a:solidFill>
              </a:rPr>
              <a:t>Prepared by Tushar (Intern)  |  Guided by Mr. Amrit Lal  |  Uno Minda Rika Private Limited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87452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00200"/>
            <a:ext cx="18745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E4A"/>
                </a:solidFill>
              </a:rPr>
              <a:t>&lt; 60s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224735"/>
            <a:ext cx="18745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Plan generated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every day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87168" y="1508760"/>
            <a:ext cx="187452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87168" y="1600200"/>
            <a:ext cx="18745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E4A"/>
                </a:solidFill>
              </a:rPr>
              <a:t>10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87168" y="2224735"/>
            <a:ext cx="18745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Constraints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enforced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17136" y="1508760"/>
            <a:ext cx="187452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17136" y="1600200"/>
            <a:ext cx="18745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E4A"/>
                </a:solidFill>
              </a:rPr>
              <a:t>≥ 90%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17136" y="2224735"/>
            <a:ext cx="18745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Machine utilisation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floor guaranteed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47104" y="1508760"/>
            <a:ext cx="187452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47104" y="1600200"/>
            <a:ext cx="18745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E4A"/>
                </a:solidFill>
              </a:rPr>
              <a:t>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547104" y="2224735"/>
            <a:ext cx="18745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 overlaps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possible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577072" y="1508760"/>
            <a:ext cx="187452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577072" y="1600200"/>
            <a:ext cx="18745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E4A"/>
                </a:solidFill>
              </a:rPr>
              <a:t>5 days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577072" y="2224735"/>
            <a:ext cx="18745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Inventory target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(3 buffer + 2 safety)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607040" y="1508760"/>
            <a:ext cx="187452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607040" y="1600200"/>
            <a:ext cx="18745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E4A"/>
                </a:solidFill>
              </a:rPr>
              <a:t>NIL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0607040" y="2224735"/>
            <a:ext cx="18745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Software licence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cost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557784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507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2999232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98448" y="29992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4A017"/>
                </a:solidFill>
              </a:rPr>
              <a:t>14 Output Sheets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98448" y="33375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0C4D8"/>
                </a:solidFill>
              </a:rPr>
              <a:t>VT_Plan_By_Machine, VT_CO_Queue, VT_Inventory_Target, VT_Priority_Scores, VT_Micro_Idle and more — every decision is auditable.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09360" y="2926080"/>
            <a:ext cx="557784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507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19088" y="2999232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150608" y="29992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4A017"/>
                </a:solidFill>
              </a:rPr>
              <a:t>Colour Constraint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50608" y="33375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0C4D8"/>
                </a:solidFill>
              </a:rPr>
              <a:t>Colour-aware ranking, 10-min purge in CO time, colour tracked in every output sheet. Minimises purge time automatically.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557784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507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66928" y="4187952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298448" y="41879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4A017"/>
                </a:solidFill>
              </a:rPr>
              <a:t>Zero-Overlap Guarantee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298448" y="45262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0C4D8"/>
                </a:solidFill>
              </a:rPr>
              <a:t>Serial queue — free_at cursor only moves forward. Overlap is structurally impossible, not just improbable.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09360" y="4114800"/>
            <a:ext cx="557784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507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19088" y="4187952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150608" y="41879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4A017"/>
                </a:solidFill>
              </a:rPr>
              <a:t>Displacement Pass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50608" y="45262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0C4D8"/>
                </a:solidFill>
              </a:rPr>
              <a:t>Zero-inventory Runners and Repeaters always get a machine slot, even if it means reducing the least-urgent planned part.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6528816"/>
            <a:ext cx="1161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Smart APS V9  •  Constraints &amp; Solutions  •  Uno Minda Rika Private Limited  •  March 2026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83223" y="1612391"/>
            <a:ext cx="0" cy="3900170"/>
          </a:xfrm>
          <a:custGeom>
            <a:avLst/>
            <a:gdLst/>
            <a:ahLst/>
            <a:cxnLst/>
            <a:rect l="l" t="t" r="r" b="b"/>
            <a:pathLst>
              <a:path h="3900170">
                <a:moveTo>
                  <a:pt x="0" y="0"/>
                </a:moveTo>
                <a:lnTo>
                  <a:pt x="0" y="3899916"/>
                </a:lnTo>
              </a:path>
            </a:pathLst>
          </a:custGeom>
          <a:ln w="45720">
            <a:solidFill>
              <a:srgbClr val="5454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4020" y="4795520"/>
            <a:ext cx="571906" cy="429260"/>
          </a:xfrm>
          <a:prstGeom prst="rect">
            <a:avLst/>
          </a:prstGeom>
        </p:spPr>
      </p:pic>
      <p:pic>
        <p:nvPicPr>
          <p:cNvPr id="4" name="object 4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72400" y="4780788"/>
            <a:ext cx="609600" cy="458724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303645" y="1670430"/>
            <a:ext cx="29768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dirty="0">
                <a:solidFill>
                  <a:srgbClr val="585858"/>
                </a:solidFill>
                <a:latin typeface="Arial"/>
                <a:cs typeface="Arial"/>
              </a:rPr>
              <a:t>Thank</a:t>
            </a:r>
            <a:r>
              <a:rPr sz="4800" b="0" spc="-130" dirty="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4800" b="0" spc="-25" dirty="0">
                <a:solidFill>
                  <a:srgbClr val="585858"/>
                </a:solidFill>
                <a:latin typeface="Arial"/>
                <a:cs typeface="Arial"/>
              </a:rPr>
              <a:t>You</a:t>
            </a:r>
            <a:endParaRPr sz="48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534400" y="4507991"/>
            <a:ext cx="1790700" cy="1004569"/>
            <a:chOff x="8534400" y="4507991"/>
            <a:chExt cx="1790700" cy="1004569"/>
          </a:xfrm>
        </p:grpSpPr>
        <p:pic>
          <p:nvPicPr>
            <p:cNvPr id="7" name="object 7">
              <a:hlinkClick r:id="rId6"/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50223" y="4507991"/>
              <a:ext cx="1674876" cy="1004316"/>
            </a:xfrm>
            <a:prstGeom prst="rect">
              <a:avLst/>
            </a:prstGeom>
          </p:spPr>
        </p:pic>
        <p:pic>
          <p:nvPicPr>
            <p:cNvPr id="8" name="object 8">
              <a:hlinkClick r:id="rId8"/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34400" y="4780787"/>
              <a:ext cx="542544" cy="4587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325361" y="2641219"/>
            <a:ext cx="3594735" cy="1916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rial"/>
                <a:cs typeface="Arial"/>
              </a:rPr>
              <a:t>Corporate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Office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400" dirty="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Arial"/>
                <a:cs typeface="Arial"/>
              </a:rPr>
              <a:t>Address</a:t>
            </a:r>
            <a:r>
              <a:rPr sz="1400" b="1" dirty="0">
                <a:solidFill>
                  <a:srgbClr val="404040"/>
                </a:solidFill>
                <a:latin typeface="Arial"/>
                <a:cs typeface="Arial"/>
              </a:rPr>
              <a:t>:</a:t>
            </a:r>
            <a:r>
              <a:rPr sz="1400" b="1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04040"/>
                </a:solidFill>
                <a:latin typeface="Arial"/>
                <a:cs typeface="Arial"/>
              </a:rPr>
              <a:t>Village</a:t>
            </a:r>
            <a:r>
              <a:rPr sz="1400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04040"/>
                </a:solidFill>
                <a:latin typeface="Arial"/>
                <a:cs typeface="Arial"/>
              </a:rPr>
              <a:t>Nawada</a:t>
            </a:r>
            <a:r>
              <a:rPr sz="1400" spc="3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Arial"/>
                <a:cs typeface="Arial"/>
              </a:rPr>
              <a:t>Fatehpur,</a:t>
            </a:r>
            <a:endParaRPr sz="1400" dirty="0">
              <a:latin typeface="Arial"/>
              <a:cs typeface="Arial"/>
            </a:endParaRPr>
          </a:p>
          <a:p>
            <a:pPr marL="29845" marR="738505">
              <a:lnSpc>
                <a:spcPct val="100000"/>
              </a:lnSpc>
            </a:pPr>
            <a:r>
              <a:rPr sz="1400" dirty="0">
                <a:solidFill>
                  <a:srgbClr val="404040"/>
                </a:solidFill>
                <a:latin typeface="Arial"/>
                <a:cs typeface="Arial"/>
              </a:rPr>
              <a:t>P.O.</a:t>
            </a:r>
            <a:r>
              <a:rPr sz="1400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04040"/>
                </a:solidFill>
                <a:latin typeface="Arial"/>
                <a:cs typeface="Arial"/>
              </a:rPr>
              <a:t>Sikanderpur</a:t>
            </a:r>
            <a:r>
              <a:rPr sz="1400" spc="3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04040"/>
                </a:solidFill>
                <a:latin typeface="Arial"/>
                <a:cs typeface="Arial"/>
              </a:rPr>
              <a:t>Badda,</a:t>
            </a:r>
            <a:r>
              <a:rPr sz="1400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Arial"/>
                <a:cs typeface="Arial"/>
              </a:rPr>
              <a:t>Manesar, </a:t>
            </a:r>
            <a:r>
              <a:rPr sz="1400" dirty="0">
                <a:solidFill>
                  <a:srgbClr val="404040"/>
                </a:solidFill>
                <a:latin typeface="Arial"/>
                <a:cs typeface="Arial"/>
              </a:rPr>
              <a:t>Gurgaon</a:t>
            </a:r>
            <a:r>
              <a:rPr sz="1400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04040"/>
                </a:solidFill>
                <a:latin typeface="Arial"/>
                <a:cs typeface="Arial"/>
              </a:rPr>
              <a:t>–</a:t>
            </a:r>
            <a:r>
              <a:rPr sz="1400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404040"/>
                </a:solidFill>
                <a:latin typeface="Arial"/>
                <a:cs typeface="Arial"/>
              </a:rPr>
              <a:t>122004,</a:t>
            </a:r>
            <a:r>
              <a:rPr sz="1400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Arial"/>
                <a:cs typeface="Arial"/>
              </a:rPr>
              <a:t>India.</a:t>
            </a:r>
            <a:endParaRPr sz="1400" dirty="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Website: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9EDB"/>
                </a:solidFill>
                <a:latin typeface="Arial"/>
                <a:cs typeface="Arial"/>
                <a:hlinkClick r:id="rId10"/>
              </a:rPr>
              <a:t>www.unominda.com</a:t>
            </a:r>
            <a:endParaRPr sz="1400" dirty="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Email</a:t>
            </a:r>
            <a:r>
              <a:rPr sz="1400" b="1" spc="-25" dirty="0">
                <a:latin typeface="Arial"/>
                <a:cs typeface="Arial"/>
              </a:rPr>
              <a:t> ID</a:t>
            </a:r>
            <a:r>
              <a:rPr sz="1400" spc="-25" dirty="0">
                <a:latin typeface="Arial"/>
                <a:cs typeface="Arial"/>
              </a:rPr>
              <a:t>: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800" dirty="0">
                <a:latin typeface="Calibri"/>
                <a:cs typeface="Calibri"/>
              </a:rPr>
              <a:t>Follow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social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media.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Links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below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93892" y="2609097"/>
            <a:ext cx="3993545" cy="2030365"/>
          </a:xfrm>
          <a:prstGeom prst="rect">
            <a:avLst/>
          </a:prstGeom>
        </p:spPr>
      </p:pic>
      <p:pic>
        <p:nvPicPr>
          <p:cNvPr id="11" name="object 11">
            <a:hlinkClick r:id="rId12"/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162800" y="4800600"/>
            <a:ext cx="481583" cy="425195"/>
          </a:xfrm>
          <a:prstGeom prst="rect">
            <a:avLst/>
          </a:prstGeom>
        </p:spPr>
      </p:pic>
      <p:sp>
        <p:nvSpPr>
          <p:cNvPr id="12" name="GTBClassificationF1917276428">
            <a:extLst>
              <a:ext uri="{FF2B5EF4-FFF2-40B4-BE49-F238E27FC236}">
                <a16:creationId xmlns:a16="http://schemas.microsoft.com/office/drawing/2014/main" id="{B2867E52-2E8E-4192-B1CA-31061E3861CA}"/>
              </a:ext>
            </a:extLst>
          </p:cNvPr>
          <p:cNvSpPr txBox="1"/>
          <p:nvPr/>
        </p:nvSpPr>
        <p:spPr>
          <a:xfrm>
            <a:off x="0" y="6592253"/>
            <a:ext cx="12192000" cy="265747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IN" sz="9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IN" sz="9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IN" sz="900" b="1">
                <a:solidFill>
                  <a:srgbClr val="0062B1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ED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GTBClassification>
  <attrValue xml:space="preserve">Internal</attrValue>
  <customPropName>Classification</customPropName>
  <timestamp>3/26/2026 5:28:32 PM</timestamp>
  <userName>UNOMINDA\C0271</userName>
  <computerName>1401-LT-0198.UNOMINDA.COM</computerName>
  <guid>{e30833c3-c3a8-42f8-9929-94e8d6fa5e0b}</guid>
  <ftr>
    <r>
      <fontName>arial</fontName>
      <fontColor>000000</fontColor>
      <fontSize>9</fontSize>
      <b/>
      <text xml:space="preserve">Classification:</text>
    </r>
    <r>
      <fontName>arial</fontName>
      <fontColor>000000</fontColor>
      <fontSize>9</fontSize>
      <text xml:space="preserve"> </text>
    </r>
    <r>
      <fontName>arial</fontName>
      <fontColor>0062B1</fontColor>
      <fontSize>9</fontSize>
      <b/>
      <text xml:space="preserve">Internal</text>
    </r>
  </ftr>
</GTBClassification>
</file>

<file path=customXml/itemProps1.xml><?xml version="1.0" encoding="utf-8"?>
<ds:datastoreItem xmlns:ds="http://schemas.openxmlformats.org/officeDocument/2006/customXml" ds:itemID="{02937853-45AA-4051-9B7A-938C6582DC7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520</TotalTime>
  <Words>2909</Words>
  <Application>Microsoft Office PowerPoint</Application>
  <PresentationFormat>Widescreen</PresentationFormat>
  <Paragraphs>488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Sanny Sharma (Ext)/CREAT/IT/GGN</dc:creator>
  <cp:keywords>ClassificationData:&lt;Classification:Internal&gt; ClassificationData:&lt;Classification:Internal&gt;</cp:keywords>
  <cp:lastModifiedBy>Intern (Int)/MRPL/HRM/MNSR</cp:lastModifiedBy>
  <cp:revision>6</cp:revision>
  <dcterms:created xsi:type="dcterms:W3CDTF">2026-01-06T04:15:05Z</dcterms:created>
  <dcterms:modified xsi:type="dcterms:W3CDTF">2026-04-03T06:40:19Z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2026-01-06T00:00:00Z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2026-01-06T00:00:00Z</vt:filetime>
  </property>
  <property fmtid="{D5CDD505-2E9C-101B-9397-08002B2CF9AE}" pid="5" name="Producer">
    <vt:lpwstr>Microsoft® PowerPoint® LTSC</vt:lpwstr>
  </property>
  <property fmtid="{D5CDD505-2E9C-101B-9397-08002B2CF9AE}" pid="6" name="Classification">
    <vt:lpwstr>Internal</vt:lpwstr>
  </property>
  <property fmtid="{D5CDD505-2E9C-101B-9397-08002B2CF9AE}" pid="7" name="ClassifiedBy">
    <vt:lpwstr>UNOMINDA\C0271</vt:lpwstr>
  </property>
  <property fmtid="{D5CDD505-2E9C-101B-9397-08002B2CF9AE}" pid="8" name="ClassificationHost">
    <vt:lpwstr>1401-LT-0198.UNOMINDA.COM</vt:lpwstr>
  </property>
  <property fmtid="{D5CDD505-2E9C-101B-9397-08002B2CF9AE}" pid="9" name="ClassificationDate">
    <vt:lpwstr>3/26/2026 5:28:32 PM</vt:lpwstr>
  </property>
  <property fmtid="{D5CDD505-2E9C-101B-9397-08002B2CF9AE}" pid="10" name="ClassificationGUID">
    <vt:lpwstr>{e30833c3-c3a8-42f8-9929-94e8d6fa5e0b}</vt:lpwstr>
  </property>
</Properties>
</file>