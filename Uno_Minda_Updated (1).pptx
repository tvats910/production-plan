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8" r:id="rId2"/>
    <p:sldMasterId id="2147483671" r:id="rId3"/>
  </p:sldMasterIdLst>
  <p:notesMasterIdLst>
    <p:notesMasterId r:id="rId23"/>
  </p:notesMasterIdLst>
  <p:handoutMasterIdLst>
    <p:handoutMasterId r:id="rId24"/>
  </p:handoutMasterIdLst>
  <p:sldIdLst>
    <p:sldId id="395" r:id="rId4"/>
    <p:sldId id="469" r:id="rId5"/>
    <p:sldId id="470" r:id="rId6"/>
    <p:sldId id="471" r:id="rId7"/>
    <p:sldId id="472" r:id="rId8"/>
    <p:sldId id="473" r:id="rId9"/>
    <p:sldId id="466" r:id="rId10"/>
    <p:sldId id="474" r:id="rId11"/>
    <p:sldId id="475" r:id="rId12"/>
    <p:sldId id="476" r:id="rId13"/>
    <p:sldId id="477" r:id="rId14"/>
    <p:sldId id="478" r:id="rId15"/>
    <p:sldId id="479" r:id="rId16"/>
    <p:sldId id="480" r:id="rId17"/>
    <p:sldId id="481" r:id="rId18"/>
    <p:sldId id="257" r:id="rId19"/>
    <p:sldId id="467" r:id="rId20"/>
    <p:sldId id="468" r:id="rId21"/>
    <p:sldId id="354" r:id="rId22"/>
  </p:sldIdLst>
  <p:sldSz cx="12179300" cy="6858000"/>
  <p:notesSz cx="9866313" cy="67357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ntern (Int)/MRPL/HRM/MNSR" initials="I(" lastIdx="1" clrIdx="0">
    <p:extLst>
      <p:ext uri="{19B8F6BF-5375-455C-9EA6-DF929625EA0E}">
        <p15:presenceInfo xmlns:p15="http://schemas.microsoft.com/office/powerpoint/2012/main" userId="S-1-5-21-2493176086-1615525218-267138467-8891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2DA"/>
    <a:srgbClr val="578537"/>
    <a:srgbClr val="009900"/>
    <a:srgbClr val="FF9801"/>
    <a:srgbClr val="FF9900"/>
    <a:srgbClr val="2F5597"/>
    <a:srgbClr val="FF4B4B"/>
    <a:srgbClr val="FF1515"/>
    <a:srgbClr val="FF1111"/>
    <a:srgbClr val="D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26" autoAdjust="0"/>
    <p:restoredTop sz="94364" autoAdjust="0"/>
  </p:normalViewPr>
  <p:slideViewPr>
    <p:cSldViewPr>
      <p:cViewPr varScale="1">
        <p:scale>
          <a:sx n="130" d="100"/>
          <a:sy n="130" d="100"/>
        </p:scale>
        <p:origin x="420" y="126"/>
      </p:cViewPr>
      <p:guideLst>
        <p:guide orient="horz" pos="2160"/>
        <p:guide pos="383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1716" y="78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notesMaster" Target="notesMasters/notesMaster1.xml"/><Relationship Id="rId24" Type="http://schemas.openxmlformats.org/officeDocument/2006/relationships/handoutMaster" Target="handoutMasters/handoutMaster1.xml"/><Relationship Id="rId25" Type="http://schemas.openxmlformats.org/officeDocument/2006/relationships/commentAuthors" Target="commentAuthors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nil Kajal/MRPL/MFG/MNSR" userId="86c03b95-eb12-4d52-98df-e2ae432bd47e" providerId="ADAL" clId="{C6304F64-A165-4FC2-91D6-2D558C5B18BD}"/>
    <pc:docChg chg="undo custSel modSld">
      <pc:chgData name="Sunil Kajal/MRPL/MFG/MNSR" userId="86c03b95-eb12-4d52-98df-e2ae432bd47e" providerId="ADAL" clId="{C6304F64-A165-4FC2-91D6-2D558C5B18BD}" dt="2025-12-16T09:57:39.292" v="51" actId="108"/>
      <pc:docMkLst>
        <pc:docMk/>
      </pc:docMkLst>
      <pc:sldChg chg="addSp delSp modSp mod">
        <pc:chgData name="Sunil Kajal/MRPL/MFG/MNSR" userId="86c03b95-eb12-4d52-98df-e2ae432bd47e" providerId="ADAL" clId="{C6304F64-A165-4FC2-91D6-2D558C5B18BD}" dt="2025-12-16T09:57:39.292" v="51" actId="108"/>
        <pc:sldMkLst>
          <pc:docMk/>
          <pc:sldMk cId="3838420264" sldId="467"/>
        </pc:sldMkLst>
        <pc:spChg chg="mod">
          <ac:chgData name="Sunil Kajal/MRPL/MFG/MNSR" userId="86c03b95-eb12-4d52-98df-e2ae432bd47e" providerId="ADAL" clId="{C6304F64-A165-4FC2-91D6-2D558C5B18BD}" dt="2025-12-16T09:57:39.292" v="51" actId="108"/>
          <ac:spMkLst>
            <pc:docMk/>
            <pc:sldMk cId="3838420264" sldId="467"/>
            <ac:spMk id="2" creationId="{10BE3B4B-1ADE-474C-8E64-A75DC30A2957}"/>
          </ac:spMkLst>
        </pc:spChg>
        <pc:spChg chg="del mod">
          <ac:chgData name="Sunil Kajal/MRPL/MFG/MNSR" userId="86c03b95-eb12-4d52-98df-e2ae432bd47e" providerId="ADAL" clId="{C6304F64-A165-4FC2-91D6-2D558C5B18BD}" dt="2025-12-16T09:51:49.830" v="1" actId="478"/>
          <ac:spMkLst>
            <pc:docMk/>
            <pc:sldMk cId="3838420264" sldId="467"/>
            <ac:spMk id="3" creationId="{00000000-0000-0000-0000-000000000000}"/>
          </ac:spMkLst>
        </pc:spChg>
        <pc:spChg chg="add mod">
          <ac:chgData name="Sunil Kajal/MRPL/MFG/MNSR" userId="86c03b95-eb12-4d52-98df-e2ae432bd47e" providerId="ADAL" clId="{C6304F64-A165-4FC2-91D6-2D558C5B18BD}" dt="2025-12-16T09:55:38.840" v="24" actId="14100"/>
          <ac:spMkLst>
            <pc:docMk/>
            <pc:sldMk cId="3838420264" sldId="467"/>
            <ac:spMk id="10" creationId="{C71EEF11-D2C7-41BE-A8D6-2DA27CED5BD5}"/>
          </ac:spMkLst>
        </pc:spChg>
        <pc:spChg chg="add del mod">
          <ac:chgData name="Sunil Kajal/MRPL/MFG/MNSR" userId="86c03b95-eb12-4d52-98df-e2ae432bd47e" providerId="ADAL" clId="{C6304F64-A165-4FC2-91D6-2D558C5B18BD}" dt="2025-12-16T09:56:35.445" v="38" actId="14100"/>
          <ac:spMkLst>
            <pc:docMk/>
            <pc:sldMk cId="3838420264" sldId="467"/>
            <ac:spMk id="11" creationId="{5EE41485-8E4D-41C5-903C-529CB62EC31B}"/>
          </ac:spMkLst>
        </pc:spChg>
        <pc:spChg chg="add mod">
          <ac:chgData name="Sunil Kajal/MRPL/MFG/MNSR" userId="86c03b95-eb12-4d52-98df-e2ae432bd47e" providerId="ADAL" clId="{C6304F64-A165-4FC2-91D6-2D558C5B18BD}" dt="2025-12-16T09:56:05.771" v="30" actId="14100"/>
          <ac:spMkLst>
            <pc:docMk/>
            <pc:sldMk cId="3838420264" sldId="467"/>
            <ac:spMk id="12" creationId="{2C7645BF-C2CC-4006-888A-EF012E228AAB}"/>
          </ac:spMkLst>
        </pc:spChg>
        <pc:picChg chg="add mod">
          <ac:chgData name="Sunil Kajal/MRPL/MFG/MNSR" userId="86c03b95-eb12-4d52-98df-e2ae432bd47e" providerId="ADAL" clId="{C6304F64-A165-4FC2-91D6-2D558C5B18BD}" dt="2025-12-16T09:53:02.743" v="11" actId="14100"/>
          <ac:picMkLst>
            <pc:docMk/>
            <pc:sldMk cId="3838420264" sldId="467"/>
            <ac:picMk id="5" creationId="{04336464-269E-494F-A8F2-BBBB7764FE85}"/>
          </ac:picMkLst>
        </pc:picChg>
        <pc:picChg chg="add mod">
          <ac:chgData name="Sunil Kajal/MRPL/MFG/MNSR" userId="86c03b95-eb12-4d52-98df-e2ae432bd47e" providerId="ADAL" clId="{C6304F64-A165-4FC2-91D6-2D558C5B18BD}" dt="2025-12-16T09:52:57.271" v="9" actId="14100"/>
          <ac:picMkLst>
            <pc:docMk/>
            <pc:sldMk cId="3838420264" sldId="467"/>
            <ac:picMk id="7" creationId="{580DFB98-2BD5-4910-8529-4D61DB7A7588}"/>
          </ac:picMkLst>
        </pc:picChg>
        <pc:picChg chg="add mod">
          <ac:chgData name="Sunil Kajal/MRPL/MFG/MNSR" userId="86c03b95-eb12-4d52-98df-e2ae432bd47e" providerId="ADAL" clId="{C6304F64-A165-4FC2-91D6-2D558C5B18BD}" dt="2025-12-16T09:52:54.458" v="8" actId="14100"/>
          <ac:picMkLst>
            <pc:docMk/>
            <pc:sldMk cId="3838420264" sldId="467"/>
            <ac:picMk id="9" creationId="{86569D91-8CFC-4B99-8DD2-2ABD274BA5E3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FAD2DB-704D-499D-A9F0-A6A1AE7B5B46}" type="doc">
      <dgm:prSet loTypeId="urn:microsoft.com/office/officeart/2005/8/layout/hList1" loCatId="list" qsTypeId="urn:microsoft.com/office/officeart/2005/8/quickstyle/3d2" qsCatId="3D" csTypeId="urn:microsoft.com/office/officeart/2005/8/colors/colorful5" csCatId="colorful" phldr="1"/>
      <dgm:spPr/>
      <dgm:t xml:space="preserve">
        <a:bodyPr/>
        <a:lstStyle/>
        <a:p>
          <a:endParaRPr lang="en-IN"/>
        </a:p>
      </dgm:t>
    </dgm:pt>
    <dgm:pt modelId="{2FBD262F-C709-4B77-89B1-32E3B6A46CAB}">
      <dgm:prSet phldrT="[Text]"/>
      <dgm:spPr/>
      <dgm:t xml:space="preserve">
        <a:bodyPr/>
        <a:lstStyle/>
        <a:p>
          <a:r>
            <a:rPr lang="en-US" dirty="0"/>
            <a:t>Current Scenario</a:t>
          </a:r>
          <a:endParaRPr lang="en-IN" dirty="0"/>
        </a:p>
      </dgm:t>
    </dgm:pt>
    <dgm:pt modelId="{AD114B3C-0F2C-4A1C-B399-7BD04D21F653}" type="parTrans" cxnId="{74915ECC-C642-4E71-847F-56B6DF0D7A13}">
      <dgm:prSet/>
      <dgm:spPr/>
      <dgm:t xml:space="preserve">
        <a:bodyPr/>
        <a:lstStyle/>
        <a:p>
          <a:endParaRPr lang="en-IN"/>
        </a:p>
      </dgm:t>
    </dgm:pt>
    <dgm:pt modelId="{E47BFCB2-BD1C-451A-9134-8624FA1EEF68}" type="sibTrans" cxnId="{74915ECC-C642-4E71-847F-56B6DF0D7A13}">
      <dgm:prSet/>
      <dgm:spPr/>
      <dgm:t xml:space="preserve">
        <a:bodyPr/>
        <a:lstStyle/>
        <a:p>
          <a:endParaRPr lang="en-IN"/>
        </a:p>
      </dgm:t>
    </dgm:pt>
    <dgm:pt modelId="{4921D84D-1223-4A00-80C0-AA716B3270F0}">
      <dgm:prSet phldrT="[Text]" custT="1"/>
      <dgm:spPr/>
      <dgm:t xml:space="preserve">
        <a:bodyPr/>
        <a:lstStyle/>
        <a:p>
          <a:r>
            <a:rPr lang="en-US" sz="2000" dirty="0"/>
            <a:t>Manual Planning</a:t>
          </a:r>
          <a:endParaRPr lang="en-IN" sz="2000" dirty="0"/>
        </a:p>
      </dgm:t>
    </dgm:pt>
    <dgm:pt modelId="{F5AAB38B-C4DD-4CFD-853A-4DE8B69409C2}" type="parTrans" cxnId="{96A8674B-4A6B-4C33-B5FE-957F613830D2}">
      <dgm:prSet/>
      <dgm:spPr/>
      <dgm:t xml:space="preserve">
        <a:bodyPr/>
        <a:lstStyle/>
        <a:p>
          <a:endParaRPr lang="en-IN"/>
        </a:p>
      </dgm:t>
    </dgm:pt>
    <dgm:pt modelId="{28B63696-1DF5-4FE8-9E92-4858F5AD0BEF}" type="sibTrans" cxnId="{96A8674B-4A6B-4C33-B5FE-957F613830D2}">
      <dgm:prSet/>
      <dgm:spPr/>
      <dgm:t xml:space="preserve">
        <a:bodyPr/>
        <a:lstStyle/>
        <a:p>
          <a:endParaRPr lang="en-IN"/>
        </a:p>
      </dgm:t>
    </dgm:pt>
    <dgm:pt modelId="{221D8438-CAF0-46CE-8DDB-FA74C96F5E32}">
      <dgm:prSet phldrT="[Text]" custT="1"/>
      <dgm:spPr/>
      <dgm:t xml:space="preserve">
        <a:bodyPr/>
        <a:lstStyle/>
        <a:p>
          <a:r>
            <a:rPr lang="en-US" sz="2000" dirty="0"/>
            <a:t>Inventory Management</a:t>
          </a:r>
          <a:endParaRPr lang="en-IN" sz="2000" dirty="0"/>
        </a:p>
      </dgm:t>
    </dgm:pt>
    <dgm:pt modelId="{0C354543-E718-4D58-8361-F647314BA94B}" type="parTrans" cxnId="{967C82C2-0B37-41D4-BAC0-4291D24BA750}">
      <dgm:prSet/>
      <dgm:spPr/>
      <dgm:t xml:space="preserve">
        <a:bodyPr/>
        <a:lstStyle/>
        <a:p>
          <a:endParaRPr lang="en-IN"/>
        </a:p>
      </dgm:t>
    </dgm:pt>
    <dgm:pt modelId="{12F4918C-9593-46DA-B3DA-95B07FF698F3}" type="sibTrans" cxnId="{967C82C2-0B37-41D4-BAC0-4291D24BA750}">
      <dgm:prSet/>
      <dgm:spPr/>
      <dgm:t xml:space="preserve">
        <a:bodyPr/>
        <a:lstStyle/>
        <a:p>
          <a:endParaRPr lang="en-IN"/>
        </a:p>
      </dgm:t>
    </dgm:pt>
    <dgm:pt modelId="{5C24AE22-85FD-4EBA-8CCD-738BF825DEA7}">
      <dgm:prSet phldrT="[Text]"/>
      <dgm:spPr/>
      <dgm:t xml:space="preserve">
        <a:bodyPr/>
        <a:lstStyle/>
        <a:p>
          <a:r>
            <a:rPr lang="en-US" dirty="0"/>
            <a:t>Gap</a:t>
          </a:r>
          <a:endParaRPr lang="en-IN" dirty="0"/>
        </a:p>
      </dgm:t>
    </dgm:pt>
    <dgm:pt modelId="{C7CBCD68-0A31-4522-9AEB-97F190E9D41D}" type="parTrans" cxnId="{1530919D-3492-4D12-B926-5780C32D0743}">
      <dgm:prSet/>
      <dgm:spPr/>
      <dgm:t xml:space="preserve">
        <a:bodyPr/>
        <a:lstStyle/>
        <a:p>
          <a:endParaRPr lang="en-IN"/>
        </a:p>
      </dgm:t>
    </dgm:pt>
    <dgm:pt modelId="{CE4F56D3-B3B3-47D9-8AA9-C3312CEE1A8B}" type="sibTrans" cxnId="{1530919D-3492-4D12-B926-5780C32D0743}">
      <dgm:prSet/>
      <dgm:spPr/>
      <dgm:t xml:space="preserve">
        <a:bodyPr/>
        <a:lstStyle/>
        <a:p>
          <a:endParaRPr lang="en-IN"/>
        </a:p>
      </dgm:t>
    </dgm:pt>
    <dgm:pt modelId="{888CEEE1-F231-4C27-9D5C-CBC975332A57}">
      <dgm:prSet phldrT="[Text]" custT="1"/>
      <dgm:spPr/>
      <dgm:t xml:space="preserve">
        <a:bodyPr/>
        <a:lstStyle/>
        <a:p>
          <a:r>
            <a:rPr lang="en-US" sz="2000" dirty="0"/>
            <a:t>Involves 2 – 3 peoples and is time consuming</a:t>
          </a:r>
          <a:endParaRPr lang="en-IN" sz="2000" dirty="0"/>
        </a:p>
      </dgm:t>
    </dgm:pt>
    <dgm:pt modelId="{CC1F013E-C3F2-43C1-8BB5-9B4A4C412DF9}" type="parTrans" cxnId="{9079F516-6A08-4C32-A710-7EB87E0F7D0F}">
      <dgm:prSet/>
      <dgm:spPr/>
      <dgm:t xml:space="preserve">
        <a:bodyPr/>
        <a:lstStyle/>
        <a:p>
          <a:endParaRPr lang="en-IN"/>
        </a:p>
      </dgm:t>
    </dgm:pt>
    <dgm:pt modelId="{EBFD1B68-1C5C-455B-A834-347045CE89C0}" type="sibTrans" cxnId="{9079F516-6A08-4C32-A710-7EB87E0F7D0F}">
      <dgm:prSet/>
      <dgm:spPr/>
      <dgm:t xml:space="preserve">
        <a:bodyPr/>
        <a:lstStyle/>
        <a:p>
          <a:endParaRPr lang="en-IN"/>
        </a:p>
      </dgm:t>
    </dgm:pt>
    <dgm:pt modelId="{E55AC09C-A436-4EE6-98E1-4E0F5E56056C}">
      <dgm:prSet phldrT="[Text]" custT="1"/>
      <dgm:spPr/>
      <dgm:t xml:space="preserve">
        <a:bodyPr/>
        <a:lstStyle/>
        <a:p>
          <a:r>
            <a:rPr lang="en-US" sz="2000" dirty="0"/>
            <a:t>Some Parts are overproduced/ some may have shortage</a:t>
          </a:r>
          <a:endParaRPr lang="en-IN" sz="2000" dirty="0"/>
        </a:p>
      </dgm:t>
    </dgm:pt>
    <dgm:pt modelId="{33F8411A-B7CE-40E8-8500-0B9F2A7A789E}" type="parTrans" cxnId="{493449E8-33AE-4A89-9E1A-A54E39476B2C}">
      <dgm:prSet/>
      <dgm:spPr/>
      <dgm:t xml:space="preserve">
        <a:bodyPr/>
        <a:lstStyle/>
        <a:p>
          <a:endParaRPr lang="en-IN"/>
        </a:p>
      </dgm:t>
    </dgm:pt>
    <dgm:pt modelId="{70F11D6A-833F-4A15-AAB1-709F42B34EBB}" type="sibTrans" cxnId="{493449E8-33AE-4A89-9E1A-A54E39476B2C}">
      <dgm:prSet/>
      <dgm:spPr/>
      <dgm:t xml:space="preserve">
        <a:bodyPr/>
        <a:lstStyle/>
        <a:p>
          <a:endParaRPr lang="en-IN"/>
        </a:p>
      </dgm:t>
    </dgm:pt>
    <dgm:pt modelId="{A1B6EFA5-2B77-4623-8E87-F0AC19F854ED}">
      <dgm:prSet phldrT="[Text]"/>
      <dgm:spPr/>
      <dgm:t xml:space="preserve">
        <a:bodyPr/>
        <a:lstStyle/>
        <a:p>
          <a:r>
            <a:rPr lang="en-US" dirty="0"/>
            <a:t>To Be</a:t>
          </a:r>
          <a:endParaRPr lang="en-IN" dirty="0"/>
        </a:p>
      </dgm:t>
    </dgm:pt>
    <dgm:pt modelId="{27D8F466-342B-41C6-9ECA-C385D87C4C60}" type="parTrans" cxnId="{6085A4F9-EA19-4650-A3D9-654DDDE71D73}">
      <dgm:prSet/>
      <dgm:spPr/>
      <dgm:t xml:space="preserve">
        <a:bodyPr/>
        <a:lstStyle/>
        <a:p>
          <a:endParaRPr lang="en-IN"/>
        </a:p>
      </dgm:t>
    </dgm:pt>
    <dgm:pt modelId="{911BE730-BF42-4B21-BB4F-D4123089D97D}" type="sibTrans" cxnId="{6085A4F9-EA19-4650-A3D9-654DDDE71D73}">
      <dgm:prSet/>
      <dgm:spPr/>
      <dgm:t xml:space="preserve">
        <a:bodyPr/>
        <a:lstStyle/>
        <a:p>
          <a:endParaRPr lang="en-IN"/>
        </a:p>
      </dgm:t>
    </dgm:pt>
    <dgm:pt modelId="{9AFD8125-50B4-4FD9-9D5B-C79494DA7593}">
      <dgm:prSet phldrT="[Text]" custT="1"/>
      <dgm:spPr/>
      <dgm:t xml:space="preserve">
        <a:bodyPr/>
        <a:lstStyle/>
        <a:p>
          <a:r>
            <a:rPr lang="en-US" sz="2000" dirty="0"/>
            <a:t>Automated</a:t>
          </a:r>
          <a:endParaRPr lang="en-IN" sz="2000" dirty="0"/>
        </a:p>
      </dgm:t>
    </dgm:pt>
    <dgm:pt modelId="{B7E13DF9-D862-4A86-A096-0ECBA98D87F8}" type="parTrans" cxnId="{1D850130-9652-45F1-B97F-D5091163F406}">
      <dgm:prSet/>
      <dgm:spPr/>
      <dgm:t xml:space="preserve">
        <a:bodyPr/>
        <a:lstStyle/>
        <a:p>
          <a:endParaRPr lang="en-IN"/>
        </a:p>
      </dgm:t>
    </dgm:pt>
    <dgm:pt modelId="{0B97DA04-88F7-4532-B8C9-DF1B9065030C}" type="sibTrans" cxnId="{1D850130-9652-45F1-B97F-D5091163F406}">
      <dgm:prSet/>
      <dgm:spPr/>
      <dgm:t xml:space="preserve">
        <a:bodyPr/>
        <a:lstStyle/>
        <a:p>
          <a:endParaRPr lang="en-IN"/>
        </a:p>
      </dgm:t>
    </dgm:pt>
    <dgm:pt modelId="{713DF175-A214-4DBD-8B7B-C3EC8D379AF7}">
      <dgm:prSet phldrT="[Text]" custT="1"/>
      <dgm:spPr/>
      <dgm:t xml:space="preserve">
        <a:bodyPr/>
        <a:lstStyle/>
        <a:p>
          <a:r>
            <a:rPr lang="en-US" sz="2000" dirty="0"/>
            <a:t>Maintain 3 day safety stock</a:t>
          </a:r>
          <a:endParaRPr lang="en-IN" sz="2000" dirty="0"/>
        </a:p>
      </dgm:t>
    </dgm:pt>
    <dgm:pt modelId="{3763C528-681E-4BD6-9C37-5D12FE11AE37}" type="parTrans" cxnId="{9B402EFF-DCF5-4A80-BFF5-91B28495AE2A}">
      <dgm:prSet/>
      <dgm:spPr/>
      <dgm:t xml:space="preserve">
        <a:bodyPr/>
        <a:lstStyle/>
        <a:p>
          <a:endParaRPr lang="en-IN"/>
        </a:p>
      </dgm:t>
    </dgm:pt>
    <dgm:pt modelId="{3D1778DF-F901-4FC2-91B4-74C9D7D36C37}" type="sibTrans" cxnId="{9B402EFF-DCF5-4A80-BFF5-91B28495AE2A}">
      <dgm:prSet/>
      <dgm:spPr/>
      <dgm:t xml:space="preserve">
        <a:bodyPr/>
        <a:lstStyle/>
        <a:p>
          <a:endParaRPr lang="en-IN"/>
        </a:p>
      </dgm:t>
    </dgm:pt>
    <dgm:pt modelId="{6881B322-C3BA-49CC-BF3C-B46C6087C32C}">
      <dgm:prSet phldrT="[Text]" custT="1"/>
      <dgm:spPr/>
      <dgm:t xml:space="preserve">
        <a:bodyPr/>
        <a:lstStyle/>
        <a:p>
          <a:r>
            <a:rPr lang="en-US" sz="2000" dirty="0"/>
            <a:t>Machine Utilization</a:t>
          </a:r>
          <a:endParaRPr lang="en-IN" sz="2000" dirty="0"/>
        </a:p>
      </dgm:t>
    </dgm:pt>
    <dgm:pt modelId="{6F2921D1-698F-463C-B3B2-CFB25780EC3F}" type="parTrans" cxnId="{9023A22F-B812-4727-94E0-E2BD7050BC1F}">
      <dgm:prSet/>
      <dgm:spPr/>
      <dgm:t xml:space="preserve">
        <a:bodyPr/>
        <a:lstStyle/>
        <a:p>
          <a:endParaRPr lang="en-IN"/>
        </a:p>
      </dgm:t>
    </dgm:pt>
    <dgm:pt modelId="{BC6B7725-2AA9-4C65-AE00-6DC170C16F4B}" type="sibTrans" cxnId="{9023A22F-B812-4727-94E0-E2BD7050BC1F}">
      <dgm:prSet/>
      <dgm:spPr/>
      <dgm:t xml:space="preserve">
        <a:bodyPr/>
        <a:lstStyle/>
        <a:p>
          <a:endParaRPr lang="en-IN"/>
        </a:p>
      </dgm:t>
    </dgm:pt>
    <dgm:pt modelId="{BFFC14D2-C9C3-4CB5-B055-2836F3D233F8}">
      <dgm:prSet phldrT="[Text]" custT="1"/>
      <dgm:spPr/>
      <dgm:t xml:space="preserve">
        <a:bodyPr/>
        <a:lstStyle/>
        <a:p>
          <a:r>
            <a:rPr lang="en-US" sz="2000" dirty="0"/>
            <a:t>No proper track of machine utilization, while some machines are on PDT</a:t>
          </a:r>
          <a:endParaRPr lang="en-IN" sz="2000" dirty="0"/>
        </a:p>
      </dgm:t>
    </dgm:pt>
    <dgm:pt modelId="{127F3325-2F54-4ECA-A079-0C3813FFFEE5}" type="parTrans" cxnId="{4AF93A36-7F30-4190-953B-34CE3C99DBCB}">
      <dgm:prSet/>
      <dgm:spPr/>
      <dgm:t xml:space="preserve">
        <a:bodyPr/>
        <a:lstStyle/>
        <a:p>
          <a:endParaRPr lang="en-IN"/>
        </a:p>
      </dgm:t>
    </dgm:pt>
    <dgm:pt modelId="{675221AD-EE48-4704-BF35-DC2A5C22CD01}" type="sibTrans" cxnId="{4AF93A36-7F30-4190-953B-34CE3C99DBCB}">
      <dgm:prSet/>
      <dgm:spPr/>
      <dgm:t xml:space="preserve">
        <a:bodyPr/>
        <a:lstStyle/>
        <a:p>
          <a:endParaRPr lang="en-IN"/>
        </a:p>
      </dgm:t>
    </dgm:pt>
    <dgm:pt modelId="{480CACA1-3B61-4C25-951C-698CE30F45DB}">
      <dgm:prSet phldrT="[Text]" custT="1"/>
      <dgm:spPr/>
      <dgm:t xml:space="preserve">
        <a:bodyPr/>
        <a:lstStyle/>
        <a:p>
          <a:r>
            <a:rPr lang="en-US" sz="2000" dirty="0"/>
            <a:t>As per production scheduling</a:t>
          </a:r>
          <a:endParaRPr lang="en-IN" sz="2000" dirty="0"/>
        </a:p>
      </dgm:t>
    </dgm:pt>
    <dgm:pt modelId="{25197A65-EDCC-46AB-9EAA-9E7A99D63E2F}" type="parTrans" cxnId="{CE4FF847-B822-4B05-BA96-393869FE939A}">
      <dgm:prSet/>
      <dgm:spPr/>
      <dgm:t xml:space="preserve">
        <a:bodyPr/>
        <a:lstStyle/>
        <a:p>
          <a:endParaRPr lang="en-IN"/>
        </a:p>
      </dgm:t>
    </dgm:pt>
    <dgm:pt modelId="{0E391773-1349-44E1-9703-93899675993B}" type="sibTrans" cxnId="{CE4FF847-B822-4B05-BA96-393869FE939A}">
      <dgm:prSet/>
      <dgm:spPr/>
      <dgm:t xml:space="preserve">
        <a:bodyPr/>
        <a:lstStyle/>
        <a:p>
          <a:endParaRPr lang="en-IN"/>
        </a:p>
      </dgm:t>
    </dgm:pt>
    <dgm:pt modelId="{7DF86785-1D59-40A2-B01B-299564350599}" type="pres">
      <dgm:prSet presAssocID="{81FAD2DB-704D-499D-A9F0-A6A1AE7B5B46}" presName="Name0" presStyleCnt="0">
        <dgm:presLayoutVars>
          <dgm:dir/>
          <dgm:animLvl val="lvl"/>
          <dgm:resizeHandles val="exact"/>
        </dgm:presLayoutVars>
      </dgm:prSet>
      <dgm:spPr/>
    </dgm:pt>
    <dgm:pt modelId="{4BD6DD94-673D-4DC2-A01A-1B9A61989FE4}" type="pres">
      <dgm:prSet presAssocID="{2FBD262F-C709-4B77-89B1-32E3B6A46CAB}" presName="composite" presStyleCnt="0"/>
      <dgm:spPr/>
    </dgm:pt>
    <dgm:pt modelId="{70BEDE65-E973-45EA-B85D-1EE0D0931FA8}" type="pres">
      <dgm:prSet presAssocID="{2FBD262F-C709-4B77-89B1-32E3B6A46CAB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E9DD3F9B-E682-41E8-8AC7-23FD3997923C}" type="pres">
      <dgm:prSet presAssocID="{2FBD262F-C709-4B77-89B1-32E3B6A46CAB}" presName="desTx" presStyleLbl="alignAccFollowNode1" presStyleIdx="0" presStyleCnt="3">
        <dgm:presLayoutVars>
          <dgm:bulletEnabled val="1"/>
        </dgm:presLayoutVars>
      </dgm:prSet>
      <dgm:spPr/>
    </dgm:pt>
    <dgm:pt modelId="{8485532B-E20A-459D-AB22-125BFBA41FEC}" type="pres">
      <dgm:prSet presAssocID="{E47BFCB2-BD1C-451A-9134-8624FA1EEF68}" presName="space" presStyleCnt="0"/>
      <dgm:spPr/>
    </dgm:pt>
    <dgm:pt modelId="{54A58E19-F631-41B2-AF78-5A5F13E13B67}" type="pres">
      <dgm:prSet presAssocID="{5C24AE22-85FD-4EBA-8CCD-738BF825DEA7}" presName="composite" presStyleCnt="0"/>
      <dgm:spPr/>
    </dgm:pt>
    <dgm:pt modelId="{D2DC684B-B30B-4CED-9492-DF6BC6D06EF9}" type="pres">
      <dgm:prSet presAssocID="{5C24AE22-85FD-4EBA-8CCD-738BF825DEA7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A00964F0-C12F-4589-B5A7-C354E12F5488}" type="pres">
      <dgm:prSet presAssocID="{5C24AE22-85FD-4EBA-8CCD-738BF825DEA7}" presName="desTx" presStyleLbl="alignAccFollowNode1" presStyleIdx="1" presStyleCnt="3">
        <dgm:presLayoutVars>
          <dgm:bulletEnabled val="1"/>
        </dgm:presLayoutVars>
      </dgm:prSet>
      <dgm:spPr/>
    </dgm:pt>
    <dgm:pt modelId="{CEB452C0-C8A9-4036-BC14-AB4021E2DF61}" type="pres">
      <dgm:prSet presAssocID="{CE4F56D3-B3B3-47D9-8AA9-C3312CEE1A8B}" presName="space" presStyleCnt="0"/>
      <dgm:spPr/>
    </dgm:pt>
    <dgm:pt modelId="{1708D5C3-4683-4149-92E0-FB92EE563491}" type="pres">
      <dgm:prSet presAssocID="{A1B6EFA5-2B77-4623-8E87-F0AC19F854ED}" presName="composite" presStyleCnt="0"/>
      <dgm:spPr/>
    </dgm:pt>
    <dgm:pt modelId="{40E663B8-BFF6-4AFF-A637-D4A560B27D7E}" type="pres">
      <dgm:prSet presAssocID="{A1B6EFA5-2B77-4623-8E87-F0AC19F854ED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6C6B46D2-EED8-4FA7-B64F-34BDAD7199AF}" type="pres">
      <dgm:prSet presAssocID="{A1B6EFA5-2B77-4623-8E87-F0AC19F854ED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0804301-66B2-4706-8FA5-7BF18267ABBC}" type="presOf" srcId="{6881B322-C3BA-49CC-BF3C-B46C6087C32C}" destId="{E9DD3F9B-E682-41E8-8AC7-23FD3997923C}" srcOrd="0" destOrd="2" presId="urn:microsoft.com/office/officeart/2005/8/layout/hList1"/>
    <dgm:cxn modelId="{9079F516-6A08-4C32-A710-7EB87E0F7D0F}" srcId="{5C24AE22-85FD-4EBA-8CCD-738BF825DEA7}" destId="{888CEEE1-F231-4C27-9D5C-CBC975332A57}" srcOrd="0" destOrd="0" parTransId="{CC1F013E-C3F2-43C1-8BB5-9B4A4C412DF9}" sibTransId="{EBFD1B68-1C5C-455B-A834-347045CE89C0}"/>
    <dgm:cxn modelId="{FF1D1B21-48FA-48A4-8B6E-67F1B4B0CC6C}" type="presOf" srcId="{E55AC09C-A436-4EE6-98E1-4E0F5E56056C}" destId="{A00964F0-C12F-4589-B5A7-C354E12F5488}" srcOrd="0" destOrd="1" presId="urn:microsoft.com/office/officeart/2005/8/layout/hList1"/>
    <dgm:cxn modelId="{4D466524-9D4C-411C-8BA7-B61A1CCC12C7}" type="presOf" srcId="{BFFC14D2-C9C3-4CB5-B055-2836F3D233F8}" destId="{A00964F0-C12F-4589-B5A7-C354E12F5488}" srcOrd="0" destOrd="2" presId="urn:microsoft.com/office/officeart/2005/8/layout/hList1"/>
    <dgm:cxn modelId="{9023A22F-B812-4727-94E0-E2BD7050BC1F}" srcId="{2FBD262F-C709-4B77-89B1-32E3B6A46CAB}" destId="{6881B322-C3BA-49CC-BF3C-B46C6087C32C}" srcOrd="2" destOrd="0" parTransId="{6F2921D1-698F-463C-B3B2-CFB25780EC3F}" sibTransId="{BC6B7725-2AA9-4C65-AE00-6DC170C16F4B}"/>
    <dgm:cxn modelId="{1D850130-9652-45F1-B97F-D5091163F406}" srcId="{A1B6EFA5-2B77-4623-8E87-F0AC19F854ED}" destId="{9AFD8125-50B4-4FD9-9D5B-C79494DA7593}" srcOrd="0" destOrd="0" parTransId="{B7E13DF9-D862-4A86-A096-0ECBA98D87F8}" sibTransId="{0B97DA04-88F7-4532-B8C9-DF1B9065030C}"/>
    <dgm:cxn modelId="{4AF93A36-7F30-4190-953B-34CE3C99DBCB}" srcId="{5C24AE22-85FD-4EBA-8CCD-738BF825DEA7}" destId="{BFFC14D2-C9C3-4CB5-B055-2836F3D233F8}" srcOrd="2" destOrd="0" parTransId="{127F3325-2F54-4ECA-A079-0C3813FFFEE5}" sibTransId="{675221AD-EE48-4704-BF35-DC2A5C22CD01}"/>
    <dgm:cxn modelId="{C723DF3E-EED4-4229-B1E8-080E7F6E5353}" type="presOf" srcId="{A1B6EFA5-2B77-4623-8E87-F0AC19F854ED}" destId="{40E663B8-BFF6-4AFF-A637-D4A560B27D7E}" srcOrd="0" destOrd="0" presId="urn:microsoft.com/office/officeart/2005/8/layout/hList1"/>
    <dgm:cxn modelId="{8DF64C5C-C207-46D5-B81E-A3E7C930577A}" type="presOf" srcId="{713DF175-A214-4DBD-8B7B-C3EC8D379AF7}" destId="{6C6B46D2-EED8-4FA7-B64F-34BDAD7199AF}" srcOrd="0" destOrd="1" presId="urn:microsoft.com/office/officeart/2005/8/layout/hList1"/>
    <dgm:cxn modelId="{89B85F65-7D2D-4552-AFF4-C0168C3DF1EF}" type="presOf" srcId="{480CACA1-3B61-4C25-951C-698CE30F45DB}" destId="{6C6B46D2-EED8-4FA7-B64F-34BDAD7199AF}" srcOrd="0" destOrd="2" presId="urn:microsoft.com/office/officeart/2005/8/layout/hList1"/>
    <dgm:cxn modelId="{CE4FF847-B822-4B05-BA96-393869FE939A}" srcId="{A1B6EFA5-2B77-4623-8E87-F0AC19F854ED}" destId="{480CACA1-3B61-4C25-951C-698CE30F45DB}" srcOrd="2" destOrd="0" parTransId="{25197A65-EDCC-46AB-9EAA-9E7A99D63E2F}" sibTransId="{0E391773-1349-44E1-9703-93899675993B}"/>
    <dgm:cxn modelId="{96A8674B-4A6B-4C33-B5FE-957F613830D2}" srcId="{2FBD262F-C709-4B77-89B1-32E3B6A46CAB}" destId="{4921D84D-1223-4A00-80C0-AA716B3270F0}" srcOrd="0" destOrd="0" parTransId="{F5AAB38B-C4DD-4CFD-853A-4DE8B69409C2}" sibTransId="{28B63696-1DF5-4FE8-9E92-4858F5AD0BEF}"/>
    <dgm:cxn modelId="{E248548D-F37C-4E64-9CD2-5B21D5D52CD2}" type="presOf" srcId="{5C24AE22-85FD-4EBA-8CCD-738BF825DEA7}" destId="{D2DC684B-B30B-4CED-9492-DF6BC6D06EF9}" srcOrd="0" destOrd="0" presId="urn:microsoft.com/office/officeart/2005/8/layout/hList1"/>
    <dgm:cxn modelId="{1530919D-3492-4D12-B926-5780C32D0743}" srcId="{81FAD2DB-704D-499D-A9F0-A6A1AE7B5B46}" destId="{5C24AE22-85FD-4EBA-8CCD-738BF825DEA7}" srcOrd="1" destOrd="0" parTransId="{C7CBCD68-0A31-4522-9AEB-97F190E9D41D}" sibTransId="{CE4F56D3-B3B3-47D9-8AA9-C3312CEE1A8B}"/>
    <dgm:cxn modelId="{967C82C2-0B37-41D4-BAC0-4291D24BA750}" srcId="{2FBD262F-C709-4B77-89B1-32E3B6A46CAB}" destId="{221D8438-CAF0-46CE-8DDB-FA74C96F5E32}" srcOrd="1" destOrd="0" parTransId="{0C354543-E718-4D58-8361-F647314BA94B}" sibTransId="{12F4918C-9593-46DA-B3DA-95B07FF698F3}"/>
    <dgm:cxn modelId="{74915ECC-C642-4E71-847F-56B6DF0D7A13}" srcId="{81FAD2DB-704D-499D-A9F0-A6A1AE7B5B46}" destId="{2FBD262F-C709-4B77-89B1-32E3B6A46CAB}" srcOrd="0" destOrd="0" parTransId="{AD114B3C-0F2C-4A1C-B399-7BD04D21F653}" sibTransId="{E47BFCB2-BD1C-451A-9134-8624FA1EEF68}"/>
    <dgm:cxn modelId="{93E540D9-3A96-4205-83DE-19114DCF08A9}" type="presOf" srcId="{81FAD2DB-704D-499D-A9F0-A6A1AE7B5B46}" destId="{7DF86785-1D59-40A2-B01B-299564350599}" srcOrd="0" destOrd="0" presId="urn:microsoft.com/office/officeart/2005/8/layout/hList1"/>
    <dgm:cxn modelId="{670E93E1-E4F0-46CB-A699-04A128400F19}" type="presOf" srcId="{4921D84D-1223-4A00-80C0-AA716B3270F0}" destId="{E9DD3F9B-E682-41E8-8AC7-23FD3997923C}" srcOrd="0" destOrd="0" presId="urn:microsoft.com/office/officeart/2005/8/layout/hList1"/>
    <dgm:cxn modelId="{D3A3B9E1-A419-44C4-9B90-1191CF4A856A}" type="presOf" srcId="{9AFD8125-50B4-4FD9-9D5B-C79494DA7593}" destId="{6C6B46D2-EED8-4FA7-B64F-34BDAD7199AF}" srcOrd="0" destOrd="0" presId="urn:microsoft.com/office/officeart/2005/8/layout/hList1"/>
    <dgm:cxn modelId="{D8A663E4-1351-4843-BF54-BD1B7E389139}" type="presOf" srcId="{2FBD262F-C709-4B77-89B1-32E3B6A46CAB}" destId="{70BEDE65-E973-45EA-B85D-1EE0D0931FA8}" srcOrd="0" destOrd="0" presId="urn:microsoft.com/office/officeart/2005/8/layout/hList1"/>
    <dgm:cxn modelId="{493449E8-33AE-4A89-9E1A-A54E39476B2C}" srcId="{5C24AE22-85FD-4EBA-8CCD-738BF825DEA7}" destId="{E55AC09C-A436-4EE6-98E1-4E0F5E56056C}" srcOrd="1" destOrd="0" parTransId="{33F8411A-B7CE-40E8-8500-0B9F2A7A789E}" sibTransId="{70F11D6A-833F-4A15-AAB1-709F42B34EBB}"/>
    <dgm:cxn modelId="{6E853AF3-1464-4701-9317-7E83189D54C8}" type="presOf" srcId="{888CEEE1-F231-4C27-9D5C-CBC975332A57}" destId="{A00964F0-C12F-4589-B5A7-C354E12F5488}" srcOrd="0" destOrd="0" presId="urn:microsoft.com/office/officeart/2005/8/layout/hList1"/>
    <dgm:cxn modelId="{6085A4F9-EA19-4650-A3D9-654DDDE71D73}" srcId="{81FAD2DB-704D-499D-A9F0-A6A1AE7B5B46}" destId="{A1B6EFA5-2B77-4623-8E87-F0AC19F854ED}" srcOrd="2" destOrd="0" parTransId="{27D8F466-342B-41C6-9ECA-C385D87C4C60}" sibTransId="{911BE730-BF42-4B21-BB4F-D4123089D97D}"/>
    <dgm:cxn modelId="{325C3CFE-D21B-4A2B-8249-8853558D705F}" type="presOf" srcId="{221D8438-CAF0-46CE-8DDB-FA74C96F5E32}" destId="{E9DD3F9B-E682-41E8-8AC7-23FD3997923C}" srcOrd="0" destOrd="1" presId="urn:microsoft.com/office/officeart/2005/8/layout/hList1"/>
    <dgm:cxn modelId="{9B402EFF-DCF5-4A80-BFF5-91B28495AE2A}" srcId="{A1B6EFA5-2B77-4623-8E87-F0AC19F854ED}" destId="{713DF175-A214-4DBD-8B7B-C3EC8D379AF7}" srcOrd="1" destOrd="0" parTransId="{3763C528-681E-4BD6-9C37-5D12FE11AE37}" sibTransId="{3D1778DF-F901-4FC2-91B4-74C9D7D36C37}"/>
    <dgm:cxn modelId="{64559645-C800-43C4-BCA5-FAB8CEFCD9D9}" type="presParOf" srcId="{7DF86785-1D59-40A2-B01B-299564350599}" destId="{4BD6DD94-673D-4DC2-A01A-1B9A61989FE4}" srcOrd="0" destOrd="0" presId="urn:microsoft.com/office/officeart/2005/8/layout/hList1"/>
    <dgm:cxn modelId="{A96A271C-2546-4679-811A-86A6CE00060A}" type="presParOf" srcId="{4BD6DD94-673D-4DC2-A01A-1B9A61989FE4}" destId="{70BEDE65-E973-45EA-B85D-1EE0D0931FA8}" srcOrd="0" destOrd="0" presId="urn:microsoft.com/office/officeart/2005/8/layout/hList1"/>
    <dgm:cxn modelId="{A8B28A76-7808-4720-A100-FE52A78F9F07}" type="presParOf" srcId="{4BD6DD94-673D-4DC2-A01A-1B9A61989FE4}" destId="{E9DD3F9B-E682-41E8-8AC7-23FD3997923C}" srcOrd="1" destOrd="0" presId="urn:microsoft.com/office/officeart/2005/8/layout/hList1"/>
    <dgm:cxn modelId="{A29598D9-B06F-48D0-A705-9219F930B4E9}" type="presParOf" srcId="{7DF86785-1D59-40A2-B01B-299564350599}" destId="{8485532B-E20A-459D-AB22-125BFBA41FEC}" srcOrd="1" destOrd="0" presId="urn:microsoft.com/office/officeart/2005/8/layout/hList1"/>
    <dgm:cxn modelId="{EFFDDAE9-7558-41A8-A6E3-1672B12A2062}" type="presParOf" srcId="{7DF86785-1D59-40A2-B01B-299564350599}" destId="{54A58E19-F631-41B2-AF78-5A5F13E13B67}" srcOrd="2" destOrd="0" presId="urn:microsoft.com/office/officeart/2005/8/layout/hList1"/>
    <dgm:cxn modelId="{33E499B5-82AC-4BC1-A847-65652375692A}" type="presParOf" srcId="{54A58E19-F631-41B2-AF78-5A5F13E13B67}" destId="{D2DC684B-B30B-4CED-9492-DF6BC6D06EF9}" srcOrd="0" destOrd="0" presId="urn:microsoft.com/office/officeart/2005/8/layout/hList1"/>
    <dgm:cxn modelId="{A1A091B8-2DAF-4F0A-B562-F8BE0C949647}" type="presParOf" srcId="{54A58E19-F631-41B2-AF78-5A5F13E13B67}" destId="{A00964F0-C12F-4589-B5A7-C354E12F5488}" srcOrd="1" destOrd="0" presId="urn:microsoft.com/office/officeart/2005/8/layout/hList1"/>
    <dgm:cxn modelId="{DA1FD64F-9F19-42CE-97DE-29E60CBCEA0A}" type="presParOf" srcId="{7DF86785-1D59-40A2-B01B-299564350599}" destId="{CEB452C0-C8A9-4036-BC14-AB4021E2DF61}" srcOrd="3" destOrd="0" presId="urn:microsoft.com/office/officeart/2005/8/layout/hList1"/>
    <dgm:cxn modelId="{3377C998-0DA1-432A-BDD7-C1F8671C7A89}" type="presParOf" srcId="{7DF86785-1D59-40A2-B01B-299564350599}" destId="{1708D5C3-4683-4149-92E0-FB92EE563491}" srcOrd="4" destOrd="0" presId="urn:microsoft.com/office/officeart/2005/8/layout/hList1"/>
    <dgm:cxn modelId="{C1689670-5794-460F-931B-D3708807C281}" type="presParOf" srcId="{1708D5C3-4683-4149-92E0-FB92EE563491}" destId="{40E663B8-BFF6-4AFF-A637-D4A560B27D7E}" srcOrd="0" destOrd="0" presId="urn:microsoft.com/office/officeart/2005/8/layout/hList1"/>
    <dgm:cxn modelId="{B44EDAE7-3CF7-47F5-AE8D-BB503D8844B0}" type="presParOf" srcId="{1708D5C3-4683-4149-92E0-FB92EE563491}" destId="{6C6B46D2-EED8-4FA7-B64F-34BDAD7199A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70B3969-B887-4D12-A18C-29A340959523}" type="doc">
      <dgm:prSet loTypeId="urn:microsoft.com/office/officeart/2005/8/layout/pyramid2" loCatId="list" qsTypeId="urn:microsoft.com/office/officeart/2005/8/quickstyle/3d7" qsCatId="3D" csTypeId="urn:microsoft.com/office/officeart/2005/8/colors/accent2_4" csCatId="accent2" phldr="1"/>
      <dgm:spPr/>
      <dgm:t xml:space="preserve">
        <a:bodyPr/>
        <a:lstStyle/>
        <a:p>
          <a:endParaRPr lang="en-IN"/>
        </a:p>
      </dgm:t>
    </dgm:pt>
    <dgm:pt modelId="{56E2ADFB-96C1-40CD-9168-4D5887F38694}">
      <dgm:prSet phldrT="[Text]"/>
      <dgm:spPr/>
      <dgm:t xml:space="preserve">
        <a:bodyPr/>
        <a:lstStyle/>
        <a:p>
          <a:r>
            <a:rPr lang="en-US" dirty="0"/>
            <a:t>Maintain Safety Stock</a:t>
          </a:r>
          <a:endParaRPr lang="en-IN" dirty="0"/>
        </a:p>
      </dgm:t>
    </dgm:pt>
    <dgm:pt modelId="{61AC8251-9628-497D-BDB3-EFCD8DB59A54}" type="parTrans" cxnId="{1CB6642E-67A2-4E4A-A81E-2B196FE91579}">
      <dgm:prSet/>
      <dgm:spPr/>
      <dgm:t xml:space="preserve">
        <a:bodyPr/>
        <a:lstStyle/>
        <a:p>
          <a:endParaRPr lang="en-IN"/>
        </a:p>
      </dgm:t>
    </dgm:pt>
    <dgm:pt modelId="{9B558839-CE9F-4ECD-99BA-17C8844B7D65}" type="sibTrans" cxnId="{1CB6642E-67A2-4E4A-A81E-2B196FE91579}">
      <dgm:prSet/>
      <dgm:spPr/>
      <dgm:t xml:space="preserve">
        <a:bodyPr/>
        <a:lstStyle/>
        <a:p>
          <a:endParaRPr lang="en-IN"/>
        </a:p>
      </dgm:t>
    </dgm:pt>
    <dgm:pt modelId="{6CC3384D-44F2-4E0B-A71B-F31FEC80E96C}">
      <dgm:prSet phldrT="[Text]"/>
      <dgm:spPr/>
      <dgm:t xml:space="preserve">
        <a:bodyPr/>
        <a:lstStyle/>
        <a:p>
          <a:r>
            <a:rPr lang="en-US" dirty="0"/>
            <a:t>Full Capacity Utilization</a:t>
          </a:r>
          <a:endParaRPr lang="en-IN" dirty="0"/>
        </a:p>
      </dgm:t>
    </dgm:pt>
    <dgm:pt modelId="{D9E4CA85-CE6B-4682-BA10-CDC605DF62DF}" type="parTrans" cxnId="{76957ECE-CB53-4A99-8F32-63085321F2F4}">
      <dgm:prSet/>
      <dgm:spPr/>
      <dgm:t xml:space="preserve">
        <a:bodyPr/>
        <a:lstStyle/>
        <a:p>
          <a:endParaRPr lang="en-IN"/>
        </a:p>
      </dgm:t>
    </dgm:pt>
    <dgm:pt modelId="{3A969F3B-F725-4F25-800E-82E9C70922B7}" type="sibTrans" cxnId="{76957ECE-CB53-4A99-8F32-63085321F2F4}">
      <dgm:prSet/>
      <dgm:spPr/>
      <dgm:t xml:space="preserve">
        <a:bodyPr/>
        <a:lstStyle/>
        <a:p>
          <a:endParaRPr lang="en-IN"/>
        </a:p>
      </dgm:t>
    </dgm:pt>
    <dgm:pt modelId="{E2F66D90-4F09-4B83-8E03-9038F253CB1A}">
      <dgm:prSet phldrT="[Text]"/>
      <dgm:spPr/>
      <dgm:t xml:space="preserve">
        <a:bodyPr/>
        <a:lstStyle/>
        <a:p>
          <a:r>
            <a:rPr lang="en-US" dirty="0"/>
            <a:t>Fixed Machine Allocation</a:t>
          </a:r>
          <a:endParaRPr lang="en-IN" dirty="0"/>
        </a:p>
      </dgm:t>
    </dgm:pt>
    <dgm:pt modelId="{C7F6F0E4-589D-430E-AF5C-6E5496FC439E}" type="parTrans" cxnId="{BC18A914-11F4-4731-A0C8-36FF130089C6}">
      <dgm:prSet/>
      <dgm:spPr/>
      <dgm:t xml:space="preserve">
        <a:bodyPr/>
        <a:lstStyle/>
        <a:p>
          <a:endParaRPr lang="en-IN"/>
        </a:p>
      </dgm:t>
    </dgm:pt>
    <dgm:pt modelId="{9A869274-A07D-4FB4-B234-368DB38F5F3D}" type="sibTrans" cxnId="{BC18A914-11F4-4731-A0C8-36FF130089C6}">
      <dgm:prSet/>
      <dgm:spPr/>
      <dgm:t xml:space="preserve">
        <a:bodyPr/>
        <a:lstStyle/>
        <a:p>
          <a:endParaRPr lang="en-IN"/>
        </a:p>
      </dgm:t>
    </dgm:pt>
    <dgm:pt modelId="{954EC961-8168-4B46-9056-5888AEB1884A}">
      <dgm:prSet phldrT="[Text]"/>
      <dgm:spPr/>
      <dgm:t xml:space="preserve">
        <a:bodyPr/>
        <a:lstStyle/>
        <a:p>
          <a:r>
            <a:rPr lang="en-US" dirty="0"/>
            <a:t>Plan According To Category</a:t>
          </a:r>
          <a:endParaRPr lang="en-IN" dirty="0"/>
        </a:p>
      </dgm:t>
    </dgm:pt>
    <dgm:pt modelId="{A5409670-69A7-411E-950D-92099ACBFD3C}" type="parTrans" cxnId="{B88F8156-02E7-42F7-AED6-7A80F8F6FA8F}">
      <dgm:prSet/>
      <dgm:spPr/>
      <dgm:t xml:space="preserve">
        <a:bodyPr/>
        <a:lstStyle/>
        <a:p>
          <a:endParaRPr lang="en-IN"/>
        </a:p>
      </dgm:t>
    </dgm:pt>
    <dgm:pt modelId="{B5A7EC7A-C1A8-44F0-9847-1A8FF38DC062}" type="sibTrans" cxnId="{B88F8156-02E7-42F7-AED6-7A80F8F6FA8F}">
      <dgm:prSet/>
      <dgm:spPr/>
      <dgm:t xml:space="preserve">
        <a:bodyPr/>
        <a:lstStyle/>
        <a:p>
          <a:endParaRPr lang="en-IN"/>
        </a:p>
      </dgm:t>
    </dgm:pt>
    <dgm:pt modelId="{169F3A28-9584-44DA-91AB-FF5C44D48F30}">
      <dgm:prSet phldrT="[Text]"/>
      <dgm:spPr/>
      <dgm:t xml:space="preserve">
        <a:bodyPr/>
        <a:lstStyle/>
        <a:p>
          <a:r>
            <a:rPr lang="en-US" dirty="0"/>
            <a:t>Minimum Changeover</a:t>
          </a:r>
          <a:endParaRPr lang="en-IN" dirty="0"/>
        </a:p>
      </dgm:t>
    </dgm:pt>
    <dgm:pt modelId="{EE141753-0B64-4108-928D-5EE8161FDF45}" type="parTrans" cxnId="{D4424155-629B-4BCE-8F1E-B9E5C414DF4E}">
      <dgm:prSet/>
      <dgm:spPr/>
      <dgm:t xml:space="preserve">
        <a:bodyPr/>
        <a:lstStyle/>
        <a:p>
          <a:endParaRPr lang="en-IN"/>
        </a:p>
      </dgm:t>
    </dgm:pt>
    <dgm:pt modelId="{9E4C5FFE-BC55-4476-84D2-E80389AB1B34}" type="sibTrans" cxnId="{D4424155-629B-4BCE-8F1E-B9E5C414DF4E}">
      <dgm:prSet/>
      <dgm:spPr/>
      <dgm:t xml:space="preserve">
        <a:bodyPr/>
        <a:lstStyle/>
        <a:p>
          <a:endParaRPr lang="en-IN"/>
        </a:p>
      </dgm:t>
    </dgm:pt>
    <dgm:pt modelId="{15732B18-A6B1-4294-B7E9-65AC29872870}">
      <dgm:prSet phldrT="[Text]"/>
      <dgm:spPr/>
      <dgm:t xml:space="preserve">
        <a:bodyPr/>
        <a:lstStyle/>
        <a:p>
          <a:r>
            <a:rPr lang="en-US" dirty="0"/>
            <a:t>Terminal Availability</a:t>
          </a:r>
          <a:endParaRPr lang="en-IN" dirty="0"/>
        </a:p>
      </dgm:t>
    </dgm:pt>
    <dgm:pt modelId="{098F0D05-FBC8-49CD-818A-1F18D8D18862}" type="parTrans" cxnId="{B2AAC88B-967C-4873-B07C-7859D58135DE}">
      <dgm:prSet/>
      <dgm:spPr/>
      <dgm:t xml:space="preserve">
        <a:bodyPr/>
        <a:lstStyle/>
        <a:p>
          <a:endParaRPr lang="en-IN"/>
        </a:p>
      </dgm:t>
    </dgm:pt>
    <dgm:pt modelId="{B33EF10F-24B6-43B7-81F4-264791D3926D}" type="sibTrans" cxnId="{B2AAC88B-967C-4873-B07C-7859D58135DE}">
      <dgm:prSet/>
      <dgm:spPr/>
      <dgm:t xml:space="preserve">
        <a:bodyPr/>
        <a:lstStyle/>
        <a:p>
          <a:endParaRPr lang="en-IN"/>
        </a:p>
      </dgm:t>
    </dgm:pt>
    <dgm:pt modelId="{B35CFFA0-2EE4-4A01-B083-A9B02511D7CB}" type="pres">
      <dgm:prSet presAssocID="{470B3969-B887-4D12-A18C-29A340959523}" presName="compositeShape" presStyleCnt="0">
        <dgm:presLayoutVars>
          <dgm:dir/>
          <dgm:resizeHandles/>
        </dgm:presLayoutVars>
      </dgm:prSet>
      <dgm:spPr/>
    </dgm:pt>
    <dgm:pt modelId="{A5A3E3D0-ED7D-4A48-90C7-18240535CDE4}" type="pres">
      <dgm:prSet presAssocID="{470B3969-B887-4D12-A18C-29A340959523}" presName="pyramid" presStyleLbl="node1" presStyleIdx="0" presStyleCnt="1"/>
      <dgm:spPr/>
    </dgm:pt>
    <dgm:pt modelId="{F17B4B2D-7481-4ACF-9743-7442C2C64384}" type="pres">
      <dgm:prSet presAssocID="{470B3969-B887-4D12-A18C-29A340959523}" presName="theList" presStyleCnt="0"/>
      <dgm:spPr/>
    </dgm:pt>
    <dgm:pt modelId="{66CA5288-C282-45A8-8A02-D756C21A5C8B}" type="pres">
      <dgm:prSet presAssocID="{56E2ADFB-96C1-40CD-9168-4D5887F38694}" presName="aNode" presStyleLbl="fgAcc1" presStyleIdx="0" presStyleCnt="6">
        <dgm:presLayoutVars>
          <dgm:bulletEnabled val="1"/>
        </dgm:presLayoutVars>
      </dgm:prSet>
      <dgm:spPr/>
    </dgm:pt>
    <dgm:pt modelId="{FF55343A-E32A-4CA8-9854-64327352006C}" type="pres">
      <dgm:prSet presAssocID="{56E2ADFB-96C1-40CD-9168-4D5887F38694}" presName="aSpace" presStyleCnt="0"/>
      <dgm:spPr/>
    </dgm:pt>
    <dgm:pt modelId="{742C3397-AE12-46AB-B456-DF4DD37937FE}" type="pres">
      <dgm:prSet presAssocID="{954EC961-8168-4B46-9056-5888AEB1884A}" presName="aNode" presStyleLbl="fgAcc1" presStyleIdx="1" presStyleCnt="6">
        <dgm:presLayoutVars>
          <dgm:bulletEnabled val="1"/>
        </dgm:presLayoutVars>
      </dgm:prSet>
      <dgm:spPr/>
    </dgm:pt>
    <dgm:pt modelId="{8E946E12-1E1F-4C96-B2DA-69A73601F87D}" type="pres">
      <dgm:prSet presAssocID="{954EC961-8168-4B46-9056-5888AEB1884A}" presName="aSpace" presStyleCnt="0"/>
      <dgm:spPr/>
    </dgm:pt>
    <dgm:pt modelId="{3343FE09-2E4A-4219-B2D0-9A2628421F59}" type="pres">
      <dgm:prSet presAssocID="{6CC3384D-44F2-4E0B-A71B-F31FEC80E96C}" presName="aNode" presStyleLbl="fgAcc1" presStyleIdx="2" presStyleCnt="6">
        <dgm:presLayoutVars>
          <dgm:bulletEnabled val="1"/>
        </dgm:presLayoutVars>
      </dgm:prSet>
      <dgm:spPr/>
    </dgm:pt>
    <dgm:pt modelId="{7FEE186B-FFC9-46E8-A5F9-C2B79709A61D}" type="pres">
      <dgm:prSet presAssocID="{6CC3384D-44F2-4E0B-A71B-F31FEC80E96C}" presName="aSpace" presStyleCnt="0"/>
      <dgm:spPr/>
    </dgm:pt>
    <dgm:pt modelId="{E6E85ED3-ED82-487E-8508-AF58749CB752}" type="pres">
      <dgm:prSet presAssocID="{E2F66D90-4F09-4B83-8E03-9038F253CB1A}" presName="aNode" presStyleLbl="fgAcc1" presStyleIdx="3" presStyleCnt="6">
        <dgm:presLayoutVars>
          <dgm:bulletEnabled val="1"/>
        </dgm:presLayoutVars>
      </dgm:prSet>
      <dgm:spPr/>
    </dgm:pt>
    <dgm:pt modelId="{28B3EA2B-1494-40DC-9068-7700C7E161D2}" type="pres">
      <dgm:prSet presAssocID="{E2F66D90-4F09-4B83-8E03-9038F253CB1A}" presName="aSpace" presStyleCnt="0"/>
      <dgm:spPr/>
    </dgm:pt>
    <dgm:pt modelId="{24582A08-86F2-4CFB-B40C-D4624A4ED32F}" type="pres">
      <dgm:prSet presAssocID="{169F3A28-9584-44DA-91AB-FF5C44D48F30}" presName="aNode" presStyleLbl="fgAcc1" presStyleIdx="4" presStyleCnt="6">
        <dgm:presLayoutVars>
          <dgm:bulletEnabled val="1"/>
        </dgm:presLayoutVars>
      </dgm:prSet>
      <dgm:spPr/>
    </dgm:pt>
    <dgm:pt modelId="{5D704E98-CBA6-4C36-9906-50940C7C91C4}" type="pres">
      <dgm:prSet presAssocID="{169F3A28-9584-44DA-91AB-FF5C44D48F30}" presName="aSpace" presStyleCnt="0"/>
      <dgm:spPr/>
    </dgm:pt>
    <dgm:pt modelId="{644E07C9-1C0E-4D0E-916D-B1D5A4F0E663}" type="pres">
      <dgm:prSet presAssocID="{15732B18-A6B1-4294-B7E9-65AC29872870}" presName="aNode" presStyleLbl="fgAcc1" presStyleIdx="5" presStyleCnt="6">
        <dgm:presLayoutVars>
          <dgm:bulletEnabled val="1"/>
        </dgm:presLayoutVars>
      </dgm:prSet>
      <dgm:spPr/>
    </dgm:pt>
    <dgm:pt modelId="{FC21121D-2284-49DA-9AEA-A6C6165B5EED}" type="pres">
      <dgm:prSet presAssocID="{15732B18-A6B1-4294-B7E9-65AC29872870}" presName="aSpace" presStyleCnt="0"/>
      <dgm:spPr/>
    </dgm:pt>
  </dgm:ptLst>
  <dgm:cxnLst>
    <dgm:cxn modelId="{E41D9708-85A8-4CC6-BE18-56C6248ABD8E}" type="presOf" srcId="{6CC3384D-44F2-4E0B-A71B-F31FEC80E96C}" destId="{3343FE09-2E4A-4219-B2D0-9A2628421F59}" srcOrd="0" destOrd="0" presId="urn:microsoft.com/office/officeart/2005/8/layout/pyramid2"/>
    <dgm:cxn modelId="{FA3F120C-E98F-4ED5-8DB5-FAE4D815C918}" type="presOf" srcId="{954EC961-8168-4B46-9056-5888AEB1884A}" destId="{742C3397-AE12-46AB-B456-DF4DD37937FE}" srcOrd="0" destOrd="0" presId="urn:microsoft.com/office/officeart/2005/8/layout/pyramid2"/>
    <dgm:cxn modelId="{BC18A914-11F4-4731-A0C8-36FF130089C6}" srcId="{470B3969-B887-4D12-A18C-29A340959523}" destId="{E2F66D90-4F09-4B83-8E03-9038F253CB1A}" srcOrd="3" destOrd="0" parTransId="{C7F6F0E4-589D-430E-AF5C-6E5496FC439E}" sibTransId="{9A869274-A07D-4FB4-B234-368DB38F5F3D}"/>
    <dgm:cxn modelId="{6D91FB1D-4F2D-4465-ACF7-5C84C9D71919}" type="presOf" srcId="{E2F66D90-4F09-4B83-8E03-9038F253CB1A}" destId="{E6E85ED3-ED82-487E-8508-AF58749CB752}" srcOrd="0" destOrd="0" presId="urn:microsoft.com/office/officeart/2005/8/layout/pyramid2"/>
    <dgm:cxn modelId="{1CB6642E-67A2-4E4A-A81E-2B196FE91579}" srcId="{470B3969-B887-4D12-A18C-29A340959523}" destId="{56E2ADFB-96C1-40CD-9168-4D5887F38694}" srcOrd="0" destOrd="0" parTransId="{61AC8251-9628-497D-BDB3-EFCD8DB59A54}" sibTransId="{9B558839-CE9F-4ECD-99BA-17C8844B7D65}"/>
    <dgm:cxn modelId="{DF9FCE5E-68B5-4FD5-8C49-DD654AEA1CC1}" type="presOf" srcId="{56E2ADFB-96C1-40CD-9168-4D5887F38694}" destId="{66CA5288-C282-45A8-8A02-D756C21A5C8B}" srcOrd="0" destOrd="0" presId="urn:microsoft.com/office/officeart/2005/8/layout/pyramid2"/>
    <dgm:cxn modelId="{D4424155-629B-4BCE-8F1E-B9E5C414DF4E}" srcId="{470B3969-B887-4D12-A18C-29A340959523}" destId="{169F3A28-9584-44DA-91AB-FF5C44D48F30}" srcOrd="4" destOrd="0" parTransId="{EE141753-0B64-4108-928D-5EE8161FDF45}" sibTransId="{9E4C5FFE-BC55-4476-84D2-E80389AB1B34}"/>
    <dgm:cxn modelId="{B88F8156-02E7-42F7-AED6-7A80F8F6FA8F}" srcId="{470B3969-B887-4D12-A18C-29A340959523}" destId="{954EC961-8168-4B46-9056-5888AEB1884A}" srcOrd="1" destOrd="0" parTransId="{A5409670-69A7-411E-950D-92099ACBFD3C}" sibTransId="{B5A7EC7A-C1A8-44F0-9847-1A8FF38DC062}"/>
    <dgm:cxn modelId="{B2AAC88B-967C-4873-B07C-7859D58135DE}" srcId="{470B3969-B887-4D12-A18C-29A340959523}" destId="{15732B18-A6B1-4294-B7E9-65AC29872870}" srcOrd="5" destOrd="0" parTransId="{098F0D05-FBC8-49CD-818A-1F18D8D18862}" sibTransId="{B33EF10F-24B6-43B7-81F4-264791D3926D}"/>
    <dgm:cxn modelId="{B318649C-1255-4FD0-BCB0-51261F4F634E}" type="presOf" srcId="{169F3A28-9584-44DA-91AB-FF5C44D48F30}" destId="{24582A08-86F2-4CFB-B40C-D4624A4ED32F}" srcOrd="0" destOrd="0" presId="urn:microsoft.com/office/officeart/2005/8/layout/pyramid2"/>
    <dgm:cxn modelId="{24D782C4-532A-46BA-99C7-3385556E22F2}" type="presOf" srcId="{470B3969-B887-4D12-A18C-29A340959523}" destId="{B35CFFA0-2EE4-4A01-B083-A9B02511D7CB}" srcOrd="0" destOrd="0" presId="urn:microsoft.com/office/officeart/2005/8/layout/pyramid2"/>
    <dgm:cxn modelId="{76957ECE-CB53-4A99-8F32-63085321F2F4}" srcId="{470B3969-B887-4D12-A18C-29A340959523}" destId="{6CC3384D-44F2-4E0B-A71B-F31FEC80E96C}" srcOrd="2" destOrd="0" parTransId="{D9E4CA85-CE6B-4682-BA10-CDC605DF62DF}" sibTransId="{3A969F3B-F725-4F25-800E-82E9C70922B7}"/>
    <dgm:cxn modelId="{024691EE-9FBA-4FDD-89AF-52F0551CFA6E}" type="presOf" srcId="{15732B18-A6B1-4294-B7E9-65AC29872870}" destId="{644E07C9-1C0E-4D0E-916D-B1D5A4F0E663}" srcOrd="0" destOrd="0" presId="urn:microsoft.com/office/officeart/2005/8/layout/pyramid2"/>
    <dgm:cxn modelId="{A8BD75FB-CB2D-4EDE-BC6D-CDE4F6E047FC}" type="presParOf" srcId="{B35CFFA0-2EE4-4A01-B083-A9B02511D7CB}" destId="{A5A3E3D0-ED7D-4A48-90C7-18240535CDE4}" srcOrd="0" destOrd="0" presId="urn:microsoft.com/office/officeart/2005/8/layout/pyramid2"/>
    <dgm:cxn modelId="{17AF93A4-9FAE-497F-BC3F-6E50514BB54E}" type="presParOf" srcId="{B35CFFA0-2EE4-4A01-B083-A9B02511D7CB}" destId="{F17B4B2D-7481-4ACF-9743-7442C2C64384}" srcOrd="1" destOrd="0" presId="urn:microsoft.com/office/officeart/2005/8/layout/pyramid2"/>
    <dgm:cxn modelId="{D2833511-AC9E-4006-8EDE-F1825D070A93}" type="presParOf" srcId="{F17B4B2D-7481-4ACF-9743-7442C2C64384}" destId="{66CA5288-C282-45A8-8A02-D756C21A5C8B}" srcOrd="0" destOrd="0" presId="urn:microsoft.com/office/officeart/2005/8/layout/pyramid2"/>
    <dgm:cxn modelId="{B74B76CE-5C07-4442-9E2E-FEC6D92EA45E}" type="presParOf" srcId="{F17B4B2D-7481-4ACF-9743-7442C2C64384}" destId="{FF55343A-E32A-4CA8-9854-64327352006C}" srcOrd="1" destOrd="0" presId="urn:microsoft.com/office/officeart/2005/8/layout/pyramid2"/>
    <dgm:cxn modelId="{2CD4103C-5C45-4FED-83A7-2D25DEFABEF9}" type="presParOf" srcId="{F17B4B2D-7481-4ACF-9743-7442C2C64384}" destId="{742C3397-AE12-46AB-B456-DF4DD37937FE}" srcOrd="2" destOrd="0" presId="urn:microsoft.com/office/officeart/2005/8/layout/pyramid2"/>
    <dgm:cxn modelId="{90344677-4D03-4C5B-9AD9-A8E0E4170E77}" type="presParOf" srcId="{F17B4B2D-7481-4ACF-9743-7442C2C64384}" destId="{8E946E12-1E1F-4C96-B2DA-69A73601F87D}" srcOrd="3" destOrd="0" presId="urn:microsoft.com/office/officeart/2005/8/layout/pyramid2"/>
    <dgm:cxn modelId="{544B8FED-B884-4359-B384-FEC3F05A6DD4}" type="presParOf" srcId="{F17B4B2D-7481-4ACF-9743-7442C2C64384}" destId="{3343FE09-2E4A-4219-B2D0-9A2628421F59}" srcOrd="4" destOrd="0" presId="urn:microsoft.com/office/officeart/2005/8/layout/pyramid2"/>
    <dgm:cxn modelId="{ED104B57-62C1-436D-8A23-560F013B7332}" type="presParOf" srcId="{F17B4B2D-7481-4ACF-9743-7442C2C64384}" destId="{7FEE186B-FFC9-46E8-A5F9-C2B79709A61D}" srcOrd="5" destOrd="0" presId="urn:microsoft.com/office/officeart/2005/8/layout/pyramid2"/>
    <dgm:cxn modelId="{2C3B2986-449B-4F7D-8FC5-9D22A840D45A}" type="presParOf" srcId="{F17B4B2D-7481-4ACF-9743-7442C2C64384}" destId="{E6E85ED3-ED82-487E-8508-AF58749CB752}" srcOrd="6" destOrd="0" presId="urn:microsoft.com/office/officeart/2005/8/layout/pyramid2"/>
    <dgm:cxn modelId="{40C1A937-1613-4F91-83C1-711B934F4720}" type="presParOf" srcId="{F17B4B2D-7481-4ACF-9743-7442C2C64384}" destId="{28B3EA2B-1494-40DC-9068-7700C7E161D2}" srcOrd="7" destOrd="0" presId="urn:microsoft.com/office/officeart/2005/8/layout/pyramid2"/>
    <dgm:cxn modelId="{C8298E2B-3070-4924-B12F-8243ACB8820A}" type="presParOf" srcId="{F17B4B2D-7481-4ACF-9743-7442C2C64384}" destId="{24582A08-86F2-4CFB-B40C-D4624A4ED32F}" srcOrd="8" destOrd="0" presId="urn:microsoft.com/office/officeart/2005/8/layout/pyramid2"/>
    <dgm:cxn modelId="{07E000FD-54BB-4BB5-A7A5-E30F433B65F5}" type="presParOf" srcId="{F17B4B2D-7481-4ACF-9743-7442C2C64384}" destId="{5D704E98-CBA6-4C36-9906-50940C7C91C4}" srcOrd="9" destOrd="0" presId="urn:microsoft.com/office/officeart/2005/8/layout/pyramid2"/>
    <dgm:cxn modelId="{EC42694C-05B5-48B6-AA2D-FF51E28B8AD4}" type="presParOf" srcId="{F17B4B2D-7481-4ACF-9743-7442C2C64384}" destId="{644E07C9-1C0E-4D0E-916D-B1D5A4F0E663}" srcOrd="10" destOrd="0" presId="urn:microsoft.com/office/officeart/2005/8/layout/pyramid2"/>
    <dgm:cxn modelId="{B563C13A-55FF-45B3-90D0-3998EE6F565D}" type="presParOf" srcId="{F17B4B2D-7481-4ACF-9743-7442C2C64384}" destId="{FC21121D-2284-49DA-9AEA-A6C6165B5EED}" srcOrd="11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BEDE65-E973-45EA-B85D-1EE0D0931FA8}">
      <dsp:nvSpPr>
        <dsp:cNvPr id="0" name=""/>
        <dsp:cNvSpPr/>
      </dsp:nvSpPr>
      <dsp:spPr>
        <a:xfrm>
          <a:off x="2537" y="328418"/>
          <a:ext cx="2473920" cy="976320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Current Scenario</a:t>
          </a:r>
          <a:endParaRPr lang="en-IN" sz="2700" kern="1200" dirty="0"/>
        </a:p>
      </dsp:txBody>
      <dsp:txXfrm>
        <a:off x="2537" y="328418"/>
        <a:ext cx="2473920" cy="976320"/>
      </dsp:txXfrm>
    </dsp:sp>
    <dsp:sp modelId="{E9DD3F9B-E682-41E8-8AC7-23FD3997923C}">
      <dsp:nvSpPr>
        <dsp:cNvPr id="0" name=""/>
        <dsp:cNvSpPr/>
      </dsp:nvSpPr>
      <dsp:spPr>
        <a:xfrm>
          <a:off x="2537" y="1304738"/>
          <a:ext cx="2473920" cy="3779864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Manual Planning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Inventory Management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Machine Utilization</a:t>
          </a:r>
          <a:endParaRPr lang="en-IN" sz="2000" kern="1200" dirty="0"/>
        </a:p>
      </dsp:txBody>
      <dsp:txXfrm>
        <a:off x="2537" y="1304738"/>
        <a:ext cx="2473920" cy="3779864"/>
      </dsp:txXfrm>
    </dsp:sp>
    <dsp:sp modelId="{D2DC684B-B30B-4CED-9492-DF6BC6D06EF9}">
      <dsp:nvSpPr>
        <dsp:cNvPr id="0" name=""/>
        <dsp:cNvSpPr/>
      </dsp:nvSpPr>
      <dsp:spPr>
        <a:xfrm>
          <a:off x="2822806" y="328418"/>
          <a:ext cx="2473920" cy="976320"/>
        </a:xfrm>
        <a:prstGeom prst="rect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Gap</a:t>
          </a:r>
          <a:endParaRPr lang="en-IN" sz="2700" kern="1200" dirty="0"/>
        </a:p>
      </dsp:txBody>
      <dsp:txXfrm>
        <a:off x="2822806" y="328418"/>
        <a:ext cx="2473920" cy="976320"/>
      </dsp:txXfrm>
    </dsp:sp>
    <dsp:sp modelId="{A00964F0-C12F-4589-B5A7-C354E12F5488}">
      <dsp:nvSpPr>
        <dsp:cNvPr id="0" name=""/>
        <dsp:cNvSpPr/>
      </dsp:nvSpPr>
      <dsp:spPr>
        <a:xfrm>
          <a:off x="2822806" y="1304738"/>
          <a:ext cx="2473920" cy="3779864"/>
        </a:xfrm>
        <a:prstGeom prst="rect">
          <a:avLst/>
        </a:prstGeom>
        <a:solidFill>
          <a:schemeClr val="accent5">
            <a:tint val="40000"/>
            <a:alpha val="90000"/>
            <a:hueOff val="-3369881"/>
            <a:satOff val="-11416"/>
            <a:lumOff val="-1464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-3369881"/>
              <a:satOff val="-11416"/>
              <a:lumOff val="-1464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Involves 2 – 3 peoples and is time consuming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Some Parts are overproduced/ some may have shortage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No proper track of machine utilization, while some machines are on PDT</a:t>
          </a:r>
          <a:endParaRPr lang="en-IN" sz="2000" kern="1200" dirty="0"/>
        </a:p>
      </dsp:txBody>
      <dsp:txXfrm>
        <a:off x="2822806" y="1304738"/>
        <a:ext cx="2473920" cy="3779864"/>
      </dsp:txXfrm>
    </dsp:sp>
    <dsp:sp modelId="{40E663B8-BFF6-4AFF-A637-D4A560B27D7E}">
      <dsp:nvSpPr>
        <dsp:cNvPr id="0" name=""/>
        <dsp:cNvSpPr/>
      </dsp:nvSpPr>
      <dsp:spPr>
        <a:xfrm>
          <a:off x="5643075" y="328418"/>
          <a:ext cx="2473920" cy="976320"/>
        </a:xfrm>
        <a:prstGeom prst="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To Be</a:t>
          </a:r>
          <a:endParaRPr lang="en-IN" sz="2700" kern="1200" dirty="0"/>
        </a:p>
      </dsp:txBody>
      <dsp:txXfrm>
        <a:off x="5643075" y="328418"/>
        <a:ext cx="2473920" cy="976320"/>
      </dsp:txXfrm>
    </dsp:sp>
    <dsp:sp modelId="{6C6B46D2-EED8-4FA7-B64F-34BDAD7199AF}">
      <dsp:nvSpPr>
        <dsp:cNvPr id="0" name=""/>
        <dsp:cNvSpPr/>
      </dsp:nvSpPr>
      <dsp:spPr>
        <a:xfrm>
          <a:off x="5643075" y="1304738"/>
          <a:ext cx="2473920" cy="3779864"/>
        </a:xfrm>
        <a:prstGeom prst="rect">
          <a:avLst/>
        </a:prstGeom>
        <a:solidFill>
          <a:schemeClr val="accent5">
            <a:tint val="40000"/>
            <a:alpha val="90000"/>
            <a:hueOff val="-6739762"/>
            <a:satOff val="-22832"/>
            <a:lumOff val="-2928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-6739762"/>
              <a:satOff val="-22832"/>
              <a:lumOff val="-2928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Automated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Maintain 3 day safety stock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As per production scheduling</a:t>
          </a:r>
          <a:endParaRPr lang="en-IN" sz="2000" kern="1200" dirty="0"/>
        </a:p>
      </dsp:txBody>
      <dsp:txXfrm>
        <a:off x="5643075" y="1304738"/>
        <a:ext cx="2473920" cy="37798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A3E3D0-ED7D-4A48-90C7-18240535CDE4}">
      <dsp:nvSpPr>
        <dsp:cNvPr id="0" name=""/>
        <dsp:cNvSpPr/>
      </dsp:nvSpPr>
      <dsp:spPr>
        <a:xfrm>
          <a:off x="947278" y="0"/>
          <a:ext cx="5413022" cy="5413022"/>
        </a:xfrm>
        <a:prstGeom prst="triangle">
          <a:avLst/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6CA5288-C282-45A8-8A02-D756C21A5C8B}">
      <dsp:nvSpPr>
        <dsp:cNvPr id="0" name=""/>
        <dsp:cNvSpPr/>
      </dsp:nvSpPr>
      <dsp:spPr>
        <a:xfrm>
          <a:off x="3653789" y="544209"/>
          <a:ext cx="3518464" cy="64068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57200" extrusionH="600" contourW="3000">
          <a:bevelT w="48600" h="18600" prst="relaxedInset"/>
          <a:bevelB w="48600" h="8600" prst="relaxedInset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Maintain Safety Stock</a:t>
          </a:r>
          <a:endParaRPr lang="en-IN" sz="2300" kern="1200" dirty="0"/>
        </a:p>
      </dsp:txBody>
      <dsp:txXfrm>
        <a:off x="3685064" y="575484"/>
        <a:ext cx="3455914" cy="578131"/>
      </dsp:txXfrm>
    </dsp:sp>
    <dsp:sp modelId="{742C3397-AE12-46AB-B456-DF4DD37937FE}">
      <dsp:nvSpPr>
        <dsp:cNvPr id="0" name=""/>
        <dsp:cNvSpPr/>
      </dsp:nvSpPr>
      <dsp:spPr>
        <a:xfrm>
          <a:off x="3653789" y="1264976"/>
          <a:ext cx="3518464" cy="64068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shade val="50000"/>
              <a:hueOff val="-185330"/>
              <a:satOff val="2886"/>
              <a:lumOff val="14375"/>
              <a:alphaOff val="0"/>
            </a:schemeClr>
          </a:solidFill>
          <a:prstDash val="solid"/>
          <a:miter lim="800000"/>
        </a:ln>
        <a:effectLst/>
        <a:sp3d z="57200" extrusionH="600" contourW="3000">
          <a:bevelT w="48600" h="18600" prst="relaxedInset"/>
          <a:bevelB w="48600" h="8600" prst="relaxedInset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Plan According To Category</a:t>
          </a:r>
          <a:endParaRPr lang="en-IN" sz="2300" kern="1200" dirty="0"/>
        </a:p>
      </dsp:txBody>
      <dsp:txXfrm>
        <a:off x="3685064" y="1296251"/>
        <a:ext cx="3455914" cy="578131"/>
      </dsp:txXfrm>
    </dsp:sp>
    <dsp:sp modelId="{3343FE09-2E4A-4219-B2D0-9A2628421F59}">
      <dsp:nvSpPr>
        <dsp:cNvPr id="0" name=""/>
        <dsp:cNvSpPr/>
      </dsp:nvSpPr>
      <dsp:spPr>
        <a:xfrm>
          <a:off x="3653789" y="1985743"/>
          <a:ext cx="3518464" cy="64068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shade val="50000"/>
              <a:hueOff val="-370661"/>
              <a:satOff val="5772"/>
              <a:lumOff val="28749"/>
              <a:alphaOff val="0"/>
            </a:schemeClr>
          </a:solidFill>
          <a:prstDash val="solid"/>
          <a:miter lim="800000"/>
        </a:ln>
        <a:effectLst/>
        <a:sp3d z="57200" extrusionH="600" contourW="3000">
          <a:bevelT w="48600" h="18600" prst="relaxedInset"/>
          <a:bevelB w="48600" h="8600" prst="relaxedInset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Full Capacity Utilization</a:t>
          </a:r>
          <a:endParaRPr lang="en-IN" sz="2300" kern="1200" dirty="0"/>
        </a:p>
      </dsp:txBody>
      <dsp:txXfrm>
        <a:off x="3685064" y="2017018"/>
        <a:ext cx="3455914" cy="578131"/>
      </dsp:txXfrm>
    </dsp:sp>
    <dsp:sp modelId="{E6E85ED3-ED82-487E-8508-AF58749CB752}">
      <dsp:nvSpPr>
        <dsp:cNvPr id="0" name=""/>
        <dsp:cNvSpPr/>
      </dsp:nvSpPr>
      <dsp:spPr>
        <a:xfrm>
          <a:off x="3653789" y="2706511"/>
          <a:ext cx="3518464" cy="64068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shade val="50000"/>
              <a:hueOff val="-555991"/>
              <a:satOff val="8658"/>
              <a:lumOff val="43124"/>
              <a:alphaOff val="0"/>
            </a:schemeClr>
          </a:solidFill>
          <a:prstDash val="solid"/>
          <a:miter lim="800000"/>
        </a:ln>
        <a:effectLst/>
        <a:sp3d z="57200" extrusionH="600" contourW="3000">
          <a:bevelT w="48600" h="18600" prst="relaxedInset"/>
          <a:bevelB w="48600" h="8600" prst="relaxedInset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Fixed Machine Allocation</a:t>
          </a:r>
          <a:endParaRPr lang="en-IN" sz="2300" kern="1200" dirty="0"/>
        </a:p>
      </dsp:txBody>
      <dsp:txXfrm>
        <a:off x="3685064" y="2737786"/>
        <a:ext cx="3455914" cy="578131"/>
      </dsp:txXfrm>
    </dsp:sp>
    <dsp:sp modelId="{24582A08-86F2-4CFB-B40C-D4624A4ED32F}">
      <dsp:nvSpPr>
        <dsp:cNvPr id="0" name=""/>
        <dsp:cNvSpPr/>
      </dsp:nvSpPr>
      <dsp:spPr>
        <a:xfrm>
          <a:off x="3653789" y="3427278"/>
          <a:ext cx="3518464" cy="64068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shade val="50000"/>
              <a:hueOff val="-370661"/>
              <a:satOff val="5772"/>
              <a:lumOff val="28749"/>
              <a:alphaOff val="0"/>
            </a:schemeClr>
          </a:solidFill>
          <a:prstDash val="solid"/>
          <a:miter lim="800000"/>
        </a:ln>
        <a:effectLst/>
        <a:sp3d z="57200" extrusionH="600" contourW="3000">
          <a:bevelT w="48600" h="18600" prst="relaxedInset"/>
          <a:bevelB w="48600" h="8600" prst="relaxedInset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Minimum Changeover</a:t>
          </a:r>
          <a:endParaRPr lang="en-IN" sz="2300" kern="1200" dirty="0"/>
        </a:p>
      </dsp:txBody>
      <dsp:txXfrm>
        <a:off x="3685064" y="3458553"/>
        <a:ext cx="3455914" cy="578131"/>
      </dsp:txXfrm>
    </dsp:sp>
    <dsp:sp modelId="{644E07C9-1C0E-4D0E-916D-B1D5A4F0E663}">
      <dsp:nvSpPr>
        <dsp:cNvPr id="0" name=""/>
        <dsp:cNvSpPr/>
      </dsp:nvSpPr>
      <dsp:spPr>
        <a:xfrm>
          <a:off x="3653789" y="4148045"/>
          <a:ext cx="3518464" cy="64068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shade val="50000"/>
              <a:hueOff val="-185330"/>
              <a:satOff val="2886"/>
              <a:lumOff val="14375"/>
              <a:alphaOff val="0"/>
            </a:schemeClr>
          </a:solidFill>
          <a:prstDash val="solid"/>
          <a:miter lim="800000"/>
        </a:ln>
        <a:effectLst/>
        <a:sp3d z="57200" extrusionH="600" contourW="3000">
          <a:bevelT w="48600" h="18600" prst="relaxedInset"/>
          <a:bevelB w="48600" h="8600" prst="relaxedInset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Terminal Availability</a:t>
          </a:r>
          <a:endParaRPr lang="en-IN" sz="2300" kern="1200" dirty="0"/>
        </a:p>
      </dsp:txBody>
      <dsp:txXfrm>
        <a:off x="3685064" y="4179320"/>
        <a:ext cx="3455914" cy="5781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138" cy="338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88000" y="0"/>
            <a:ext cx="4276725" cy="338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2D03F9-AA40-4F3A-A210-006EC2BEDAA2}" type="datetimeFigureOut">
              <a:rPr lang="en-IN" smtClean="0"/>
              <a:t>22-04-2026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397625"/>
            <a:ext cx="4275138" cy="338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88000" y="6397625"/>
            <a:ext cx="4276725" cy="338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AF49BA-AF7D-4CBD-89D9-630D4AAD3B9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85313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6003" cy="338348"/>
          </a:xfrm>
          <a:prstGeom prst="rect">
            <a:avLst/>
          </a:prstGeom>
        </p:spPr>
        <p:txBody>
          <a:bodyPr vert="horz" lIns="79736" tIns="39868" rIns="79736" bIns="39868" rtlCol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89025" y="0"/>
            <a:ext cx="4274716" cy="338348"/>
          </a:xfrm>
          <a:prstGeom prst="rect">
            <a:avLst/>
          </a:prstGeom>
        </p:spPr>
        <p:txBody>
          <a:bodyPr vert="horz" lIns="79736" tIns="39868" rIns="79736" bIns="39868" rtlCol="0"/>
          <a:lstStyle>
            <a:lvl1pPr algn="r">
              <a:defRPr sz="1000"/>
            </a:lvl1pPr>
          </a:lstStyle>
          <a:p>
            <a:fld id="{BB1100BD-CA0D-4C22-83C4-848DCBD3E88F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14650" y="841375"/>
            <a:ext cx="4037013" cy="22733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79736" tIns="39868" rIns="79736" bIns="39868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86375" y="3241587"/>
            <a:ext cx="7893565" cy="2652206"/>
          </a:xfrm>
          <a:prstGeom prst="rect">
            <a:avLst/>
          </a:prstGeom>
        </p:spPr>
        <p:txBody>
          <a:bodyPr vert="horz" lIns="79736" tIns="39868" rIns="79736" bIns="3986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397417"/>
            <a:ext cx="4276003" cy="338347"/>
          </a:xfrm>
          <a:prstGeom prst="rect">
            <a:avLst/>
          </a:prstGeom>
        </p:spPr>
        <p:txBody>
          <a:bodyPr vert="horz" lIns="79736" tIns="39868" rIns="79736" bIns="39868" rtlCol="0" anchor="b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89025" y="6397417"/>
            <a:ext cx="4274716" cy="338347"/>
          </a:xfrm>
          <a:prstGeom prst="rect">
            <a:avLst/>
          </a:prstGeom>
        </p:spPr>
        <p:txBody>
          <a:bodyPr vert="horz" lIns="79736" tIns="39868" rIns="79736" bIns="39868" rtlCol="0" anchor="b"/>
          <a:lstStyle>
            <a:lvl1pPr algn="r">
              <a:defRPr sz="1000"/>
            </a:lvl1pPr>
          </a:lstStyle>
          <a:p>
            <a:fld id="{41748037-3A49-467E-9603-D49DD34660D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7071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14650" y="841375"/>
            <a:ext cx="4037013" cy="2273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748037-3A49-467E-9603-D49DD34660DA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376242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5360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754A25A-DBEF-B64B-84F6-87261CC020F4}"/>
              </a:ext>
            </a:extLst>
          </p:cNvPr>
          <p:cNvSpPr txBox="1">
            <a:spLocks/>
          </p:cNvSpPr>
          <p:nvPr userDrawn="1"/>
        </p:nvSpPr>
        <p:spPr>
          <a:xfrm>
            <a:off x="11432516" y="6391175"/>
            <a:ext cx="669862" cy="27913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345" tIns="45672" rIns="91345" bIns="45672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36E95A1-262F-4E3E-9B30-207FF0616F93}" type="slidenum">
              <a:rPr lang="en-US" sz="1399" smtClean="0">
                <a:solidFill>
                  <a:srgbClr val="0070C0"/>
                </a:solidFill>
              </a:rPr>
              <a:pPr/>
              <a:t>‹#›</a:t>
            </a:fld>
            <a:r>
              <a:rPr lang="en-US" sz="1399" dirty="0">
                <a:solidFill>
                  <a:srgbClr val="0070C0"/>
                </a:solidFill>
              </a:rPr>
              <a:t>/19</a:t>
            </a:r>
          </a:p>
        </p:txBody>
      </p:sp>
    </p:spTree>
    <p:extLst>
      <p:ext uri="{BB962C8B-B14F-4D97-AF65-F5344CB8AC3E}">
        <p14:creationId xmlns:p14="http://schemas.microsoft.com/office/powerpoint/2010/main" val="2903950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1301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239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0A566-4463-B745-9B78-46BA42718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9A0AF-F84E-BD48-9F61-FD9F08123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98844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3731108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/Relationships>
</file>

<file path=ppt/slideMasters/_rels/slideMaster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D2DA031-3960-A348-8D75-321E722D17A7}"/>
              </a:ext>
            </a:extLst>
          </p:cNvPr>
          <p:cNvSpPr/>
          <p:nvPr userDrawn="1"/>
        </p:nvSpPr>
        <p:spPr>
          <a:xfrm rot="10800000">
            <a:off x="0" y="685801"/>
            <a:ext cx="12192000" cy="292497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D3BAFFB-A611-FB48-BE13-A0731D48F01C}"/>
              </a:ext>
            </a:extLst>
          </p:cNvPr>
          <p:cNvGrpSpPr/>
          <p:nvPr userDrawn="1"/>
        </p:nvGrpSpPr>
        <p:grpSpPr>
          <a:xfrm>
            <a:off x="0" y="6755141"/>
            <a:ext cx="12179301" cy="99288"/>
            <a:chOff x="196456" y="6335445"/>
            <a:chExt cx="5306303" cy="307340"/>
          </a:xfrm>
        </p:grpSpPr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BB36231A-7123-E142-A811-B691AB0DD493}"/>
                </a:ext>
              </a:extLst>
            </p:cNvPr>
            <p:cNvSpPr/>
            <p:nvPr/>
          </p:nvSpPr>
          <p:spPr>
            <a:xfrm>
              <a:off x="196456" y="6335445"/>
              <a:ext cx="2053307" cy="307340"/>
            </a:xfrm>
            <a:custGeom>
              <a:avLst/>
              <a:gdLst/>
              <a:ahLst/>
              <a:cxnLst/>
              <a:rect l="l" t="t" r="r" b="b"/>
              <a:pathLst>
                <a:path w="1324609" h="307339">
                  <a:moveTo>
                    <a:pt x="0" y="306882"/>
                  </a:moveTo>
                  <a:lnTo>
                    <a:pt x="1324584" y="306882"/>
                  </a:lnTo>
                  <a:lnTo>
                    <a:pt x="1324584" y="0"/>
                  </a:lnTo>
                  <a:lnTo>
                    <a:pt x="0" y="0"/>
                  </a:lnTo>
                  <a:lnTo>
                    <a:pt x="0" y="306882"/>
                  </a:lnTo>
                  <a:close/>
                </a:path>
              </a:pathLst>
            </a:custGeom>
            <a:solidFill>
              <a:srgbClr val="035DBB"/>
            </a:solidFill>
          </p:spPr>
          <p:txBody>
            <a:bodyPr wrap="square" lIns="0" tIns="0" rIns="0" bIns="0" rtlCol="0"/>
            <a:lstStyle/>
            <a:p>
              <a:endParaRPr sz="1798" dirty="0"/>
            </a:p>
          </p:txBody>
        </p:sp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63279C28-93AB-C842-B27E-95CF4279320C}"/>
                </a:ext>
              </a:extLst>
            </p:cNvPr>
            <p:cNvSpPr/>
            <p:nvPr/>
          </p:nvSpPr>
          <p:spPr>
            <a:xfrm>
              <a:off x="2249764" y="6335445"/>
              <a:ext cx="1455135" cy="307340"/>
            </a:xfrm>
            <a:custGeom>
              <a:avLst/>
              <a:gdLst/>
              <a:ahLst/>
              <a:cxnLst/>
              <a:rect l="l" t="t" r="r" b="b"/>
              <a:pathLst>
                <a:path w="1324609" h="307339">
                  <a:moveTo>
                    <a:pt x="1324584" y="306882"/>
                  </a:moveTo>
                  <a:lnTo>
                    <a:pt x="0" y="306882"/>
                  </a:lnTo>
                  <a:lnTo>
                    <a:pt x="0" y="0"/>
                  </a:lnTo>
                  <a:lnTo>
                    <a:pt x="1324584" y="0"/>
                  </a:lnTo>
                  <a:lnTo>
                    <a:pt x="1324584" y="306882"/>
                  </a:lnTo>
                  <a:close/>
                </a:path>
              </a:pathLst>
            </a:custGeom>
            <a:solidFill>
              <a:srgbClr val="097AE8"/>
            </a:solidFill>
          </p:spPr>
          <p:txBody>
            <a:bodyPr wrap="square" lIns="0" tIns="0" rIns="0" bIns="0" rtlCol="0"/>
            <a:lstStyle/>
            <a:p>
              <a:endParaRPr sz="1798" dirty="0"/>
            </a:p>
          </p:txBody>
        </p:sp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7FB22E6C-EF8F-8048-A1D5-3E911BA50468}"/>
                </a:ext>
              </a:extLst>
            </p:cNvPr>
            <p:cNvSpPr/>
            <p:nvPr/>
          </p:nvSpPr>
          <p:spPr>
            <a:xfrm>
              <a:off x="3704901" y="6335445"/>
              <a:ext cx="1042059" cy="307340"/>
            </a:xfrm>
            <a:custGeom>
              <a:avLst/>
              <a:gdLst/>
              <a:ahLst/>
              <a:cxnLst/>
              <a:rect l="l" t="t" r="r" b="b"/>
              <a:pathLst>
                <a:path w="1324609" h="307339">
                  <a:moveTo>
                    <a:pt x="0" y="306882"/>
                  </a:moveTo>
                  <a:lnTo>
                    <a:pt x="1324571" y="306882"/>
                  </a:lnTo>
                  <a:lnTo>
                    <a:pt x="1324571" y="0"/>
                  </a:lnTo>
                  <a:lnTo>
                    <a:pt x="0" y="0"/>
                  </a:lnTo>
                  <a:lnTo>
                    <a:pt x="0" y="306882"/>
                  </a:lnTo>
                  <a:close/>
                </a:path>
              </a:pathLst>
            </a:custGeom>
            <a:solidFill>
              <a:srgbClr val="2DBFFF"/>
            </a:solidFill>
          </p:spPr>
          <p:txBody>
            <a:bodyPr wrap="square" lIns="0" tIns="0" rIns="0" bIns="0" rtlCol="0"/>
            <a:lstStyle/>
            <a:p>
              <a:endParaRPr sz="1798" dirty="0"/>
            </a:p>
          </p:txBody>
        </p:sp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247A5B5C-5C47-D14C-A890-4A38B66FFF74}"/>
                </a:ext>
              </a:extLst>
            </p:cNvPr>
            <p:cNvSpPr/>
            <p:nvPr/>
          </p:nvSpPr>
          <p:spPr>
            <a:xfrm>
              <a:off x="4746959" y="6335445"/>
              <a:ext cx="755800" cy="307340"/>
            </a:xfrm>
            <a:custGeom>
              <a:avLst/>
              <a:gdLst/>
              <a:ahLst/>
              <a:cxnLst/>
              <a:rect l="l" t="t" r="r" b="b"/>
              <a:pathLst>
                <a:path w="1324609" h="307339">
                  <a:moveTo>
                    <a:pt x="1324571" y="306882"/>
                  </a:moveTo>
                  <a:lnTo>
                    <a:pt x="0" y="306882"/>
                  </a:lnTo>
                  <a:lnTo>
                    <a:pt x="0" y="0"/>
                  </a:lnTo>
                  <a:lnTo>
                    <a:pt x="1324571" y="0"/>
                  </a:lnTo>
                  <a:lnTo>
                    <a:pt x="1324571" y="306882"/>
                  </a:lnTo>
                  <a:close/>
                </a:path>
              </a:pathLst>
            </a:custGeom>
            <a:solidFill>
              <a:srgbClr val="B0E7FF"/>
            </a:solidFill>
          </p:spPr>
          <p:txBody>
            <a:bodyPr wrap="square" lIns="0" tIns="0" rIns="0" bIns="0" rtlCol="0"/>
            <a:lstStyle/>
            <a:p>
              <a:endParaRPr sz="1798" dirty="0"/>
            </a:p>
          </p:txBody>
        </p:sp>
      </p:grp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C754A25A-DBEF-B64B-84F6-87261CC020F4}"/>
              </a:ext>
            </a:extLst>
          </p:cNvPr>
          <p:cNvSpPr txBox="1">
            <a:spLocks/>
          </p:cNvSpPr>
          <p:nvPr userDrawn="1"/>
        </p:nvSpPr>
        <p:spPr>
          <a:xfrm>
            <a:off x="11432516" y="6391175"/>
            <a:ext cx="669862" cy="27913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345" tIns="45672" rIns="91345" bIns="45672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36E95A1-262F-4E3E-9B30-207FF0616F93}" type="slidenum">
              <a:rPr lang="en-US" sz="1399" smtClean="0">
                <a:solidFill>
                  <a:srgbClr val="0070C0"/>
                </a:solidFill>
              </a:rPr>
              <a:pPr/>
              <a:t>‹#›</a:t>
            </a:fld>
            <a:r>
              <a:rPr lang="en-US" sz="1399" dirty="0">
                <a:solidFill>
                  <a:srgbClr val="0070C0"/>
                </a:solidFill>
              </a:rPr>
              <a:t>/5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A047C07-817C-47E3-B2AB-849B5D0A547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050" y="0"/>
            <a:ext cx="1288328" cy="67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829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9" r:id="rId2"/>
    <p:sldLayoutId id="2147483689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BEB63F-C9BB-9F4F-B960-E251F832B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3" y="365125"/>
            <a:ext cx="105060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59DF1-F9E6-204E-8BA7-5E6A94406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3" y="1825625"/>
            <a:ext cx="1050607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64B09E6-C041-B548-A5BB-89FBD638FAA1}"/>
              </a:ext>
            </a:extLst>
          </p:cNvPr>
          <p:cNvGrpSpPr/>
          <p:nvPr userDrawn="1"/>
        </p:nvGrpSpPr>
        <p:grpSpPr>
          <a:xfrm>
            <a:off x="0" y="6755141"/>
            <a:ext cx="12179301" cy="99288"/>
            <a:chOff x="196456" y="6335445"/>
            <a:chExt cx="5306303" cy="307340"/>
          </a:xfrm>
        </p:grpSpPr>
        <p:sp>
          <p:nvSpPr>
            <p:cNvPr id="8" name="object 9">
              <a:extLst>
                <a:ext uri="{FF2B5EF4-FFF2-40B4-BE49-F238E27FC236}">
                  <a16:creationId xmlns:a16="http://schemas.microsoft.com/office/drawing/2014/main" id="{332FA3B0-D9CA-2249-822F-FF57E0F6DF68}"/>
                </a:ext>
              </a:extLst>
            </p:cNvPr>
            <p:cNvSpPr/>
            <p:nvPr/>
          </p:nvSpPr>
          <p:spPr>
            <a:xfrm>
              <a:off x="196456" y="6335445"/>
              <a:ext cx="2053307" cy="307340"/>
            </a:xfrm>
            <a:custGeom>
              <a:avLst/>
              <a:gdLst/>
              <a:ahLst/>
              <a:cxnLst/>
              <a:rect l="l" t="t" r="r" b="b"/>
              <a:pathLst>
                <a:path w="1324609" h="307339">
                  <a:moveTo>
                    <a:pt x="0" y="306882"/>
                  </a:moveTo>
                  <a:lnTo>
                    <a:pt x="1324584" y="306882"/>
                  </a:lnTo>
                  <a:lnTo>
                    <a:pt x="1324584" y="0"/>
                  </a:lnTo>
                  <a:lnTo>
                    <a:pt x="0" y="0"/>
                  </a:lnTo>
                  <a:lnTo>
                    <a:pt x="0" y="306882"/>
                  </a:lnTo>
                  <a:close/>
                </a:path>
              </a:pathLst>
            </a:custGeom>
            <a:solidFill>
              <a:srgbClr val="035DBB"/>
            </a:solidFill>
          </p:spPr>
          <p:txBody>
            <a:bodyPr wrap="square" lIns="0" tIns="0" rIns="0" bIns="0" rtlCol="0"/>
            <a:lstStyle/>
            <a:p>
              <a:endParaRPr sz="1798" dirty="0"/>
            </a:p>
          </p:txBody>
        </p:sp>
        <p:sp>
          <p:nvSpPr>
            <p:cNvPr id="9" name="object 10">
              <a:extLst>
                <a:ext uri="{FF2B5EF4-FFF2-40B4-BE49-F238E27FC236}">
                  <a16:creationId xmlns:a16="http://schemas.microsoft.com/office/drawing/2014/main" id="{F5E1FA67-779F-1144-8DA0-8137BDC89C33}"/>
                </a:ext>
              </a:extLst>
            </p:cNvPr>
            <p:cNvSpPr/>
            <p:nvPr/>
          </p:nvSpPr>
          <p:spPr>
            <a:xfrm>
              <a:off x="2249764" y="6335445"/>
              <a:ext cx="1455135" cy="307340"/>
            </a:xfrm>
            <a:custGeom>
              <a:avLst/>
              <a:gdLst/>
              <a:ahLst/>
              <a:cxnLst/>
              <a:rect l="l" t="t" r="r" b="b"/>
              <a:pathLst>
                <a:path w="1324609" h="307339">
                  <a:moveTo>
                    <a:pt x="1324584" y="306882"/>
                  </a:moveTo>
                  <a:lnTo>
                    <a:pt x="0" y="306882"/>
                  </a:lnTo>
                  <a:lnTo>
                    <a:pt x="0" y="0"/>
                  </a:lnTo>
                  <a:lnTo>
                    <a:pt x="1324584" y="0"/>
                  </a:lnTo>
                  <a:lnTo>
                    <a:pt x="1324584" y="306882"/>
                  </a:lnTo>
                  <a:close/>
                </a:path>
              </a:pathLst>
            </a:custGeom>
            <a:solidFill>
              <a:srgbClr val="097AE8"/>
            </a:solidFill>
          </p:spPr>
          <p:txBody>
            <a:bodyPr wrap="square" lIns="0" tIns="0" rIns="0" bIns="0" rtlCol="0"/>
            <a:lstStyle/>
            <a:p>
              <a:endParaRPr sz="1798" dirty="0"/>
            </a:p>
          </p:txBody>
        </p:sp>
        <p:sp>
          <p:nvSpPr>
            <p:cNvPr id="10" name="object 11">
              <a:extLst>
                <a:ext uri="{FF2B5EF4-FFF2-40B4-BE49-F238E27FC236}">
                  <a16:creationId xmlns:a16="http://schemas.microsoft.com/office/drawing/2014/main" id="{A5FD011F-2679-F346-A10F-2E3A0F20D5C4}"/>
                </a:ext>
              </a:extLst>
            </p:cNvPr>
            <p:cNvSpPr/>
            <p:nvPr/>
          </p:nvSpPr>
          <p:spPr>
            <a:xfrm>
              <a:off x="3704901" y="6335445"/>
              <a:ext cx="1042059" cy="307340"/>
            </a:xfrm>
            <a:custGeom>
              <a:avLst/>
              <a:gdLst/>
              <a:ahLst/>
              <a:cxnLst/>
              <a:rect l="l" t="t" r="r" b="b"/>
              <a:pathLst>
                <a:path w="1324609" h="307339">
                  <a:moveTo>
                    <a:pt x="0" y="306882"/>
                  </a:moveTo>
                  <a:lnTo>
                    <a:pt x="1324571" y="306882"/>
                  </a:lnTo>
                  <a:lnTo>
                    <a:pt x="1324571" y="0"/>
                  </a:lnTo>
                  <a:lnTo>
                    <a:pt x="0" y="0"/>
                  </a:lnTo>
                  <a:lnTo>
                    <a:pt x="0" y="306882"/>
                  </a:lnTo>
                  <a:close/>
                </a:path>
              </a:pathLst>
            </a:custGeom>
            <a:solidFill>
              <a:srgbClr val="2DBFFF"/>
            </a:solidFill>
          </p:spPr>
          <p:txBody>
            <a:bodyPr wrap="square" lIns="0" tIns="0" rIns="0" bIns="0" rtlCol="0"/>
            <a:lstStyle/>
            <a:p>
              <a:endParaRPr sz="1798" dirty="0"/>
            </a:p>
          </p:txBody>
        </p:sp>
        <p:sp>
          <p:nvSpPr>
            <p:cNvPr id="11" name="object 12">
              <a:extLst>
                <a:ext uri="{FF2B5EF4-FFF2-40B4-BE49-F238E27FC236}">
                  <a16:creationId xmlns:a16="http://schemas.microsoft.com/office/drawing/2014/main" id="{91EA6475-751A-5544-ACEA-D92AE244A7CE}"/>
                </a:ext>
              </a:extLst>
            </p:cNvPr>
            <p:cNvSpPr/>
            <p:nvPr/>
          </p:nvSpPr>
          <p:spPr>
            <a:xfrm>
              <a:off x="4746959" y="6335445"/>
              <a:ext cx="755800" cy="307340"/>
            </a:xfrm>
            <a:custGeom>
              <a:avLst/>
              <a:gdLst/>
              <a:ahLst/>
              <a:cxnLst/>
              <a:rect l="l" t="t" r="r" b="b"/>
              <a:pathLst>
                <a:path w="1324609" h="307339">
                  <a:moveTo>
                    <a:pt x="1324571" y="306882"/>
                  </a:moveTo>
                  <a:lnTo>
                    <a:pt x="0" y="306882"/>
                  </a:lnTo>
                  <a:lnTo>
                    <a:pt x="0" y="0"/>
                  </a:lnTo>
                  <a:lnTo>
                    <a:pt x="1324571" y="0"/>
                  </a:lnTo>
                  <a:lnTo>
                    <a:pt x="1324571" y="306882"/>
                  </a:lnTo>
                  <a:close/>
                </a:path>
              </a:pathLst>
            </a:custGeom>
            <a:solidFill>
              <a:srgbClr val="B0E7FF"/>
            </a:solidFill>
          </p:spPr>
          <p:txBody>
            <a:bodyPr wrap="square" lIns="0" tIns="0" rIns="0" bIns="0" rtlCol="0"/>
            <a:lstStyle/>
            <a:p>
              <a:endParaRPr sz="1798" dirty="0"/>
            </a:p>
          </p:txBody>
        </p:sp>
      </p:grpSp>
    </p:spTree>
    <p:extLst>
      <p:ext uri="{BB962C8B-B14F-4D97-AF65-F5344CB8AC3E}">
        <p14:creationId xmlns:p14="http://schemas.microsoft.com/office/powerpoint/2010/main" val="1228426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88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eg"/><Relationship Id="rId3" Type="http://schemas.openxmlformats.org/officeDocument/2006/relationships/image" Target="../media/image3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facebook.com/UnoMindaGroup/" TargetMode="External"/><Relationship Id="rId4" Type="http://schemas.openxmlformats.org/officeDocument/2006/relationships/image" Target="../media/image7.png"/><Relationship Id="rId5" Type="http://schemas.openxmlformats.org/officeDocument/2006/relationships/hyperlink" Target="https://www.linkedin.com/company/unominda/mycompany/" TargetMode="External"/><Relationship Id="rId6" Type="http://schemas.openxmlformats.org/officeDocument/2006/relationships/image" Target="../media/image8.png"/><Relationship Id="rId7" Type="http://schemas.openxmlformats.org/officeDocument/2006/relationships/hyperlink" Target="https://instagram.com/unominda?utm_medium=copy_link" TargetMode="External"/><Relationship Id="rId8" Type="http://schemas.openxmlformats.org/officeDocument/2006/relationships/image" Target="../media/image9.jpeg"/><Relationship Id="rId9" Type="http://schemas.openxmlformats.org/officeDocument/2006/relationships/hyperlink" Target="https://www.youtube.com/channel/UCu088mcVOmv4KyIkuapRL-Q" TargetMode="External"/><Relationship Id="rId10" Type="http://schemas.openxmlformats.org/officeDocument/2006/relationships/image" Target="../media/image10.jpeg"/><Relationship Id="rId11" Type="http://schemas.openxmlformats.org/officeDocument/2006/relationships/image" Target="../media/image3.png"/><Relationship Id="rId12" Type="http://schemas.openxmlformats.org/officeDocument/2006/relationships/hyperlink" Target="https://twitter.com/Unomindacom?ref_src=twsrc%5egoogle|twcamp%5eserp|twgr%5eauthor" TargetMode="External"/><Relationship Id="rId1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146050" y="0"/>
            <a:ext cx="11887200" cy="6705600"/>
            <a:chOff x="267012" y="0"/>
            <a:chExt cx="11887200" cy="67056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2178E4E-A9D4-754B-9DA2-AE7CC756D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095812" y="0"/>
              <a:ext cx="10058400" cy="67056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589C8AE-B222-C748-8664-25A3329EF109}"/>
                </a:ext>
              </a:extLst>
            </p:cNvPr>
            <p:cNvGrpSpPr/>
            <p:nvPr/>
          </p:nvGrpSpPr>
          <p:grpSpPr>
            <a:xfrm>
              <a:off x="10554012" y="2512952"/>
              <a:ext cx="376070" cy="376070"/>
              <a:chOff x="5756135" y="1311137"/>
              <a:chExt cx="527330" cy="52733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40E639-C2FC-A446-87A8-D35F9765A5FA}"/>
                  </a:ext>
                </a:extLst>
              </p:cNvPr>
              <p:cNvSpPr/>
              <p:nvPr/>
            </p:nvSpPr>
            <p:spPr>
              <a:xfrm>
                <a:off x="5756135" y="1311137"/>
                <a:ext cx="527330" cy="527331"/>
              </a:xfrm>
              <a:prstGeom prst="ellipse">
                <a:avLst/>
              </a:prstGeom>
              <a:solidFill>
                <a:srgbClr val="EB3037">
                  <a:alpha val="4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otham Medium" panose="02000604030000020004" pitchFamily="2" charset="0"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FBD5BB8-7CA4-2E47-8090-F40E47F9A56A}"/>
                  </a:ext>
                </a:extLst>
              </p:cNvPr>
              <p:cNvSpPr/>
              <p:nvPr/>
            </p:nvSpPr>
            <p:spPr>
              <a:xfrm>
                <a:off x="5834678" y="1394082"/>
                <a:ext cx="368300" cy="368300"/>
              </a:xfrm>
              <a:prstGeom prst="ellipse">
                <a:avLst/>
              </a:prstGeom>
              <a:solidFill>
                <a:srgbClr val="EB3037">
                  <a:alpha val="5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otham Medium" panose="02000604030000020004" pitchFamily="2" charset="0"/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D85D98A-4AFB-4B40-BA84-3AF255EF23B6}"/>
                  </a:ext>
                </a:extLst>
              </p:cNvPr>
              <p:cNvSpPr/>
              <p:nvPr/>
            </p:nvSpPr>
            <p:spPr>
              <a:xfrm>
                <a:off x="5923108" y="1491110"/>
                <a:ext cx="180848" cy="180848"/>
              </a:xfrm>
              <a:prstGeom prst="ellipse">
                <a:avLst/>
              </a:prstGeom>
              <a:solidFill>
                <a:srgbClr val="EB303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otham Medium" panose="02000604030000020004" pitchFamily="2" charset="0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F4C017C-CC0E-F94C-8F21-936CB924B457}"/>
                </a:ext>
              </a:extLst>
            </p:cNvPr>
            <p:cNvGrpSpPr/>
            <p:nvPr/>
          </p:nvGrpSpPr>
          <p:grpSpPr>
            <a:xfrm>
              <a:off x="8809989" y="2939738"/>
              <a:ext cx="576364" cy="576363"/>
              <a:chOff x="5756135" y="1311135"/>
              <a:chExt cx="527330" cy="527330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4B4AA65-114C-744B-AB2B-FA84AA8F9DAC}"/>
                  </a:ext>
                </a:extLst>
              </p:cNvPr>
              <p:cNvSpPr/>
              <p:nvPr/>
            </p:nvSpPr>
            <p:spPr>
              <a:xfrm>
                <a:off x="5756135" y="1311135"/>
                <a:ext cx="527330" cy="527330"/>
              </a:xfrm>
              <a:prstGeom prst="ellipse">
                <a:avLst/>
              </a:prstGeom>
              <a:solidFill>
                <a:srgbClr val="EB3037">
                  <a:alpha val="4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otham Medium" panose="02000604030000020004" pitchFamily="2" charset="0"/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ECF99C62-105F-9848-99D1-ECF1C1B62B7C}"/>
                  </a:ext>
                </a:extLst>
              </p:cNvPr>
              <p:cNvSpPr/>
              <p:nvPr/>
            </p:nvSpPr>
            <p:spPr>
              <a:xfrm>
                <a:off x="5834678" y="1394084"/>
                <a:ext cx="368300" cy="368301"/>
              </a:xfrm>
              <a:prstGeom prst="ellipse">
                <a:avLst/>
              </a:prstGeom>
              <a:solidFill>
                <a:srgbClr val="EB3037">
                  <a:alpha val="5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otham Medium" panose="02000604030000020004" pitchFamily="2" charset="0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D015A1B5-ECF1-6B4C-A5C8-B8208142B24E}"/>
                  </a:ext>
                </a:extLst>
              </p:cNvPr>
              <p:cNvSpPr/>
              <p:nvPr/>
            </p:nvSpPr>
            <p:spPr>
              <a:xfrm>
                <a:off x="5923108" y="1491110"/>
                <a:ext cx="180848" cy="180848"/>
              </a:xfrm>
              <a:prstGeom prst="ellipse">
                <a:avLst/>
              </a:prstGeom>
              <a:solidFill>
                <a:srgbClr val="EB303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otham Medium" panose="02000604030000020004" pitchFamily="2" charset="0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5FC0D5D-24E0-2940-BD83-DDC08C9808D8}"/>
                </a:ext>
              </a:extLst>
            </p:cNvPr>
            <p:cNvGrpSpPr/>
            <p:nvPr/>
          </p:nvGrpSpPr>
          <p:grpSpPr>
            <a:xfrm>
              <a:off x="9632603" y="3421853"/>
              <a:ext cx="376070" cy="376070"/>
              <a:chOff x="5756135" y="1311135"/>
              <a:chExt cx="527330" cy="527330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3B55D1E7-44D3-B94A-A2D6-0A458CA36A2F}"/>
                  </a:ext>
                </a:extLst>
              </p:cNvPr>
              <p:cNvSpPr/>
              <p:nvPr/>
            </p:nvSpPr>
            <p:spPr>
              <a:xfrm>
                <a:off x="5756135" y="1311135"/>
                <a:ext cx="527330" cy="527330"/>
              </a:xfrm>
              <a:prstGeom prst="ellipse">
                <a:avLst/>
              </a:prstGeom>
              <a:solidFill>
                <a:srgbClr val="EB3037">
                  <a:alpha val="4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otham Medium" panose="02000604030000020004" pitchFamily="2" charset="0"/>
                </a:endParaRP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223359EE-38AE-2B43-8FDD-513351BC62D0}"/>
                  </a:ext>
                </a:extLst>
              </p:cNvPr>
              <p:cNvSpPr/>
              <p:nvPr/>
            </p:nvSpPr>
            <p:spPr>
              <a:xfrm>
                <a:off x="5834678" y="1394082"/>
                <a:ext cx="368300" cy="368300"/>
              </a:xfrm>
              <a:prstGeom prst="ellipse">
                <a:avLst/>
              </a:prstGeom>
              <a:solidFill>
                <a:srgbClr val="EB3037">
                  <a:alpha val="5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otham Medium" panose="02000604030000020004" pitchFamily="2" charset="0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6442FD1-3578-3D4D-93CF-C91107CFD8F1}"/>
                  </a:ext>
                </a:extLst>
              </p:cNvPr>
              <p:cNvSpPr/>
              <p:nvPr/>
            </p:nvSpPr>
            <p:spPr>
              <a:xfrm>
                <a:off x="5923108" y="1491110"/>
                <a:ext cx="180848" cy="180848"/>
              </a:xfrm>
              <a:prstGeom prst="ellipse">
                <a:avLst/>
              </a:prstGeom>
              <a:solidFill>
                <a:srgbClr val="EB303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otham Medium" panose="02000604030000020004" pitchFamily="2" charset="0"/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D4E684C-E72C-BC4A-BF87-D6733C4B104F}"/>
                </a:ext>
              </a:extLst>
            </p:cNvPr>
            <p:cNvGrpSpPr/>
            <p:nvPr/>
          </p:nvGrpSpPr>
          <p:grpSpPr>
            <a:xfrm>
              <a:off x="7252823" y="2862671"/>
              <a:ext cx="262657" cy="262657"/>
              <a:chOff x="5756135" y="1311135"/>
              <a:chExt cx="527330" cy="527330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75F19C7D-BE7A-3A47-ACBF-D631171F8300}"/>
                  </a:ext>
                </a:extLst>
              </p:cNvPr>
              <p:cNvSpPr/>
              <p:nvPr/>
            </p:nvSpPr>
            <p:spPr>
              <a:xfrm>
                <a:off x="5756135" y="1311135"/>
                <a:ext cx="527330" cy="527330"/>
              </a:xfrm>
              <a:prstGeom prst="ellipse">
                <a:avLst/>
              </a:prstGeom>
              <a:solidFill>
                <a:srgbClr val="EB3037">
                  <a:alpha val="4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otham Medium" panose="02000604030000020004" pitchFamily="2" charset="0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3F52A3F-2B83-6649-91C6-F92D20098CDE}"/>
                  </a:ext>
                </a:extLst>
              </p:cNvPr>
              <p:cNvSpPr/>
              <p:nvPr/>
            </p:nvSpPr>
            <p:spPr>
              <a:xfrm>
                <a:off x="5834678" y="1394082"/>
                <a:ext cx="368300" cy="368300"/>
              </a:xfrm>
              <a:prstGeom prst="ellipse">
                <a:avLst/>
              </a:prstGeom>
              <a:solidFill>
                <a:srgbClr val="EB3037">
                  <a:alpha val="5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otham Medium" panose="02000604030000020004" pitchFamily="2" charset="0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8909E9E-FEC1-6147-AC9C-F3D5C45D7841}"/>
                  </a:ext>
                </a:extLst>
              </p:cNvPr>
              <p:cNvSpPr/>
              <p:nvPr/>
            </p:nvSpPr>
            <p:spPr>
              <a:xfrm>
                <a:off x="5923107" y="1491109"/>
                <a:ext cx="180847" cy="180847"/>
              </a:xfrm>
              <a:prstGeom prst="ellipse">
                <a:avLst/>
              </a:prstGeom>
              <a:solidFill>
                <a:srgbClr val="EB303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otham Medium" panose="02000604030000020004" pitchFamily="2" charset="0"/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A74FDCE-C482-734D-A6A7-332E362C0474}"/>
                </a:ext>
              </a:extLst>
            </p:cNvPr>
            <p:cNvGrpSpPr/>
            <p:nvPr/>
          </p:nvGrpSpPr>
          <p:grpSpPr>
            <a:xfrm>
              <a:off x="10145537" y="2831764"/>
              <a:ext cx="262657" cy="262657"/>
              <a:chOff x="5756135" y="1311135"/>
              <a:chExt cx="527330" cy="52733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C0DAA129-01BF-F648-AF2E-5A4E665CBC24}"/>
                  </a:ext>
                </a:extLst>
              </p:cNvPr>
              <p:cNvSpPr/>
              <p:nvPr/>
            </p:nvSpPr>
            <p:spPr>
              <a:xfrm>
                <a:off x="5756135" y="1311135"/>
                <a:ext cx="527330" cy="527330"/>
              </a:xfrm>
              <a:prstGeom prst="ellipse">
                <a:avLst/>
              </a:prstGeom>
              <a:solidFill>
                <a:srgbClr val="EB3037">
                  <a:alpha val="4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otham Medium" panose="02000604030000020004" pitchFamily="2" charset="0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721088E4-F64E-D847-9162-07A114E80650}"/>
                  </a:ext>
                </a:extLst>
              </p:cNvPr>
              <p:cNvSpPr/>
              <p:nvPr/>
            </p:nvSpPr>
            <p:spPr>
              <a:xfrm>
                <a:off x="5834678" y="1394082"/>
                <a:ext cx="368300" cy="368300"/>
              </a:xfrm>
              <a:prstGeom prst="ellipse">
                <a:avLst/>
              </a:prstGeom>
              <a:solidFill>
                <a:srgbClr val="EB3037">
                  <a:alpha val="5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otham Medium" panose="02000604030000020004" pitchFamily="2" charset="0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2BA24042-D44F-FA44-A9B5-949A295F894D}"/>
                  </a:ext>
                </a:extLst>
              </p:cNvPr>
              <p:cNvSpPr/>
              <p:nvPr/>
            </p:nvSpPr>
            <p:spPr>
              <a:xfrm>
                <a:off x="5923108" y="1491110"/>
                <a:ext cx="180848" cy="180848"/>
              </a:xfrm>
              <a:prstGeom prst="ellipse">
                <a:avLst/>
              </a:prstGeom>
              <a:solidFill>
                <a:srgbClr val="EB303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otham Medium" panose="02000604030000020004" pitchFamily="2" charset="0"/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8DC0FB8-4C06-2F4C-B874-54B8B3B1FE13}"/>
                </a:ext>
              </a:extLst>
            </p:cNvPr>
            <p:cNvGrpSpPr/>
            <p:nvPr/>
          </p:nvGrpSpPr>
          <p:grpSpPr>
            <a:xfrm>
              <a:off x="7139410" y="2200745"/>
              <a:ext cx="376070" cy="376070"/>
              <a:chOff x="5756135" y="1311135"/>
              <a:chExt cx="527330" cy="527330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BA6A7AF5-8161-F149-932B-CDAEFB6E5D57}"/>
                  </a:ext>
                </a:extLst>
              </p:cNvPr>
              <p:cNvSpPr/>
              <p:nvPr/>
            </p:nvSpPr>
            <p:spPr>
              <a:xfrm>
                <a:off x="5756135" y="1311135"/>
                <a:ext cx="527330" cy="527330"/>
              </a:xfrm>
              <a:prstGeom prst="ellipse">
                <a:avLst/>
              </a:prstGeom>
              <a:solidFill>
                <a:srgbClr val="EB3037">
                  <a:alpha val="4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otham Medium" panose="02000604030000020004" pitchFamily="2" charset="0"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00432531-06D5-384D-96B4-861128AEE870}"/>
                  </a:ext>
                </a:extLst>
              </p:cNvPr>
              <p:cNvSpPr/>
              <p:nvPr/>
            </p:nvSpPr>
            <p:spPr>
              <a:xfrm>
                <a:off x="5834678" y="1394082"/>
                <a:ext cx="368300" cy="368300"/>
              </a:xfrm>
              <a:prstGeom prst="ellipse">
                <a:avLst/>
              </a:prstGeom>
              <a:solidFill>
                <a:srgbClr val="EB3037">
                  <a:alpha val="5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otham Medium" panose="02000604030000020004" pitchFamily="2" charset="0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BCD06443-6580-924A-953B-6117838A3315}"/>
                  </a:ext>
                </a:extLst>
              </p:cNvPr>
              <p:cNvSpPr/>
              <p:nvPr/>
            </p:nvSpPr>
            <p:spPr>
              <a:xfrm>
                <a:off x="5923108" y="1491110"/>
                <a:ext cx="180848" cy="180848"/>
              </a:xfrm>
              <a:prstGeom prst="ellipse">
                <a:avLst/>
              </a:prstGeom>
              <a:solidFill>
                <a:srgbClr val="EB303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otham Medium" panose="02000604030000020004" pitchFamily="2" charset="0"/>
                </a:endParaRP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B86641A-BED6-534E-B7B6-562DD3007B84}"/>
                </a:ext>
              </a:extLst>
            </p:cNvPr>
            <p:cNvGrpSpPr/>
            <p:nvPr/>
          </p:nvGrpSpPr>
          <p:grpSpPr>
            <a:xfrm>
              <a:off x="6851574" y="2617930"/>
              <a:ext cx="376070" cy="376070"/>
              <a:chOff x="5756135" y="1311135"/>
              <a:chExt cx="527330" cy="527330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E0D0D50E-C02F-A541-9DF6-1000EE36ABD4}"/>
                  </a:ext>
                </a:extLst>
              </p:cNvPr>
              <p:cNvSpPr/>
              <p:nvPr/>
            </p:nvSpPr>
            <p:spPr>
              <a:xfrm>
                <a:off x="5756135" y="1311135"/>
                <a:ext cx="527330" cy="527330"/>
              </a:xfrm>
              <a:prstGeom prst="ellipse">
                <a:avLst/>
              </a:prstGeom>
              <a:solidFill>
                <a:srgbClr val="EB3037">
                  <a:alpha val="4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otham Medium" panose="02000604030000020004" pitchFamily="2" charset="0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F8FBC5D4-67A2-F147-9C7E-495A5F710E17}"/>
                  </a:ext>
                </a:extLst>
              </p:cNvPr>
              <p:cNvSpPr/>
              <p:nvPr/>
            </p:nvSpPr>
            <p:spPr>
              <a:xfrm>
                <a:off x="5834679" y="1394084"/>
                <a:ext cx="368299" cy="368300"/>
              </a:xfrm>
              <a:prstGeom prst="ellipse">
                <a:avLst/>
              </a:prstGeom>
              <a:solidFill>
                <a:srgbClr val="EB3037">
                  <a:alpha val="5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otham Medium" panose="02000604030000020004" pitchFamily="2" charset="0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38333FFD-CA12-1540-879B-A99AF2CDE183}"/>
                  </a:ext>
                </a:extLst>
              </p:cNvPr>
              <p:cNvSpPr/>
              <p:nvPr/>
            </p:nvSpPr>
            <p:spPr>
              <a:xfrm>
                <a:off x="5923108" y="1491110"/>
                <a:ext cx="180848" cy="180848"/>
              </a:xfrm>
              <a:prstGeom prst="ellipse">
                <a:avLst/>
              </a:prstGeom>
              <a:solidFill>
                <a:srgbClr val="EB303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otham Medium" panose="02000604030000020004" pitchFamily="2" charset="0"/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3E91310-5F23-0445-856E-3789924F66B8}"/>
                </a:ext>
              </a:extLst>
            </p:cNvPr>
            <p:cNvGrpSpPr/>
            <p:nvPr/>
          </p:nvGrpSpPr>
          <p:grpSpPr>
            <a:xfrm>
              <a:off x="5003108" y="4101523"/>
              <a:ext cx="376070" cy="376070"/>
              <a:chOff x="5756135" y="1311137"/>
              <a:chExt cx="527330" cy="527331"/>
            </a:xfrm>
          </p:grpSpPr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2EBF5773-1129-124F-ADEF-F3E327A155BF}"/>
                  </a:ext>
                </a:extLst>
              </p:cNvPr>
              <p:cNvSpPr/>
              <p:nvPr/>
            </p:nvSpPr>
            <p:spPr>
              <a:xfrm>
                <a:off x="5756135" y="1311137"/>
                <a:ext cx="527330" cy="527331"/>
              </a:xfrm>
              <a:prstGeom prst="ellipse">
                <a:avLst/>
              </a:prstGeom>
              <a:solidFill>
                <a:srgbClr val="EB3037">
                  <a:alpha val="4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otham Medium" panose="02000604030000020004" pitchFamily="2" charset="0"/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EC73B20E-AF2B-B84F-BB03-8E707DC7F335}"/>
                  </a:ext>
                </a:extLst>
              </p:cNvPr>
              <p:cNvSpPr/>
              <p:nvPr/>
            </p:nvSpPr>
            <p:spPr>
              <a:xfrm>
                <a:off x="5834678" y="1394082"/>
                <a:ext cx="368300" cy="368300"/>
              </a:xfrm>
              <a:prstGeom prst="ellipse">
                <a:avLst/>
              </a:prstGeom>
              <a:solidFill>
                <a:srgbClr val="EB3037">
                  <a:alpha val="5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otham Medium" panose="02000604030000020004" pitchFamily="2" charset="0"/>
                </a:endParaRP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7B9D8CAF-A982-0749-996E-A751E9980A51}"/>
                  </a:ext>
                </a:extLst>
              </p:cNvPr>
              <p:cNvSpPr/>
              <p:nvPr/>
            </p:nvSpPr>
            <p:spPr>
              <a:xfrm>
                <a:off x="5923108" y="1491110"/>
                <a:ext cx="180848" cy="180848"/>
              </a:xfrm>
              <a:prstGeom prst="ellipse">
                <a:avLst/>
              </a:prstGeom>
              <a:solidFill>
                <a:srgbClr val="EB303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otham Medium" panose="02000604030000020004" pitchFamily="2" charset="0"/>
                </a:endParaRP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11028C5-3519-7641-8744-85BDC7418FB8}"/>
                </a:ext>
              </a:extLst>
            </p:cNvPr>
            <p:cNvGrpSpPr/>
            <p:nvPr/>
          </p:nvGrpSpPr>
          <p:grpSpPr>
            <a:xfrm>
              <a:off x="4067871" y="2937293"/>
              <a:ext cx="376070" cy="376070"/>
              <a:chOff x="5756135" y="1311135"/>
              <a:chExt cx="527330" cy="527330"/>
            </a:xfrm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16018E1A-61EF-EE41-95B4-2A8998DC5519}"/>
                  </a:ext>
                </a:extLst>
              </p:cNvPr>
              <p:cNvSpPr/>
              <p:nvPr/>
            </p:nvSpPr>
            <p:spPr>
              <a:xfrm>
                <a:off x="5756135" y="1311135"/>
                <a:ext cx="527330" cy="527330"/>
              </a:xfrm>
              <a:prstGeom prst="ellipse">
                <a:avLst/>
              </a:prstGeom>
              <a:solidFill>
                <a:srgbClr val="EB3037">
                  <a:alpha val="4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otham Medium" panose="02000604030000020004" pitchFamily="2" charset="0"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75F7136D-71C8-CA4D-8162-A709F1E4B0AF}"/>
                  </a:ext>
                </a:extLst>
              </p:cNvPr>
              <p:cNvSpPr/>
              <p:nvPr/>
            </p:nvSpPr>
            <p:spPr>
              <a:xfrm>
                <a:off x="5834679" y="1394084"/>
                <a:ext cx="368299" cy="368300"/>
              </a:xfrm>
              <a:prstGeom prst="ellipse">
                <a:avLst/>
              </a:prstGeom>
              <a:solidFill>
                <a:srgbClr val="EB3037">
                  <a:alpha val="5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otham Medium" panose="02000604030000020004" pitchFamily="2" charset="0"/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F2B358E7-978B-5546-844D-2BCA91B581F1}"/>
                  </a:ext>
                </a:extLst>
              </p:cNvPr>
              <p:cNvSpPr/>
              <p:nvPr/>
            </p:nvSpPr>
            <p:spPr>
              <a:xfrm>
                <a:off x="5923108" y="1491110"/>
                <a:ext cx="180848" cy="180848"/>
              </a:xfrm>
              <a:prstGeom prst="ellipse">
                <a:avLst/>
              </a:prstGeom>
              <a:solidFill>
                <a:srgbClr val="EB303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otham Medium" panose="02000604030000020004" pitchFamily="2" charset="0"/>
                </a:endParaRPr>
              </a:p>
            </p:txBody>
          </p:sp>
        </p:grpSp>
        <p:sp>
          <p:nvSpPr>
            <p:cNvPr id="4" name="Title 14">
              <a:extLst>
                <a:ext uri="{FF2B5EF4-FFF2-40B4-BE49-F238E27FC236}">
                  <a16:creationId xmlns:a16="http://schemas.microsoft.com/office/drawing/2014/main" id="{15B75061-CCA8-EE46-AC50-C67FD5C5D1F7}"/>
                </a:ext>
              </a:extLst>
            </p:cNvPr>
            <p:cNvSpPr txBox="1">
              <a:spLocks/>
            </p:cNvSpPr>
            <p:nvPr/>
          </p:nvSpPr>
          <p:spPr>
            <a:xfrm>
              <a:off x="267012" y="5269142"/>
              <a:ext cx="11536588" cy="1035050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>
                  <a:latin typeface="+mn-lt"/>
                </a:rPr>
                <a:t>____________( Heading)</a:t>
              </a:r>
            </a:p>
            <a:p>
              <a:r>
                <a:rPr lang="en-US" sz="3200" b="1" dirty="0">
                  <a:latin typeface="+mn-lt"/>
                </a:rPr>
                <a:t>________________( Business/Division)</a:t>
              </a:r>
            </a:p>
            <a:p>
              <a:r>
                <a:rPr lang="en-US" sz="1998" b="1" i="1">
                  <a:latin typeface="+mn-lt"/>
                </a:rPr>
                <a:t xml:space="preserve">____________ 2025 </a:t>
              </a:r>
              <a:r>
                <a:rPr lang="en-US" sz="1998" b="1" i="1" dirty="0">
                  <a:latin typeface="+mn-lt"/>
                </a:rPr>
                <a:t>( Date)</a:t>
              </a:r>
            </a:p>
          </p:txBody>
        </p:sp>
      </p:grpSp>
      <p:pic>
        <p:nvPicPr>
          <p:cNvPr id="44" name="Picture 43">
            <a:extLst>
              <a:ext uri="{FF2B5EF4-FFF2-40B4-BE49-F238E27FC236}">
                <a16:creationId xmlns:a16="http://schemas.microsoft.com/office/drawing/2014/main" id="{CA047C07-817C-47E3-B2AB-849B5D0A54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08" y="2864608"/>
            <a:ext cx="3919025" cy="2054290"/>
          </a:xfrm>
          <a:prstGeom prst="rect">
            <a:avLst/>
          </a:prstGeom>
        </p:spPr>
      </p:pic>
      <p:sp>
        <p:nvSpPr>
          <p:cNvPr id="2" name="GTBClassificationF1788952312">
            <a:extLst>
              <a:ext uri="{FF2B5EF4-FFF2-40B4-BE49-F238E27FC236}">
                <a16:creationId xmlns:a16="http://schemas.microsoft.com/office/drawing/2014/main" id="{F7604711-CB08-42F1-BCF5-0F3821EBD880}"/>
              </a:ext>
            </a:extLst>
          </p:cNvPr>
          <p:cNvSpPr txBox="1"/>
          <p:nvPr/>
        </p:nvSpPr>
        <p:spPr>
          <a:xfrm>
            <a:off x="0" y="6592253"/>
            <a:ext cx="12179300" cy="265747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IN" sz="9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IN" sz="9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 xml:space="preserve"> </a:t>
            </a:r>
            <a:r>
              <a:rPr lang="en-IN" sz="900" b="1">
                <a:solidFill>
                  <a:srgbClr val="0062B1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858497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TBClassificationF587139386">
            <a:extLst>
              <a:ext uri="{FF2B5EF4-FFF2-40B4-BE49-F238E27FC236}">
                <a16:creationId xmlns:a16="http://schemas.microsoft.com/office/drawing/2014/main" id="{9CDF7173-5CA8-46E8-AD6D-EE30029521D1}"/>
              </a:ext>
            </a:extLst>
          </p:cNvPr>
          <p:cNvSpPr txBox="1"/>
          <p:nvPr/>
        </p:nvSpPr>
        <p:spPr>
          <a:xfrm>
            <a:off x="0" y="6592253"/>
            <a:ext cx="12179300" cy="265747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IN" sz="9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IN" sz="9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 xml:space="preserve"> </a:t>
            </a:r>
            <a:r>
              <a:rPr lang="en-IN" sz="900" b="1">
                <a:solidFill>
                  <a:srgbClr val="0062B1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97AE8"/>
                </a:solidFill>
                <a:latin typeface="Calibri"/>
              </a:rPr>
              <a:t>Production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79808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" y="914400"/>
            <a:ext cx="8046720" cy="59436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 i="0">
                <a:solidFill>
                  <a:srgbClr val="1A2E4A"/>
                </a:solidFill>
                <a:latin typeface="Calibri"/>
              </a:rPr>
              <a:t>A systematic approach to organizing resources, machines &amp; materials — ensuring the right parts are produced at the right time, in the right quantity.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600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E4A"/>
                </a:solidFill>
                <a:latin typeface="Calibri"/>
              </a:rPr>
              <a:t>KEY ELEMENTS OF PRODUCTION PLANNING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1965960"/>
            <a:ext cx="3749039" cy="9144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965960"/>
            <a:ext cx="54864" cy="9144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2039112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0C0"/>
                </a:solidFill>
                <a:latin typeface="Calibri"/>
              </a:rPr>
              <a:t>📦  Demand (Indent)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2350008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>How much needs to be made daily / monthly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1965960"/>
            <a:ext cx="3749039" cy="9144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0" y="1965960"/>
            <a:ext cx="54864" cy="914400"/>
          </a:xfrm>
          <a:prstGeom prst="rect">
            <a:avLst/>
          </a:prstGeom>
          <a:solidFill>
            <a:srgbClr val="006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4528" y="2039112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62B1"/>
                </a:solidFill>
                <a:latin typeface="Calibri"/>
              </a:rPr>
              <a:t>⚙️  Capacity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2350008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>How many hours machines can run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965960"/>
            <a:ext cx="3749039" cy="9144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1965960"/>
            <a:ext cx="54864" cy="9144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0727" y="2039112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7A4A"/>
                </a:solidFill>
                <a:latin typeface="Calibri"/>
              </a:rPr>
              <a:t>🗃️  Inventory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0727" y="2350008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>How many parts are already in stock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" y="2999232"/>
            <a:ext cx="3749039" cy="9144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2999232"/>
            <a:ext cx="54864" cy="9144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" y="3072384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D7D31"/>
                </a:solidFill>
                <a:latin typeface="Calibri"/>
              </a:rPr>
              <a:t>📅  Scheduling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" y="3383279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>Which part to make first, on which machine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0" y="2999232"/>
            <a:ext cx="3749039" cy="9144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0" y="2999232"/>
            <a:ext cx="54864" cy="914400"/>
          </a:xfrm>
          <a:prstGeom prst="rect">
            <a:avLst/>
          </a:prstGeom>
          <a:solidFill>
            <a:srgbClr val="14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24528" y="3072384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A3A8"/>
                </a:solidFill>
                <a:latin typeface="Calibri"/>
              </a:rPr>
              <a:t>🔧  Resources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3383279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>Machines, tools, colors &amp; terminals needed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1000" y="2999232"/>
            <a:ext cx="3749039" cy="9144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01000" y="2999232"/>
            <a:ext cx="54864" cy="9144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10727" y="3072384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B21A8"/>
                </a:solidFill>
                <a:latin typeface="Calibri"/>
              </a:rPr>
              <a:t>📋  Rules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0727" y="3383279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>Safety stock limits &amp; machine restrictions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" y="404164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E4A"/>
                </a:solidFill>
                <a:latin typeface="Calibri"/>
              </a:rPr>
              <a:t>BENEFITS OF GOOD PLANNING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8600" y="4407408"/>
            <a:ext cx="2240280" cy="502920"/>
          </a:xfrm>
          <a:prstGeom prst="roundRect">
            <a:avLst>
              <a:gd name="adj" fmla="val 8000"/>
            </a:avLst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✅ Smooth Operations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14600" y="4407408"/>
            <a:ext cx="2240280" cy="502920"/>
          </a:xfrm>
          <a:prstGeom prst="roundRect">
            <a:avLst>
              <a:gd name="adj" fmla="val 8000"/>
            </a:avLst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✅ Machines Fully Used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00600" y="4407408"/>
            <a:ext cx="2240280" cy="502920"/>
          </a:xfrm>
          <a:prstGeom prst="roundRect">
            <a:avLst>
              <a:gd name="adj" fmla="val 8000"/>
            </a:avLst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✅ Less Waste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86600" y="4407408"/>
            <a:ext cx="2240280" cy="502920"/>
          </a:xfrm>
          <a:prstGeom prst="roundRect">
            <a:avLst>
              <a:gd name="adj" fmla="val 8000"/>
            </a:avLst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✅ On-Time Delivery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72600" y="4407408"/>
            <a:ext cx="2240280" cy="502920"/>
          </a:xfrm>
          <a:prstGeom prst="roundRect">
            <a:avLst>
              <a:gd name="adj" fmla="val 8000"/>
            </a:avLst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✅ Lower Costs</a:t>
            </a:r>
          </a:p>
        </p:txBody>
      </p:sp>
      <p:sp>
        <p:nvSpPr>
          <p:cNvPr id="9001" name="PageNumber"/>
          <p:cNvSpPr txBox="1">
            <a:spLocks/>
          </p:cNvSpPr>
          <p:nvPr/>
        </p:nvSpPr>
        <p:spPr>
          <a:xfrm>
            <a:off x="11432516" y="6391175"/>
            <a:ext cx="669862" cy="279133"/>
          </a:xfrm>
          <a:prstGeom prst="rect">
            <a:avLst/>
          </a:prstGeom>
        </p:spPr>
        <p:txBody>
          <a:bodyPr vert="horz" lIns="91345" tIns="45672" rIns="91345" bIns="45672" rtlCol="0" anchor="ctr"/>
          <a:lstStyle/>
          <a:p>
            <a:fld id="{D36E95A1-262F-4E3E-9B30-207FF0616F94}" type="slidenum">
              <a:rPr lang="en-US" sz="1399" smtClean="0">
                <a:solidFill>
                  <a:srgbClr val="0070C0"/>
                </a:solidFill>
              </a:rPr>
              <a:t>‹#›</a:t>
            </a:fld>
            <a:r>
              <a:rPr lang="en-US" sz="1399" dirty="0">
                <a:solidFill>
                  <a:srgbClr val="0070C0"/>
                </a:solidFill>
              </a:rPr>
              <a:t>/19</a:t>
            </a:r>
          </a:p>
        </p:txBody>
      </p:sp>
    </p:spTree>
    <p:extLst>
      <p:ext uri="{BB962C8B-B14F-4D97-AF65-F5344CB8AC3E}">
        <p14:creationId xmlns:p14="http://schemas.microsoft.com/office/powerpoint/2010/main" val="828467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TBClassificationF260577896">
            <a:extLst>
              <a:ext uri="{FF2B5EF4-FFF2-40B4-BE49-F238E27FC236}">
                <a16:creationId xmlns:a16="http://schemas.microsoft.com/office/drawing/2014/main" id="{5567B99F-CA4A-4B30-BE7C-373677AB444D}"/>
              </a:ext>
            </a:extLst>
          </p:cNvPr>
          <p:cNvSpPr txBox="1"/>
          <p:nvPr/>
        </p:nvSpPr>
        <p:spPr>
          <a:xfrm>
            <a:off x="0" y="6592253"/>
            <a:ext cx="12179300" cy="265747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IN" sz="9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IN" sz="9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 xml:space="preserve"> </a:t>
            </a:r>
            <a:r>
              <a:rPr lang="en-IN" sz="900" b="1">
                <a:solidFill>
                  <a:srgbClr val="0062B1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97AE8"/>
                </a:solidFill>
                <a:latin typeface="Calibri"/>
              </a:rPr>
              <a:t>Production Planning — Common Challenges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79808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93268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4748B"/>
                </a:solidFill>
                <a:latin typeface="Calibri"/>
              </a:rPr>
              <a:t>6 Critical Pain Points Impacting Production Efficiency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1371600"/>
            <a:ext cx="566928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371600"/>
            <a:ext cx="73152" cy="74980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52704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444752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91C1C"/>
                </a:solidFill>
                <a:latin typeface="Calibri"/>
              </a:rPr>
              <a:t>Machine Breakdowns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>Equipment failure disrupts schedules &amp; forces replanning.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" y="2267712"/>
            <a:ext cx="566928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67712"/>
            <a:ext cx="73152" cy="7498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" y="2423160"/>
            <a:ext cx="438912" cy="438912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340864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D7D31"/>
                </a:solidFill>
                <a:latin typeface="Calibri"/>
              </a:rPr>
              <a:t>Material Shortages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263347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>Raw materials or terminals may not arrive on time, blocking production.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163824"/>
            <a:ext cx="566928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163824"/>
            <a:ext cx="73152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5760" y="3319272"/>
            <a:ext cx="438912" cy="438912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3236976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7706"/>
                </a:solidFill>
                <a:latin typeface="Calibri"/>
              </a:rPr>
              <a:t>High Changeover Times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3529584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>Switching machines between different parts/colors consumes valuable hours.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1371600"/>
            <a:ext cx="566928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1371600"/>
            <a:ext cx="73152" cy="74980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09360" y="152704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0568" y="1444752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0C0"/>
                </a:solidFill>
                <a:latin typeface="Calibri"/>
              </a:rPr>
              <a:t>Labour Issues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737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>Shortage of skilled operators or unexpected absenteeism affects capacity.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2267712"/>
            <a:ext cx="566928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2267712"/>
            <a:ext cx="73152" cy="749808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09360" y="2423160"/>
            <a:ext cx="438912" cy="438912"/>
          </a:xfrm>
          <a:prstGeom prst="roundRect">
            <a:avLst>
              <a:gd name="adj" fmla="val 8000"/>
            </a:avLst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2340864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B21A8"/>
                </a:solidFill>
                <a:latin typeface="Calibri"/>
              </a:rPr>
              <a:t>Data Accuracy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0568" y="263347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>Wrong or missing information in planning leads to poor decisions.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3163824"/>
            <a:ext cx="566928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3163824"/>
            <a:ext cx="73152" cy="7498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09360" y="3319272"/>
            <a:ext cx="438912" cy="438912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0568" y="3236976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4748B"/>
                </a:solidFill>
                <a:latin typeface="Calibri"/>
              </a:rPr>
              <a:t>Coordination Gaps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0568" y="3529584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>Miscommunication between planning, procurement &amp; shop floor teams.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4096512"/>
            <a:ext cx="11704320" cy="53035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⚡  These challenges lead to production delays, cost overruns &amp; missed deliveries — demanding a smarter scheduling solution</a:t>
            </a:r>
          </a:p>
        </p:txBody>
      </p:sp>
      <p:sp>
        <p:nvSpPr>
          <p:cNvPr id="9001" name="PageNumber"/>
          <p:cNvSpPr txBox="1">
            <a:spLocks/>
          </p:cNvSpPr>
          <p:nvPr/>
        </p:nvSpPr>
        <p:spPr>
          <a:xfrm>
            <a:off x="11432516" y="6391175"/>
            <a:ext cx="669862" cy="279133"/>
          </a:xfrm>
          <a:prstGeom prst="rect">
            <a:avLst/>
          </a:prstGeom>
        </p:spPr>
        <p:txBody>
          <a:bodyPr vert="horz" lIns="91345" tIns="45672" rIns="91345" bIns="45672" rtlCol="0" anchor="ctr"/>
          <a:lstStyle/>
          <a:p>
            <a:fld id="{D36E95A1-262F-4E3E-9B30-207FF0616F94}" type="slidenum">
              <a:rPr lang="en-US" sz="1399" smtClean="0">
                <a:solidFill>
                  <a:srgbClr val="0070C0"/>
                </a:solidFill>
              </a:rPr>
              <a:t>‹#›</a:t>
            </a:fld>
            <a:r>
              <a:rPr lang="en-US" sz="1399" dirty="0">
                <a:solidFill>
                  <a:srgbClr val="0070C0"/>
                </a:solidFill>
              </a:rPr>
              <a:t>/19</a:t>
            </a:r>
          </a:p>
        </p:txBody>
      </p:sp>
    </p:spTree>
    <p:extLst>
      <p:ext uri="{BB962C8B-B14F-4D97-AF65-F5344CB8AC3E}">
        <p14:creationId xmlns:p14="http://schemas.microsoft.com/office/powerpoint/2010/main" val="1686509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TBClassificationF1659589833">
            <a:extLst>
              <a:ext uri="{FF2B5EF4-FFF2-40B4-BE49-F238E27FC236}">
                <a16:creationId xmlns:a16="http://schemas.microsoft.com/office/drawing/2014/main" id="{0910C611-5A44-4E11-ADB5-C544353F8972}"/>
              </a:ext>
            </a:extLst>
          </p:cNvPr>
          <p:cNvSpPr txBox="1"/>
          <p:nvPr/>
        </p:nvSpPr>
        <p:spPr>
          <a:xfrm>
            <a:off x="0" y="6592253"/>
            <a:ext cx="12179300" cy="265747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IN" sz="9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IN" sz="9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 xml:space="preserve"> </a:t>
            </a:r>
            <a:r>
              <a:rPr lang="en-IN" sz="900" b="1">
                <a:solidFill>
                  <a:srgbClr val="0062B1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97AE8"/>
                </a:solidFill>
                <a:latin typeface="Calibri"/>
              </a:rPr>
              <a:t>Where We Are and Where We Want to Be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22960"/>
            <a:ext cx="12179808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8600" y="960120"/>
            <a:ext cx="3840480" cy="566928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❌  CURRENT 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" y="1627632"/>
            <a:ext cx="3840480" cy="100584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70078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91C1C"/>
                </a:solidFill>
                <a:latin typeface="Calibri"/>
              </a:rPr>
              <a:t>👥 Manual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3911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>Done by 2–3 people; slow &amp; time-consuming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" y="2724912"/>
            <a:ext cx="3840480" cy="100584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79806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91C1C"/>
                </a:solidFill>
                <a:latin typeface="Calibri"/>
              </a:rPr>
              <a:t>📉 Inventory Issues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13639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>Parts overproduced or face shortages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822191"/>
            <a:ext cx="3840480" cy="100584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8953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91C1C"/>
                </a:solidFill>
                <a:latin typeface="Calibri"/>
              </a:rPr>
              <a:t>⚙️ Machine 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23367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>No visibility on utilisation or downtime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960120"/>
            <a:ext cx="3840480" cy="566928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⚠️  GAP / CHALLENGE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1627632"/>
            <a:ext cx="3840480" cy="100584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70078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7706"/>
                </a:solidFill>
                <a:latin typeface="Calibri"/>
              </a:rPr>
              <a:t>⏱ Time-Consuming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03911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>Manual work takes hours daily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0" y="2724912"/>
            <a:ext cx="3840480" cy="100584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279806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7706"/>
                </a:solidFill>
                <a:latin typeface="Calibri"/>
              </a:rPr>
              <a:t>⚖️ Imbalanced Stock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13639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>Some excess, some shortage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0" y="3822191"/>
            <a:ext cx="3840480" cy="100584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38953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7706"/>
                </a:solidFill>
                <a:latin typeface="Calibri"/>
              </a:rPr>
              <a:t>🔍 No Utilisation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423367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>Machines left idle or on PDT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960120"/>
            <a:ext cx="3840480" cy="566928"/>
          </a:xfrm>
          <a:prstGeom prst="roundRect">
            <a:avLst>
              <a:gd name="adj" fmla="val 8000"/>
            </a:avLst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✅  FUTURE STATE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1627632"/>
            <a:ext cx="3840480" cy="100584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170078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7A4A"/>
                </a:solidFill>
                <a:latin typeface="Calibri"/>
              </a:rPr>
              <a:t>🤖 Fully Automated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203911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>Digital scheduling with real-time data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83879" y="2724912"/>
            <a:ext cx="3840480" cy="100584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279806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7A4A"/>
                </a:solidFill>
                <a:latin typeface="Calibri"/>
              </a:rPr>
              <a:t>📦 3-Day Safety Stock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13639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>Consistent buffer maintained always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79" y="3822191"/>
            <a:ext cx="3840480" cy="100584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38953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7A4A"/>
                </a:solidFill>
                <a:latin typeface="Calibri"/>
              </a:rPr>
              <a:t>📊 Optimised Planning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23367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>Data-driven, efficient allocation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114800" y="2606040"/>
            <a:ext cx="137160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4069080" y="2331720"/>
            <a:ext cx="457200" cy="54864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092440" y="2606040"/>
            <a:ext cx="137160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046719" y="2331720"/>
            <a:ext cx="457200" cy="54864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28600" y="4773168"/>
            <a:ext cx="11704320" cy="475488"/>
          </a:xfrm>
          <a:prstGeom prst="roundRect">
            <a:avLst>
              <a:gd name="adj" fmla="val 8000"/>
            </a:avLst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🎯  Digital Production Scheduling bridges this gap — transforming manual, reactive planning into automated, proactive execution</a:t>
            </a:r>
          </a:p>
        </p:txBody>
      </p:sp>
      <p:sp>
        <p:nvSpPr>
          <p:cNvPr id="9001" name="PageNumber"/>
          <p:cNvSpPr txBox="1">
            <a:spLocks/>
          </p:cNvSpPr>
          <p:nvPr/>
        </p:nvSpPr>
        <p:spPr>
          <a:xfrm>
            <a:off x="11432516" y="6391175"/>
            <a:ext cx="669862" cy="279133"/>
          </a:xfrm>
          <a:prstGeom prst="rect">
            <a:avLst/>
          </a:prstGeom>
        </p:spPr>
        <p:txBody>
          <a:bodyPr vert="horz" lIns="91345" tIns="45672" rIns="91345" bIns="45672" rtlCol="0" anchor="ctr"/>
          <a:lstStyle/>
          <a:p>
            <a:fld id="{D36E95A1-262F-4E3E-9B30-207FF0616F94}" type="slidenum">
              <a:rPr lang="en-US" sz="1399" smtClean="0">
                <a:solidFill>
                  <a:srgbClr val="0070C0"/>
                </a:solidFill>
              </a:rPr>
              <a:t>‹#›</a:t>
            </a:fld>
            <a:r>
              <a:rPr lang="en-US" sz="1399" dirty="0">
                <a:solidFill>
                  <a:srgbClr val="0070C0"/>
                </a:solidFill>
              </a:rPr>
              <a:t>/19</a:t>
            </a:r>
          </a:p>
        </p:txBody>
      </p:sp>
    </p:spTree>
    <p:extLst>
      <p:ext uri="{BB962C8B-B14F-4D97-AF65-F5344CB8AC3E}">
        <p14:creationId xmlns:p14="http://schemas.microsoft.com/office/powerpoint/2010/main" val="3931451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TBClassificationF1555595390">
            <a:extLst>
              <a:ext uri="{FF2B5EF4-FFF2-40B4-BE49-F238E27FC236}">
                <a16:creationId xmlns:a16="http://schemas.microsoft.com/office/drawing/2014/main" id="{EA521A1E-373B-4161-96A6-6F96CEC63A44}"/>
              </a:ext>
            </a:extLst>
          </p:cNvPr>
          <p:cNvSpPr txBox="1"/>
          <p:nvPr/>
        </p:nvSpPr>
        <p:spPr>
          <a:xfrm>
            <a:off x="0" y="6592253"/>
            <a:ext cx="12179300" cy="265747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IN" sz="9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IN" sz="9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 xml:space="preserve"> </a:t>
            </a:r>
            <a:r>
              <a:rPr lang="en-IN" sz="900" b="1">
                <a:solidFill>
                  <a:srgbClr val="0062B1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97AE8"/>
                </a:solidFill>
                <a:latin typeface="Calibri"/>
              </a:rPr>
              <a:t>Digital Production Scheduling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4748B"/>
                </a:solidFill>
                <a:latin typeface="Calibri"/>
              </a:rPr>
              <a:t>Smart · Automated · Real-Time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22960"/>
            <a:ext cx="12179808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8600" y="932688"/>
            <a:ext cx="11704320" cy="621792"/>
          </a:xfrm>
          <a:prstGeom prst="roundRect">
            <a:avLst>
              <a:gd name="adj" fmla="val 8000"/>
            </a:avLst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🤖   A smart, automated system that creates production plans using real-time data from demand (indents), inventory &amp; machine capacity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66420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62B1"/>
                </a:solidFill>
                <a:latin typeface="Calibri"/>
              </a:rPr>
              <a:t>🔧  WHAT PROBLEMS IT SOLVES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6420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7A4A"/>
                </a:solidFill>
                <a:latin typeface="Calibri"/>
              </a:rPr>
              <a:t>🚀  WHY IT SHOULD BE USED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2084831"/>
            <a:ext cx="5669280" cy="621792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63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130551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91C1C"/>
                </a:solidFill>
                <a:latin typeface="Calibri"/>
              </a:rPr>
              <a:t>✖ Removes manual 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40487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 xml:space="preserve">  Slow, error-prone processes eliminated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084831"/>
            <a:ext cx="5669280" cy="621792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635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130551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7A4A"/>
                </a:solidFill>
                <a:latin typeface="Calibri"/>
              </a:rPr>
              <a:t>✔ Faster &amp; accurate plans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40487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 xml:space="preserve">  No human delays or errors in scheduling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" y="2779776"/>
            <a:ext cx="5669280" cy="621792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63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82549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91C1C"/>
                </a:solidFill>
                <a:latin typeface="Calibri"/>
              </a:rPr>
              <a:t>✖ Balances demand vs hours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09981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 xml:space="preserve">  Machine hours matched to actual demand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2779776"/>
            <a:ext cx="5669280" cy="621792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635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82549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7A4A"/>
                </a:solidFill>
                <a:latin typeface="Calibri"/>
              </a:rPr>
              <a:t>✔ Clear production visibility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09981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 xml:space="preserve">  Know what to make, when and how much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" y="3474720"/>
            <a:ext cx="5669280" cy="621792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63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520439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91C1C"/>
                </a:solidFill>
                <a:latin typeface="Calibri"/>
              </a:rPr>
              <a:t>✖ Reduces over/under stock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794759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 xml:space="preserve">  Safety stock maintained automatically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3474720"/>
            <a:ext cx="5669280" cy="621792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635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520439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7A4A"/>
                </a:solidFill>
                <a:latin typeface="Calibri"/>
              </a:rPr>
              <a:t>✔ Better machine utilisation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794759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 xml:space="preserve">  Fewer idle hours, higher throughput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" y="4169664"/>
            <a:ext cx="5669280" cy="621792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63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21538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91C1C"/>
                </a:solidFill>
                <a:latin typeface="Calibri"/>
              </a:rPr>
              <a:t>✖ Tracks utilisation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48970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 xml:space="preserve">  Full visibility on machine uptime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4169664"/>
            <a:ext cx="5669280" cy="621792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635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421538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7A4A"/>
                </a:solidFill>
                <a:latin typeface="Calibri"/>
              </a:rPr>
              <a:t>✔ Lower costs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448970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 xml:space="preserve">  Smoother shop floor operations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8600" y="4864608"/>
            <a:ext cx="5669280" cy="621792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63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49103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91C1C"/>
                </a:solidFill>
                <a:latin typeface="Calibri"/>
              </a:rPr>
              <a:t>✖ Cuts changeover waste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518464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 xml:space="preserve">  Parts grouped to minimise setups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4864608"/>
            <a:ext cx="5669280" cy="621792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635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49103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7A4A"/>
                </a:solidFill>
                <a:latin typeface="Calibri"/>
              </a:rPr>
              <a:t>✔ Easy to adapt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518464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 xml:space="preserve">  Adjusts when demand or machines change</a:t>
            </a:r>
          </a:p>
        </p:txBody>
      </p:sp>
      <p:sp>
        <p:nvSpPr>
          <p:cNvPr id="9001" name="PageNumber"/>
          <p:cNvSpPr txBox="1">
            <a:spLocks/>
          </p:cNvSpPr>
          <p:nvPr/>
        </p:nvSpPr>
        <p:spPr>
          <a:xfrm>
            <a:off x="11432516" y="6391175"/>
            <a:ext cx="669862" cy="279133"/>
          </a:xfrm>
          <a:prstGeom prst="rect">
            <a:avLst/>
          </a:prstGeom>
        </p:spPr>
        <p:txBody>
          <a:bodyPr vert="horz" lIns="91345" tIns="45672" rIns="91345" bIns="45672" rtlCol="0" anchor="ctr"/>
          <a:lstStyle/>
          <a:p>
            <a:fld id="{D36E95A1-262F-4E3E-9B30-207FF0616F94}" type="slidenum">
              <a:rPr lang="en-US" sz="1399" smtClean="0">
                <a:solidFill>
                  <a:srgbClr val="0070C0"/>
                </a:solidFill>
              </a:rPr>
              <a:t>‹#›</a:t>
            </a:fld>
            <a:r>
              <a:rPr lang="en-US" sz="1399" dirty="0">
                <a:solidFill>
                  <a:srgbClr val="0070C0"/>
                </a:solidFill>
              </a:rPr>
              <a:t>/19</a:t>
            </a:r>
          </a:p>
        </p:txBody>
      </p:sp>
    </p:spTree>
    <p:extLst>
      <p:ext uri="{BB962C8B-B14F-4D97-AF65-F5344CB8AC3E}">
        <p14:creationId xmlns:p14="http://schemas.microsoft.com/office/powerpoint/2010/main" val="108915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BClassificationF49372605">
            <a:extLst>
              <a:ext uri="{FF2B5EF4-FFF2-40B4-BE49-F238E27FC236}">
                <a16:creationId xmlns:a16="http://schemas.microsoft.com/office/drawing/2014/main" id="{7BC7079A-837D-4C71-94D5-E25146023A09}"/>
              </a:ext>
            </a:extLst>
          </p:cNvPr>
          <p:cNvSpPr txBox="1"/>
          <p:nvPr/>
        </p:nvSpPr>
        <p:spPr>
          <a:xfrm>
            <a:off x="0" y="6592253"/>
            <a:ext cx="12179300" cy="265747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IN" sz="9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IN" sz="9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 xml:space="preserve"> </a:t>
            </a:r>
            <a:r>
              <a:rPr lang="en-IN" sz="900" b="1">
                <a:solidFill>
                  <a:srgbClr val="0062B1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97AE8"/>
                </a:solidFill>
                <a:latin typeface="Calibri"/>
              </a:rPr>
              <a:t>Where to Implement?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22960"/>
            <a:ext cx="12179808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8600" y="932688"/>
            <a:ext cx="11704320" cy="530352"/>
          </a:xfrm>
          <a:prstGeom prst="roundRect">
            <a:avLst>
              <a:gd name="adj" fmla="val 8000"/>
            </a:avLst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🏭   Implementation Area: MOULDING SECTION — Injection Moulding Division, Uno Minda Rika Pvt.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57276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62B1"/>
                </a:solidFill>
                <a:latin typeface="Calibri"/>
              </a:rPr>
              <a:t>Why the Moulding Section Was Selected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" y="2029968"/>
            <a:ext cx="1170432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2029968"/>
            <a:ext cx="73152" cy="53035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" y="210312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0665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91C1C"/>
                </a:solidFill>
                <a:latin typeface="Calibri"/>
              </a:rPr>
              <a:t>Manual Planning: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2066544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>Planning done by 2–3 people — slow &amp; time-consuming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" y="2633472"/>
            <a:ext cx="1170432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" y="2633472"/>
            <a:ext cx="73152" cy="5303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5760" y="2706624"/>
            <a:ext cx="384048" cy="384048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6700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D7D31"/>
                </a:solidFill>
                <a:latin typeface="Calibri"/>
              </a:rPr>
              <a:t>Inventory Issues: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0712" y="2670048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>Some parts overproduced; others face shortages — causing imbalance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" y="3236976"/>
            <a:ext cx="1170432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" y="3236976"/>
            <a:ext cx="73152" cy="5303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65760" y="331012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⚙️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2735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7706"/>
                </a:solidFill>
                <a:latin typeface="Calibri"/>
              </a:rPr>
              <a:t>Machine Utilisation Gaps: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0712" y="3273552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>No proper tracking; machines remain idle or on downtime undetected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" y="3840480"/>
            <a:ext cx="1170432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" y="3840480"/>
            <a:ext cx="73152" cy="5303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65760" y="391363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8770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0C0"/>
                </a:solidFill>
                <a:latin typeface="Calibri"/>
              </a:rPr>
              <a:t>High Impact Area: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0712" y="3877056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>Moulding is a critical stage — improvements here directly affect overall efficiency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8600" y="4443984"/>
            <a:ext cx="1170432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4443984"/>
            <a:ext cx="73152" cy="53035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65760" y="4517136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4805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7A4A"/>
                </a:solidFill>
                <a:latin typeface="Calibri"/>
              </a:rPr>
              <a:t>Best Fit for Automation: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10712" y="448056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>Clear demand signals, measurable machine hours &amp; visible inventory — ideal for digital scheduling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8600" y="5056632"/>
            <a:ext cx="11704320" cy="475488"/>
          </a:xfrm>
          <a:prstGeom prst="roundRect">
            <a:avLst>
              <a:gd name="adj" fmla="val 8000"/>
            </a:avLst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✅  This section has the biggest gaps AND the clearest data — making it the perfect starting point for digital scheduling</a:t>
            </a:r>
          </a:p>
        </p:txBody>
      </p:sp>
      <p:sp>
        <p:nvSpPr>
          <p:cNvPr id="9001" name="PageNumber"/>
          <p:cNvSpPr txBox="1">
            <a:spLocks/>
          </p:cNvSpPr>
          <p:nvPr/>
        </p:nvSpPr>
        <p:spPr>
          <a:xfrm>
            <a:off x="11432516" y="6391175"/>
            <a:ext cx="669862" cy="279133"/>
          </a:xfrm>
          <a:prstGeom prst="rect">
            <a:avLst/>
          </a:prstGeom>
        </p:spPr>
        <p:txBody>
          <a:bodyPr vert="horz" lIns="91345" tIns="45672" rIns="91345" bIns="45672" rtlCol="0" anchor="ctr"/>
          <a:lstStyle/>
          <a:p>
            <a:fld id="{D36E95A1-262F-4E3E-9B30-207FF0616F94}" type="slidenum">
              <a:rPr lang="en-US" sz="1399" smtClean="0">
                <a:solidFill>
                  <a:srgbClr val="0070C0"/>
                </a:solidFill>
              </a:rPr>
              <a:t>‹#›</a:t>
            </a:fld>
            <a:r>
              <a:rPr lang="en-US" sz="1399" dirty="0">
                <a:solidFill>
                  <a:srgbClr val="0070C0"/>
                </a:solidFill>
              </a:rPr>
              <a:t>/19</a:t>
            </a:r>
          </a:p>
        </p:txBody>
      </p:sp>
    </p:spTree>
    <p:extLst>
      <p:ext uri="{BB962C8B-B14F-4D97-AF65-F5344CB8AC3E}">
        <p14:creationId xmlns:p14="http://schemas.microsoft.com/office/powerpoint/2010/main" val="3095147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10BE3B4B-1ADE-474C-8E64-A75DC30A2957}"/>
              </a:ext>
            </a:extLst>
          </p:cNvPr>
          <p:cNvSpPr txBox="1"/>
          <p:nvPr/>
        </p:nvSpPr>
        <p:spPr>
          <a:xfrm>
            <a:off x="253490" y="76200"/>
            <a:ext cx="7741160" cy="50654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lvl1pPr marL="12700">
              <a:lnSpc>
                <a:spcPct val="100000"/>
              </a:lnSpc>
              <a:spcBef>
                <a:spcPts val="110"/>
              </a:spcBef>
              <a:defRPr sz="3050" b="1" i="0">
                <a:solidFill>
                  <a:schemeClr val="tx2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r>
              <a:rPr lang="en-IN" sz="3200" dirty="0">
                <a:solidFill>
                  <a:srgbClr val="097AE8"/>
                </a:solidFill>
                <a:latin typeface="+mn-lt"/>
                <a:cs typeface="Arial" pitchFamily="34" charset="0"/>
              </a:rPr>
              <a:t>Expected Outcomes &amp; Business Impact</a:t>
            </a:r>
            <a:endParaRPr sz="3200" dirty="0">
              <a:solidFill>
                <a:srgbClr val="097AE8"/>
              </a:solidFill>
              <a:latin typeface="+mn-lt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55650" y="762000"/>
            <a:ext cx="108204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✔"/>
            </a:pPr>
            <a:r>
              <a:rPr lang="en-US" sz="2200" b="1" dirty="0">
                <a:solidFill>
                  <a:srgbClr val="0062DA"/>
                </a:solidFill>
                <a:cs typeface="Arial" pitchFamily="34" charset="0"/>
              </a:rPr>
              <a:t xml:space="preserve">Reduced Manual Effort  </a:t>
            </a:r>
            <a:r>
              <a:rPr lang="en-US" sz="2200" dirty="0">
                <a:cs typeface="Arial" pitchFamily="34" charset="0"/>
              </a:rPr>
              <a:t>— Eliminates 2–3 person daily planning workload; schedules generated in minutes, not hours.</a:t>
            </a:r>
          </a:p>
          <a:p>
            <a:pPr marL="342900" indent="-342900" algn="just">
              <a:buFont typeface="Arial" panose="020B0604020202020204" pitchFamily="34" charset="0"/>
              <a:buChar char="✔"/>
            </a:pPr>
            <a:r>
              <a:rPr lang="en-US" sz="2200" b="1" dirty="0">
                <a:solidFill>
                  <a:srgbClr val="0062DA"/>
                </a:solidFill>
                <a:cs typeface="Arial" pitchFamily="34" charset="0"/>
              </a:rPr>
              <a:t xml:space="preserve">Optimised Inventory Levels  </a:t>
            </a:r>
            <a:r>
              <a:rPr lang="en-US" sz="2200" dirty="0">
                <a:cs typeface="Arial" pitchFamily="34" charset="0"/>
              </a:rPr>
              <a:t>— Consistent 3-day safety stock maintained; over-production and shortages eliminated.</a:t>
            </a:r>
          </a:p>
          <a:p>
            <a:pPr marL="342900" indent="-342900" algn="just">
              <a:buFont typeface="Arial" panose="020B0604020202020204" pitchFamily="34" charset="0"/>
              <a:buChar char="✔"/>
            </a:pPr>
            <a:r>
              <a:rPr lang="en-US" sz="2200" b="1" dirty="0">
                <a:solidFill>
                  <a:srgbClr val="0062DA"/>
                </a:solidFill>
                <a:cs typeface="Arial" pitchFamily="34" charset="0"/>
              </a:rPr>
              <a:t xml:space="preserve">Higher Machine Utilisation  </a:t>
            </a:r>
            <a:r>
              <a:rPr lang="en-US" sz="2200" dirty="0">
                <a:cs typeface="Arial" pitchFamily="34" charset="0"/>
              </a:rPr>
              <a:t>— Full 22-hour daily capacity utilised; idle time and unplanned downtime minimised.</a:t>
            </a:r>
          </a:p>
          <a:p>
            <a:pPr marL="342900" indent="-342900" algn="just">
              <a:buFont typeface="Arial" panose="020B0604020202020204" pitchFamily="34" charset="0"/>
              <a:buChar char="✔"/>
            </a:pPr>
            <a:r>
              <a:rPr lang="en-US" sz="2200" b="1" dirty="0">
                <a:solidFill>
                  <a:srgbClr val="0062DA"/>
                </a:solidFill>
                <a:cs typeface="Arial" pitchFamily="34" charset="0"/>
              </a:rPr>
              <a:t xml:space="preserve">Fewer Changeovers  </a:t>
            </a:r>
            <a:r>
              <a:rPr lang="en-US" sz="2200" dirty="0">
                <a:cs typeface="Arial" pitchFamily="34" charset="0"/>
              </a:rPr>
              <a:t>— Daily limit of 25; same-colour grouping reduces setup time and material waste.</a:t>
            </a:r>
          </a:p>
          <a:p>
            <a:pPr marL="342900" indent="-342900" algn="just">
              <a:buFont typeface="Arial" panose="020B0604020202020204" pitchFamily="34" charset="0"/>
              <a:buChar char="✔"/>
            </a:pPr>
            <a:r>
              <a:rPr lang="en-US" sz="2200" b="1" dirty="0">
                <a:solidFill>
                  <a:srgbClr val="0062DA"/>
                </a:solidFill>
                <a:cs typeface="Arial" pitchFamily="34" charset="0"/>
              </a:rPr>
              <a:t xml:space="preserve">On-Time Delivery  </a:t>
            </a:r>
            <a:r>
              <a:rPr lang="en-US" sz="2200" dirty="0">
                <a:cs typeface="Arial" pitchFamily="34" charset="0"/>
              </a:rPr>
              <a:t>— Proactive scheduling ensures parts are ready when needed; customer commitments met reliably.</a:t>
            </a:r>
          </a:p>
          <a:p>
            <a:pPr marL="342900" indent="-342900" algn="just">
              <a:buFont typeface="Arial" panose="020B0604020202020204" pitchFamily="34" charset="0"/>
              <a:buChar char="✔"/>
            </a:pPr>
            <a:r>
              <a:rPr lang="en-US" sz="2200" b="1" dirty="0">
                <a:solidFill>
                  <a:srgbClr val="0062DA"/>
                </a:solidFill>
                <a:cs typeface="Arial" pitchFamily="34" charset="0"/>
              </a:rPr>
              <a:t xml:space="preserve">Lower Operational Costs  </a:t>
            </a:r>
            <a:r>
              <a:rPr lang="en-US" sz="2200" dirty="0">
                <a:cs typeface="Arial" pitchFamily="34" charset="0"/>
              </a:rPr>
              <a:t>— Reduced waste, fewer emergency interventions, and better resource allocation drive cost savings.</a:t>
            </a:r>
          </a:p>
        </p:txBody>
      </p:sp>
      <p:sp>
        <p:nvSpPr>
          <p:cNvPr id="4" name="GTBClassificationF326437389">
            <a:extLst>
              <a:ext uri="{FF2B5EF4-FFF2-40B4-BE49-F238E27FC236}">
                <a16:creationId xmlns:a16="http://schemas.microsoft.com/office/drawing/2014/main" id="{9A51C652-469F-4383-B873-70C3A890F0BF}"/>
              </a:ext>
            </a:extLst>
          </p:cNvPr>
          <p:cNvSpPr txBox="1"/>
          <p:nvPr/>
        </p:nvSpPr>
        <p:spPr>
          <a:xfrm>
            <a:off x="0" y="6592253"/>
            <a:ext cx="12179300" cy="265747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IN" sz="9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IN" sz="9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 xml:space="preserve"> </a:t>
            </a:r>
            <a:r>
              <a:rPr lang="en-IN" sz="900" b="1">
                <a:solidFill>
                  <a:srgbClr val="0062B1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  <p:sp>
        <p:nvSpPr>
          <p:cNvPr id="9001" name="PageNumber"/>
          <p:cNvSpPr txBox="1">
            <a:spLocks/>
          </p:cNvSpPr>
          <p:nvPr/>
        </p:nvSpPr>
        <p:spPr>
          <a:xfrm>
            <a:off x="11432516" y="6391175"/>
            <a:ext cx="669862" cy="279133"/>
          </a:xfrm>
          <a:prstGeom prst="rect">
            <a:avLst/>
          </a:prstGeom>
        </p:spPr>
        <p:txBody>
          <a:bodyPr vert="horz" lIns="91345" tIns="45672" rIns="91345" bIns="45672" rtlCol="0" anchor="ctr"/>
          <a:lstStyle/>
          <a:p>
            <a:fld id="{D36E95A1-262F-4E3E-9B30-207FF0616F94}" type="slidenum">
              <a:rPr lang="en-US" sz="1399" smtClean="0">
                <a:solidFill>
                  <a:srgbClr val="0070C0"/>
                </a:solidFill>
              </a:rPr>
              <a:t>‹#›</a:t>
            </a:fld>
            <a:r>
              <a:rPr lang="en-US" sz="1399" dirty="0">
                <a:solidFill>
                  <a:srgbClr val="0070C0"/>
                </a:solidFill>
              </a:rPr>
              <a:t>/19</a:t>
            </a:r>
          </a:p>
        </p:txBody>
      </p:sp>
    </p:spTree>
    <p:extLst>
      <p:ext uri="{BB962C8B-B14F-4D97-AF65-F5344CB8AC3E}">
        <p14:creationId xmlns:p14="http://schemas.microsoft.com/office/powerpoint/2010/main" val="1456543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2ADA71-5BCC-4AF8-B67B-4507395253C8}"/>
              </a:ext>
            </a:extLst>
          </p:cNvPr>
          <p:cNvSpPr txBox="1"/>
          <p:nvPr/>
        </p:nvSpPr>
        <p:spPr>
          <a:xfrm>
            <a:off x="146050" y="76200"/>
            <a:ext cx="10287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62DA"/>
                </a:solidFill>
              </a:rPr>
              <a:t>Constraints Implemented in Digital Production Scheduling</a:t>
            </a:r>
            <a:endParaRPr lang="en-IN" sz="3200" b="1" dirty="0">
              <a:solidFill>
                <a:srgbClr val="0062D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583F04-51A2-431F-AF82-E4650BA6A62F}"/>
              </a:ext>
            </a:extLst>
          </p:cNvPr>
          <p:cNvSpPr txBox="1"/>
          <p:nvPr/>
        </p:nvSpPr>
        <p:spPr>
          <a:xfrm>
            <a:off x="222250" y="762000"/>
            <a:ext cx="11430000" cy="5943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50BA6C9-DEBB-4910-8E06-D8AD8889F5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5928295"/>
              </p:ext>
            </p:extLst>
          </p:nvPr>
        </p:nvGraphicFramePr>
        <p:xfrm>
          <a:off x="2029883" y="722489"/>
          <a:ext cx="8119533" cy="54130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GTBClassificationF793208428">
            <a:extLst>
              <a:ext uri="{FF2B5EF4-FFF2-40B4-BE49-F238E27FC236}">
                <a16:creationId xmlns:a16="http://schemas.microsoft.com/office/drawing/2014/main" id="{B3FAA9A0-61BC-4818-B1A8-B02B7763C6B0}"/>
              </a:ext>
            </a:extLst>
          </p:cNvPr>
          <p:cNvSpPr txBox="1"/>
          <p:nvPr/>
        </p:nvSpPr>
        <p:spPr>
          <a:xfrm>
            <a:off x="0" y="6592253"/>
            <a:ext cx="12179300" cy="265747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IN" sz="9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IN" sz="9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 xml:space="preserve"> </a:t>
            </a:r>
            <a:r>
              <a:rPr lang="en-IN" sz="900" b="1">
                <a:solidFill>
                  <a:srgbClr val="0062B1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  <p:sp>
        <p:nvSpPr>
          <p:cNvPr id="9001" name="PageNumber"/>
          <p:cNvSpPr txBox="1">
            <a:spLocks/>
          </p:cNvSpPr>
          <p:nvPr/>
        </p:nvSpPr>
        <p:spPr>
          <a:xfrm>
            <a:off x="11432516" y="6391175"/>
            <a:ext cx="669862" cy="279133"/>
          </a:xfrm>
          <a:prstGeom prst="rect">
            <a:avLst/>
          </a:prstGeom>
        </p:spPr>
        <p:txBody>
          <a:bodyPr vert="horz" lIns="91345" tIns="45672" rIns="91345" bIns="45672" rtlCol="0" anchor="ctr"/>
          <a:lstStyle/>
          <a:p>
            <a:fld id="{D36E95A1-262F-4E3E-9B30-207FF0616F94}" type="slidenum">
              <a:rPr lang="en-US" sz="1399" smtClean="0">
                <a:solidFill>
                  <a:srgbClr val="0070C0"/>
                </a:solidFill>
              </a:rPr>
              <a:t>‹#›</a:t>
            </a:fld>
            <a:r>
              <a:rPr lang="en-US" sz="1399" dirty="0">
                <a:solidFill>
                  <a:srgbClr val="0070C0"/>
                </a:solidFill>
              </a:rPr>
              <a:t>/19</a:t>
            </a:r>
          </a:p>
        </p:txBody>
      </p:sp>
    </p:spTree>
    <p:extLst>
      <p:ext uri="{BB962C8B-B14F-4D97-AF65-F5344CB8AC3E}">
        <p14:creationId xmlns:p14="http://schemas.microsoft.com/office/powerpoint/2010/main" val="2855671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TBClassificationF826565807">
            <a:extLst>
              <a:ext uri="{FF2B5EF4-FFF2-40B4-BE49-F238E27FC236}">
                <a16:creationId xmlns:a16="http://schemas.microsoft.com/office/drawing/2014/main" id="{CA9449CF-1FAE-48A3-852B-8B178CD22C5B}"/>
              </a:ext>
            </a:extLst>
          </p:cNvPr>
          <p:cNvSpPr txBox="1"/>
          <p:nvPr/>
        </p:nvSpPr>
        <p:spPr>
          <a:xfrm>
            <a:off x="0" y="6592253"/>
            <a:ext cx="12179300" cy="265747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IN" sz="9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IN" sz="9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 xml:space="preserve"> </a:t>
            </a:r>
            <a:r>
              <a:rPr lang="en-IN" sz="900" b="1">
                <a:solidFill>
                  <a:srgbClr val="0062B1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97AE8"/>
                </a:solidFill>
                <a:latin typeface="Calibri"/>
              </a:rPr>
              <a:t>Constraint 1 — Maintain Safety Stock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822960"/>
            <a:ext cx="12179808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8600" y="932688"/>
            <a:ext cx="11704320" cy="5486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 i="0">
                <a:solidFill>
                  <a:srgbClr val="1A2E4A"/>
                </a:solidFill>
                <a:latin typeface="Calibri"/>
              </a:rPr>
              <a:t>🎯   Maintain a minimum 3-day safety stock for all parts — ensuring uninterrupted production flow against downtime, demand fluctuations &amp; supply disruptions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1600200"/>
            <a:ext cx="11704320" cy="38404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TARGET STOCK:  3 Days Safety Stock  +  2 Days Rolling Stock  =  5 Days Total Buffer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" y="2084831"/>
            <a:ext cx="2697480" cy="530352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1–2 Days
CRITICAL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54680" y="2084831"/>
            <a:ext cx="2697480" cy="530352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2–3 Days
SAFETY STOCK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2084831"/>
            <a:ext cx="2697480" cy="530352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 Days
ROLLING STOCK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40" y="2084831"/>
            <a:ext cx="2697480" cy="530352"/>
          </a:xfrm>
          <a:prstGeom prst="roundRect">
            <a:avLst>
              <a:gd name="adj" fmla="val 8000"/>
            </a:avLst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 Days
TARGET LEVEL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926080" y="2350008"/>
            <a:ext cx="228600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852160" y="2350008"/>
            <a:ext cx="228600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778240" y="2350008"/>
            <a:ext cx="228600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56032" y="26700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>← 0 Stock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26700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7706"/>
                </a:solidFill>
                <a:latin typeface="Calibri"/>
              </a:rPr>
              <a:t>Safety Zone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26700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0C0"/>
                </a:solidFill>
                <a:latin typeface="Calibri"/>
              </a:rPr>
              <a:t>Rolling Zone 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2670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7A4A"/>
                </a:solidFill>
                <a:latin typeface="Calibri"/>
              </a:rPr>
              <a:t>← Target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" y="3035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E4A"/>
                </a:solidFill>
                <a:latin typeface="Calibri"/>
              </a:rPr>
              <a:t>PRODUCTION SCENARIOS BASED ON STOCK LEVEL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8600" y="3401568"/>
            <a:ext cx="3749039" cy="457200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Case 0 | Stock &lt; 1 Day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8600" y="3913632"/>
            <a:ext cx="3749039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B91C1C"/>
                </a:solidFill>
                <a:latin typeface="Calibri"/>
              </a:rPr>
              <a:t>🚨 Urgent Production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28600" y="4352544"/>
            <a:ext cx="3749039" cy="530352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i="0">
                <a:solidFill>
                  <a:srgbClr val="64748B"/>
                </a:solidFill>
                <a:latin typeface="Calibri"/>
              </a:rPr>
              <a:t>Stop everything — produce immediately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069079" y="3401568"/>
            <a:ext cx="3749039" cy="4572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S–1 | Stock 1–3 Days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69079" y="3913632"/>
            <a:ext cx="3749039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D97706"/>
                </a:solidFill>
                <a:latin typeface="Calibri"/>
              </a:rPr>
              <a:t>⚠️  Balance Shortage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69079" y="4352544"/>
            <a:ext cx="3749039" cy="530352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i="0">
                <a:solidFill>
                  <a:srgbClr val="64748B"/>
                </a:solidFill>
                <a:latin typeface="Calibri"/>
              </a:rPr>
              <a:t>Prioritise short parts while keeping stable parts running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09559" y="3401568"/>
            <a:ext cx="3749039" cy="457200"/>
          </a:xfrm>
          <a:prstGeom prst="roundRect">
            <a:avLst>
              <a:gd name="adj" fmla="val 8000"/>
            </a:avLst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S–2 | Stock &gt; 3 Days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09559" y="3913632"/>
            <a:ext cx="3749039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1A7A4A"/>
                </a:solidFill>
                <a:latin typeface="Calibri"/>
              </a:rPr>
              <a:t>✅ Maintain Flow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09559" y="4352544"/>
            <a:ext cx="3749039" cy="530352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i="0">
                <a:solidFill>
                  <a:srgbClr val="64748B"/>
                </a:solidFill>
                <a:latin typeface="Calibri"/>
              </a:rPr>
              <a:t>Keep production flowing; optimise machine efficiency</a:t>
            </a:r>
          </a:p>
        </p:txBody>
      </p:sp>
      <p:sp>
        <p:nvSpPr>
          <p:cNvPr id="9001" name="PageNumber"/>
          <p:cNvSpPr txBox="1">
            <a:spLocks/>
          </p:cNvSpPr>
          <p:nvPr/>
        </p:nvSpPr>
        <p:spPr>
          <a:xfrm>
            <a:off x="11432516" y="6391175"/>
            <a:ext cx="669862" cy="279133"/>
          </a:xfrm>
          <a:prstGeom prst="rect">
            <a:avLst/>
          </a:prstGeom>
        </p:spPr>
        <p:txBody>
          <a:bodyPr vert="horz" lIns="91345" tIns="45672" rIns="91345" bIns="45672" rtlCol="0" anchor="ctr"/>
          <a:lstStyle/>
          <a:p>
            <a:fld id="{D36E95A1-262F-4E3E-9B30-207FF0616F94}" type="slidenum">
              <a:rPr lang="en-US" sz="1399" smtClean="0">
                <a:solidFill>
                  <a:srgbClr val="0070C0"/>
                </a:solidFill>
              </a:rPr>
              <a:t>‹#›</a:t>
            </a:fld>
            <a:r>
              <a:rPr lang="en-US" sz="1399" dirty="0">
                <a:solidFill>
                  <a:srgbClr val="0070C0"/>
                </a:solidFill>
              </a:rPr>
              <a:t>/19</a:t>
            </a:r>
          </a:p>
        </p:txBody>
      </p:sp>
    </p:spTree>
    <p:extLst>
      <p:ext uri="{BB962C8B-B14F-4D97-AF65-F5344CB8AC3E}">
        <p14:creationId xmlns:p14="http://schemas.microsoft.com/office/powerpoint/2010/main" val="3745660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97AE8"/>
                </a:solidFill>
                <a:latin typeface="Calibri"/>
              </a:rPr>
              <a:t>Constraint 2 — Plan According to Category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79808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" y="932688"/>
            <a:ext cx="11704320" cy="5486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 i="0">
                <a:solidFill>
                  <a:srgbClr val="1A2E4A"/>
                </a:solidFill>
                <a:latin typeface="Calibri"/>
              </a:rPr>
              <a:t>🏷️   Schedule production based on part type — balancing fast-moving &amp; slow-moving items by classifying into Runners, Repeaters &amp; Strangers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1600200"/>
            <a:ext cx="2286000" cy="548640"/>
          </a:xfrm>
          <a:prstGeom prst="roundRect">
            <a:avLst>
              <a:gd name="adj" fmla="val 8000"/>
            </a:avLst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CATEGORIES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2267712"/>
            <a:ext cx="3566160" cy="594360"/>
          </a:xfrm>
          <a:prstGeom prst="roundRect">
            <a:avLst>
              <a:gd name="adj" fmla="val 8000"/>
            </a:avLst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🏃  RUNNER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11680" y="2148840"/>
            <a:ext cx="0" cy="118872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28600" y="2926080"/>
            <a:ext cx="35661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i="0">
                <a:solidFill>
                  <a:srgbClr val="64748B"/>
                </a:solidFill>
                <a:latin typeface="Calibri"/>
              </a:rPr>
              <a:t>Fast-moving parts
High demand
Produced frequently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3776472"/>
            <a:ext cx="3566160" cy="457200"/>
          </a:xfrm>
          <a:prstGeom prst="roundRect">
            <a:avLst>
              <a:gd name="adj" fmla="val 8000"/>
            </a:avLst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→ PRIORITISE FREQUENTLY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" y="4297680"/>
            <a:ext cx="3566160" cy="530352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i="0">
                <a:solidFill>
                  <a:srgbClr val="64748B"/>
                </a:solidFill>
                <a:latin typeface="Calibri"/>
              </a:rPr>
              <a:t>High Indent
Frequent Production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267712"/>
            <a:ext cx="3566160" cy="59436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🔁  REPEATER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89320" y="2148840"/>
            <a:ext cx="0" cy="118872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206240" y="2926080"/>
            <a:ext cx="35661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i="0">
                <a:solidFill>
                  <a:srgbClr val="64748B"/>
                </a:solidFill>
                <a:latin typeface="Calibri"/>
              </a:rPr>
              <a:t>Moderate demand
Produced regularly
but not daily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3776472"/>
            <a:ext cx="3566160" cy="4572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→ PLAN AT INTERVALS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4297680"/>
            <a:ext cx="3566160" cy="530352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i="0">
                <a:solidFill>
                  <a:srgbClr val="64748B"/>
                </a:solidFill>
                <a:latin typeface="Calibri"/>
              </a:rPr>
              <a:t>Regular Planning
Avoid Shortages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2267712"/>
            <a:ext cx="3566160" cy="594360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🔮  STRANGER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966959" y="2148840"/>
            <a:ext cx="0" cy="118872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183879" y="2926080"/>
            <a:ext cx="35661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i="0">
                <a:solidFill>
                  <a:srgbClr val="64748B"/>
                </a:solidFill>
                <a:latin typeface="Calibri"/>
              </a:rPr>
              <a:t>Slow-moving parts
Low demand
Produced occasionally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3776472"/>
            <a:ext cx="3566160" cy="457200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→ PLAN STRATEGICALLY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4297680"/>
            <a:ext cx="3566160" cy="530352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i="0">
                <a:solidFill>
                  <a:srgbClr val="64748B"/>
                </a:solidFill>
                <a:latin typeface="Calibri"/>
              </a:rPr>
              <a:t>Occasional Demand
Slow Moving</a:t>
            </a:r>
          </a:p>
        </p:txBody>
      </p:sp>
      <p:sp>
        <p:nvSpPr>
          <p:cNvPr id="9001" name="PageNumber"/>
          <p:cNvSpPr txBox="1">
            <a:spLocks/>
          </p:cNvSpPr>
          <p:nvPr/>
        </p:nvSpPr>
        <p:spPr>
          <a:xfrm>
            <a:off x="11432516" y="6391175"/>
            <a:ext cx="669862" cy="279133"/>
          </a:xfrm>
          <a:prstGeom prst="rect">
            <a:avLst/>
          </a:prstGeom>
        </p:spPr>
        <p:txBody>
          <a:bodyPr vert="horz" lIns="91345" tIns="45672" rIns="91345" bIns="45672" rtlCol="0" anchor="ctr"/>
          <a:lstStyle/>
          <a:p>
            <a:fld id="{D36E95A1-262F-4E3E-9B30-207FF0616F94}" type="slidenum">
              <a:rPr lang="en-US" sz="1399" smtClean="0">
                <a:solidFill>
                  <a:srgbClr val="0070C0"/>
                </a:solidFill>
              </a:rPr>
              <a:t>‹#›</a:t>
            </a:fld>
            <a:r>
              <a:rPr lang="en-US" sz="1399" dirty="0">
                <a:solidFill>
                  <a:srgbClr val="0070C0"/>
                </a:solidFill>
              </a:rPr>
              <a:t>/19</a:t>
            </a:r>
          </a:p>
        </p:txBody>
      </p:sp>
    </p:spTree>
    <p:extLst>
      <p:ext uri="{BB962C8B-B14F-4D97-AF65-F5344CB8AC3E}">
        <p14:creationId xmlns:p14="http://schemas.microsoft.com/office/powerpoint/2010/main" val="874067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97AE8"/>
                </a:solidFill>
                <a:latin typeface="Calibri"/>
              </a:rPr>
              <a:t>Constraint 3 — Full Capacity Utilization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79808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" y="932688"/>
            <a:ext cx="11704320" cy="530352"/>
          </a:xfrm>
          <a:prstGeom prst="roundRect">
            <a:avLst>
              <a:gd name="adj" fmla="val 8000"/>
            </a:avLst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⏱   2 Shifts × 12h  |  1h Break Each  =  11h per Shift  =  22 Available Hours per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572768"/>
            <a:ext cx="1170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4748B"/>
                </a:solidFill>
                <a:latin typeface="Calibri"/>
              </a:rPr>
              <a:t>Ensure all machine hours are fully utilised — maximising productivity and minimising idle time by balancing workloads across all machines.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084831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E4A"/>
                </a:solidFill>
                <a:latin typeface="Calibri"/>
              </a:rPr>
              <a:t>DAILY CAPACITY BREAKDOWN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2450592"/>
            <a:ext cx="2624327" cy="566928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Shift 1
11h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71215" y="2450592"/>
            <a:ext cx="239001" cy="566928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28505" y="2450592"/>
            <a:ext cx="2624327" cy="566928"/>
          </a:xfrm>
          <a:prstGeom prst="roundRect">
            <a:avLst>
              <a:gd name="adj" fmla="val 8000"/>
            </a:avLst>
          </a:prstGeom>
          <a:solidFill>
            <a:srgbClr val="006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Shift 2
11h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71121" y="2450592"/>
            <a:ext cx="239001" cy="566928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" y="318211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E4A"/>
                </a:solidFill>
                <a:latin typeface="Calibri"/>
              </a:rPr>
              <a:t>SCHEDULING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" y="3584448"/>
            <a:ext cx="2084831" cy="1005840"/>
          </a:xfrm>
          <a:prstGeom prst="roundRect">
            <a:avLst>
              <a:gd name="adj" fmla="val 8000"/>
            </a:avLst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
Total Available
Hours = 22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13432" y="4087368"/>
            <a:ext cx="256031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569463" y="3584448"/>
            <a:ext cx="2084831" cy="100584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
Subtract
Downtime &amp;
Changeover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654296" y="4087368"/>
            <a:ext cx="256032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910327" y="3584448"/>
            <a:ext cx="2084831" cy="100584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
Allocate Parts
to Machines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95159" y="4087368"/>
            <a:ext cx="256032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251191" y="3584448"/>
            <a:ext cx="2084831" cy="1005840"/>
          </a:xfrm>
          <a:prstGeom prst="roundRect">
            <a:avLst>
              <a:gd name="adj" fmla="val 8000"/>
            </a:avLst>
          </a:prstGeom>
          <a:solidFill>
            <a:srgbClr val="14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
Balance
Workload
Across Machines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36024" y="4087368"/>
            <a:ext cx="256031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592055" y="3584448"/>
            <a:ext cx="2084831" cy="1005840"/>
          </a:xfrm>
          <a:prstGeom prst="roundRect">
            <a:avLst>
              <a:gd name="adj" fmla="val 8000"/>
            </a:avLst>
          </a:prstGeom>
          <a:solidFill>
            <a:srgbClr val="006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
Full Capacity
Utilisation
Achieved!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" y="2450592"/>
            <a:ext cx="5154930" cy="566928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Shift 1  •  11h Active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92674" y="2450592"/>
            <a:ext cx="468629" cy="566928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64748B"/>
                </a:solidFill>
                <a:latin typeface="Calibri"/>
              </a:rPr>
              <a:t>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70448" y="2450592"/>
            <a:ext cx="5154930" cy="566928"/>
          </a:xfrm>
          <a:prstGeom prst="roundRect">
            <a:avLst>
              <a:gd name="adj" fmla="val 8000"/>
            </a:avLst>
          </a:prstGeom>
          <a:solidFill>
            <a:srgbClr val="006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Shift 2  •  11h Active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34522" y="2450592"/>
            <a:ext cx="468629" cy="566928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64748B"/>
                </a:solidFill>
                <a:latin typeface="Calibri"/>
              </a:rPr>
              <a:t>⏸</a:t>
            </a:r>
          </a:p>
        </p:txBody>
      </p:sp>
      <p:sp>
        <p:nvSpPr>
          <p:cNvPr id="9001" name="PageNumber"/>
          <p:cNvSpPr txBox="1">
            <a:spLocks/>
          </p:cNvSpPr>
          <p:nvPr/>
        </p:nvSpPr>
        <p:spPr>
          <a:xfrm>
            <a:off x="11432516" y="6391175"/>
            <a:ext cx="669862" cy="279133"/>
          </a:xfrm>
          <a:prstGeom prst="rect">
            <a:avLst/>
          </a:prstGeom>
        </p:spPr>
        <p:txBody>
          <a:bodyPr vert="horz" lIns="91345" tIns="45672" rIns="91345" bIns="45672" rtlCol="0" anchor="ctr"/>
          <a:lstStyle/>
          <a:p>
            <a:fld id="{D36E95A1-262F-4E3E-9B30-207FF0616F94}" type="slidenum">
              <a:rPr lang="en-US" sz="1399" smtClean="0">
                <a:solidFill>
                  <a:srgbClr val="0070C0"/>
                </a:solidFill>
              </a:rPr>
              <a:t>‹#›</a:t>
            </a:fld>
            <a:r>
              <a:rPr lang="en-US" sz="1399" dirty="0">
                <a:solidFill>
                  <a:srgbClr val="0070C0"/>
                </a:solidFill>
              </a:rPr>
              <a:t>/19</a:t>
            </a:r>
          </a:p>
        </p:txBody>
      </p:sp>
    </p:spTree>
    <p:extLst>
      <p:ext uri="{BB962C8B-B14F-4D97-AF65-F5344CB8AC3E}">
        <p14:creationId xmlns:p14="http://schemas.microsoft.com/office/powerpoint/2010/main" val="4281157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97AE8"/>
                </a:solidFill>
                <a:latin typeface="Calibri"/>
              </a:rPr>
              <a:t>Constraint 4 — Fixed Machine Allocation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79808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" y="932688"/>
            <a:ext cx="11704320" cy="6400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 i="0">
                <a:solidFill>
                  <a:srgbClr val="1A2E4A"/>
                </a:solidFill>
                <a:latin typeface="Calibri"/>
              </a:rPr>
              <a:t>🔒   Machines assigned to certain parts always run ONLY those parts and are excluded from planning &amp; reallocation.
       Keeping them dedicated saves time, reduces changeover costs &amp; keeps production steady.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719072"/>
            <a:ext cx="28346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719072"/>
            <a:ext cx="64008" cy="7772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76479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0C0"/>
                </a:solidFill>
                <a:latin typeface="Calibri"/>
              </a:rPr>
              <a:t>⏱ Saves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84831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>No replanning needed for fixed machines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36392" y="1719072"/>
            <a:ext cx="28346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36392" y="1719072"/>
            <a:ext cx="64008" cy="77724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176479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7A4A"/>
                </a:solidFill>
                <a:latin typeface="Calibri"/>
              </a:rPr>
              <a:t>💰 Reduces Costs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3552" y="2084831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>No changeover expense for dedicated parts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44184" y="1719072"/>
            <a:ext cx="28346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44184" y="1719072"/>
            <a:ext cx="64008" cy="777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81344" y="176479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D7D31"/>
                </a:solidFill>
                <a:latin typeface="Calibri"/>
              </a:rPr>
              <a:t>📈 Steady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1344" y="2084831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>Consistent production flow maintained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1976" y="1719072"/>
            <a:ext cx="28346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A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51976" y="1719072"/>
            <a:ext cx="64008" cy="777240"/>
          </a:xfrm>
          <a:prstGeom prst="rect">
            <a:avLst/>
          </a:prstGeom>
          <a:solidFill>
            <a:srgbClr val="14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89136" y="176479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A3A8"/>
                </a:solidFill>
                <a:latin typeface="Calibri"/>
              </a:rPr>
              <a:t>🎯 Full Capacity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89136" y="2084831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>Parts needing 100% machine capacity handled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" y="26334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E4A"/>
                </a:solidFill>
                <a:latin typeface="Calibri"/>
              </a:rPr>
              <a:t>DECISION LOGIC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37760" y="2971800"/>
            <a:ext cx="2286000" cy="50292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🔍  Check Each Machine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80760" y="3474720"/>
            <a:ext cx="0" cy="29260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iamond 23"/>
          <p:cNvSpPr/>
          <p:nvPr/>
        </p:nvSpPr>
        <p:spPr>
          <a:xfrm>
            <a:off x="4663440" y="3767328"/>
            <a:ext cx="2834640" cy="804672"/>
          </a:xfrm>
          <a:prstGeom prst="diamond">
            <a:avLst/>
          </a:prstGeom>
          <a:solidFill>
            <a:srgbClr val="006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Is the Machine
Fixed?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98079" y="4169663"/>
            <a:ext cx="1371601" cy="0"/>
          </a:xfrm>
          <a:prstGeom prst="line">
            <a:avLst/>
          </a:prstGeom>
          <a:ln w="1905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869680" y="3858768"/>
            <a:ext cx="2560320" cy="621792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⛔  Skip It!
(Do Not Reallocate)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39776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91C1C"/>
                </a:solidFill>
                <a:latin typeface="Calibri"/>
              </a:rPr>
              <a:t>YES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80760" y="4572000"/>
            <a:ext cx="0" cy="292608"/>
          </a:xfrm>
          <a:prstGeom prst="line">
            <a:avLst/>
          </a:prstGeom>
          <a:ln w="19050">
            <a:solidFill>
              <a:srgbClr val="1A7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846320" y="4864608"/>
            <a:ext cx="2468880" cy="566928"/>
          </a:xfrm>
          <a:prstGeom prst="roundRect">
            <a:avLst>
              <a:gd name="adj" fmla="val 8000"/>
            </a:avLst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✅  Plan Parts on It
(Include in Schedule)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9632" y="4617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7A4A"/>
                </a:solidFill>
                <a:latin typeface="Calibri"/>
              </a:rPr>
              <a:t>NO</a:t>
            </a:r>
          </a:p>
        </p:txBody>
      </p:sp>
      <p:sp>
        <p:nvSpPr>
          <p:cNvPr id="9001" name="PageNumber"/>
          <p:cNvSpPr txBox="1">
            <a:spLocks/>
          </p:cNvSpPr>
          <p:nvPr/>
        </p:nvSpPr>
        <p:spPr>
          <a:xfrm>
            <a:off x="11432516" y="6391175"/>
            <a:ext cx="669862" cy="279133"/>
          </a:xfrm>
          <a:prstGeom prst="rect">
            <a:avLst/>
          </a:prstGeom>
        </p:spPr>
        <p:txBody>
          <a:bodyPr vert="horz" lIns="91345" tIns="45672" rIns="91345" bIns="45672" rtlCol="0" anchor="ctr"/>
          <a:lstStyle/>
          <a:p>
            <a:fld id="{D36E95A1-262F-4E3E-9B30-207FF0616F94}" type="slidenum">
              <a:rPr lang="en-US" sz="1399" smtClean="0">
                <a:solidFill>
                  <a:srgbClr val="0070C0"/>
                </a:solidFill>
              </a:rPr>
              <a:t>‹#›</a:t>
            </a:fld>
            <a:r>
              <a:rPr lang="en-US" sz="1399" dirty="0">
                <a:solidFill>
                  <a:srgbClr val="0070C0"/>
                </a:solidFill>
              </a:rPr>
              <a:t>/19</a:t>
            </a:r>
          </a:p>
        </p:txBody>
      </p:sp>
    </p:spTree>
    <p:extLst>
      <p:ext uri="{BB962C8B-B14F-4D97-AF65-F5344CB8AC3E}">
        <p14:creationId xmlns:p14="http://schemas.microsoft.com/office/powerpoint/2010/main" val="770166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97AE8"/>
                </a:solidFill>
                <a:latin typeface="Calibri"/>
              </a:rPr>
              <a:t>Constraint 5 — Minimum Changeover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79808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" y="932688"/>
            <a:ext cx="11704320" cy="530352"/>
          </a:xfrm>
          <a:prstGeom prst="roundRect">
            <a:avLst>
              <a:gd name="adj" fmla="val 8000"/>
            </a:avLst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⚡   Daily Changeover Limit = 25   |   Group same-color parts together to minimise machine reconfiguration time &amp;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572768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4748B"/>
                </a:solidFill>
                <a:latin typeface="Calibri"/>
              </a:rPr>
              <a:t>Intelligently sequences parts to minimise setups — ensuring machines spend more hours PRODUCING rather than stopping for reconfiguration.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0299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E4A"/>
                </a:solidFill>
                <a:latin typeface="Calibri"/>
              </a:rPr>
              <a:t>IMPACT OF MINIMISING CHANGEOVERS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2395728"/>
            <a:ext cx="2816352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2395728"/>
            <a:ext cx="64008" cy="74980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441448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7A4A"/>
                </a:solidFill>
                <a:latin typeface="Calibri"/>
              </a:rPr>
              <a:t>🕐 Less Downtime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2491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>Machines run longer without stops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36392" y="2395728"/>
            <a:ext cx="2816352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36392" y="2395728"/>
            <a:ext cx="64008" cy="74980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2441448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0C0"/>
                </a:solidFill>
                <a:latin typeface="Calibri"/>
              </a:rPr>
              <a:t>💰 Lower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3552" y="272491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>Fewer setup resources &amp; labour needed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44184" y="2395728"/>
            <a:ext cx="2816352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44184" y="2395728"/>
            <a:ext cx="64008" cy="7498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344" y="2441448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D7D31"/>
                </a:solidFill>
                <a:latin typeface="Calibri"/>
              </a:rPr>
              <a:t>🎨 Color Grouping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272491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>Same-color parts batched together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1976" y="2395728"/>
            <a:ext cx="2816352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A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51976" y="2395728"/>
            <a:ext cx="64008" cy="749808"/>
          </a:xfrm>
          <a:prstGeom prst="rect">
            <a:avLst/>
          </a:prstGeom>
          <a:solidFill>
            <a:srgbClr val="14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89136" y="2441448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A3A8"/>
                </a:solidFill>
                <a:latin typeface="Calibri"/>
              </a:rPr>
              <a:t>📊 Better Utilisation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272491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Calibri"/>
              </a:rPr>
              <a:t>More hours producing, less setting 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" y="32735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E4A"/>
                </a:solidFill>
                <a:latin typeface="Calibri"/>
              </a:rPr>
              <a:t>CHANGEOVER DECISION FLOW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" y="3657600"/>
            <a:ext cx="2560320" cy="566928"/>
          </a:xfrm>
          <a:prstGeom prst="roundRect">
            <a:avLst>
              <a:gd name="adj" fmla="val 8000"/>
            </a:avLst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Daily Limit = 25
Changeovers Set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788920" y="3941063"/>
            <a:ext cx="36576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Diamond 25"/>
          <p:cNvSpPr/>
          <p:nvPr/>
        </p:nvSpPr>
        <p:spPr>
          <a:xfrm>
            <a:off x="3154680" y="3547872"/>
            <a:ext cx="2011680" cy="804672"/>
          </a:xfrm>
          <a:prstGeom prst="diamond">
            <a:avLst/>
          </a:prstGeom>
          <a:solidFill>
            <a:srgbClr val="006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Within
Limit?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166360" y="3941063"/>
            <a:ext cx="1234440" cy="0"/>
          </a:xfrm>
          <a:prstGeom prst="line">
            <a:avLst/>
          </a:prstGeom>
          <a:ln w="1905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400800" y="3657600"/>
            <a:ext cx="2560320" cy="566928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📅  Shift to
Next Day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37673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91C1C"/>
                </a:solidFill>
                <a:latin typeface="Calibri"/>
              </a:rPr>
              <a:t>NO →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160520" y="4352544"/>
            <a:ext cx="0" cy="265176"/>
          </a:xfrm>
          <a:prstGeom prst="line">
            <a:avLst/>
          </a:prstGeom>
          <a:ln w="19050">
            <a:solidFill>
              <a:srgbClr val="1A7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206240" y="437083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7A4A"/>
                </a:solidFill>
                <a:latin typeface="Calibri"/>
              </a:rPr>
              <a:t>YES 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54680" y="4617720"/>
            <a:ext cx="2011680" cy="530352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🎨 Group Same
Color Parts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160520" y="5148072"/>
            <a:ext cx="0" cy="228600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154680" y="5376672"/>
            <a:ext cx="2011680" cy="475488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✅ Allocate Parts
to Machines</a:t>
            </a:r>
          </a:p>
        </p:txBody>
      </p:sp>
      <p:sp>
        <p:nvSpPr>
          <p:cNvPr id="9001" name="PageNumber"/>
          <p:cNvSpPr txBox="1">
            <a:spLocks/>
          </p:cNvSpPr>
          <p:nvPr/>
        </p:nvSpPr>
        <p:spPr>
          <a:xfrm>
            <a:off x="11432516" y="6391175"/>
            <a:ext cx="669862" cy="279133"/>
          </a:xfrm>
          <a:prstGeom prst="rect">
            <a:avLst/>
          </a:prstGeom>
        </p:spPr>
        <p:txBody>
          <a:bodyPr vert="horz" lIns="91345" tIns="45672" rIns="91345" bIns="45672" rtlCol="0" anchor="ctr"/>
          <a:lstStyle/>
          <a:p>
            <a:fld id="{D36E95A1-262F-4E3E-9B30-207FF0616F94}" type="slidenum">
              <a:rPr lang="en-US" sz="1399" smtClean="0">
                <a:solidFill>
                  <a:srgbClr val="0070C0"/>
                </a:solidFill>
              </a:rPr>
              <a:t>‹#›</a:t>
            </a:fld>
            <a:r>
              <a:rPr lang="en-US" sz="1399" dirty="0">
                <a:solidFill>
                  <a:srgbClr val="0070C0"/>
                </a:solidFill>
              </a:rPr>
              <a:t>/19</a:t>
            </a:r>
          </a:p>
        </p:txBody>
      </p:sp>
    </p:spTree>
    <p:extLst>
      <p:ext uri="{BB962C8B-B14F-4D97-AF65-F5344CB8AC3E}">
        <p14:creationId xmlns:p14="http://schemas.microsoft.com/office/powerpoint/2010/main" val="20512265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97AE8"/>
                </a:solidFill>
                <a:latin typeface="Calibri"/>
              </a:rPr>
              <a:t>Constraint 6 — Terminal Availability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79808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" y="932688"/>
            <a:ext cx="11704320" cy="6400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 i="0">
                <a:solidFill>
                  <a:srgbClr val="1A2E4A"/>
                </a:solidFill>
                <a:latin typeface="Calibri"/>
              </a:rPr>
              <a:t>🔌   Parts are scheduled ONLY when ALL required terminals are available — preventing interruptions, bottlenecks &amp; scheduling conflicts.
       If even ONE terminal is unavailable (downtime/overload/maintenance), the part is held until all are active.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719072"/>
            <a:ext cx="2834640" cy="749808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Each part
depends on
specific terminals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36392" y="1719072"/>
            <a:ext cx="2834640" cy="749808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System checks
availability before
confirming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44184" y="1719072"/>
            <a:ext cx="2834640" cy="749808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ONE missing
terminal = part
is NOT scheduled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51976" y="1719072"/>
            <a:ext cx="2834640" cy="749808"/>
          </a:xfrm>
          <a:prstGeom prst="roundRect">
            <a:avLst>
              <a:gd name="adj" fmla="val 8000"/>
            </a:avLst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Prevents errors,
bottlenecks &amp;
delays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2606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E4A"/>
                </a:solidFill>
                <a:latin typeface="Calibri"/>
              </a:rPr>
              <a:t>TERMINAL AVAILABILITY CHECK LOGIC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971800"/>
            <a:ext cx="2834640" cy="530352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🔌  Terminals Required
For a Part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3502152"/>
            <a:ext cx="0" cy="246887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amond 11"/>
          <p:cNvSpPr/>
          <p:nvPr/>
        </p:nvSpPr>
        <p:spPr>
          <a:xfrm>
            <a:off x="4663440" y="3749039"/>
            <a:ext cx="2834640" cy="822960"/>
          </a:xfrm>
          <a:prstGeom prst="diamond">
            <a:avLst/>
          </a:prstGeom>
          <a:solidFill>
            <a:srgbClr val="006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All Terminals
Available?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98079" y="4160520"/>
            <a:ext cx="1828801" cy="0"/>
          </a:xfrm>
          <a:prstGeom prst="line">
            <a:avLst/>
          </a:prstGeom>
          <a:ln w="19050">
            <a:solidFill>
              <a:srgbClr val="1A7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326880" y="3858768"/>
            <a:ext cx="2468880" cy="621792"/>
          </a:xfrm>
          <a:prstGeom prst="roundRect">
            <a:avLst>
              <a:gd name="adj" fmla="val 8000"/>
            </a:avLst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✅  Plan This Part
(Schedule Confirmed)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397763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7A4A"/>
                </a:solidFill>
                <a:latin typeface="Calibri"/>
              </a:rPr>
              <a:t>YES →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4572000"/>
            <a:ext cx="0" cy="256032"/>
          </a:xfrm>
          <a:prstGeom prst="line">
            <a:avLst/>
          </a:prstGeom>
          <a:ln w="1905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663440" y="4828032"/>
            <a:ext cx="2834640" cy="566928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⛔  Skip to Other Parts
(Re-check Later)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2" y="461772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91C1C"/>
                </a:solidFill>
                <a:latin typeface="Calibri"/>
              </a:rPr>
              <a:t>NO 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5440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4748B"/>
                </a:solidFill>
                <a:latin typeface="Calibri"/>
              </a:rPr>
              <a:t>↺  Hold until all terminals are active</a:t>
            </a:r>
          </a:p>
        </p:txBody>
      </p:sp>
      <p:sp>
        <p:nvSpPr>
          <p:cNvPr id="9001" name="PageNumber"/>
          <p:cNvSpPr txBox="1">
            <a:spLocks/>
          </p:cNvSpPr>
          <p:nvPr/>
        </p:nvSpPr>
        <p:spPr>
          <a:xfrm>
            <a:off x="11432516" y="6391175"/>
            <a:ext cx="669862" cy="279133"/>
          </a:xfrm>
          <a:prstGeom prst="rect">
            <a:avLst/>
          </a:prstGeom>
        </p:spPr>
        <p:txBody>
          <a:bodyPr vert="horz" lIns="91345" tIns="45672" rIns="91345" bIns="45672" rtlCol="0" anchor="ctr"/>
          <a:lstStyle/>
          <a:p>
            <a:fld id="{D36E95A1-262F-4E3E-9B30-207FF0616F94}" type="slidenum">
              <a:rPr lang="en-US" sz="1399" smtClean="0">
                <a:solidFill>
                  <a:srgbClr val="0070C0"/>
                </a:solidFill>
              </a:rPr>
              <a:t>‹#›</a:t>
            </a:fld>
            <a:r>
              <a:rPr lang="en-US" sz="1399" dirty="0">
                <a:solidFill>
                  <a:srgbClr val="0070C0"/>
                </a:solidFill>
              </a:rPr>
              <a:t>/19</a:t>
            </a:r>
          </a:p>
        </p:txBody>
      </p:sp>
    </p:spTree>
    <p:extLst>
      <p:ext uri="{BB962C8B-B14F-4D97-AF65-F5344CB8AC3E}">
        <p14:creationId xmlns:p14="http://schemas.microsoft.com/office/powerpoint/2010/main" val="1315865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46050" y="76200"/>
            <a:ext cx="10287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62DA"/>
                </a:solidFill>
              </a:rPr>
              <a:t>Summary — 6 Constraints at a Glance</a:t>
            </a:r>
          </a:p>
        </p:txBody>
      </p:sp>
      <p:sp>
        <p:nvSpPr>
          <p:cNvPr id="3" name="Col1"/>
          <p:cNvSpPr txBox="1"/>
          <p:nvPr/>
        </p:nvSpPr>
        <p:spPr>
          <a:xfrm>
            <a:off x="146050" y="762000"/>
            <a:ext cx="5715000" cy="5486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ts val="2800"/>
              </a:lnSpc>
              <a:spcAft>
                <a:spcPts val="600"/>
              </a:spcAft>
            </a:pPr>
            <a:r>
              <a:rPr lang="en-US" sz="2800" b="1" dirty="0">
                <a:solidFill>
                  <a:srgbClr val="0062DA"/>
                </a:solidFill>
              </a:rPr>
              <a:t>C1 — Maintain Safety Stock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</a:pPr>
            <a:r>
              <a:rPr lang="en-US" sz="2200" dirty="0">
                <a:solidFill>
                  <a:srgbClr val="404040"/>
                </a:solidFill>
              </a:rPr>
              <a:t>5-day buffer (3-day safety + 2-day rolling) maintained at all times to prevent stockouts.</a:t>
            </a:r>
          </a:p>
          <a:p>
            <a:pPr marL="0" indent="0">
              <a:lnSpc>
                <a:spcPts val="2800"/>
              </a:lnSpc>
              <a:spcAft>
                <a:spcPts val="600"/>
              </a:spcAft>
            </a:pPr>
            <a:r>
              <a:rPr lang="en-US" sz="2800" b="1" dirty="0">
                <a:solidFill>
                  <a:srgbClr val="0062DA"/>
                </a:solidFill>
              </a:rPr>
              <a:t>C2 — Plan According to Category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</a:pPr>
            <a:r>
              <a:rPr lang="en-US" sz="2200" dirty="0">
                <a:solidFill>
                  <a:srgbClr val="404040"/>
                </a:solidFill>
              </a:rPr>
              <a:t>Parts classified as Runners, Repeaters &amp; Strangers for priority-based scheduling.</a:t>
            </a:r>
          </a:p>
          <a:p>
            <a:pPr marL="0" indent="0">
              <a:lnSpc>
                <a:spcPts val="2800"/>
              </a:lnSpc>
              <a:spcAft>
                <a:spcPts val="600"/>
              </a:spcAft>
            </a:pPr>
            <a:r>
              <a:rPr lang="en-US" sz="2800" b="1" dirty="0">
                <a:solidFill>
                  <a:srgbClr val="0062DA"/>
                </a:solidFill>
              </a:rPr>
              <a:t>C3 — Full Capacity Utilization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</a:pPr>
            <a:r>
              <a:rPr lang="en-US" sz="2200" dirty="0">
                <a:solidFill>
                  <a:srgbClr val="404040"/>
                </a:solidFill>
              </a:rPr>
              <a:t>22 available hours/day (2 shifts × 11h) fully allocated — no idle machine time.</a:t>
            </a:r>
          </a:p>
        </p:txBody>
      </p:sp>
      <p:sp>
        <p:nvSpPr>
          <p:cNvPr id="4" name="Col2"/>
          <p:cNvSpPr txBox="1"/>
          <p:nvPr/>
        </p:nvSpPr>
        <p:spPr>
          <a:xfrm>
            <a:off x="6096000" y="762000"/>
            <a:ext cx="5715000" cy="5486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ts val="2800"/>
              </a:lnSpc>
              <a:spcAft>
                <a:spcPts val="600"/>
              </a:spcAft>
            </a:pPr>
            <a:r>
              <a:rPr lang="en-US" sz="2800" b="1" dirty="0">
                <a:solidFill>
                  <a:srgbClr val="0062DA"/>
                </a:solidFill>
              </a:rPr>
              <a:t>C4 — Fixed Machine Allocation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</a:pPr>
            <a:r>
              <a:rPr lang="en-US" sz="2200" dirty="0">
                <a:solidFill>
                  <a:srgbClr val="404040"/>
                </a:solidFill>
              </a:rPr>
              <a:t>Dedicated machines for specific parts are locked out of replanning — reducing changeover cost.</a:t>
            </a:r>
          </a:p>
          <a:p>
            <a:pPr marL="0" indent="0">
              <a:lnSpc>
                <a:spcPts val="2800"/>
              </a:lnSpc>
              <a:spcAft>
                <a:spcPts val="600"/>
              </a:spcAft>
            </a:pPr>
            <a:r>
              <a:rPr lang="en-US" sz="2800" b="1" dirty="0">
                <a:solidFill>
                  <a:srgbClr val="0062DA"/>
                </a:solidFill>
              </a:rPr>
              <a:t>C5 — Minimum Changeover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</a:pPr>
            <a:r>
              <a:rPr lang="en-US" sz="2200" dirty="0">
                <a:solidFill>
                  <a:srgbClr val="404040"/>
                </a:solidFill>
              </a:rPr>
              <a:t>Daily changeover limit of 25; same-color parts batched to cut setup time &amp; cost.</a:t>
            </a:r>
          </a:p>
          <a:p>
            <a:pPr marL="0" indent="0">
              <a:lnSpc>
                <a:spcPts val="2800"/>
              </a:lnSpc>
              <a:spcAft>
                <a:spcPts val="600"/>
              </a:spcAft>
            </a:pPr>
            <a:r>
              <a:rPr lang="en-US" sz="2800" b="1" dirty="0">
                <a:solidFill>
                  <a:srgbClr val="0062DA"/>
                </a:solidFill>
              </a:rPr>
              <a:t>C6 — Terminal Availability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</a:pPr>
            <a:r>
              <a:rPr lang="en-US" sz="2200" dirty="0">
                <a:solidFill>
                  <a:srgbClr val="404040"/>
                </a:solidFill>
              </a:rPr>
              <a:t>Parts scheduled only when all required terminals are active — prevents bottlenecks &amp; delays.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146050" y="6248400"/>
            <a:ext cx="11430000" cy="304800"/>
          </a:xfrm>
          <a:prstGeom prst="rect">
            <a:avLst/>
          </a:prstGeom>
          <a:solidFill>
            <a:srgbClr val="0062DA"/>
          </a:solidFill>
        </p:spPr>
        <p:txBody>
          <a:bodyPr vert="horz" lIns="91345" tIns="45672" rIns="91345" bIns="45672" rtlCol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✅ All 6 constraints work together to create a smart, automated, conflict-free production schedule</a:t>
            </a:r>
          </a:p>
        </p:txBody>
      </p:sp>
      <p:sp>
        <p:nvSpPr>
          <p:cNvPr id="9001" name="PageNumber"/>
          <p:cNvSpPr txBox="1">
            <a:spLocks/>
          </p:cNvSpPr>
          <p:nvPr/>
        </p:nvSpPr>
        <p:spPr>
          <a:xfrm>
            <a:off x="11432516" y="6391175"/>
            <a:ext cx="669862" cy="279133"/>
          </a:xfrm>
          <a:prstGeom prst="rect">
            <a:avLst/>
          </a:prstGeom>
        </p:spPr>
        <p:txBody>
          <a:bodyPr vert="horz" lIns="91345" tIns="45672" rIns="91345" bIns="45672" rtlCol="0" anchor="ctr"/>
          <a:lstStyle/>
          <a:p>
            <a:fld id="{D36E95A1-262F-4E3E-9B30-207FF0616F94}" type="slidenum">
              <a:rPr lang="en-US" sz="1399" smtClean="0">
                <a:solidFill>
                  <a:srgbClr val="0070C0"/>
                </a:solidFill>
              </a:rPr>
              <a:t>‹#›</a:t>
            </a:fld>
            <a:r>
              <a:rPr lang="en-US" sz="1399" dirty="0">
                <a:solidFill>
                  <a:srgbClr val="0070C0"/>
                </a:solidFill>
              </a:rPr>
              <a:t>/19</a:t>
            </a:r>
          </a:p>
        </p:txBody>
      </p:sp>
    </p:spTree>
    <p:extLst>
      <p:ext uri="{BB962C8B-B14F-4D97-AF65-F5344CB8AC3E}">
        <p14:creationId xmlns:p14="http://schemas.microsoft.com/office/powerpoint/2010/main" val="22545616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98663"/>
            <a:ext cx="12148852" cy="255765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034" y="6616932"/>
            <a:ext cx="11600783" cy="200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99" dirty="0">
                <a:solidFill>
                  <a:srgbClr val="F0F4F8"/>
                </a:solidFill>
              </a:rPr>
              <a:t>Smart APS V9  |  Uno Minda Rika Private Limited  |  Injection Moulding Division</a:t>
            </a:r>
            <a:endParaRPr lang="en-US" sz="799" dirty="0"/>
          </a:p>
        </p:txBody>
      </p:sp>
      <p:sp>
        <p:nvSpPr>
          <p:cNvPr id="4" name="Shape 2"/>
          <p:cNvSpPr/>
          <p:nvPr/>
        </p:nvSpPr>
        <p:spPr>
          <a:xfrm>
            <a:off x="0" y="3572"/>
            <a:ext cx="12148852" cy="1233154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379" y="94917"/>
            <a:ext cx="11418094" cy="50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98" b="1" kern="0" spc="200" dirty="0">
                <a:solidFill>
                  <a:srgbClr val="FFFFFF"/>
                </a:solidFill>
              </a:rPr>
              <a:t>WHAT THIS PRESENTATION COVERS</a:t>
            </a:r>
            <a:endParaRPr lang="en-US" sz="2198" dirty="0"/>
          </a:p>
        </p:txBody>
      </p:sp>
      <p:sp>
        <p:nvSpPr>
          <p:cNvPr id="6" name="Text 4"/>
          <p:cNvSpPr/>
          <p:nvPr/>
        </p:nvSpPr>
        <p:spPr>
          <a:xfrm>
            <a:off x="365379" y="597313"/>
            <a:ext cx="11418094" cy="50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99" i="1" dirty="0">
                <a:solidFill>
                  <a:srgbClr val="A0C4D8"/>
                </a:solidFill>
              </a:rPr>
              <a:t>10 constraints — each explained with the problem it solves, the mechanism, and the flowchart</a:t>
            </a:r>
            <a:endParaRPr lang="en-US" sz="1199" dirty="0"/>
          </a:p>
        </p:txBody>
      </p:sp>
      <p:sp>
        <p:nvSpPr>
          <p:cNvPr id="7" name="Shape 5"/>
          <p:cNvSpPr/>
          <p:nvPr/>
        </p:nvSpPr>
        <p:spPr>
          <a:xfrm>
            <a:off x="319707" y="1465088"/>
            <a:ext cx="639413" cy="566337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9707" y="1465088"/>
            <a:ext cx="639413" cy="566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99" b="1" dirty="0">
                <a:solidFill>
                  <a:srgbClr val="FFFFFF"/>
                </a:solidFill>
              </a:rPr>
              <a:t>C1</a:t>
            </a:r>
            <a:endParaRPr lang="en-US" sz="1099" dirty="0"/>
          </a:p>
        </p:txBody>
      </p:sp>
      <p:sp>
        <p:nvSpPr>
          <p:cNvPr id="9" name="Shape 7"/>
          <p:cNvSpPr/>
          <p:nvPr/>
        </p:nvSpPr>
        <p:spPr>
          <a:xfrm>
            <a:off x="959120" y="1465088"/>
            <a:ext cx="5206651" cy="5663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68734" y="1501626"/>
            <a:ext cx="5023961" cy="255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99" b="1" dirty="0">
                <a:solidFill>
                  <a:srgbClr val="1A2E4A"/>
                </a:solidFill>
              </a:rPr>
              <a:t>Inventory Health</a:t>
            </a:r>
            <a:endParaRPr lang="en-US" sz="1099" dirty="0"/>
          </a:p>
        </p:txBody>
      </p:sp>
      <p:sp>
        <p:nvSpPr>
          <p:cNvPr id="11" name="Text 9"/>
          <p:cNvSpPr/>
          <p:nvPr/>
        </p:nvSpPr>
        <p:spPr>
          <a:xfrm>
            <a:off x="1068734" y="1766525"/>
            <a:ext cx="5023961" cy="228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49" dirty="0">
                <a:solidFill>
                  <a:srgbClr val="64748B"/>
                </a:solidFill>
              </a:rPr>
              <a:t>5-Day target with safety floor &amp; ceiling</a:t>
            </a:r>
            <a:endParaRPr lang="en-US" sz="849" dirty="0"/>
          </a:p>
        </p:txBody>
      </p:sp>
      <p:sp>
        <p:nvSpPr>
          <p:cNvPr id="12" name="Shape 10"/>
          <p:cNvSpPr/>
          <p:nvPr/>
        </p:nvSpPr>
        <p:spPr>
          <a:xfrm>
            <a:off x="319707" y="2488149"/>
            <a:ext cx="639413" cy="566337"/>
          </a:xfrm>
          <a:prstGeom prst="rect">
            <a:avLst/>
          </a:prstGeom>
          <a:solidFill>
            <a:srgbClr val="14A3A8"/>
          </a:solidFill>
          <a:ln w="12700">
            <a:solidFill>
              <a:srgbClr val="14A3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9707" y="2488149"/>
            <a:ext cx="639413" cy="566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99" b="1" dirty="0">
                <a:solidFill>
                  <a:srgbClr val="FFFFFF"/>
                </a:solidFill>
              </a:rPr>
              <a:t>C2</a:t>
            </a:r>
            <a:endParaRPr lang="en-US" sz="1099" dirty="0"/>
          </a:p>
        </p:txBody>
      </p:sp>
      <p:sp>
        <p:nvSpPr>
          <p:cNvPr id="14" name="Shape 12"/>
          <p:cNvSpPr/>
          <p:nvPr/>
        </p:nvSpPr>
        <p:spPr>
          <a:xfrm>
            <a:off x="959120" y="2488149"/>
            <a:ext cx="5206651" cy="5663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68734" y="2524687"/>
            <a:ext cx="5023961" cy="255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99" b="1" dirty="0">
                <a:solidFill>
                  <a:srgbClr val="1A2E4A"/>
                </a:solidFill>
              </a:rPr>
              <a:t>Priority Scoring</a:t>
            </a:r>
            <a:endParaRPr lang="en-US" sz="1099" dirty="0"/>
          </a:p>
        </p:txBody>
      </p:sp>
      <p:sp>
        <p:nvSpPr>
          <p:cNvPr id="16" name="Text 14"/>
          <p:cNvSpPr/>
          <p:nvPr/>
        </p:nvSpPr>
        <p:spPr>
          <a:xfrm>
            <a:off x="1068734" y="2789587"/>
            <a:ext cx="5023961" cy="228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49" dirty="0">
                <a:solidFill>
                  <a:srgbClr val="64748B"/>
                </a:solidFill>
              </a:rPr>
              <a:t>Urgency-first assignment, displacement pass</a:t>
            </a:r>
            <a:endParaRPr lang="en-US" sz="849" dirty="0"/>
          </a:p>
        </p:txBody>
      </p:sp>
      <p:sp>
        <p:nvSpPr>
          <p:cNvPr id="17" name="Shape 15"/>
          <p:cNvSpPr/>
          <p:nvPr/>
        </p:nvSpPr>
        <p:spPr>
          <a:xfrm>
            <a:off x="319707" y="3511211"/>
            <a:ext cx="639413" cy="566337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9707" y="3511211"/>
            <a:ext cx="639413" cy="566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99" b="1" dirty="0">
                <a:solidFill>
                  <a:srgbClr val="FFFFFF"/>
                </a:solidFill>
              </a:rPr>
              <a:t>C3</a:t>
            </a:r>
            <a:endParaRPr lang="en-US" sz="1099" dirty="0"/>
          </a:p>
        </p:txBody>
      </p:sp>
      <p:sp>
        <p:nvSpPr>
          <p:cNvPr id="19" name="Shape 17"/>
          <p:cNvSpPr/>
          <p:nvPr/>
        </p:nvSpPr>
        <p:spPr>
          <a:xfrm>
            <a:off x="959120" y="3511211"/>
            <a:ext cx="5206651" cy="5663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68734" y="3547748"/>
            <a:ext cx="5023961" cy="255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99" b="1" dirty="0">
                <a:solidFill>
                  <a:srgbClr val="1A2E4A"/>
                </a:solidFill>
              </a:rPr>
              <a:t>22-Hour Rule</a:t>
            </a:r>
            <a:endParaRPr lang="en-US" sz="1099" dirty="0"/>
          </a:p>
        </p:txBody>
      </p:sp>
      <p:sp>
        <p:nvSpPr>
          <p:cNvPr id="21" name="Text 19"/>
          <p:cNvSpPr/>
          <p:nvPr/>
        </p:nvSpPr>
        <p:spPr>
          <a:xfrm>
            <a:off x="1068734" y="3812648"/>
            <a:ext cx="5023961" cy="228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49" dirty="0">
                <a:solidFill>
                  <a:srgbClr val="64748B"/>
                </a:solidFill>
              </a:rPr>
              <a:t>Two-shift planning with hard ceiling</a:t>
            </a:r>
            <a:endParaRPr lang="en-US" sz="849" dirty="0"/>
          </a:p>
        </p:txBody>
      </p:sp>
      <p:sp>
        <p:nvSpPr>
          <p:cNvPr id="22" name="Shape 20"/>
          <p:cNvSpPr/>
          <p:nvPr/>
        </p:nvSpPr>
        <p:spPr>
          <a:xfrm>
            <a:off x="319707" y="4534272"/>
            <a:ext cx="639413" cy="566337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9707" y="4534272"/>
            <a:ext cx="639413" cy="566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99" b="1" dirty="0">
                <a:solidFill>
                  <a:srgbClr val="FFFFFF"/>
                </a:solidFill>
              </a:rPr>
              <a:t>C4</a:t>
            </a:r>
            <a:endParaRPr lang="en-US" sz="1099" dirty="0"/>
          </a:p>
        </p:txBody>
      </p:sp>
      <p:sp>
        <p:nvSpPr>
          <p:cNvPr id="24" name="Shape 22"/>
          <p:cNvSpPr/>
          <p:nvPr/>
        </p:nvSpPr>
        <p:spPr>
          <a:xfrm>
            <a:off x="959120" y="4534272"/>
            <a:ext cx="5206651" cy="5663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68734" y="4570810"/>
            <a:ext cx="5023961" cy="255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99" b="1" dirty="0">
                <a:solidFill>
                  <a:srgbClr val="1A2E4A"/>
                </a:solidFill>
              </a:rPr>
              <a:t>Specialised Machines</a:t>
            </a:r>
            <a:endParaRPr lang="en-US" sz="1099" dirty="0"/>
          </a:p>
        </p:txBody>
      </p:sp>
      <p:sp>
        <p:nvSpPr>
          <p:cNvPr id="26" name="Text 24"/>
          <p:cNvSpPr/>
          <p:nvPr/>
        </p:nvSpPr>
        <p:spPr>
          <a:xfrm>
            <a:off x="1068734" y="4835709"/>
            <a:ext cx="5023961" cy="228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49" dirty="0">
                <a:solidFill>
                  <a:srgbClr val="64748B"/>
                </a:solidFill>
              </a:rPr>
              <a:t>Part-count based machine ranking</a:t>
            </a:r>
            <a:endParaRPr lang="en-US" sz="849" dirty="0"/>
          </a:p>
        </p:txBody>
      </p:sp>
      <p:sp>
        <p:nvSpPr>
          <p:cNvPr id="27" name="Shape 25"/>
          <p:cNvSpPr/>
          <p:nvPr/>
        </p:nvSpPr>
        <p:spPr>
          <a:xfrm>
            <a:off x="319707" y="5557333"/>
            <a:ext cx="639413" cy="566337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9707" y="5557333"/>
            <a:ext cx="639413" cy="566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99" b="1" dirty="0">
                <a:solidFill>
                  <a:srgbClr val="FFFFFF"/>
                </a:solidFill>
              </a:rPr>
              <a:t>C5</a:t>
            </a:r>
            <a:endParaRPr lang="en-US" sz="1099" dirty="0"/>
          </a:p>
        </p:txBody>
      </p:sp>
      <p:sp>
        <p:nvSpPr>
          <p:cNvPr id="29" name="Shape 27"/>
          <p:cNvSpPr/>
          <p:nvPr/>
        </p:nvSpPr>
        <p:spPr>
          <a:xfrm>
            <a:off x="959120" y="5557333"/>
            <a:ext cx="5206651" cy="5663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68734" y="5593871"/>
            <a:ext cx="5023961" cy="255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99" b="1" dirty="0">
                <a:solidFill>
                  <a:srgbClr val="1A2E4A"/>
                </a:solidFill>
              </a:rPr>
              <a:t>Same-Part Continuation</a:t>
            </a:r>
            <a:endParaRPr lang="en-US" sz="1099" dirty="0"/>
          </a:p>
        </p:txBody>
      </p:sp>
      <p:sp>
        <p:nvSpPr>
          <p:cNvPr id="31" name="Text 29"/>
          <p:cNvSpPr/>
          <p:nvPr/>
        </p:nvSpPr>
        <p:spPr>
          <a:xfrm>
            <a:off x="1068734" y="5858770"/>
            <a:ext cx="5023961" cy="228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49" dirty="0">
                <a:solidFill>
                  <a:srgbClr val="64748B"/>
                </a:solidFill>
              </a:rPr>
              <a:t>Changeover minimisation &amp; queue stagger</a:t>
            </a:r>
            <a:endParaRPr lang="en-US" sz="849" dirty="0"/>
          </a:p>
        </p:txBody>
      </p:sp>
      <p:sp>
        <p:nvSpPr>
          <p:cNvPr id="32" name="Shape 30"/>
          <p:cNvSpPr/>
          <p:nvPr/>
        </p:nvSpPr>
        <p:spPr>
          <a:xfrm>
            <a:off x="6257116" y="1465088"/>
            <a:ext cx="639413" cy="566337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57116" y="1465088"/>
            <a:ext cx="639413" cy="566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99" b="1" dirty="0">
                <a:solidFill>
                  <a:srgbClr val="FFFFFF"/>
                </a:solidFill>
              </a:rPr>
              <a:t>C6</a:t>
            </a:r>
            <a:endParaRPr lang="en-US" sz="1099" dirty="0"/>
          </a:p>
        </p:txBody>
      </p:sp>
      <p:sp>
        <p:nvSpPr>
          <p:cNvPr id="34" name="Shape 32"/>
          <p:cNvSpPr/>
          <p:nvPr/>
        </p:nvSpPr>
        <p:spPr>
          <a:xfrm>
            <a:off x="6896529" y="1465088"/>
            <a:ext cx="5206651" cy="5663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006142" y="1501626"/>
            <a:ext cx="5023961" cy="255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99" b="1" dirty="0">
                <a:solidFill>
                  <a:srgbClr val="1A2E4A"/>
                </a:solidFill>
              </a:rPr>
              <a:t>Minimum Tools</a:t>
            </a:r>
            <a:endParaRPr lang="en-US" sz="1099" dirty="0"/>
          </a:p>
        </p:txBody>
      </p:sp>
      <p:sp>
        <p:nvSpPr>
          <p:cNvPr id="36" name="Text 34"/>
          <p:cNvSpPr/>
          <p:nvPr/>
        </p:nvSpPr>
        <p:spPr>
          <a:xfrm>
            <a:off x="7006142" y="1766525"/>
            <a:ext cx="5023961" cy="228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49" dirty="0">
                <a:solidFill>
                  <a:srgbClr val="64748B"/>
                </a:solidFill>
              </a:rPr>
              <a:t>1→2→3 tool escalation logic</a:t>
            </a:r>
            <a:endParaRPr lang="en-US" sz="849" dirty="0"/>
          </a:p>
        </p:txBody>
      </p:sp>
      <p:sp>
        <p:nvSpPr>
          <p:cNvPr id="37" name="Shape 35"/>
          <p:cNvSpPr/>
          <p:nvPr/>
        </p:nvSpPr>
        <p:spPr>
          <a:xfrm>
            <a:off x="6257116" y="2488149"/>
            <a:ext cx="639413" cy="566337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57116" y="2488149"/>
            <a:ext cx="639413" cy="566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99" b="1" dirty="0">
                <a:solidFill>
                  <a:srgbClr val="FFFFFF"/>
                </a:solidFill>
              </a:rPr>
              <a:t>C7</a:t>
            </a:r>
            <a:endParaRPr lang="en-US" sz="1099" dirty="0"/>
          </a:p>
        </p:txBody>
      </p:sp>
      <p:sp>
        <p:nvSpPr>
          <p:cNvPr id="39" name="Shape 37"/>
          <p:cNvSpPr/>
          <p:nvPr/>
        </p:nvSpPr>
        <p:spPr>
          <a:xfrm>
            <a:off x="6896529" y="2488149"/>
            <a:ext cx="5206651" cy="5663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006142" y="2524687"/>
            <a:ext cx="5023961" cy="255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99" b="1" dirty="0">
                <a:solidFill>
                  <a:srgbClr val="1A2E4A"/>
                </a:solidFill>
              </a:rPr>
              <a:t>Serial Tool-Changer</a:t>
            </a:r>
            <a:endParaRPr lang="en-US" sz="1099" dirty="0"/>
          </a:p>
        </p:txBody>
      </p:sp>
      <p:sp>
        <p:nvSpPr>
          <p:cNvPr id="41" name="Text 39"/>
          <p:cNvSpPr/>
          <p:nvPr/>
        </p:nvSpPr>
        <p:spPr>
          <a:xfrm>
            <a:off x="7006142" y="2789587"/>
            <a:ext cx="5023961" cy="228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49" dirty="0">
                <a:solidFill>
                  <a:srgbClr val="64748B"/>
                </a:solidFill>
              </a:rPr>
              <a:t>Structural no-overlap guarantee</a:t>
            </a:r>
            <a:endParaRPr lang="en-US" sz="849" dirty="0"/>
          </a:p>
        </p:txBody>
      </p:sp>
      <p:sp>
        <p:nvSpPr>
          <p:cNvPr id="42" name="Shape 40"/>
          <p:cNvSpPr/>
          <p:nvPr/>
        </p:nvSpPr>
        <p:spPr>
          <a:xfrm>
            <a:off x="6257116" y="3511211"/>
            <a:ext cx="639413" cy="566337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57116" y="3511211"/>
            <a:ext cx="639413" cy="566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99" b="1" dirty="0">
                <a:solidFill>
                  <a:srgbClr val="FFFFFF"/>
                </a:solidFill>
              </a:rPr>
              <a:t>C8</a:t>
            </a:r>
            <a:endParaRPr lang="en-US" sz="1099" dirty="0"/>
          </a:p>
        </p:txBody>
      </p:sp>
      <p:sp>
        <p:nvSpPr>
          <p:cNvPr id="44" name="Shape 42"/>
          <p:cNvSpPr/>
          <p:nvPr/>
        </p:nvSpPr>
        <p:spPr>
          <a:xfrm>
            <a:off x="6896529" y="3511211"/>
            <a:ext cx="5206651" cy="5663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006142" y="3547748"/>
            <a:ext cx="5023961" cy="255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99" b="1" dirty="0">
                <a:solidFill>
                  <a:srgbClr val="1A2E4A"/>
                </a:solidFill>
              </a:rPr>
              <a:t>Minimum Run Block</a:t>
            </a:r>
            <a:endParaRPr lang="en-US" sz="1099" dirty="0"/>
          </a:p>
        </p:txBody>
      </p:sp>
      <p:sp>
        <p:nvSpPr>
          <p:cNvPr id="46" name="Text 44"/>
          <p:cNvSpPr/>
          <p:nvPr/>
        </p:nvSpPr>
        <p:spPr>
          <a:xfrm>
            <a:off x="7006142" y="3812648"/>
            <a:ext cx="5023961" cy="228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49" dirty="0">
                <a:solidFill>
                  <a:srgbClr val="64748B"/>
                </a:solidFill>
              </a:rPr>
              <a:t>4-hour effective production floor</a:t>
            </a:r>
            <a:endParaRPr lang="en-US" sz="849" dirty="0"/>
          </a:p>
        </p:txBody>
      </p:sp>
      <p:sp>
        <p:nvSpPr>
          <p:cNvPr id="47" name="Shape 45"/>
          <p:cNvSpPr/>
          <p:nvPr/>
        </p:nvSpPr>
        <p:spPr>
          <a:xfrm>
            <a:off x="6257116" y="4534272"/>
            <a:ext cx="639413" cy="566337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57116" y="4534272"/>
            <a:ext cx="639413" cy="566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99" b="1" dirty="0">
                <a:solidFill>
                  <a:srgbClr val="FFFFFF"/>
                </a:solidFill>
              </a:rPr>
              <a:t>C9</a:t>
            </a:r>
            <a:endParaRPr lang="en-US" sz="1099" dirty="0"/>
          </a:p>
        </p:txBody>
      </p:sp>
      <p:sp>
        <p:nvSpPr>
          <p:cNvPr id="49" name="Shape 47"/>
          <p:cNvSpPr/>
          <p:nvPr/>
        </p:nvSpPr>
        <p:spPr>
          <a:xfrm>
            <a:off x="6896529" y="4534272"/>
            <a:ext cx="5206651" cy="5663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006142" y="4570810"/>
            <a:ext cx="5023961" cy="255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99" b="1" dirty="0">
                <a:solidFill>
                  <a:srgbClr val="1A2E4A"/>
                </a:solidFill>
              </a:rPr>
              <a:t>No Machine Idle</a:t>
            </a:r>
            <a:endParaRPr lang="en-US" sz="1099" dirty="0"/>
          </a:p>
        </p:txBody>
      </p:sp>
      <p:sp>
        <p:nvSpPr>
          <p:cNvPr id="51" name="Text 49"/>
          <p:cNvSpPr/>
          <p:nvPr/>
        </p:nvSpPr>
        <p:spPr>
          <a:xfrm>
            <a:off x="7006142" y="4835709"/>
            <a:ext cx="5023961" cy="228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49" dirty="0">
                <a:solidFill>
                  <a:srgbClr val="64748B"/>
                </a:solidFill>
              </a:rPr>
              <a:t>90% utilisation enforcer — uncapped extension</a:t>
            </a:r>
            <a:endParaRPr lang="en-US" sz="849" dirty="0"/>
          </a:p>
        </p:txBody>
      </p:sp>
      <p:sp>
        <p:nvSpPr>
          <p:cNvPr id="52" name="Shape 50"/>
          <p:cNvSpPr/>
          <p:nvPr/>
        </p:nvSpPr>
        <p:spPr>
          <a:xfrm>
            <a:off x="6257116" y="5557333"/>
            <a:ext cx="639413" cy="566337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57116" y="5557333"/>
            <a:ext cx="639413" cy="566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99" b="1" dirty="0">
                <a:solidFill>
                  <a:srgbClr val="FFFFFF"/>
                </a:solidFill>
              </a:rPr>
              <a:t>C10</a:t>
            </a:r>
            <a:endParaRPr lang="en-US" sz="1099" dirty="0"/>
          </a:p>
        </p:txBody>
      </p:sp>
      <p:sp>
        <p:nvSpPr>
          <p:cNvPr id="54" name="Shape 52"/>
          <p:cNvSpPr/>
          <p:nvPr/>
        </p:nvSpPr>
        <p:spPr>
          <a:xfrm>
            <a:off x="6896529" y="5557333"/>
            <a:ext cx="5206651" cy="5663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006142" y="5593871"/>
            <a:ext cx="5023961" cy="255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99" b="1" dirty="0">
                <a:solidFill>
                  <a:srgbClr val="1A2E4A"/>
                </a:solidFill>
              </a:rPr>
              <a:t>Colour Grouping</a:t>
            </a:r>
            <a:endParaRPr lang="en-US" sz="1099" dirty="0"/>
          </a:p>
        </p:txBody>
      </p:sp>
      <p:sp>
        <p:nvSpPr>
          <p:cNvPr id="56" name="Text 54"/>
          <p:cNvSpPr/>
          <p:nvPr/>
        </p:nvSpPr>
        <p:spPr>
          <a:xfrm>
            <a:off x="7006142" y="5858770"/>
            <a:ext cx="5023961" cy="228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49" dirty="0">
                <a:solidFill>
                  <a:srgbClr val="64748B"/>
                </a:solidFill>
              </a:rPr>
              <a:t>10-min purge penalty &amp; colour-aware ranking</a:t>
            </a:r>
            <a:endParaRPr lang="en-US" sz="849" dirty="0"/>
          </a:p>
        </p:txBody>
      </p:sp>
      <p:sp>
        <p:nvSpPr>
          <p:cNvPr id="57" name="GTBClassificationF1651584118">
            <a:extLst>
              <a:ext uri="{FF2B5EF4-FFF2-40B4-BE49-F238E27FC236}">
                <a16:creationId xmlns:a16="http://schemas.microsoft.com/office/drawing/2014/main" id="{0603CF50-40CC-4DF1-B464-50F5D9E80AB0}"/>
              </a:ext>
            </a:extLst>
          </p:cNvPr>
          <p:cNvSpPr txBox="1"/>
          <p:nvPr/>
        </p:nvSpPr>
        <p:spPr>
          <a:xfrm>
            <a:off x="0" y="6592253"/>
            <a:ext cx="12179300" cy="265747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IN" sz="9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IN" sz="9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 xml:space="preserve"> </a:t>
            </a:r>
            <a:r>
              <a:rPr lang="en-IN" sz="900" b="1">
                <a:solidFill>
                  <a:srgbClr val="0062B1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  <p:sp>
        <p:nvSpPr>
          <p:cNvPr id="9001" name="PageNumber"/>
          <p:cNvSpPr txBox="1">
            <a:spLocks/>
          </p:cNvSpPr>
          <p:nvPr/>
        </p:nvSpPr>
        <p:spPr>
          <a:xfrm>
            <a:off x="11432516" y="6391175"/>
            <a:ext cx="669862" cy="279133"/>
          </a:xfrm>
          <a:prstGeom prst="rect">
            <a:avLst/>
          </a:prstGeom>
        </p:spPr>
        <p:txBody>
          <a:bodyPr vert="horz" lIns="91345" tIns="45672" rIns="91345" bIns="45672" rtlCol="0" anchor="ctr"/>
          <a:lstStyle/>
          <a:p>
            <a:fld id="{D36E95A1-262F-4E3E-9B30-207FF0616F94}" type="slidenum">
              <a:rPr lang="en-US" sz="1399" smtClean="0">
                <a:solidFill>
                  <a:srgbClr val="0070C0"/>
                </a:solidFill>
              </a:rPr>
              <a:t>‹#›</a:t>
            </a:fld>
            <a:r>
              <a:rPr lang="en-US" sz="1399" dirty="0">
                <a:solidFill>
                  <a:srgbClr val="0070C0"/>
                </a:solidFill>
              </a:rPr>
              <a:t>/19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10BE3B4B-1ADE-474C-8E64-A75DC30A2957}"/>
              </a:ext>
            </a:extLst>
          </p:cNvPr>
          <p:cNvSpPr txBox="1"/>
          <p:nvPr/>
        </p:nvSpPr>
        <p:spPr>
          <a:xfrm>
            <a:off x="253490" y="76200"/>
            <a:ext cx="7741160" cy="50654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lvl1pPr marL="12700">
              <a:lnSpc>
                <a:spcPct val="100000"/>
              </a:lnSpc>
              <a:spcBef>
                <a:spcPts val="110"/>
              </a:spcBef>
              <a:defRPr sz="3050" b="1" i="0">
                <a:solidFill>
                  <a:schemeClr val="tx2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r>
              <a:rPr lang="en-IN" sz="3200" dirty="0">
                <a:solidFill>
                  <a:srgbClr val="097AE8"/>
                </a:solidFill>
                <a:latin typeface="+mn-lt"/>
                <a:cs typeface="Arial" pitchFamily="34" charset="0"/>
              </a:rPr>
              <a:t xml:space="preserve">14SW210301-00004X1 KNOB PWS CP  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336464-269E-494F-A8F2-BBBB7764F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0" y="1606550"/>
            <a:ext cx="2759977" cy="38482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0DFB98-2BD5-4910-8529-4D61DB7A7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754" y="1642645"/>
            <a:ext cx="2762392" cy="38482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569D91-8CFC-4B99-8DD2-2ABD274BA5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250" y="1642645"/>
            <a:ext cx="2743200" cy="385464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71EEF11-D2C7-41BE-A8D6-2DA27CED5BD5}"/>
              </a:ext>
            </a:extLst>
          </p:cNvPr>
          <p:cNvSpPr/>
          <p:nvPr/>
        </p:nvSpPr>
        <p:spPr>
          <a:xfrm>
            <a:off x="1001027" y="762000"/>
            <a:ext cx="2726423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RTPABSBKG0027Y</a:t>
            </a:r>
          </a:p>
          <a:p>
            <a:pPr algn="ctr"/>
            <a:r>
              <a:rPr lang="en-US" dirty="0"/>
              <a:t>ABS XR-409H (BLACK) OF LG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E41485-8E4D-41C5-903C-529CB62EC31B}"/>
              </a:ext>
            </a:extLst>
          </p:cNvPr>
          <p:cNvSpPr/>
          <p:nvPr/>
        </p:nvSpPr>
        <p:spPr>
          <a:xfrm>
            <a:off x="4695754" y="789848"/>
            <a:ext cx="2726423" cy="7341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RTPPOCWHG0012Y</a:t>
            </a:r>
          </a:p>
          <a:p>
            <a:pPr algn="ctr"/>
            <a:r>
              <a:rPr lang="en-US" dirty="0"/>
              <a:t>PC-TRIREX 3025U(WHITE) OF SAMYANG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7645BF-C2CC-4006-888A-EF012E228AAB}"/>
              </a:ext>
            </a:extLst>
          </p:cNvPr>
          <p:cNvSpPr/>
          <p:nvPr/>
        </p:nvSpPr>
        <p:spPr>
          <a:xfrm>
            <a:off x="8209681" y="809368"/>
            <a:ext cx="2726423" cy="761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RTPACRTRG0012Y</a:t>
            </a:r>
          </a:p>
          <a:p>
            <a:pPr algn="ctr"/>
            <a:r>
              <a:rPr lang="en-US" dirty="0"/>
              <a:t>PMMA I.G. 840 OF L.G. (TRANS)</a:t>
            </a:r>
            <a:endParaRPr lang="en-IN" dirty="0"/>
          </a:p>
        </p:txBody>
      </p:sp>
      <p:sp>
        <p:nvSpPr>
          <p:cNvPr id="3" name="GTBClassificationF1914957712">
            <a:extLst>
              <a:ext uri="{FF2B5EF4-FFF2-40B4-BE49-F238E27FC236}">
                <a16:creationId xmlns:a16="http://schemas.microsoft.com/office/drawing/2014/main" id="{A8D27E7A-B037-4A91-90D8-7F9EC40D603C}"/>
              </a:ext>
            </a:extLst>
          </p:cNvPr>
          <p:cNvSpPr txBox="1"/>
          <p:nvPr/>
        </p:nvSpPr>
        <p:spPr>
          <a:xfrm>
            <a:off x="0" y="6592253"/>
            <a:ext cx="12179300" cy="265747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IN" sz="9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IN" sz="9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 xml:space="preserve"> </a:t>
            </a:r>
            <a:r>
              <a:rPr lang="en-IN" sz="900" b="1">
                <a:solidFill>
                  <a:srgbClr val="0062B1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  <p:sp>
        <p:nvSpPr>
          <p:cNvPr id="9001" name="PageNumber"/>
          <p:cNvSpPr txBox="1">
            <a:spLocks/>
          </p:cNvSpPr>
          <p:nvPr/>
        </p:nvSpPr>
        <p:spPr>
          <a:xfrm>
            <a:off x="11432516" y="6391175"/>
            <a:ext cx="669862" cy="279133"/>
          </a:xfrm>
          <a:prstGeom prst="rect">
            <a:avLst/>
          </a:prstGeom>
        </p:spPr>
        <p:txBody>
          <a:bodyPr vert="horz" lIns="91345" tIns="45672" rIns="91345" bIns="45672" rtlCol="0" anchor="ctr"/>
          <a:lstStyle/>
          <a:p>
            <a:fld id="{D36E95A1-262F-4E3E-9B30-207FF0616F94}" type="slidenum">
              <a:rPr lang="en-US" sz="1399" smtClean="0">
                <a:solidFill>
                  <a:srgbClr val="0070C0"/>
                </a:solidFill>
              </a:rPr>
              <a:t>‹#›</a:t>
            </a:fld>
            <a:r>
              <a:rPr lang="en-US" sz="1399" dirty="0">
                <a:solidFill>
                  <a:srgbClr val="0070C0"/>
                </a:solidFill>
              </a:rPr>
              <a:t>/19</a:t>
            </a:r>
          </a:p>
        </p:txBody>
      </p:sp>
    </p:spTree>
    <p:extLst>
      <p:ext uri="{BB962C8B-B14F-4D97-AF65-F5344CB8AC3E}">
        <p14:creationId xmlns:p14="http://schemas.microsoft.com/office/powerpoint/2010/main" val="3838420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41695" y="1100000"/>
            <a:ext cx="10800000" cy="510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spcAft>
                <a:spcPts val="300"/>
              </a:spcAft>
            </a:pPr>
            <a:r>
              <a:rPr lang="en-US" sz="2200" b="1" dirty="0">
                <a:solidFill>
                  <a:srgbClr val="0062DA"/>
                </a:solidFill>
                <a:cs typeface="Arial" panose="020B0604020202020204" pitchFamily="34" charset="0"/>
              </a:rPr>
              <a:t>Phase 1 — Pilot Implementation (Month 1–2)</a:t>
            </a:r>
          </a:p>
          <a:p>
            <a:pPr marL="228600" indent="0">
              <a:lnSpc>
                <a:spcPts val="2200"/>
              </a:lnSpc>
              <a:spcAft>
                <a:spcPts val="500"/>
              </a:spcAft>
            </a:pPr>
            <a:r>
              <a:rPr lang="en-US" sz="1800" dirty="0">
                <a:cs typeface="Arial" panose="020B0604020202020204" pitchFamily="34" charset="0"/>
              </a:rPr>
              <a:t>Deploy Digital Production Scheduling in Moulding Section. Validate with live data, calibrate safety stock targets, and train the planning team.</a:t>
            </a:r>
          </a:p>
          <a:p>
            <a:pPr>
              <a:lnSpc>
                <a:spcPts val="2600"/>
              </a:lnSpc>
              <a:spcAft>
                <a:spcPts val="300"/>
              </a:spcAft>
            </a:pPr>
            <a:r>
              <a:rPr lang="en-US" sz="2200" b="1" dirty="0">
                <a:solidFill>
                  <a:srgbClr val="0062DA"/>
                </a:solidFill>
                <a:cs typeface="Arial" panose="020B0604020202020204" pitchFamily="34" charset="0"/>
              </a:rPr>
              <a:t>Phase 2 — Performance Review &amp; Optimisation (Month 3–4)</a:t>
            </a:r>
          </a:p>
          <a:p>
            <a:pPr marL="228600" indent="0">
              <a:lnSpc>
                <a:spcPts val="2200"/>
              </a:lnSpc>
              <a:spcAft>
                <a:spcPts val="500"/>
              </a:spcAft>
            </a:pPr>
            <a:r>
              <a:rPr lang="en-US" sz="1800" dirty="0">
                <a:cs typeface="Arial" panose="020B0604020202020204" pitchFamily="34" charset="0"/>
              </a:rPr>
              <a:t>Measure KPIs: machine utilisation, inventory accuracy, changeover count. Fine-tune constraint parameters based on real-world results.</a:t>
            </a:r>
          </a:p>
          <a:p>
            <a:pPr>
              <a:lnSpc>
                <a:spcPts val="2600"/>
              </a:lnSpc>
              <a:spcAft>
                <a:spcPts val="300"/>
              </a:spcAft>
            </a:pPr>
            <a:r>
              <a:rPr lang="en-US" sz="2200" b="1" dirty="0">
                <a:solidFill>
                  <a:srgbClr val="0062DA"/>
                </a:solidFill>
                <a:cs typeface="Arial" panose="020B0604020202020204" pitchFamily="34" charset="0"/>
              </a:rPr>
              <a:t>Phase 3 — Full-Scale Rollout (Month 5–6)</a:t>
            </a:r>
          </a:p>
          <a:p>
            <a:pPr marL="228600" indent="0">
              <a:lnSpc>
                <a:spcPts val="2200"/>
              </a:lnSpc>
              <a:spcAft>
                <a:spcPts val="300"/>
              </a:spcAft>
            </a:pPr>
            <a:r>
              <a:rPr lang="en-US" sz="1800" dirty="0">
                <a:cs typeface="Arial" panose="020B0604020202020204" pitchFamily="34" charset="0"/>
              </a:rPr>
              <a:t>Extend solution to other departments. Integrate with ERP/MES for end-to-end digital scheduling across Uno Minda Rika Pvt. Ltd.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10BE3B4B-1ADE-474C-8E64-A75DC30A2957}"/>
              </a:ext>
            </a:extLst>
          </p:cNvPr>
          <p:cNvSpPr txBox="1"/>
          <p:nvPr/>
        </p:nvSpPr>
        <p:spPr>
          <a:xfrm>
            <a:off x="253490" y="76200"/>
            <a:ext cx="7741160" cy="50654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lvl1pPr marL="12700">
              <a:lnSpc>
                <a:spcPct val="100000"/>
              </a:lnSpc>
              <a:spcBef>
                <a:spcPts val="110"/>
              </a:spcBef>
              <a:defRPr sz="3050" b="1" i="0">
                <a:solidFill>
                  <a:schemeClr val="tx2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r>
              <a:rPr lang="en-IN" sz="3200" dirty="0">
                <a:solidFill>
                  <a:srgbClr val="097AE8"/>
                </a:solidFill>
                <a:latin typeface="+mn-lt"/>
                <a:cs typeface="Arial" pitchFamily="34" charset="0"/>
              </a:rPr>
              <a:t>Next Steps &amp; Implementation Roadmap</a:t>
            </a:r>
          </a:p>
        </p:txBody>
      </p:sp>
      <p:sp>
        <p:nvSpPr>
          <p:cNvPr id="4" name="GTBClassificationF1851279126">
            <a:extLst>
              <a:ext uri="{FF2B5EF4-FFF2-40B4-BE49-F238E27FC236}">
                <a16:creationId xmlns:a16="http://schemas.microsoft.com/office/drawing/2014/main" id="{93139B00-299E-4DA4-A756-5B3FEF6384F6}"/>
              </a:ext>
            </a:extLst>
          </p:cNvPr>
          <p:cNvSpPr txBox="1"/>
          <p:nvPr/>
        </p:nvSpPr>
        <p:spPr>
          <a:xfrm>
            <a:off x="0" y="6592253"/>
            <a:ext cx="12179300" cy="265747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IN" sz="9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IN" sz="9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 xml:space="preserve"> </a:t>
            </a:r>
            <a:r>
              <a:rPr lang="en-IN" sz="900" b="1">
                <a:solidFill>
                  <a:srgbClr val="0062B1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  <p:sp>
        <p:nvSpPr>
          <p:cNvPr id="9001" name="PageNumber"/>
          <p:cNvSpPr txBox="1">
            <a:spLocks/>
          </p:cNvSpPr>
          <p:nvPr/>
        </p:nvSpPr>
        <p:spPr>
          <a:xfrm>
            <a:off x="11432516" y="6391175"/>
            <a:ext cx="669862" cy="279133"/>
          </a:xfrm>
          <a:prstGeom prst="rect">
            <a:avLst/>
          </a:prstGeom>
        </p:spPr>
        <p:txBody>
          <a:bodyPr vert="horz" lIns="91345" tIns="45672" rIns="91345" bIns="45672" rtlCol="0" anchor="ctr"/>
          <a:lstStyle/>
          <a:p>
            <a:fld id="{D36E95A1-262F-4E3E-9B30-207FF0616F94}" type="slidenum">
              <a:rPr lang="en-US" sz="1399" smtClean="0">
                <a:solidFill>
                  <a:srgbClr val="0070C0"/>
                </a:solidFill>
              </a:rPr>
              <a:t>‹#›</a:t>
            </a:fld>
            <a:r>
              <a:rPr lang="en-US" sz="1399" dirty="0">
                <a:solidFill>
                  <a:srgbClr val="0070C0"/>
                </a:solidFill>
              </a:rPr>
              <a:t>/19</a:t>
            </a:r>
          </a:p>
        </p:txBody>
      </p:sp>
    </p:spTree>
    <p:extLst>
      <p:ext uri="{BB962C8B-B14F-4D97-AF65-F5344CB8AC3E}">
        <p14:creationId xmlns:p14="http://schemas.microsoft.com/office/powerpoint/2010/main" val="27941318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5977063" y="1541194"/>
            <a:ext cx="5994099" cy="3971419"/>
            <a:chOff x="5977063" y="1541194"/>
            <a:chExt cx="5994099" cy="3971419"/>
          </a:xfrm>
        </p:grpSpPr>
        <p:sp>
          <p:nvSpPr>
            <p:cNvPr id="30" name="object 12"/>
            <p:cNvSpPr/>
            <p:nvPr/>
          </p:nvSpPr>
          <p:spPr>
            <a:xfrm>
              <a:off x="5977063" y="1612469"/>
              <a:ext cx="45719" cy="3900144"/>
            </a:xfrm>
            <a:custGeom>
              <a:avLst/>
              <a:gdLst/>
              <a:ahLst/>
              <a:cxnLst/>
              <a:rect l="l" t="t" r="r" b="b"/>
              <a:pathLst>
                <a:path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ln w="45720">
              <a:solidFill>
                <a:srgbClr val="555555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2" name="Picture 25" descr="fb.png">
              <a:hlinkClick r:id="rId3"/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313576" y="4762462"/>
              <a:ext cx="660314" cy="4954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3" name="Picture 26" descr="linkedin.png">
              <a:hlinkClick r:id="rId5"/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66050" y="4781516"/>
              <a:ext cx="609521" cy="4573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6" name="Title 1"/>
            <p:cNvSpPr txBox="1">
              <a:spLocks/>
            </p:cNvSpPr>
            <p:nvPr/>
          </p:nvSpPr>
          <p:spPr bwMode="auto">
            <a:xfrm>
              <a:off x="6200398" y="1541194"/>
              <a:ext cx="4741023" cy="10476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108830" tIns="54416" rIns="108830" bIns="54416" numCol="1" anchor="ctr" anchorCtr="0" compatLnSpc="1">
              <a:prstTxWarp prst="textNoShape">
                <a:avLst/>
              </a:prstTxWarp>
            </a:bodyPr>
            <a:lstStyle>
              <a:lvl1pPr algn="ctr" rtl="0" fontAlgn="base">
                <a:spcBef>
                  <a:spcPct val="0"/>
                </a:spcBef>
                <a:spcAft>
                  <a:spcPct val="0"/>
                </a:spcAft>
                <a:defRPr sz="5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ctr" rtl="0" fontAlgn="base">
                <a:spcBef>
                  <a:spcPct val="0"/>
                </a:spcBef>
                <a:spcAft>
                  <a:spcPct val="0"/>
                </a:spcAft>
                <a:defRPr sz="5200">
                  <a:solidFill>
                    <a:schemeClr val="tx1"/>
                  </a:solidFill>
                  <a:latin typeface="Calibri" pitchFamily="34" charset="0"/>
                </a:defRPr>
              </a:lvl2pPr>
              <a:lvl3pPr algn="ctr" rtl="0" fontAlgn="base">
                <a:spcBef>
                  <a:spcPct val="0"/>
                </a:spcBef>
                <a:spcAft>
                  <a:spcPct val="0"/>
                </a:spcAft>
                <a:defRPr sz="5200">
                  <a:solidFill>
                    <a:schemeClr val="tx1"/>
                  </a:solidFill>
                  <a:latin typeface="Calibri" pitchFamily="34" charset="0"/>
                </a:defRPr>
              </a:lvl3pPr>
              <a:lvl4pPr algn="ctr" rtl="0" fontAlgn="base">
                <a:spcBef>
                  <a:spcPct val="0"/>
                </a:spcBef>
                <a:spcAft>
                  <a:spcPct val="0"/>
                </a:spcAft>
                <a:defRPr sz="5200">
                  <a:solidFill>
                    <a:schemeClr val="tx1"/>
                  </a:solidFill>
                  <a:latin typeface="Calibri" pitchFamily="34" charset="0"/>
                </a:defRPr>
              </a:lvl4pPr>
              <a:lvl5pPr algn="ctr" rtl="0" fontAlgn="base">
                <a:spcBef>
                  <a:spcPct val="0"/>
                </a:spcBef>
                <a:spcAft>
                  <a:spcPct val="0"/>
                </a:spcAft>
                <a:defRPr sz="5200">
                  <a:solidFill>
                    <a:schemeClr val="tx1"/>
                  </a:solidFill>
                  <a:latin typeface="Calibri" pitchFamily="34" charset="0"/>
                </a:defRPr>
              </a:lvl5pPr>
              <a:lvl6pPr marL="544216" algn="ctr" rtl="0" fontAlgn="base">
                <a:spcBef>
                  <a:spcPct val="0"/>
                </a:spcBef>
                <a:spcAft>
                  <a:spcPct val="0"/>
                </a:spcAft>
                <a:defRPr sz="5200">
                  <a:solidFill>
                    <a:schemeClr val="tx1"/>
                  </a:solidFill>
                  <a:latin typeface="Calibri" pitchFamily="34" charset="0"/>
                </a:defRPr>
              </a:lvl6pPr>
              <a:lvl7pPr marL="1088433" algn="ctr" rtl="0" fontAlgn="base">
                <a:spcBef>
                  <a:spcPct val="0"/>
                </a:spcBef>
                <a:spcAft>
                  <a:spcPct val="0"/>
                </a:spcAft>
                <a:defRPr sz="5200">
                  <a:solidFill>
                    <a:schemeClr val="tx1"/>
                  </a:solidFill>
                  <a:latin typeface="Calibri" pitchFamily="34" charset="0"/>
                </a:defRPr>
              </a:lvl7pPr>
              <a:lvl8pPr marL="1632649" algn="ctr" rtl="0" fontAlgn="base">
                <a:spcBef>
                  <a:spcPct val="0"/>
                </a:spcBef>
                <a:spcAft>
                  <a:spcPct val="0"/>
                </a:spcAft>
                <a:defRPr sz="5200">
                  <a:solidFill>
                    <a:schemeClr val="tx1"/>
                  </a:solidFill>
                  <a:latin typeface="Calibri" pitchFamily="34" charset="0"/>
                </a:defRPr>
              </a:lvl8pPr>
              <a:lvl9pPr marL="2176864" algn="ctr" rtl="0" fontAlgn="base">
                <a:spcBef>
                  <a:spcPct val="0"/>
                </a:spcBef>
                <a:spcAft>
                  <a:spcPct val="0"/>
                </a:spcAft>
                <a:defRPr sz="52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/>
              <a:r>
                <a:rPr lang="en-US" sz="4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Thank You</a:t>
              </a:r>
            </a:p>
          </p:txBody>
        </p:sp>
        <p:sp>
          <p:nvSpPr>
            <p:cNvPr id="37" name="TextBox 24"/>
            <p:cNvSpPr txBox="1">
              <a:spLocks noChangeArrowheads="1"/>
            </p:cNvSpPr>
            <p:nvPr/>
          </p:nvSpPr>
          <p:spPr bwMode="auto">
            <a:xfrm>
              <a:off x="6239539" y="2604752"/>
              <a:ext cx="5731623" cy="161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108830" tIns="54416" rIns="108830" bIns="54416">
              <a:spAutoFit/>
            </a:bodyPr>
            <a:lstStyle/>
            <a:p>
              <a:r>
                <a:rPr lang="en-US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Corporate Office</a:t>
              </a:r>
            </a:p>
            <a:p>
              <a:endParaRPr 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Address</a:t>
              </a: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 xml:space="preserve">: 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 xml:space="preserve">Village Nawada  Fatehpur, </a:t>
              </a:r>
            </a:p>
            <a:p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 xml:space="preserve">P.O. Sikanderpur  Badda, Manesar, </a:t>
              </a:r>
            </a:p>
            <a:p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Gurgaon – 122004, India.</a:t>
              </a:r>
            </a:p>
            <a:p>
              <a:r>
                <a:rPr lang="en-US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 xml:space="preserve">Website: </a:t>
              </a:r>
              <a:r>
                <a:rPr lang="en-US" sz="1400" dirty="0">
                  <a:solidFill>
                    <a:srgbClr val="009ED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www.unominda.com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Email ID</a:t>
              </a: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 xml:space="preserve">: </a:t>
              </a:r>
              <a:r>
                <a:rPr lang="en-US" sz="1400" dirty="0">
                  <a:solidFill>
                    <a:srgbClr val="009ED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xxxx@unominda.com</a:t>
              </a:r>
            </a:p>
          </p:txBody>
        </p:sp>
        <p:pic>
          <p:nvPicPr>
            <p:cNvPr id="1030" name="Picture 6" descr="instagram.jpg — midpointmall.com">
              <a:hlinkClick r:id="rId7"/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43939" y="4507725"/>
              <a:ext cx="1674813" cy="1004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27" descr="youtube.jpeg">
              <a:hlinkClick r:id="rId9"/>
            </p:cNvPr>
            <p:cNvPicPr>
              <a:picLocks noChangeAspect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8528050" y="4781516"/>
              <a:ext cx="541821" cy="4573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6239539" y="4238615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Follow us on social media. Links below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047C07-817C-47E3-B2AB-849B5D0A5470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39" y="2453434"/>
            <a:ext cx="4441344" cy="2328081"/>
          </a:xfrm>
          <a:prstGeom prst="rect">
            <a:avLst/>
          </a:prstGeom>
        </p:spPr>
      </p:pic>
      <p:pic>
        <p:nvPicPr>
          <p:cNvPr id="14" name="Picture 13">
            <a:hlinkClick r:id="rId12"/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450" y="4800565"/>
            <a:ext cx="481825" cy="424709"/>
          </a:xfrm>
          <a:prstGeom prst="rect">
            <a:avLst/>
          </a:prstGeom>
        </p:spPr>
      </p:pic>
      <p:sp>
        <p:nvSpPr>
          <p:cNvPr id="2" name="GTBClassificationF566298952">
            <a:extLst>
              <a:ext uri="{FF2B5EF4-FFF2-40B4-BE49-F238E27FC236}">
                <a16:creationId xmlns:a16="http://schemas.microsoft.com/office/drawing/2014/main" id="{8D5384AE-B944-4B9B-A566-B32C2C36D96C}"/>
              </a:ext>
            </a:extLst>
          </p:cNvPr>
          <p:cNvSpPr txBox="1"/>
          <p:nvPr/>
        </p:nvSpPr>
        <p:spPr>
          <a:xfrm>
            <a:off x="0" y="6592253"/>
            <a:ext cx="12179300" cy="265747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IN" sz="9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IN" sz="9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 xml:space="preserve"> </a:t>
            </a:r>
            <a:r>
              <a:rPr lang="en-IN" sz="900" b="1">
                <a:solidFill>
                  <a:srgbClr val="0062B1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  <p:sp>
        <p:nvSpPr>
          <p:cNvPr id="9001" name="PageNumber"/>
          <p:cNvSpPr txBox="1">
            <a:spLocks/>
          </p:cNvSpPr>
          <p:nvPr/>
        </p:nvSpPr>
        <p:spPr>
          <a:xfrm>
            <a:off x="11432516" y="6391175"/>
            <a:ext cx="669862" cy="279133"/>
          </a:xfrm>
          <a:prstGeom prst="rect">
            <a:avLst/>
          </a:prstGeom>
        </p:spPr>
        <p:txBody>
          <a:bodyPr vert="horz" lIns="91345" tIns="45672" rIns="91345" bIns="45672" rtlCol="0" anchor="ctr"/>
          <a:lstStyle/>
          <a:p>
            <a:fld id="{D36E95A1-262F-4E3E-9B30-207FF0616F94}" type="slidenum">
              <a:rPr lang="en-US" sz="1399" smtClean="0">
                <a:solidFill>
                  <a:srgbClr val="0070C0"/>
                </a:solidFill>
              </a:rPr>
              <a:t>‹#›</a:t>
            </a:fld>
            <a:r>
              <a:rPr lang="en-US" sz="1399" dirty="0">
                <a:solidFill>
                  <a:srgbClr val="0070C0"/>
                </a:solidFill>
              </a:rPr>
              <a:t>/19</a:t>
            </a:r>
          </a:p>
        </p:txBody>
      </p:sp>
    </p:spTree>
    <p:extLst>
      <p:ext uri="{BB962C8B-B14F-4D97-AF65-F5344CB8AC3E}">
        <p14:creationId xmlns:p14="http://schemas.microsoft.com/office/powerpoint/2010/main" val="148306194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GTBClassification>
  <attrValue xml:space="preserve">Internal</attrValue>
  <customPropName>Classification</customPropName>
  <timestamp>4/21/2026 5:58:48 PM</timestamp>
  <userName>UNOMINDA\Ex0164</userName>
  <computerName>1401-DW-0038.UNOMINDA.COM</computerName>
  <guid>{e0cd1961-bdb1-42d2-8cc7-b1d42ef57c93}</guid>
  <ftr>
    <r>
      <fontName>arial</fontName>
      <fontColor>000000</fontColor>
      <fontSize>9</fontSize>
      <b/>
      <text xml:space="preserve">Classification:</text>
    </r>
    <r>
      <fontName>arial</fontName>
      <fontColor>000000</fontColor>
      <fontSize>9</fontSize>
      <text xml:space="preserve"/>
    </r>
    <r>
      <fontName>arial</fontName>
      <fontColor>0062B1</fontColor>
      <fontSize>9</fontSize>
      <b/>
      <text xml:space="preserve">Internal</text>
    </r>
  </ftr>
</GTBClassification>
</file>

<file path=customXml/itemProps1.xml><?xml version="1.0" encoding="utf-8"?>
<ds:datastoreItem xmlns:ds="http://schemas.openxmlformats.org/officeDocument/2006/customXml" ds:itemID="{649066E8-34BE-4FA4-A13F-5EE3AE4A384B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31323</TotalTime>
  <Words>1688</Words>
  <Application>Microsoft Office PowerPoint</Application>
  <PresentationFormat>Custom</PresentationFormat>
  <Paragraphs>335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Arial</vt:lpstr>
      <vt:lpstr>Calibri</vt:lpstr>
      <vt:lpstr>Calibri Light</vt:lpstr>
      <vt:lpstr>Gotham Medium</vt:lpstr>
      <vt:lpstr>Times New Roman</vt:lpstr>
      <vt:lpstr>Custom Design</vt:lpstr>
      <vt:lpstr>1_Custom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2018.cdr</dc:title>
  <dc:creator>dalipvijh</dc:creator>
  <cp:keywords>ClassificationData:&lt;Classification:Internal&gt;</cp:keywords>
  <cp:lastModifiedBy>Intern (Int)/MRPL/HRM/MNSR</cp:lastModifiedBy>
  <cp:revision>1222</cp:revision>
  <dcterms:created xsi:type="dcterms:W3CDTF">2018-05-23T10:15:22Z</dcterms:created>
  <dcterms:modified xsi:type="dcterms:W3CDTF">2026-04-22T11:33:20Z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2018-05-23T00:00:00Z</vt:filetime>
  </property>
  <property fmtid="{D5CDD505-2E9C-101B-9397-08002B2CF9AE}" pid="3" name="Creator">
    <vt:lpwstr>CorelDRAW X7</vt:lpwstr>
  </property>
  <property fmtid="{D5CDD505-2E9C-101B-9397-08002B2CF9AE}" pid="4" name="LastSaved">
    <vt:filetime>2018-05-23T00:00:00Z</vt:filetime>
  </property>
  <property fmtid="{D5CDD505-2E9C-101B-9397-08002B2CF9AE}" pid="5" name="Classification">
    <vt:lpwstr>Internal</vt:lpwstr>
  </property>
  <property fmtid="{D5CDD505-2E9C-101B-9397-08002B2CF9AE}" pid="6" name="ClassifiedBy">
    <vt:lpwstr>UNOMINDA\Ex0164</vt:lpwstr>
  </property>
  <property fmtid="{D5CDD505-2E9C-101B-9397-08002B2CF9AE}" pid="7" name="ClassificationHost">
    <vt:lpwstr>1401-DW-0038.UNOMINDA.COM</vt:lpwstr>
  </property>
  <property fmtid="{D5CDD505-2E9C-101B-9397-08002B2CF9AE}" pid="8" name="ClassificationDate">
    <vt:lpwstr>4/21/2026 5:58:48 PM</vt:lpwstr>
  </property>
  <property fmtid="{D5CDD505-2E9C-101B-9397-08002B2CF9AE}" pid="9" name="ClassificationGUID">
    <vt:lpwstr>{e0cd1961-bdb1-42d2-8cc7-b1d42ef57c93}</vt:lpwstr>
  </property>
</Properties>
</file>